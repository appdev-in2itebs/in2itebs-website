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256" r:id="rId2"/>
    <p:sldId id="297" r:id="rId3"/>
    <p:sldId id="298" r:id="rId4"/>
    <p:sldId id="365" r:id="rId5"/>
    <p:sldId id="353" r:id="rId6"/>
    <p:sldId id="260" r:id="rId7"/>
    <p:sldId id="360" r:id="rId8"/>
    <p:sldId id="262" r:id="rId9"/>
    <p:sldId id="299" r:id="rId10"/>
    <p:sldId id="368" r:id="rId11"/>
    <p:sldId id="354" r:id="rId12"/>
    <p:sldId id="264" r:id="rId13"/>
    <p:sldId id="300" r:id="rId14"/>
    <p:sldId id="371" r:id="rId15"/>
    <p:sldId id="366" r:id="rId16"/>
    <p:sldId id="301" r:id="rId17"/>
    <p:sldId id="303" r:id="rId18"/>
    <p:sldId id="322" r:id="rId19"/>
    <p:sldId id="304" r:id="rId20"/>
    <p:sldId id="306" r:id="rId21"/>
    <p:sldId id="323" r:id="rId22"/>
    <p:sldId id="321" r:id="rId23"/>
    <p:sldId id="307" r:id="rId24"/>
    <p:sldId id="309" r:id="rId25"/>
    <p:sldId id="276" r:id="rId26"/>
    <p:sldId id="326" r:id="rId27"/>
    <p:sldId id="278" r:id="rId28"/>
    <p:sldId id="313" r:id="rId29"/>
    <p:sldId id="314" r:id="rId30"/>
    <p:sldId id="281" r:id="rId31"/>
    <p:sldId id="315" r:id="rId32"/>
    <p:sldId id="316" r:id="rId33"/>
    <p:sldId id="361" r:id="rId34"/>
    <p:sldId id="362" r:id="rId35"/>
    <p:sldId id="363" r:id="rId36"/>
    <p:sldId id="364" r:id="rId37"/>
    <p:sldId id="369" r:id="rId38"/>
    <p:sldId id="284" r:id="rId39"/>
    <p:sldId id="317" r:id="rId40"/>
    <p:sldId id="286" r:id="rId41"/>
    <p:sldId id="356" r:id="rId42"/>
    <p:sldId id="357" r:id="rId43"/>
    <p:sldId id="358" r:id="rId44"/>
    <p:sldId id="288" r:id="rId45"/>
    <p:sldId id="289" r:id="rId46"/>
    <p:sldId id="318" r:id="rId47"/>
    <p:sldId id="319" r:id="rId48"/>
    <p:sldId id="389" r:id="rId49"/>
    <p:sldId id="293" r:id="rId50"/>
    <p:sldId id="294" r:id="rId51"/>
    <p:sldId id="265" r:id="rId52"/>
    <p:sldId id="266" r:id="rId53"/>
    <p:sldId id="377" r:id="rId54"/>
    <p:sldId id="378" r:id="rId55"/>
    <p:sldId id="380" r:id="rId56"/>
    <p:sldId id="381" r:id="rId57"/>
    <p:sldId id="382" r:id="rId58"/>
    <p:sldId id="383" r:id="rId59"/>
    <p:sldId id="385" r:id="rId60"/>
    <p:sldId id="387" r:id="rId61"/>
    <p:sldId id="373" r:id="rId62"/>
    <p:sldId id="375" r:id="rId63"/>
    <p:sldId id="295" r:id="rId64"/>
    <p:sldId id="296" r:id="rId6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BC9C"/>
    <a:srgbClr val="94B8D0"/>
    <a:srgbClr val="121E3B"/>
    <a:srgbClr val="3F74A2"/>
    <a:srgbClr val="FFFFFF"/>
    <a:srgbClr val="F7F8FA"/>
    <a:srgbClr val="D8D8D8"/>
    <a:srgbClr val="4472C4"/>
    <a:srgbClr val="121E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890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208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997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99079-203B-72A3-D9AA-9870563AD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A5CCFC-1F07-12C1-D8EB-DD26238251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441088-B17C-9670-11D3-8B22958E1E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AD65-0BEB-2ABB-6443-77DE62F023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213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1602E-07A0-E952-5547-4C2254AC5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709238-C2CE-A0A7-69E8-08FFE0340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A2C8D5-B541-6FA5-9B36-70D398FEDE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265F1-A28E-DEFB-F5F0-AF96B909DA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169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C6331-C2C7-F735-C9C8-EBF0774A9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BFFC88-4419-F2EF-8913-8134B2B5C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BAB678-06AA-ACE4-9130-DD4C23435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671DD-3E63-D8B9-6D46-13B35A333A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8433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9CD04-D286-B884-A187-686698C23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D4AB32-8F6D-98EB-78B9-43A58DE509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90D4E1-0CD4-1BB3-7A9F-30E5C8D19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4D8B5-3ECE-83F8-30C3-CF6D24D826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6334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BE0E8-910A-184A-3055-9EFDFA537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5D418B-45E5-FF7C-E2CF-CF56651E5F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25691A-21F5-822B-AE63-7921DF295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61484-5679-DA37-A46E-1ECE9E61D6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6399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21CB4-09DE-3F68-4FFB-A08812482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29A234-E779-048C-30E1-744A4BBD2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DCA227-19A0-0F58-4F31-98B2F0C83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65ED5-BA69-8FE7-3677-B0CF2128FA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8173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76718-1D2E-592D-D8B7-CA2B45326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AFF5E6-BA2A-967B-81C7-0FFACAE59A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CB9343-2D94-0FA8-33A1-9CF0BC0B5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63680-48D3-F29E-99F6-DEE8FCFEE1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6507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BB1DD-E66E-5308-8C88-588ECE1A6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674F5-D5C6-4BFF-4FB0-C0B959951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6938B5-507A-2A70-C469-0F0D6D2798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E2FA2-54E3-60B0-EDD7-DE9738EDC7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942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03C9E-40A0-E8E8-CBCD-10921F214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C8FD1D-0040-536E-66F0-A3EDE5C9F0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839286-190E-1BFE-DA1A-5C28A29AF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903FE-4427-33A0-C201-05913A142B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8963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7AE71-B6BC-FB7D-D752-129C0E275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7E6F28-4359-EE74-A277-DAF1AA2C7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BEC3E4-9923-CC0D-DBA8-84676995E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E85F5-3F8C-47EF-CBAA-9BA1DAE749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9155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A1A59-C3B8-F3E7-759D-74DA543C6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8E60B-AF0D-8204-0031-8EA46D219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3C636-5C0D-2900-5A1F-2D885A8D32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C171D-73EB-9030-A3DF-0CF1B3A2C4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8043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19E31-9BB1-B2D1-7847-DD8413ABA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94834-4FEC-3E66-9CF8-6AB253B35F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EB2A1B-28D8-50BC-70DF-DE2125EE6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536C5-BC79-C8B1-7C2A-D180A2336F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229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9AB0E-1783-F41E-FA81-1007161E9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C90167-15CE-DCE6-AFDC-55582145CE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B30B75-BE8F-7464-F41E-BA1E1EBD3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21217-F72F-0C2D-63FA-8A5089D864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570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FEB98-9D01-10F3-2752-FF50833B9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5261BA-1103-E243-E9DA-02DBA355AA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9741D5-E830-FD01-831E-663F6B893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9441C-9E42-D9C5-543F-9254C834FA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9637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746DC-A710-E8DA-4112-C36F8FAC8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BAD738-2FBE-B47C-601F-5E2F0E2A1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025ED-6421-A8EE-816F-C57A9ADA77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C228E-1208-4AD0-A7D7-C038AF08C9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7958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47F30-A7B6-8AD5-7295-80880290C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303D83-4056-2553-D9DA-158EA7A6E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D34936-D49F-550B-D449-9E74FA644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29031-E32D-49A3-AE36-B6CB3BCCFC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4486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64095-0D61-226D-93ED-78A470E5A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A13CB2-2A89-58AD-59C0-38F4612420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4C0023-142F-EFAD-B746-8D2175A79F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C8D7C-33B5-5B0E-E31C-0793187C17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868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95B9C-DEF1-13C2-0067-D05AEADE2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44DBE4-36C1-E41C-D50F-F77B8E082C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5316B5-EB3B-F22A-6B66-99D03730AC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A05FD-AB98-2529-11CF-942200E2D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8143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C6CAA-8DF8-2DC7-603D-07E0B5675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4FA017-627C-7219-F4C7-BD2C6B708D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280E15-0FA4-C724-728F-8983A0C78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F49BA-69C5-1363-3215-97EF5802C2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5566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4D05D-A8D8-5021-08D5-F95B19246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373D6E-4C90-F188-3620-13AA41C99E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C165C9-FF52-99BA-8827-CB47C4DEA6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5A5E5-6198-18E8-0486-7153E23C1A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1927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FD923-E3ED-2A2C-A97E-5CDF05E75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7866EE-9165-9659-0C96-D5B5499BA5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505341-C819-44F3-E181-E4EC521532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AE035-C771-F122-F4B8-C56198AA56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518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80115-A233-F964-0341-261F39516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25E540-A964-2D5B-BBF7-70EEA6913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CAFEBD-FDE3-EFEE-C8E8-A202F8BF5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89088-2BDF-379D-01C0-789CE71309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194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08265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72800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jpeg"/><Relationship Id="rId4" Type="http://schemas.openxmlformats.org/officeDocument/2006/relationships/image" Target="../media/image4.jpe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jpe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.png"/><Relationship Id="rId18" Type="http://schemas.openxmlformats.org/officeDocument/2006/relationships/image" Target="../media/image36.svg"/><Relationship Id="rId26" Type="http://schemas.openxmlformats.org/officeDocument/2006/relationships/image" Target="../media/image44.png"/><Relationship Id="rId39" Type="http://schemas.openxmlformats.org/officeDocument/2006/relationships/image" Target="../media/image57.png"/><Relationship Id="rId21" Type="http://schemas.openxmlformats.org/officeDocument/2006/relationships/image" Target="../media/image39.png"/><Relationship Id="rId34" Type="http://schemas.openxmlformats.org/officeDocument/2006/relationships/image" Target="../media/image52.png"/><Relationship Id="rId42" Type="http://schemas.openxmlformats.org/officeDocument/2006/relationships/image" Target="../media/image60.png"/><Relationship Id="rId47" Type="http://schemas.openxmlformats.org/officeDocument/2006/relationships/image" Target="../media/image65.png"/><Relationship Id="rId50" Type="http://schemas.openxmlformats.org/officeDocument/2006/relationships/image" Target="../media/image68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34.png"/><Relationship Id="rId29" Type="http://schemas.openxmlformats.org/officeDocument/2006/relationships/image" Target="../media/image47.png"/><Relationship Id="rId11" Type="http://schemas.openxmlformats.org/officeDocument/2006/relationships/image" Target="../media/image29.png"/><Relationship Id="rId24" Type="http://schemas.openxmlformats.org/officeDocument/2006/relationships/image" Target="../media/image42.png"/><Relationship Id="rId32" Type="http://schemas.openxmlformats.org/officeDocument/2006/relationships/image" Target="../media/image50.png"/><Relationship Id="rId37" Type="http://schemas.openxmlformats.org/officeDocument/2006/relationships/image" Target="../media/image55.png"/><Relationship Id="rId40" Type="http://schemas.openxmlformats.org/officeDocument/2006/relationships/image" Target="../media/image58.png"/><Relationship Id="rId45" Type="http://schemas.openxmlformats.org/officeDocument/2006/relationships/image" Target="../media/image63.png"/><Relationship Id="rId53" Type="http://schemas.openxmlformats.org/officeDocument/2006/relationships/image" Target="../media/image71.png"/><Relationship Id="rId5" Type="http://schemas.openxmlformats.org/officeDocument/2006/relationships/image" Target="../media/image24.png"/><Relationship Id="rId10" Type="http://schemas.openxmlformats.org/officeDocument/2006/relationships/image" Target="../media/image28.wmf"/><Relationship Id="rId19" Type="http://schemas.openxmlformats.org/officeDocument/2006/relationships/image" Target="../media/image37.png"/><Relationship Id="rId31" Type="http://schemas.openxmlformats.org/officeDocument/2006/relationships/image" Target="../media/image49.png"/><Relationship Id="rId44" Type="http://schemas.openxmlformats.org/officeDocument/2006/relationships/image" Target="../media/image62.png"/><Relationship Id="rId52" Type="http://schemas.openxmlformats.org/officeDocument/2006/relationships/image" Target="../media/image70.png"/><Relationship Id="rId4" Type="http://schemas.openxmlformats.org/officeDocument/2006/relationships/image" Target="../media/image23.png"/><Relationship Id="rId9" Type="http://schemas.openxmlformats.org/officeDocument/2006/relationships/oleObject" Target="../embeddings/oleObject1.bin"/><Relationship Id="rId14" Type="http://schemas.openxmlformats.org/officeDocument/2006/relationships/image" Target="../media/image32.png"/><Relationship Id="rId22" Type="http://schemas.openxmlformats.org/officeDocument/2006/relationships/image" Target="../media/image40.png"/><Relationship Id="rId27" Type="http://schemas.openxmlformats.org/officeDocument/2006/relationships/image" Target="../media/image45.png"/><Relationship Id="rId30" Type="http://schemas.openxmlformats.org/officeDocument/2006/relationships/image" Target="../media/image48.png"/><Relationship Id="rId35" Type="http://schemas.openxmlformats.org/officeDocument/2006/relationships/image" Target="../media/image53.png"/><Relationship Id="rId43" Type="http://schemas.openxmlformats.org/officeDocument/2006/relationships/image" Target="../media/image61.png"/><Relationship Id="rId48" Type="http://schemas.openxmlformats.org/officeDocument/2006/relationships/image" Target="../media/image66.svg"/><Relationship Id="rId8" Type="http://schemas.openxmlformats.org/officeDocument/2006/relationships/image" Target="../media/image27.png"/><Relationship Id="rId51" Type="http://schemas.openxmlformats.org/officeDocument/2006/relationships/image" Target="../media/image69.png"/><Relationship Id="rId3" Type="http://schemas.openxmlformats.org/officeDocument/2006/relationships/image" Target="../media/image2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5" Type="http://schemas.openxmlformats.org/officeDocument/2006/relationships/image" Target="../media/image43.png"/><Relationship Id="rId33" Type="http://schemas.openxmlformats.org/officeDocument/2006/relationships/image" Target="../media/image51.png"/><Relationship Id="rId38" Type="http://schemas.openxmlformats.org/officeDocument/2006/relationships/image" Target="../media/image56.png"/><Relationship Id="rId46" Type="http://schemas.openxmlformats.org/officeDocument/2006/relationships/image" Target="../media/image64.png"/><Relationship Id="rId20" Type="http://schemas.openxmlformats.org/officeDocument/2006/relationships/image" Target="../media/image38.png"/><Relationship Id="rId41" Type="http://schemas.openxmlformats.org/officeDocument/2006/relationships/image" Target="../media/image59.png"/><Relationship Id="rId54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5" Type="http://schemas.openxmlformats.org/officeDocument/2006/relationships/image" Target="../media/image33.png"/><Relationship Id="rId23" Type="http://schemas.openxmlformats.org/officeDocument/2006/relationships/image" Target="../media/image41.png"/><Relationship Id="rId28" Type="http://schemas.openxmlformats.org/officeDocument/2006/relationships/image" Target="../media/image46.png"/><Relationship Id="rId36" Type="http://schemas.openxmlformats.org/officeDocument/2006/relationships/image" Target="../media/image54.png"/><Relationship Id="rId49" Type="http://schemas.openxmlformats.org/officeDocument/2006/relationships/image" Target="../media/image67.png"/></Relationships>
</file>

<file path=ppt/slides/_rels/slide5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26" Type="http://schemas.openxmlformats.org/officeDocument/2006/relationships/image" Target="../media/image94.png"/><Relationship Id="rId39" Type="http://schemas.openxmlformats.org/officeDocument/2006/relationships/image" Target="../media/image105.png"/><Relationship Id="rId21" Type="http://schemas.openxmlformats.org/officeDocument/2006/relationships/image" Target="../media/image89.png"/><Relationship Id="rId34" Type="http://schemas.openxmlformats.org/officeDocument/2006/relationships/image" Target="../media/image101.png"/><Relationship Id="rId42" Type="http://schemas.openxmlformats.org/officeDocument/2006/relationships/image" Target="../media/image108.png"/><Relationship Id="rId47" Type="http://schemas.openxmlformats.org/officeDocument/2006/relationships/image" Target="../media/image111.png"/><Relationship Id="rId50" Type="http://schemas.openxmlformats.org/officeDocument/2006/relationships/image" Target="../media/image114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84.svg"/><Relationship Id="rId29" Type="http://schemas.openxmlformats.org/officeDocument/2006/relationships/image" Target="../media/image97.png"/><Relationship Id="rId11" Type="http://schemas.openxmlformats.org/officeDocument/2006/relationships/image" Target="../media/image79.png"/><Relationship Id="rId24" Type="http://schemas.openxmlformats.org/officeDocument/2006/relationships/image" Target="../media/image92.png"/><Relationship Id="rId32" Type="http://schemas.openxmlformats.org/officeDocument/2006/relationships/image" Target="../media/image99.wmf"/><Relationship Id="rId37" Type="http://schemas.openxmlformats.org/officeDocument/2006/relationships/image" Target="../media/image103.png"/><Relationship Id="rId40" Type="http://schemas.openxmlformats.org/officeDocument/2006/relationships/image" Target="../media/image106.png"/><Relationship Id="rId45" Type="http://schemas.openxmlformats.org/officeDocument/2006/relationships/image" Target="../media/image69.png"/><Relationship Id="rId53" Type="http://schemas.openxmlformats.org/officeDocument/2006/relationships/image" Target="../media/image117.png"/><Relationship Id="rId5" Type="http://schemas.openxmlformats.org/officeDocument/2006/relationships/image" Target="../media/image74.png"/><Relationship Id="rId10" Type="http://schemas.openxmlformats.org/officeDocument/2006/relationships/image" Target="../media/image78.png"/><Relationship Id="rId19" Type="http://schemas.openxmlformats.org/officeDocument/2006/relationships/image" Target="../media/image87.svg"/><Relationship Id="rId31" Type="http://schemas.openxmlformats.org/officeDocument/2006/relationships/oleObject" Target="../embeddings/oleObject2.bin"/><Relationship Id="rId44" Type="http://schemas.openxmlformats.org/officeDocument/2006/relationships/image" Target="../media/image110.png"/><Relationship Id="rId52" Type="http://schemas.openxmlformats.org/officeDocument/2006/relationships/image" Target="../media/image116.png"/><Relationship Id="rId4" Type="http://schemas.openxmlformats.org/officeDocument/2006/relationships/image" Target="../media/image73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Relationship Id="rId22" Type="http://schemas.openxmlformats.org/officeDocument/2006/relationships/image" Target="../media/image90.png"/><Relationship Id="rId27" Type="http://schemas.openxmlformats.org/officeDocument/2006/relationships/image" Target="../media/image95.png"/><Relationship Id="rId30" Type="http://schemas.openxmlformats.org/officeDocument/2006/relationships/image" Target="../media/image98.jpeg"/><Relationship Id="rId35" Type="http://schemas.openxmlformats.org/officeDocument/2006/relationships/image" Target="../media/image102.png"/><Relationship Id="rId43" Type="http://schemas.openxmlformats.org/officeDocument/2006/relationships/image" Target="../media/image109.svg"/><Relationship Id="rId48" Type="http://schemas.openxmlformats.org/officeDocument/2006/relationships/image" Target="../media/image112.png"/><Relationship Id="rId8" Type="http://schemas.microsoft.com/office/2007/relationships/hdphoto" Target="../media/hdphoto1.wdp"/><Relationship Id="rId51" Type="http://schemas.openxmlformats.org/officeDocument/2006/relationships/image" Target="../media/image115.jpg"/><Relationship Id="rId3" Type="http://schemas.openxmlformats.org/officeDocument/2006/relationships/image" Target="../media/image2.png"/><Relationship Id="rId12" Type="http://schemas.openxmlformats.org/officeDocument/2006/relationships/image" Target="../media/image80.png"/><Relationship Id="rId17" Type="http://schemas.openxmlformats.org/officeDocument/2006/relationships/image" Target="../media/image85.jpeg"/><Relationship Id="rId25" Type="http://schemas.openxmlformats.org/officeDocument/2006/relationships/image" Target="../media/image93.png"/><Relationship Id="rId33" Type="http://schemas.openxmlformats.org/officeDocument/2006/relationships/image" Target="../media/image100.png"/><Relationship Id="rId38" Type="http://schemas.openxmlformats.org/officeDocument/2006/relationships/image" Target="../media/image104.png"/><Relationship Id="rId46" Type="http://schemas.openxmlformats.org/officeDocument/2006/relationships/image" Target="../media/image68.png"/><Relationship Id="rId20" Type="http://schemas.openxmlformats.org/officeDocument/2006/relationships/image" Target="../media/image88.png"/><Relationship Id="rId41" Type="http://schemas.openxmlformats.org/officeDocument/2006/relationships/image" Target="../media/image10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15" Type="http://schemas.openxmlformats.org/officeDocument/2006/relationships/image" Target="../media/image83.png"/><Relationship Id="rId23" Type="http://schemas.openxmlformats.org/officeDocument/2006/relationships/image" Target="../media/image91.png"/><Relationship Id="rId28" Type="http://schemas.openxmlformats.org/officeDocument/2006/relationships/image" Target="../media/image96.jpeg"/><Relationship Id="rId36" Type="http://schemas.openxmlformats.org/officeDocument/2006/relationships/image" Target="../media/image70.png"/><Relationship Id="rId49" Type="http://schemas.openxmlformats.org/officeDocument/2006/relationships/image" Target="../media/image11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633548" y="2762202"/>
            <a:ext cx="11185855" cy="575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Corporate </a:t>
            </a:r>
            <a:r>
              <a:rPr lang="en-US" sz="7200" i="1" dirty="0">
                <a:solidFill>
                  <a:srgbClr val="A3CBE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Capability</a:t>
            </a:r>
            <a:r>
              <a:rPr lang="en-US" sz="7200" dirty="0">
                <a:solidFill>
                  <a:srgbClr val="A3CBE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.</a:t>
            </a:r>
            <a:endParaRPr lang="en-US" sz="7200" dirty="0"/>
          </a:p>
          <a:p>
            <a:pPr marL="0" indent="0">
              <a:buNone/>
            </a:pP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02920" y="3611880"/>
            <a:ext cx="11185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200" dirty="0"/>
          </a:p>
        </p:txBody>
      </p:sp>
      <p:sp>
        <p:nvSpPr>
          <p:cNvPr id="12" name="Shape 10"/>
          <p:cNvSpPr/>
          <p:nvPr/>
        </p:nvSpPr>
        <p:spPr>
          <a:xfrm>
            <a:off x="502920" y="6035040"/>
            <a:ext cx="11185855" cy="0"/>
          </a:xfrm>
          <a:prstGeom prst="line">
            <a:avLst/>
          </a:prstGeom>
          <a:noFill/>
          <a:ln w="9525">
            <a:solidFill>
              <a:srgbClr val="2A3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4557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CONFIDENTIAL</a:t>
            </a:r>
            <a:endParaRPr lang="en-US" sz="1000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129C1BF-A21C-6494-7151-5802B0BB7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65760"/>
            <a:ext cx="3777314" cy="1175956"/>
          </a:xfrm>
          <a:prstGeom prst="rect">
            <a:avLst/>
          </a:prstGeom>
        </p:spPr>
      </p:pic>
      <p:sp>
        <p:nvSpPr>
          <p:cNvPr id="2" name="Text 11">
            <a:extLst>
              <a:ext uri="{FF2B5EF4-FFF2-40B4-BE49-F238E27FC236}">
                <a16:creationId xmlns:a16="http://schemas.microsoft.com/office/drawing/2014/main" id="{268C2E3A-08E8-D83B-EFB3-3E325790DEC1}"/>
              </a:ext>
            </a:extLst>
          </p:cNvPr>
          <p:cNvSpPr/>
          <p:nvPr/>
        </p:nvSpPr>
        <p:spPr>
          <a:xfrm>
            <a:off x="633548" y="3700651"/>
            <a:ext cx="113249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CDC8A5"/>
                </a:solidFill>
                <a:latin typeface="IBM Plex Sans" pitchFamily="34" charset="0"/>
              </a:rPr>
              <a:t>an AI-led enterprise transformation company across Platforms, Advisory and Digital Engineering</a:t>
            </a:r>
            <a:r>
              <a:rPr lang="en-US" sz="4800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4800" dirty="0"/>
          </a:p>
        </p:txBody>
      </p:sp>
      <p:sp>
        <p:nvSpPr>
          <p:cNvPr id="4" name="Text 12">
            <a:extLst>
              <a:ext uri="{FF2B5EF4-FFF2-40B4-BE49-F238E27FC236}">
                <a16:creationId xmlns:a16="http://schemas.microsoft.com/office/drawing/2014/main" id="{4B1213B8-81D5-DB65-357E-723797EA2E4C}"/>
              </a:ext>
            </a:extLst>
          </p:cNvPr>
          <p:cNvSpPr/>
          <p:nvPr/>
        </p:nvSpPr>
        <p:spPr>
          <a:xfrm>
            <a:off x="2804053" y="61822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BC54B6-FB8B-32B6-8676-1B5A307D8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15D7B689-5FC5-674D-26A5-A3C7CA784225}"/>
              </a:ext>
            </a:extLst>
          </p:cNvPr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 A GLANCE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10514CC-87A8-F267-56B3-3F7A7A372C8C}"/>
              </a:ext>
            </a:extLst>
          </p:cNvPr>
          <p:cNvSpPr/>
          <p:nvPr/>
        </p:nvSpPr>
        <p:spPr>
          <a:xfrm>
            <a:off x="502920" y="1499257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decade of enterprise transformation,</a:t>
            </a:r>
            <a:endParaRPr lang="en-US" sz="2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DAD0284-97CF-D371-B9F6-4A00DB527FE5}"/>
              </a:ext>
            </a:extLst>
          </p:cNvPr>
          <p:cNvSpPr/>
          <p:nvPr/>
        </p:nvSpPr>
        <p:spPr>
          <a:xfrm>
            <a:off x="502920" y="2047897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3F75A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delivered globally.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C796D51-43F6-3C1F-D660-832C311C766F}"/>
              </a:ext>
            </a:extLst>
          </p:cNvPr>
          <p:cNvSpPr/>
          <p:nvPr/>
        </p:nvSpPr>
        <p:spPr>
          <a:xfrm>
            <a:off x="502920" y="302107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Built for complex SAP-led programs with adjacent capability across Salesforce, Workday, Digital, Data &amp; AI.</a:t>
            </a:r>
            <a:endParaRPr lang="en-US" sz="1300" dirty="0"/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27CDD9B6-CCBA-9A02-7B6C-60EEF2149594}"/>
              </a:ext>
            </a:extLst>
          </p:cNvPr>
          <p:cNvGrpSpPr/>
          <p:nvPr/>
        </p:nvGrpSpPr>
        <p:grpSpPr>
          <a:xfrm>
            <a:off x="502920" y="3477085"/>
            <a:ext cx="11324805" cy="2161328"/>
            <a:chOff x="502920" y="3108960"/>
            <a:chExt cx="11185855" cy="2377440"/>
          </a:xfrm>
        </p:grpSpPr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9EE6A8F6-6243-FB41-2ED8-68D2D253885A}"/>
                </a:ext>
              </a:extLst>
            </p:cNvPr>
            <p:cNvSpPr/>
            <p:nvPr/>
          </p:nvSpPr>
          <p:spPr>
            <a:xfrm>
              <a:off x="502920" y="3108960"/>
              <a:ext cx="2673020" cy="1280160"/>
            </a:xfrm>
            <a:prstGeom prst="rect">
              <a:avLst/>
            </a:prstGeom>
            <a:solidFill>
              <a:srgbClr val="94B8D0"/>
            </a:solidFill>
            <a:ln w="9525">
              <a:solidFill>
                <a:srgbClr val="D8DBE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07E03FA2-6535-A51E-52CE-D4CBAEA28179}"/>
                </a:ext>
              </a:extLst>
            </p:cNvPr>
            <p:cNvSpPr/>
            <p:nvPr/>
          </p:nvSpPr>
          <p:spPr>
            <a:xfrm>
              <a:off x="530352" y="3262231"/>
              <a:ext cx="2673020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600" b="1" dirty="0">
                  <a:solidFill>
                    <a:srgbClr val="121E3B"/>
                  </a:solidFill>
                  <a:latin typeface="Newsreader" pitchFamily="34" charset="0"/>
                  <a:ea typeface="Newsreader" pitchFamily="34" charset="-122"/>
                  <a:cs typeface="Newsreader" pitchFamily="34" charset="-120"/>
                </a:rPr>
                <a:t>10+</a:t>
              </a:r>
              <a:endParaRPr lang="en-US" sz="4600" dirty="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EF5D1130-B0C1-67A7-5C96-26E8AFB8733C}"/>
                </a:ext>
              </a:extLst>
            </p:cNvPr>
            <p:cNvSpPr/>
            <p:nvPr/>
          </p:nvSpPr>
          <p:spPr>
            <a:xfrm>
              <a:off x="667512" y="3984607"/>
              <a:ext cx="2398700" cy="448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A6478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Years of experience</a:t>
              </a:r>
              <a:endParaRPr lang="en-US" sz="1000" dirty="0"/>
            </a:p>
          </p:txBody>
        </p:sp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8FED598A-93E7-A87F-33E2-F26CC155C5F4}"/>
                </a:ext>
              </a:extLst>
            </p:cNvPr>
            <p:cNvSpPr/>
            <p:nvPr/>
          </p:nvSpPr>
          <p:spPr>
            <a:xfrm>
              <a:off x="3340532" y="3108960"/>
              <a:ext cx="2673020" cy="1280160"/>
            </a:xfrm>
            <a:prstGeom prst="rect">
              <a:avLst/>
            </a:prstGeom>
            <a:solidFill>
              <a:srgbClr val="94B8D0"/>
            </a:solidFill>
            <a:ln w="9525">
              <a:solidFill>
                <a:srgbClr val="D8DBE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47BA0CFD-103C-6297-4A36-EA5B592804B9}"/>
                </a:ext>
              </a:extLst>
            </p:cNvPr>
            <p:cNvSpPr/>
            <p:nvPr/>
          </p:nvSpPr>
          <p:spPr>
            <a:xfrm>
              <a:off x="3340532" y="3262231"/>
              <a:ext cx="2673020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600" b="1" dirty="0">
                  <a:solidFill>
                    <a:srgbClr val="121E3B"/>
                  </a:solidFill>
                  <a:latin typeface="Newsreader" pitchFamily="34" charset="0"/>
                  <a:ea typeface="Newsreader" pitchFamily="34" charset="-122"/>
                  <a:cs typeface="Newsreader" pitchFamily="34" charset="-120"/>
                </a:rPr>
                <a:t>380+</a:t>
              </a:r>
              <a:endParaRPr lang="en-US" sz="4600" dirty="0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CE18582F-1320-98BE-50EC-793A49D438A1}"/>
                </a:ext>
              </a:extLst>
            </p:cNvPr>
            <p:cNvSpPr/>
            <p:nvPr/>
          </p:nvSpPr>
          <p:spPr>
            <a:xfrm>
              <a:off x="3477692" y="3984607"/>
              <a:ext cx="2398700" cy="448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A6478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Employees</a:t>
              </a:r>
              <a:endParaRPr lang="en-US" sz="1000" dirty="0"/>
            </a:p>
          </p:txBody>
        </p:sp>
        <p:sp>
          <p:nvSpPr>
            <p:cNvPr id="17" name="Shape 15">
              <a:extLst>
                <a:ext uri="{FF2B5EF4-FFF2-40B4-BE49-F238E27FC236}">
                  <a16:creationId xmlns:a16="http://schemas.microsoft.com/office/drawing/2014/main" id="{00E85473-CF90-EDEA-6EF2-50C7220F7D66}"/>
                </a:ext>
              </a:extLst>
            </p:cNvPr>
            <p:cNvSpPr/>
            <p:nvPr/>
          </p:nvSpPr>
          <p:spPr>
            <a:xfrm>
              <a:off x="6178144" y="3108960"/>
              <a:ext cx="2673020" cy="1280160"/>
            </a:xfrm>
            <a:prstGeom prst="rect">
              <a:avLst/>
            </a:prstGeom>
            <a:solidFill>
              <a:srgbClr val="94B8D0"/>
            </a:solidFill>
            <a:ln w="9525">
              <a:solidFill>
                <a:srgbClr val="D8DBE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EC23E6F2-5403-AF24-1146-2A918BA656D7}"/>
                </a:ext>
              </a:extLst>
            </p:cNvPr>
            <p:cNvSpPr/>
            <p:nvPr/>
          </p:nvSpPr>
          <p:spPr>
            <a:xfrm>
              <a:off x="6178144" y="3262231"/>
              <a:ext cx="2673020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600" b="1" dirty="0">
                  <a:solidFill>
                    <a:srgbClr val="121E3B"/>
                  </a:solidFill>
                  <a:latin typeface="Newsreader" pitchFamily="34" charset="0"/>
                  <a:ea typeface="Newsreader" pitchFamily="34" charset="-122"/>
                  <a:cs typeface="Newsreader" pitchFamily="34" charset="-120"/>
                </a:rPr>
                <a:t>150+</a:t>
              </a:r>
              <a:endParaRPr lang="en-US" sz="4600" dirty="0"/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9890EBB2-FD24-0915-1F6F-3C0A577345DD}"/>
                </a:ext>
              </a:extLst>
            </p:cNvPr>
            <p:cNvSpPr/>
            <p:nvPr/>
          </p:nvSpPr>
          <p:spPr>
            <a:xfrm>
              <a:off x="6315304" y="3984607"/>
              <a:ext cx="2398700" cy="448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A6478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Global customers</a:t>
              </a:r>
              <a:endParaRPr lang="en-US" sz="1000" dirty="0"/>
            </a:p>
          </p:txBody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863BC3CF-E934-A586-44A1-0F5A9AEEE777}"/>
                </a:ext>
              </a:extLst>
            </p:cNvPr>
            <p:cNvSpPr/>
            <p:nvPr/>
          </p:nvSpPr>
          <p:spPr>
            <a:xfrm>
              <a:off x="9015755" y="3108960"/>
              <a:ext cx="2673020" cy="1280160"/>
            </a:xfrm>
            <a:prstGeom prst="rect">
              <a:avLst/>
            </a:prstGeom>
            <a:solidFill>
              <a:srgbClr val="94B8D0"/>
            </a:solidFill>
            <a:ln w="9525">
              <a:solidFill>
                <a:srgbClr val="D8DBE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50EB0E6A-F40D-3402-A5C9-92B11A97B2BF}"/>
                </a:ext>
              </a:extLst>
            </p:cNvPr>
            <p:cNvSpPr/>
            <p:nvPr/>
          </p:nvSpPr>
          <p:spPr>
            <a:xfrm>
              <a:off x="9015755" y="3262231"/>
              <a:ext cx="2673020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600" b="1" dirty="0">
                  <a:solidFill>
                    <a:srgbClr val="121E3B"/>
                  </a:solidFill>
                  <a:latin typeface="Newsreader" pitchFamily="34" charset="0"/>
                  <a:ea typeface="Newsreader" pitchFamily="34" charset="-122"/>
                  <a:cs typeface="Newsreader" pitchFamily="34" charset="-120"/>
                </a:rPr>
                <a:t>30+</a:t>
              </a:r>
              <a:endParaRPr lang="en-US" sz="4600" dirty="0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CD1860C8-9B0C-110A-4697-EE06D4CC1800}"/>
                </a:ext>
              </a:extLst>
            </p:cNvPr>
            <p:cNvSpPr/>
            <p:nvPr/>
          </p:nvSpPr>
          <p:spPr>
            <a:xfrm>
              <a:off x="9152915" y="3984607"/>
              <a:ext cx="2398700" cy="448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A6478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Countries delivered</a:t>
              </a:r>
              <a:endParaRPr lang="en-US" sz="1000" dirty="0"/>
            </a:p>
          </p:txBody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CF891121-EA86-78CE-432F-D0F6651004EF}"/>
                </a:ext>
              </a:extLst>
            </p:cNvPr>
            <p:cNvSpPr/>
            <p:nvPr/>
          </p:nvSpPr>
          <p:spPr>
            <a:xfrm>
              <a:off x="502920" y="4572000"/>
              <a:ext cx="2673020" cy="914400"/>
            </a:xfrm>
            <a:prstGeom prst="rect">
              <a:avLst/>
            </a:prstGeom>
            <a:solidFill>
              <a:srgbClr val="94B8D0"/>
            </a:solidFill>
            <a:ln w="9525">
              <a:solidFill>
                <a:srgbClr val="D8DBE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803629C8-3356-3755-A943-4BD22CF6FED8}"/>
                </a:ext>
              </a:extLst>
            </p:cNvPr>
            <p:cNvSpPr/>
            <p:nvPr/>
          </p:nvSpPr>
          <p:spPr>
            <a:xfrm>
              <a:off x="502920" y="4617720"/>
              <a:ext cx="26730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21E3B"/>
                  </a:solidFill>
                  <a:latin typeface="Newsreader" pitchFamily="34" charset="0"/>
                  <a:ea typeface="Newsreader" pitchFamily="34" charset="-122"/>
                  <a:cs typeface="Newsreader" pitchFamily="34" charset="-120"/>
                </a:rPr>
                <a:t>14+</a:t>
              </a:r>
              <a:endParaRPr lang="en-US" sz="2400" dirty="0"/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4E613579-4466-1AB9-876C-7AFC8439DB8A}"/>
                </a:ext>
              </a:extLst>
            </p:cNvPr>
            <p:cNvSpPr/>
            <p:nvPr/>
          </p:nvSpPr>
          <p:spPr>
            <a:xfrm>
              <a:off x="640080" y="5120640"/>
              <a:ext cx="23987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A6478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Industry verticals</a:t>
              </a:r>
              <a:endParaRPr lang="en-US" sz="1000" dirty="0"/>
            </a:p>
          </p:txBody>
        </p:sp>
        <p:sp>
          <p:nvSpPr>
            <p:cNvPr id="26" name="Shape 24">
              <a:extLst>
                <a:ext uri="{FF2B5EF4-FFF2-40B4-BE49-F238E27FC236}">
                  <a16:creationId xmlns:a16="http://schemas.microsoft.com/office/drawing/2014/main" id="{D72685B1-E3CD-68C7-BCA9-D45EEE31E215}"/>
                </a:ext>
              </a:extLst>
            </p:cNvPr>
            <p:cNvSpPr/>
            <p:nvPr/>
          </p:nvSpPr>
          <p:spPr>
            <a:xfrm>
              <a:off x="3340532" y="4572000"/>
              <a:ext cx="2673020" cy="914400"/>
            </a:xfrm>
            <a:prstGeom prst="rect">
              <a:avLst/>
            </a:prstGeom>
            <a:solidFill>
              <a:srgbClr val="94B8D0"/>
            </a:solidFill>
            <a:ln w="9525">
              <a:solidFill>
                <a:srgbClr val="D8DBE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D2AE32DC-317E-7223-C5BF-3183769D226A}"/>
                </a:ext>
              </a:extLst>
            </p:cNvPr>
            <p:cNvSpPr/>
            <p:nvPr/>
          </p:nvSpPr>
          <p:spPr>
            <a:xfrm>
              <a:off x="3340532" y="4617720"/>
              <a:ext cx="26730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21E3B"/>
                  </a:solidFill>
                  <a:latin typeface="Newsreader" pitchFamily="34" charset="0"/>
                  <a:ea typeface="Newsreader" pitchFamily="34" charset="-122"/>
                  <a:cs typeface="Newsreader" pitchFamily="34" charset="-120"/>
                </a:rPr>
                <a:t>12+</a:t>
              </a:r>
              <a:endParaRPr lang="en-US" sz="2400" dirty="0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7F58A600-A4BD-ED49-E813-944710C67F00}"/>
                </a:ext>
              </a:extLst>
            </p:cNvPr>
            <p:cNvSpPr/>
            <p:nvPr/>
          </p:nvSpPr>
          <p:spPr>
            <a:xfrm>
              <a:off x="3477692" y="5120640"/>
              <a:ext cx="23987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A6478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Packaged accelerators</a:t>
              </a:r>
              <a:endParaRPr lang="en-US" sz="1000" dirty="0"/>
            </a:p>
          </p:txBody>
        </p:sp>
        <p:sp>
          <p:nvSpPr>
            <p:cNvPr id="29" name="Shape 27">
              <a:extLst>
                <a:ext uri="{FF2B5EF4-FFF2-40B4-BE49-F238E27FC236}">
                  <a16:creationId xmlns:a16="http://schemas.microsoft.com/office/drawing/2014/main" id="{2D82E965-557A-E581-4962-4906EA64129C}"/>
                </a:ext>
              </a:extLst>
            </p:cNvPr>
            <p:cNvSpPr/>
            <p:nvPr/>
          </p:nvSpPr>
          <p:spPr>
            <a:xfrm>
              <a:off x="6178144" y="4572000"/>
              <a:ext cx="2673020" cy="914400"/>
            </a:xfrm>
            <a:prstGeom prst="rect">
              <a:avLst/>
            </a:prstGeom>
            <a:solidFill>
              <a:srgbClr val="94B8D0"/>
            </a:solidFill>
            <a:ln w="9525">
              <a:solidFill>
                <a:srgbClr val="D8DBE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43A1A2BB-B090-8644-7DE5-DEEF3FB0E80E}"/>
                </a:ext>
              </a:extLst>
            </p:cNvPr>
            <p:cNvSpPr/>
            <p:nvPr/>
          </p:nvSpPr>
          <p:spPr>
            <a:xfrm>
              <a:off x="6178144" y="4617720"/>
              <a:ext cx="26730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21E3B"/>
                  </a:solidFill>
                  <a:latin typeface="Newsreader" pitchFamily="34" charset="0"/>
                  <a:ea typeface="Newsreader" pitchFamily="34" charset="-122"/>
                  <a:cs typeface="Newsreader" pitchFamily="34" charset="-120"/>
                </a:rPr>
                <a:t>12+</a:t>
              </a:r>
              <a:endParaRPr lang="en-US" sz="2400" dirty="0"/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CA21E2C6-C60B-B60F-AA81-DC55F66A4F5A}"/>
                </a:ext>
              </a:extLst>
            </p:cNvPr>
            <p:cNvSpPr/>
            <p:nvPr/>
          </p:nvSpPr>
          <p:spPr>
            <a:xfrm>
              <a:off x="6315304" y="5120640"/>
              <a:ext cx="23987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A6478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Strategic partners</a:t>
              </a:r>
              <a:endParaRPr lang="en-US" sz="1000" dirty="0"/>
            </a:p>
          </p:txBody>
        </p:sp>
        <p:sp>
          <p:nvSpPr>
            <p:cNvPr id="32" name="Shape 30">
              <a:extLst>
                <a:ext uri="{FF2B5EF4-FFF2-40B4-BE49-F238E27FC236}">
                  <a16:creationId xmlns:a16="http://schemas.microsoft.com/office/drawing/2014/main" id="{24C65C43-A180-9D09-B165-524EBF24CCF6}"/>
                </a:ext>
              </a:extLst>
            </p:cNvPr>
            <p:cNvSpPr/>
            <p:nvPr/>
          </p:nvSpPr>
          <p:spPr>
            <a:xfrm>
              <a:off x="9015755" y="4572000"/>
              <a:ext cx="2673020" cy="914400"/>
            </a:xfrm>
            <a:prstGeom prst="rect">
              <a:avLst/>
            </a:prstGeom>
            <a:solidFill>
              <a:srgbClr val="94B8D0"/>
            </a:solidFill>
            <a:ln w="9525">
              <a:solidFill>
                <a:srgbClr val="D8DBE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31">
              <a:extLst>
                <a:ext uri="{FF2B5EF4-FFF2-40B4-BE49-F238E27FC236}">
                  <a16:creationId xmlns:a16="http://schemas.microsoft.com/office/drawing/2014/main" id="{E008D41C-C4C2-34EC-5885-40B0BE7C08BF}"/>
                </a:ext>
              </a:extLst>
            </p:cNvPr>
            <p:cNvSpPr/>
            <p:nvPr/>
          </p:nvSpPr>
          <p:spPr>
            <a:xfrm>
              <a:off x="9015755" y="4617720"/>
              <a:ext cx="26730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21E3B"/>
                  </a:solidFill>
                  <a:latin typeface="Newsreader" pitchFamily="34" charset="0"/>
                  <a:ea typeface="Newsreader" pitchFamily="34" charset="-122"/>
                  <a:cs typeface="Newsreader" pitchFamily="34" charset="-120"/>
                </a:rPr>
                <a:t>10+</a:t>
              </a:r>
              <a:endParaRPr lang="en-US" sz="2400" dirty="0"/>
            </a:p>
          </p:txBody>
        </p:sp>
        <p:sp>
          <p:nvSpPr>
            <p:cNvPr id="34" name="Text 32">
              <a:extLst>
                <a:ext uri="{FF2B5EF4-FFF2-40B4-BE49-F238E27FC236}">
                  <a16:creationId xmlns:a16="http://schemas.microsoft.com/office/drawing/2014/main" id="{89F2B377-4ED1-B699-2899-06B295E960C0}"/>
                </a:ext>
              </a:extLst>
            </p:cNvPr>
            <p:cNvSpPr/>
            <p:nvPr/>
          </p:nvSpPr>
          <p:spPr>
            <a:xfrm>
              <a:off x="9152915" y="5120640"/>
              <a:ext cx="23987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A6478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Proprietary accelerators</a:t>
              </a:r>
              <a:endParaRPr lang="en-US" sz="1000" dirty="0"/>
            </a:p>
          </p:txBody>
        </p:sp>
      </p:grpSp>
      <p:sp>
        <p:nvSpPr>
          <p:cNvPr id="35" name="Shape 33">
            <a:extLst>
              <a:ext uri="{FF2B5EF4-FFF2-40B4-BE49-F238E27FC236}">
                <a16:creationId xmlns:a16="http://schemas.microsoft.com/office/drawing/2014/main" id="{DAE0E3F5-F3C4-4712-2D6A-036C8A518860}"/>
              </a:ext>
            </a:extLst>
          </p:cNvPr>
          <p:cNvSpPr/>
          <p:nvPr/>
        </p:nvSpPr>
        <p:spPr>
          <a:xfrm>
            <a:off x="502920" y="5715000"/>
            <a:ext cx="11185855" cy="64008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D1B594A8-B099-DBF1-1F41-75CF5290DE98}"/>
              </a:ext>
            </a:extLst>
          </p:cNvPr>
          <p:cNvSpPr/>
          <p:nvPr/>
        </p:nvSpPr>
        <p:spPr>
          <a:xfrm>
            <a:off x="731520" y="5715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FOOTPRINT &amp; CREDENTIALS</a:t>
            </a:r>
            <a:endParaRPr lang="en-US" sz="95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181DCAA6-A1F5-61B4-3AC8-B5046BBD1DEE}"/>
              </a:ext>
            </a:extLst>
          </p:cNvPr>
          <p:cNvSpPr/>
          <p:nvPr/>
        </p:nvSpPr>
        <p:spPr>
          <a:xfrm>
            <a:off x="2194560" y="5833872"/>
            <a:ext cx="0" cy="402336"/>
          </a:xfrm>
          <a:prstGeom prst="line">
            <a:avLst/>
          </a:prstGeom>
          <a:noFill/>
          <a:ln w="12700">
            <a:solidFill>
              <a:srgbClr val="A3CBE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B498921D-408A-E3BD-BDEE-B6ACA3536286}"/>
              </a:ext>
            </a:extLst>
          </p:cNvPr>
          <p:cNvSpPr/>
          <p:nvPr/>
        </p:nvSpPr>
        <p:spPr>
          <a:xfrm>
            <a:off x="2377440" y="5715000"/>
            <a:ext cx="91741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Delivery Centres (Bengaluru, Hyderabad, Delhi NCR, Bhubaneswar)  •  6 Sales Offices (Mumbai, Chennai, Singapore, Dubai, Nairobi, Johannesburg)  •  SAP Gold Partner • RISE with SAP • PCE Partner • Salesforce Partner • Workday Services • CMMI • ISO 9001 • ISO 27001</a:t>
            </a:r>
            <a:endParaRPr lang="en-US" sz="11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489E482B-4BD4-D677-4603-502528BD941F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83B92ECB-BE90-C70B-42AE-91550F2A3D97}"/>
              </a:ext>
            </a:extLst>
          </p:cNvPr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11782DEC-BD6B-D978-82AD-8F06E6E44B68}"/>
              </a:ext>
            </a:extLst>
          </p:cNvPr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9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FC1DB2AE-ACF3-1FC4-E44B-08C18A439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sp>
        <p:nvSpPr>
          <p:cNvPr id="2" name="Rectangle 6">
            <a:extLst>
              <a:ext uri="{FF2B5EF4-FFF2-40B4-BE49-F238E27FC236}">
                <a16:creationId xmlns:a16="http://schemas.microsoft.com/office/drawing/2014/main" id="{403AD652-AF83-1616-3582-AEF5BC2E5AD7}"/>
              </a:ext>
            </a:extLst>
          </p:cNvPr>
          <p:cNvSpPr>
            <a:spLocks noChangeAspect="1"/>
          </p:cNvSpPr>
          <p:nvPr/>
        </p:nvSpPr>
        <p:spPr>
          <a:xfrm>
            <a:off x="11162371" y="145576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DBD4FB11-2CED-8585-DD3D-15500B12CA59}"/>
              </a:ext>
            </a:extLst>
          </p:cNvPr>
          <p:cNvSpPr>
            <a:spLocks noChangeAspect="1"/>
          </p:cNvSpPr>
          <p:nvPr/>
        </p:nvSpPr>
        <p:spPr>
          <a:xfrm>
            <a:off x="10924478" y="398337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6C3A612-8E30-46D2-57DE-B9AB6F59A3CB}"/>
              </a:ext>
            </a:extLst>
          </p:cNvPr>
          <p:cNvGrpSpPr>
            <a:grpSpLocks noChangeAspect="1"/>
          </p:cNvGrpSpPr>
          <p:nvPr/>
        </p:nvGrpSpPr>
        <p:grpSpPr>
          <a:xfrm>
            <a:off x="6958935" y="730739"/>
            <a:ext cx="4361700" cy="2415734"/>
            <a:chOff x="4027664" y="1691640"/>
            <a:chExt cx="6991572" cy="3872293"/>
          </a:xfrm>
        </p:grpSpPr>
        <p:sp>
          <p:nvSpPr>
            <p:cNvPr id="5" name="Freeform 30">
              <a:extLst>
                <a:ext uri="{FF2B5EF4-FFF2-40B4-BE49-F238E27FC236}">
                  <a16:creationId xmlns:a16="http://schemas.microsoft.com/office/drawing/2014/main" id="{D6D7ED95-5783-DFA3-EE2B-A785AA712F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9521" y="3293741"/>
              <a:ext cx="10582" cy="14109"/>
            </a:xfrm>
            <a:custGeom>
              <a:avLst/>
              <a:gdLst>
                <a:gd name="T0" fmla="*/ 3 w 5"/>
                <a:gd name="T1" fmla="*/ 0 h 6"/>
                <a:gd name="T2" fmla="*/ 0 w 5"/>
                <a:gd name="T3" fmla="*/ 6 h 6"/>
                <a:gd name="T4" fmla="*/ 4 w 5"/>
                <a:gd name="T5" fmla="*/ 6 h 6"/>
                <a:gd name="T6" fmla="*/ 5 w 5"/>
                <a:gd name="T7" fmla="*/ 0 h 6"/>
                <a:gd name="T8" fmla="*/ 3 w 5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3" y="0"/>
                  </a:moveTo>
                  <a:cubicBezTo>
                    <a:pt x="0" y="2"/>
                    <a:pt x="0" y="3"/>
                    <a:pt x="0" y="6"/>
                  </a:cubicBezTo>
                  <a:cubicBezTo>
                    <a:pt x="2" y="6"/>
                    <a:pt x="4" y="6"/>
                    <a:pt x="4" y="6"/>
                  </a:cubicBezTo>
                  <a:cubicBezTo>
                    <a:pt x="4" y="3"/>
                    <a:pt x="5" y="2"/>
                    <a:pt x="5" y="0"/>
                  </a:cubicBezTo>
                  <a:cubicBezTo>
                    <a:pt x="4" y="0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70C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48590" tIns="74296" rIns="148590" bIns="74296"/>
            <a:lstStyle/>
            <a:p>
              <a:pPr marL="0" marR="0" lvl="0" indent="0" algn="l" defTabSz="91281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163">
              <a:extLst>
                <a:ext uri="{FF2B5EF4-FFF2-40B4-BE49-F238E27FC236}">
                  <a16:creationId xmlns:a16="http://schemas.microsoft.com/office/drawing/2014/main" id="{C225E8B3-946B-A702-EF0E-F3B1D6278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9285" y="2032738"/>
              <a:ext cx="45855" cy="44092"/>
            </a:xfrm>
            <a:custGeom>
              <a:avLst/>
              <a:gdLst>
                <a:gd name="T0" fmla="*/ 7 w 22"/>
                <a:gd name="T1" fmla="*/ 0 h 19"/>
                <a:gd name="T2" fmla="*/ 22 w 22"/>
                <a:gd name="T3" fmla="*/ 19 h 19"/>
                <a:gd name="T4" fmla="*/ 8 w 22"/>
                <a:gd name="T5" fmla="*/ 0 h 19"/>
                <a:gd name="T6" fmla="*/ 8 w 22"/>
                <a:gd name="T7" fmla="*/ 1 h 19"/>
                <a:gd name="T8" fmla="*/ 7 w 22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9">
                  <a:moveTo>
                    <a:pt x="7" y="0"/>
                  </a:moveTo>
                  <a:cubicBezTo>
                    <a:pt x="13" y="7"/>
                    <a:pt x="19" y="9"/>
                    <a:pt x="22" y="19"/>
                  </a:cubicBezTo>
                  <a:cubicBezTo>
                    <a:pt x="13" y="17"/>
                    <a:pt x="0" y="3"/>
                    <a:pt x="8" y="0"/>
                  </a:cubicBezTo>
                  <a:cubicBezTo>
                    <a:pt x="8" y="1"/>
                    <a:pt x="8" y="1"/>
                    <a:pt x="8" y="1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70C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48590" tIns="74296" rIns="148590" bIns="74296"/>
            <a:lstStyle/>
            <a:p>
              <a:pPr marL="0" marR="0" lvl="0" indent="0" algn="l" defTabSz="91281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grpSp>
          <p:nvGrpSpPr>
            <p:cNvPr id="42" name="Group 341">
              <a:extLst>
                <a:ext uri="{FF2B5EF4-FFF2-40B4-BE49-F238E27FC236}">
                  <a16:creationId xmlns:a16="http://schemas.microsoft.com/office/drawing/2014/main" id="{1F44B715-7761-809E-6C1D-4B8610CE422E}"/>
                </a:ext>
              </a:extLst>
            </p:cNvPr>
            <p:cNvGrpSpPr/>
            <p:nvPr/>
          </p:nvGrpSpPr>
          <p:grpSpPr>
            <a:xfrm>
              <a:off x="6966205" y="3329047"/>
              <a:ext cx="1333671" cy="1660146"/>
              <a:chOff x="4097338" y="2217738"/>
              <a:chExt cx="1139825" cy="1274763"/>
            </a:xfrm>
            <a:solidFill>
              <a:srgbClr val="121E3B"/>
            </a:solidFill>
          </p:grpSpPr>
          <p:sp>
            <p:nvSpPr>
              <p:cNvPr id="279" name="Freeform 5">
                <a:extLst>
                  <a:ext uri="{FF2B5EF4-FFF2-40B4-BE49-F238E27FC236}">
                    <a16:creationId xmlns:a16="http://schemas.microsoft.com/office/drawing/2014/main" id="{6078F107-CA2B-F9F6-6446-C696C87E34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02225" y="3086100"/>
                <a:ext cx="120650" cy="233363"/>
              </a:xfrm>
              <a:custGeom>
                <a:avLst/>
                <a:gdLst/>
                <a:ahLst/>
                <a:cxnLst>
                  <a:cxn ang="0">
                    <a:pos x="9" y="114"/>
                  </a:cxn>
                  <a:cxn ang="0">
                    <a:pos x="18" y="94"/>
                  </a:cxn>
                  <a:cxn ang="0">
                    <a:pos x="11" y="71"/>
                  </a:cxn>
                  <a:cxn ang="0">
                    <a:pos x="40" y="43"/>
                  </a:cxn>
                  <a:cxn ang="0">
                    <a:pos x="71" y="13"/>
                  </a:cxn>
                  <a:cxn ang="0">
                    <a:pos x="73" y="0"/>
                  </a:cxn>
                  <a:cxn ang="0">
                    <a:pos x="91" y="42"/>
                  </a:cxn>
                  <a:cxn ang="0">
                    <a:pos x="91" y="49"/>
                  </a:cxn>
                  <a:cxn ang="0">
                    <a:pos x="84" y="47"/>
                  </a:cxn>
                  <a:cxn ang="0">
                    <a:pos x="64" y="126"/>
                  </a:cxn>
                  <a:cxn ang="0">
                    <a:pos x="25" y="175"/>
                  </a:cxn>
                  <a:cxn ang="0">
                    <a:pos x="5" y="151"/>
                  </a:cxn>
                  <a:cxn ang="0">
                    <a:pos x="5" y="140"/>
                  </a:cxn>
                  <a:cxn ang="0">
                    <a:pos x="0" y="122"/>
                  </a:cxn>
                  <a:cxn ang="0">
                    <a:pos x="9" y="114"/>
                  </a:cxn>
                </a:cxnLst>
                <a:rect l="0" t="0" r="r" b="b"/>
                <a:pathLst>
                  <a:path w="91" h="175">
                    <a:moveTo>
                      <a:pt x="9" y="114"/>
                    </a:moveTo>
                    <a:cubicBezTo>
                      <a:pt x="9" y="114"/>
                      <a:pt x="18" y="95"/>
                      <a:pt x="18" y="94"/>
                    </a:cubicBezTo>
                    <a:cubicBezTo>
                      <a:pt x="18" y="89"/>
                      <a:pt x="11" y="78"/>
                      <a:pt x="11" y="71"/>
                    </a:cubicBezTo>
                    <a:cubicBezTo>
                      <a:pt x="11" y="49"/>
                      <a:pt x="27" y="50"/>
                      <a:pt x="40" y="43"/>
                    </a:cubicBezTo>
                    <a:cubicBezTo>
                      <a:pt x="50" y="37"/>
                      <a:pt x="64" y="20"/>
                      <a:pt x="71" y="13"/>
                    </a:cubicBezTo>
                    <a:cubicBezTo>
                      <a:pt x="73" y="11"/>
                      <a:pt x="72" y="4"/>
                      <a:pt x="73" y="0"/>
                    </a:cubicBezTo>
                    <a:cubicBezTo>
                      <a:pt x="88" y="2"/>
                      <a:pt x="87" y="31"/>
                      <a:pt x="91" y="42"/>
                    </a:cubicBezTo>
                    <a:cubicBezTo>
                      <a:pt x="91" y="49"/>
                      <a:pt x="91" y="49"/>
                      <a:pt x="91" y="49"/>
                    </a:cubicBezTo>
                    <a:cubicBezTo>
                      <a:pt x="89" y="48"/>
                      <a:pt x="85" y="47"/>
                      <a:pt x="84" y="47"/>
                    </a:cubicBezTo>
                    <a:cubicBezTo>
                      <a:pt x="84" y="79"/>
                      <a:pt x="74" y="101"/>
                      <a:pt x="64" y="126"/>
                    </a:cubicBezTo>
                    <a:cubicBezTo>
                      <a:pt x="56" y="146"/>
                      <a:pt x="52" y="175"/>
                      <a:pt x="25" y="175"/>
                    </a:cubicBezTo>
                    <a:cubicBezTo>
                      <a:pt x="14" y="175"/>
                      <a:pt x="5" y="163"/>
                      <a:pt x="5" y="151"/>
                    </a:cubicBezTo>
                    <a:cubicBezTo>
                      <a:pt x="5" y="145"/>
                      <a:pt x="6" y="143"/>
                      <a:pt x="5" y="140"/>
                    </a:cubicBezTo>
                    <a:cubicBezTo>
                      <a:pt x="0" y="136"/>
                      <a:pt x="0" y="129"/>
                      <a:pt x="0" y="122"/>
                    </a:cubicBezTo>
                    <a:cubicBezTo>
                      <a:pt x="0" y="121"/>
                      <a:pt x="8" y="114"/>
                      <a:pt x="9" y="11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80" name="Freeform 6">
                <a:extLst>
                  <a:ext uri="{FF2B5EF4-FFF2-40B4-BE49-F238E27FC236}">
                    <a16:creationId xmlns:a16="http://schemas.microsoft.com/office/drawing/2014/main" id="{9F4352FD-B536-6DEA-4A3D-63DDD9662A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7338" y="2217738"/>
                <a:ext cx="1139825" cy="1274763"/>
              </a:xfrm>
              <a:custGeom>
                <a:avLst/>
                <a:gdLst/>
                <a:ahLst/>
                <a:cxnLst>
                  <a:cxn ang="0">
                    <a:pos x="499" y="66"/>
                  </a:cxn>
                  <a:cxn ang="0">
                    <a:pos x="527" y="81"/>
                  </a:cxn>
                  <a:cxn ang="0">
                    <a:pos x="609" y="86"/>
                  </a:cxn>
                  <a:cxn ang="0">
                    <a:pos x="644" y="89"/>
                  </a:cxn>
                  <a:cxn ang="0">
                    <a:pos x="644" y="136"/>
                  </a:cxn>
                  <a:cxn ang="0">
                    <a:pos x="620" y="115"/>
                  </a:cxn>
                  <a:cxn ang="0">
                    <a:pos x="679" y="223"/>
                  </a:cxn>
                  <a:cxn ang="0">
                    <a:pos x="699" y="267"/>
                  </a:cxn>
                  <a:cxn ang="0">
                    <a:pos x="730" y="310"/>
                  </a:cxn>
                  <a:cxn ang="0">
                    <a:pos x="755" y="348"/>
                  </a:cxn>
                  <a:cxn ang="0">
                    <a:pos x="787" y="359"/>
                  </a:cxn>
                  <a:cxn ang="0">
                    <a:pos x="853" y="346"/>
                  </a:cxn>
                  <a:cxn ang="0">
                    <a:pos x="826" y="425"/>
                  </a:cxn>
                  <a:cxn ang="0">
                    <a:pos x="719" y="541"/>
                  </a:cxn>
                  <a:cxn ang="0">
                    <a:pos x="708" y="600"/>
                  </a:cxn>
                  <a:cxn ang="0">
                    <a:pos x="721" y="638"/>
                  </a:cxn>
                  <a:cxn ang="0">
                    <a:pos x="720" y="676"/>
                  </a:cxn>
                  <a:cxn ang="0">
                    <a:pos x="660" y="745"/>
                  </a:cxn>
                  <a:cxn ang="0">
                    <a:pos x="659" y="788"/>
                  </a:cxn>
                  <a:cxn ang="0">
                    <a:pos x="643" y="816"/>
                  </a:cxn>
                  <a:cxn ang="0">
                    <a:pos x="627" y="846"/>
                  </a:cxn>
                  <a:cxn ang="0">
                    <a:pos x="592" y="902"/>
                  </a:cxn>
                  <a:cxn ang="0">
                    <a:pos x="538" y="946"/>
                  </a:cxn>
                  <a:cxn ang="0">
                    <a:pos x="512" y="944"/>
                  </a:cxn>
                  <a:cxn ang="0">
                    <a:pos x="452" y="949"/>
                  </a:cxn>
                  <a:cxn ang="0">
                    <a:pos x="440" y="929"/>
                  </a:cxn>
                  <a:cxn ang="0">
                    <a:pos x="431" y="893"/>
                  </a:cxn>
                  <a:cxn ang="0">
                    <a:pos x="395" y="789"/>
                  </a:cxn>
                  <a:cxn ang="0">
                    <a:pos x="360" y="708"/>
                  </a:cxn>
                  <a:cxn ang="0">
                    <a:pos x="382" y="621"/>
                  </a:cxn>
                  <a:cxn ang="0">
                    <a:pos x="364" y="558"/>
                  </a:cxn>
                  <a:cxn ang="0">
                    <a:pos x="337" y="490"/>
                  </a:cxn>
                  <a:cxn ang="0">
                    <a:pos x="342" y="461"/>
                  </a:cxn>
                  <a:cxn ang="0">
                    <a:pos x="295" y="443"/>
                  </a:cxn>
                  <a:cxn ang="0">
                    <a:pos x="206" y="433"/>
                  </a:cxn>
                  <a:cxn ang="0">
                    <a:pos x="164" y="434"/>
                  </a:cxn>
                  <a:cxn ang="0">
                    <a:pos x="109" y="439"/>
                  </a:cxn>
                  <a:cxn ang="0">
                    <a:pos x="40" y="369"/>
                  </a:cxn>
                  <a:cxn ang="0">
                    <a:pos x="7" y="338"/>
                  </a:cxn>
                  <a:cxn ang="0">
                    <a:pos x="7" y="324"/>
                  </a:cxn>
                  <a:cxn ang="0">
                    <a:pos x="18" y="269"/>
                  </a:cxn>
                  <a:cxn ang="0">
                    <a:pos x="22" y="199"/>
                  </a:cxn>
                  <a:cxn ang="0">
                    <a:pos x="77" y="132"/>
                  </a:cxn>
                  <a:cxn ang="0">
                    <a:pos x="104" y="77"/>
                  </a:cxn>
                  <a:cxn ang="0">
                    <a:pos x="141" y="36"/>
                  </a:cxn>
                  <a:cxn ang="0">
                    <a:pos x="187" y="35"/>
                  </a:cxn>
                  <a:cxn ang="0">
                    <a:pos x="273" y="6"/>
                  </a:cxn>
                  <a:cxn ang="0">
                    <a:pos x="307" y="4"/>
                  </a:cxn>
                  <a:cxn ang="0">
                    <a:pos x="338" y="0"/>
                  </a:cxn>
                  <a:cxn ang="0">
                    <a:pos x="358" y="6"/>
                  </a:cxn>
                  <a:cxn ang="0">
                    <a:pos x="357" y="27"/>
                  </a:cxn>
                  <a:cxn ang="0">
                    <a:pos x="371" y="64"/>
                  </a:cxn>
                  <a:cxn ang="0">
                    <a:pos x="455" y="100"/>
                  </a:cxn>
                  <a:cxn ang="0">
                    <a:pos x="464" y="84"/>
                  </a:cxn>
                  <a:cxn ang="0">
                    <a:pos x="490" y="66"/>
                  </a:cxn>
                </a:cxnLst>
                <a:rect l="0" t="0" r="r" b="b"/>
                <a:pathLst>
                  <a:path w="856" h="957">
                    <a:moveTo>
                      <a:pt x="490" y="66"/>
                    </a:moveTo>
                    <a:cubicBezTo>
                      <a:pt x="499" y="66"/>
                      <a:pt x="499" y="66"/>
                      <a:pt x="499" y="66"/>
                    </a:cubicBezTo>
                    <a:cubicBezTo>
                      <a:pt x="499" y="73"/>
                      <a:pt x="504" y="74"/>
                      <a:pt x="506" y="77"/>
                    </a:cubicBezTo>
                    <a:cubicBezTo>
                      <a:pt x="510" y="82"/>
                      <a:pt x="520" y="78"/>
                      <a:pt x="527" y="81"/>
                    </a:cubicBezTo>
                    <a:cubicBezTo>
                      <a:pt x="541" y="86"/>
                      <a:pt x="561" y="93"/>
                      <a:pt x="576" y="93"/>
                    </a:cubicBezTo>
                    <a:cubicBezTo>
                      <a:pt x="591" y="93"/>
                      <a:pt x="595" y="86"/>
                      <a:pt x="609" y="86"/>
                    </a:cubicBezTo>
                    <a:cubicBezTo>
                      <a:pt x="617" y="86"/>
                      <a:pt x="622" y="92"/>
                      <a:pt x="632" y="92"/>
                    </a:cubicBezTo>
                    <a:cubicBezTo>
                      <a:pt x="638" y="92"/>
                      <a:pt x="638" y="90"/>
                      <a:pt x="644" y="89"/>
                    </a:cubicBezTo>
                    <a:cubicBezTo>
                      <a:pt x="647" y="96"/>
                      <a:pt x="653" y="102"/>
                      <a:pt x="653" y="111"/>
                    </a:cubicBezTo>
                    <a:cubicBezTo>
                      <a:pt x="653" y="115"/>
                      <a:pt x="646" y="131"/>
                      <a:pt x="644" y="136"/>
                    </a:cubicBezTo>
                    <a:cubicBezTo>
                      <a:pt x="635" y="135"/>
                      <a:pt x="627" y="115"/>
                      <a:pt x="620" y="107"/>
                    </a:cubicBezTo>
                    <a:cubicBezTo>
                      <a:pt x="620" y="115"/>
                      <a:pt x="620" y="115"/>
                      <a:pt x="620" y="115"/>
                    </a:cubicBezTo>
                    <a:cubicBezTo>
                      <a:pt x="662" y="189"/>
                      <a:pt x="662" y="189"/>
                      <a:pt x="662" y="189"/>
                    </a:cubicBezTo>
                    <a:cubicBezTo>
                      <a:pt x="659" y="198"/>
                      <a:pt x="673" y="218"/>
                      <a:pt x="679" y="223"/>
                    </a:cubicBezTo>
                    <a:cubicBezTo>
                      <a:pt x="679" y="246"/>
                      <a:pt x="679" y="246"/>
                      <a:pt x="679" y="246"/>
                    </a:cubicBezTo>
                    <a:cubicBezTo>
                      <a:pt x="684" y="258"/>
                      <a:pt x="692" y="258"/>
                      <a:pt x="699" y="267"/>
                    </a:cubicBezTo>
                    <a:cubicBezTo>
                      <a:pt x="707" y="278"/>
                      <a:pt x="702" y="289"/>
                      <a:pt x="710" y="297"/>
                    </a:cubicBezTo>
                    <a:cubicBezTo>
                      <a:pt x="717" y="304"/>
                      <a:pt x="722" y="305"/>
                      <a:pt x="730" y="310"/>
                    </a:cubicBezTo>
                    <a:cubicBezTo>
                      <a:pt x="737" y="316"/>
                      <a:pt x="741" y="334"/>
                      <a:pt x="755" y="334"/>
                    </a:cubicBezTo>
                    <a:cubicBezTo>
                      <a:pt x="755" y="341"/>
                      <a:pt x="759" y="343"/>
                      <a:pt x="755" y="348"/>
                    </a:cubicBezTo>
                    <a:cubicBezTo>
                      <a:pt x="761" y="352"/>
                      <a:pt x="767" y="366"/>
                      <a:pt x="774" y="366"/>
                    </a:cubicBezTo>
                    <a:cubicBezTo>
                      <a:pt x="781" y="366"/>
                      <a:pt x="782" y="361"/>
                      <a:pt x="787" y="359"/>
                    </a:cubicBezTo>
                    <a:cubicBezTo>
                      <a:pt x="794" y="357"/>
                      <a:pt x="798" y="360"/>
                      <a:pt x="805" y="359"/>
                    </a:cubicBezTo>
                    <a:cubicBezTo>
                      <a:pt x="822" y="356"/>
                      <a:pt x="838" y="350"/>
                      <a:pt x="853" y="346"/>
                    </a:cubicBezTo>
                    <a:cubicBezTo>
                      <a:pt x="855" y="348"/>
                      <a:pt x="856" y="350"/>
                      <a:pt x="856" y="352"/>
                    </a:cubicBezTo>
                    <a:cubicBezTo>
                      <a:pt x="856" y="377"/>
                      <a:pt x="837" y="410"/>
                      <a:pt x="826" y="425"/>
                    </a:cubicBezTo>
                    <a:cubicBezTo>
                      <a:pt x="812" y="443"/>
                      <a:pt x="807" y="459"/>
                      <a:pt x="790" y="471"/>
                    </a:cubicBezTo>
                    <a:cubicBezTo>
                      <a:pt x="761" y="494"/>
                      <a:pt x="730" y="501"/>
                      <a:pt x="719" y="541"/>
                    </a:cubicBezTo>
                    <a:cubicBezTo>
                      <a:pt x="716" y="552"/>
                      <a:pt x="704" y="555"/>
                      <a:pt x="704" y="567"/>
                    </a:cubicBezTo>
                    <a:cubicBezTo>
                      <a:pt x="704" y="581"/>
                      <a:pt x="708" y="587"/>
                      <a:pt x="708" y="600"/>
                    </a:cubicBezTo>
                    <a:cubicBezTo>
                      <a:pt x="708" y="615"/>
                      <a:pt x="724" y="623"/>
                      <a:pt x="724" y="631"/>
                    </a:cubicBezTo>
                    <a:cubicBezTo>
                      <a:pt x="724" y="634"/>
                      <a:pt x="722" y="637"/>
                      <a:pt x="721" y="638"/>
                    </a:cubicBezTo>
                    <a:cubicBezTo>
                      <a:pt x="721" y="649"/>
                      <a:pt x="721" y="649"/>
                      <a:pt x="721" y="649"/>
                    </a:cubicBezTo>
                    <a:cubicBezTo>
                      <a:pt x="721" y="656"/>
                      <a:pt x="720" y="664"/>
                      <a:pt x="720" y="676"/>
                    </a:cubicBezTo>
                    <a:cubicBezTo>
                      <a:pt x="722" y="679"/>
                      <a:pt x="723" y="682"/>
                      <a:pt x="723" y="685"/>
                    </a:cubicBezTo>
                    <a:cubicBezTo>
                      <a:pt x="723" y="720"/>
                      <a:pt x="665" y="716"/>
                      <a:pt x="660" y="745"/>
                    </a:cubicBezTo>
                    <a:cubicBezTo>
                      <a:pt x="654" y="746"/>
                      <a:pt x="647" y="753"/>
                      <a:pt x="647" y="758"/>
                    </a:cubicBezTo>
                    <a:cubicBezTo>
                      <a:pt x="647" y="768"/>
                      <a:pt x="659" y="774"/>
                      <a:pt x="659" y="788"/>
                    </a:cubicBezTo>
                    <a:cubicBezTo>
                      <a:pt x="659" y="795"/>
                      <a:pt x="658" y="809"/>
                      <a:pt x="656" y="813"/>
                    </a:cubicBezTo>
                    <a:cubicBezTo>
                      <a:pt x="653" y="817"/>
                      <a:pt x="646" y="815"/>
                      <a:pt x="643" y="816"/>
                    </a:cubicBezTo>
                    <a:cubicBezTo>
                      <a:pt x="632" y="822"/>
                      <a:pt x="626" y="826"/>
                      <a:pt x="621" y="837"/>
                    </a:cubicBezTo>
                    <a:cubicBezTo>
                      <a:pt x="624" y="839"/>
                      <a:pt x="627" y="842"/>
                      <a:pt x="627" y="846"/>
                    </a:cubicBezTo>
                    <a:cubicBezTo>
                      <a:pt x="627" y="859"/>
                      <a:pt x="615" y="868"/>
                      <a:pt x="610" y="874"/>
                    </a:cubicBezTo>
                    <a:cubicBezTo>
                      <a:pt x="600" y="883"/>
                      <a:pt x="599" y="893"/>
                      <a:pt x="592" y="902"/>
                    </a:cubicBezTo>
                    <a:cubicBezTo>
                      <a:pt x="581" y="916"/>
                      <a:pt x="576" y="929"/>
                      <a:pt x="558" y="938"/>
                    </a:cubicBezTo>
                    <a:cubicBezTo>
                      <a:pt x="550" y="941"/>
                      <a:pt x="539" y="938"/>
                      <a:pt x="538" y="946"/>
                    </a:cubicBezTo>
                    <a:cubicBezTo>
                      <a:pt x="532" y="946"/>
                      <a:pt x="529" y="949"/>
                      <a:pt x="525" y="949"/>
                    </a:cubicBezTo>
                    <a:cubicBezTo>
                      <a:pt x="520" y="949"/>
                      <a:pt x="517" y="944"/>
                      <a:pt x="512" y="944"/>
                    </a:cubicBezTo>
                    <a:cubicBezTo>
                      <a:pt x="494" y="944"/>
                      <a:pt x="483" y="957"/>
                      <a:pt x="466" y="957"/>
                    </a:cubicBezTo>
                    <a:cubicBezTo>
                      <a:pt x="459" y="957"/>
                      <a:pt x="455" y="953"/>
                      <a:pt x="452" y="949"/>
                    </a:cubicBezTo>
                    <a:cubicBezTo>
                      <a:pt x="449" y="949"/>
                      <a:pt x="449" y="950"/>
                      <a:pt x="448" y="951"/>
                    </a:cubicBezTo>
                    <a:cubicBezTo>
                      <a:pt x="448" y="942"/>
                      <a:pt x="443" y="932"/>
                      <a:pt x="440" y="929"/>
                    </a:cubicBezTo>
                    <a:cubicBezTo>
                      <a:pt x="443" y="925"/>
                      <a:pt x="445" y="922"/>
                      <a:pt x="445" y="917"/>
                    </a:cubicBezTo>
                    <a:cubicBezTo>
                      <a:pt x="445" y="910"/>
                      <a:pt x="433" y="897"/>
                      <a:pt x="431" y="893"/>
                    </a:cubicBezTo>
                    <a:cubicBezTo>
                      <a:pt x="415" y="866"/>
                      <a:pt x="395" y="840"/>
                      <a:pt x="395" y="801"/>
                    </a:cubicBezTo>
                    <a:cubicBezTo>
                      <a:pt x="395" y="794"/>
                      <a:pt x="395" y="792"/>
                      <a:pt x="395" y="789"/>
                    </a:cubicBezTo>
                    <a:cubicBezTo>
                      <a:pt x="395" y="783"/>
                      <a:pt x="389" y="781"/>
                      <a:pt x="386" y="774"/>
                    </a:cubicBezTo>
                    <a:cubicBezTo>
                      <a:pt x="374" y="754"/>
                      <a:pt x="360" y="737"/>
                      <a:pt x="360" y="708"/>
                    </a:cubicBezTo>
                    <a:cubicBezTo>
                      <a:pt x="360" y="677"/>
                      <a:pt x="388" y="670"/>
                      <a:pt x="388" y="646"/>
                    </a:cubicBezTo>
                    <a:cubicBezTo>
                      <a:pt x="388" y="635"/>
                      <a:pt x="384" y="631"/>
                      <a:pt x="382" y="621"/>
                    </a:cubicBezTo>
                    <a:cubicBezTo>
                      <a:pt x="379" y="602"/>
                      <a:pt x="376" y="596"/>
                      <a:pt x="371" y="585"/>
                    </a:cubicBezTo>
                    <a:cubicBezTo>
                      <a:pt x="368" y="576"/>
                      <a:pt x="370" y="566"/>
                      <a:pt x="364" y="558"/>
                    </a:cubicBezTo>
                    <a:cubicBezTo>
                      <a:pt x="352" y="544"/>
                      <a:pt x="327" y="528"/>
                      <a:pt x="327" y="508"/>
                    </a:cubicBezTo>
                    <a:cubicBezTo>
                      <a:pt x="327" y="503"/>
                      <a:pt x="334" y="492"/>
                      <a:pt x="337" y="490"/>
                    </a:cubicBezTo>
                    <a:cubicBezTo>
                      <a:pt x="336" y="486"/>
                      <a:pt x="337" y="485"/>
                      <a:pt x="337" y="483"/>
                    </a:cubicBezTo>
                    <a:cubicBezTo>
                      <a:pt x="337" y="478"/>
                      <a:pt x="337" y="465"/>
                      <a:pt x="342" y="461"/>
                    </a:cubicBezTo>
                    <a:cubicBezTo>
                      <a:pt x="337" y="451"/>
                      <a:pt x="329" y="443"/>
                      <a:pt x="314" y="443"/>
                    </a:cubicBezTo>
                    <a:cubicBezTo>
                      <a:pt x="306" y="443"/>
                      <a:pt x="299" y="443"/>
                      <a:pt x="295" y="443"/>
                    </a:cubicBezTo>
                    <a:cubicBezTo>
                      <a:pt x="282" y="443"/>
                      <a:pt x="279" y="417"/>
                      <a:pt x="261" y="417"/>
                    </a:cubicBezTo>
                    <a:cubicBezTo>
                      <a:pt x="239" y="417"/>
                      <a:pt x="223" y="427"/>
                      <a:pt x="206" y="433"/>
                    </a:cubicBezTo>
                    <a:cubicBezTo>
                      <a:pt x="199" y="435"/>
                      <a:pt x="197" y="440"/>
                      <a:pt x="191" y="440"/>
                    </a:cubicBezTo>
                    <a:cubicBezTo>
                      <a:pt x="184" y="440"/>
                      <a:pt x="173" y="434"/>
                      <a:pt x="164" y="434"/>
                    </a:cubicBezTo>
                    <a:cubicBezTo>
                      <a:pt x="147" y="434"/>
                      <a:pt x="139" y="443"/>
                      <a:pt x="122" y="443"/>
                    </a:cubicBezTo>
                    <a:cubicBezTo>
                      <a:pt x="117" y="443"/>
                      <a:pt x="111" y="440"/>
                      <a:pt x="109" y="439"/>
                    </a:cubicBezTo>
                    <a:cubicBezTo>
                      <a:pt x="97" y="430"/>
                      <a:pt x="71" y="415"/>
                      <a:pt x="62" y="401"/>
                    </a:cubicBezTo>
                    <a:cubicBezTo>
                      <a:pt x="53" y="388"/>
                      <a:pt x="51" y="377"/>
                      <a:pt x="40" y="369"/>
                    </a:cubicBezTo>
                    <a:cubicBezTo>
                      <a:pt x="37" y="366"/>
                      <a:pt x="13" y="346"/>
                      <a:pt x="13" y="344"/>
                    </a:cubicBezTo>
                    <a:cubicBezTo>
                      <a:pt x="11" y="341"/>
                      <a:pt x="10" y="340"/>
                      <a:pt x="7" y="338"/>
                    </a:cubicBezTo>
                    <a:cubicBezTo>
                      <a:pt x="9" y="338"/>
                      <a:pt x="9" y="338"/>
                      <a:pt x="9" y="338"/>
                    </a:cubicBezTo>
                    <a:cubicBezTo>
                      <a:pt x="9" y="331"/>
                      <a:pt x="7" y="328"/>
                      <a:pt x="7" y="324"/>
                    </a:cubicBezTo>
                    <a:cubicBezTo>
                      <a:pt x="7" y="317"/>
                      <a:pt x="3" y="315"/>
                      <a:pt x="0" y="309"/>
                    </a:cubicBezTo>
                    <a:cubicBezTo>
                      <a:pt x="10" y="304"/>
                      <a:pt x="18" y="280"/>
                      <a:pt x="18" y="269"/>
                    </a:cubicBezTo>
                    <a:cubicBezTo>
                      <a:pt x="18" y="250"/>
                      <a:pt x="10" y="238"/>
                      <a:pt x="10" y="220"/>
                    </a:cubicBezTo>
                    <a:cubicBezTo>
                      <a:pt x="10" y="211"/>
                      <a:pt x="20" y="206"/>
                      <a:pt x="22" y="199"/>
                    </a:cubicBezTo>
                    <a:cubicBezTo>
                      <a:pt x="28" y="182"/>
                      <a:pt x="41" y="158"/>
                      <a:pt x="52" y="144"/>
                    </a:cubicBezTo>
                    <a:cubicBezTo>
                      <a:pt x="58" y="135"/>
                      <a:pt x="69" y="136"/>
                      <a:pt x="77" y="132"/>
                    </a:cubicBezTo>
                    <a:cubicBezTo>
                      <a:pt x="84" y="128"/>
                      <a:pt x="95" y="119"/>
                      <a:pt x="97" y="112"/>
                    </a:cubicBezTo>
                    <a:cubicBezTo>
                      <a:pt x="102" y="96"/>
                      <a:pt x="96" y="89"/>
                      <a:pt x="104" y="77"/>
                    </a:cubicBezTo>
                    <a:cubicBezTo>
                      <a:pt x="116" y="63"/>
                      <a:pt x="131" y="49"/>
                      <a:pt x="142" y="36"/>
                    </a:cubicBezTo>
                    <a:cubicBezTo>
                      <a:pt x="141" y="36"/>
                      <a:pt x="141" y="36"/>
                      <a:pt x="141" y="36"/>
                    </a:cubicBezTo>
                    <a:cubicBezTo>
                      <a:pt x="145" y="31"/>
                      <a:pt x="146" y="27"/>
                      <a:pt x="150" y="24"/>
                    </a:cubicBezTo>
                    <a:cubicBezTo>
                      <a:pt x="161" y="32"/>
                      <a:pt x="172" y="35"/>
                      <a:pt x="187" y="35"/>
                    </a:cubicBezTo>
                    <a:cubicBezTo>
                      <a:pt x="197" y="35"/>
                      <a:pt x="198" y="29"/>
                      <a:pt x="204" y="27"/>
                    </a:cubicBezTo>
                    <a:cubicBezTo>
                      <a:pt x="221" y="18"/>
                      <a:pt x="254" y="6"/>
                      <a:pt x="273" y="6"/>
                    </a:cubicBezTo>
                    <a:cubicBezTo>
                      <a:pt x="280" y="6"/>
                      <a:pt x="285" y="10"/>
                      <a:pt x="289" y="10"/>
                    </a:cubicBezTo>
                    <a:cubicBezTo>
                      <a:pt x="294" y="10"/>
                      <a:pt x="301" y="4"/>
                      <a:pt x="307" y="4"/>
                    </a:cubicBezTo>
                    <a:cubicBezTo>
                      <a:pt x="313" y="4"/>
                      <a:pt x="316" y="7"/>
                      <a:pt x="321" y="7"/>
                    </a:cubicBezTo>
                    <a:cubicBezTo>
                      <a:pt x="329" y="7"/>
                      <a:pt x="330" y="0"/>
                      <a:pt x="338" y="0"/>
                    </a:cubicBezTo>
                    <a:cubicBezTo>
                      <a:pt x="347" y="0"/>
                      <a:pt x="344" y="8"/>
                      <a:pt x="351" y="8"/>
                    </a:cubicBezTo>
                    <a:cubicBezTo>
                      <a:pt x="354" y="8"/>
                      <a:pt x="355" y="6"/>
                      <a:pt x="358" y="6"/>
                    </a:cubicBezTo>
                    <a:cubicBezTo>
                      <a:pt x="358" y="12"/>
                      <a:pt x="351" y="11"/>
                      <a:pt x="351" y="17"/>
                    </a:cubicBezTo>
                    <a:cubicBezTo>
                      <a:pt x="351" y="21"/>
                      <a:pt x="357" y="23"/>
                      <a:pt x="357" y="27"/>
                    </a:cubicBezTo>
                    <a:cubicBezTo>
                      <a:pt x="357" y="33"/>
                      <a:pt x="351" y="37"/>
                      <a:pt x="351" y="44"/>
                    </a:cubicBezTo>
                    <a:cubicBezTo>
                      <a:pt x="351" y="55"/>
                      <a:pt x="363" y="64"/>
                      <a:pt x="371" y="64"/>
                    </a:cubicBezTo>
                    <a:cubicBezTo>
                      <a:pt x="377" y="64"/>
                      <a:pt x="380" y="64"/>
                      <a:pt x="384" y="64"/>
                    </a:cubicBezTo>
                    <a:cubicBezTo>
                      <a:pt x="412" y="64"/>
                      <a:pt x="423" y="100"/>
                      <a:pt x="455" y="100"/>
                    </a:cubicBezTo>
                    <a:cubicBezTo>
                      <a:pt x="459" y="100"/>
                      <a:pt x="464" y="95"/>
                      <a:pt x="464" y="93"/>
                    </a:cubicBezTo>
                    <a:cubicBezTo>
                      <a:pt x="464" y="90"/>
                      <a:pt x="464" y="87"/>
                      <a:pt x="464" y="84"/>
                    </a:cubicBezTo>
                    <a:cubicBezTo>
                      <a:pt x="464" y="70"/>
                      <a:pt x="475" y="70"/>
                      <a:pt x="488" y="66"/>
                    </a:cubicBezTo>
                    <a:lnTo>
                      <a:pt x="490" y="6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44" name="Group 274">
              <a:extLst>
                <a:ext uri="{FF2B5EF4-FFF2-40B4-BE49-F238E27FC236}">
                  <a16:creationId xmlns:a16="http://schemas.microsoft.com/office/drawing/2014/main" id="{6E67CBAC-BF1B-018A-1A12-7CD3EAD89A76}"/>
                </a:ext>
              </a:extLst>
            </p:cNvPr>
            <p:cNvGrpSpPr/>
            <p:nvPr/>
          </p:nvGrpSpPr>
          <p:grpSpPr>
            <a:xfrm>
              <a:off x="5717975" y="3924462"/>
              <a:ext cx="912026" cy="1639471"/>
              <a:chOff x="3030538" y="2674938"/>
              <a:chExt cx="779463" cy="1258888"/>
            </a:xfrm>
            <a:solidFill>
              <a:srgbClr val="121E3B"/>
            </a:solidFill>
          </p:grpSpPr>
          <p:sp>
            <p:nvSpPr>
              <p:cNvPr id="277" name="Freeform 22">
                <a:extLst>
                  <a:ext uri="{FF2B5EF4-FFF2-40B4-BE49-F238E27FC236}">
                    <a16:creationId xmlns:a16="http://schemas.microsoft.com/office/drawing/2014/main" id="{6637F7BE-41F4-A94C-1F9A-B9137BDDD5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1713" y="2881313"/>
                <a:ext cx="39688" cy="31750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20" y="4"/>
                  </a:cxn>
                  <a:cxn ang="0">
                    <a:pos x="27" y="5"/>
                  </a:cxn>
                  <a:cxn ang="0">
                    <a:pos x="30" y="9"/>
                  </a:cxn>
                  <a:cxn ang="0">
                    <a:pos x="18" y="23"/>
                  </a:cxn>
                  <a:cxn ang="0">
                    <a:pos x="0" y="11"/>
                  </a:cxn>
                  <a:cxn ang="0">
                    <a:pos x="9" y="0"/>
                  </a:cxn>
                  <a:cxn ang="0">
                    <a:pos x="10" y="0"/>
                  </a:cxn>
                </a:cxnLst>
                <a:rect l="0" t="0" r="r" b="b"/>
                <a:pathLst>
                  <a:path w="30" h="23">
                    <a:moveTo>
                      <a:pt x="10" y="0"/>
                    </a:moveTo>
                    <a:cubicBezTo>
                      <a:pt x="13" y="1"/>
                      <a:pt x="16" y="4"/>
                      <a:pt x="20" y="4"/>
                    </a:cubicBezTo>
                    <a:cubicBezTo>
                      <a:pt x="21" y="9"/>
                      <a:pt x="25" y="5"/>
                      <a:pt x="27" y="5"/>
                    </a:cubicBezTo>
                    <a:cubicBezTo>
                      <a:pt x="29" y="5"/>
                      <a:pt x="30" y="8"/>
                      <a:pt x="30" y="9"/>
                    </a:cubicBezTo>
                    <a:cubicBezTo>
                      <a:pt x="30" y="12"/>
                      <a:pt x="23" y="23"/>
                      <a:pt x="18" y="23"/>
                    </a:cubicBezTo>
                    <a:cubicBezTo>
                      <a:pt x="11" y="23"/>
                      <a:pt x="0" y="15"/>
                      <a:pt x="0" y="11"/>
                    </a:cubicBezTo>
                    <a:cubicBezTo>
                      <a:pt x="0" y="4"/>
                      <a:pt x="3" y="0"/>
                      <a:pt x="9" y="0"/>
                    </a:cubicBezTo>
                    <a:cubicBezTo>
                      <a:pt x="9" y="0"/>
                      <a:pt x="10" y="0"/>
                      <a:pt x="1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78" name="Freeform 23">
                <a:extLst>
                  <a:ext uri="{FF2B5EF4-FFF2-40B4-BE49-F238E27FC236}">
                    <a16:creationId xmlns:a16="http://schemas.microsoft.com/office/drawing/2014/main" id="{B0CBD27A-80D1-6733-253F-BC06470E8D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0538" y="2674938"/>
                <a:ext cx="779463" cy="1258888"/>
              </a:xfrm>
              <a:custGeom>
                <a:avLst/>
                <a:gdLst/>
                <a:ahLst/>
                <a:cxnLst>
                  <a:cxn ang="0">
                    <a:pos x="46" y="91"/>
                  </a:cxn>
                  <a:cxn ang="0">
                    <a:pos x="51" y="51"/>
                  </a:cxn>
                  <a:cxn ang="0">
                    <a:pos x="59" y="46"/>
                  </a:cxn>
                  <a:cxn ang="0">
                    <a:pos x="82" y="18"/>
                  </a:cxn>
                  <a:cxn ang="0">
                    <a:pos x="128" y="6"/>
                  </a:cxn>
                  <a:cxn ang="0">
                    <a:pos x="126" y="42"/>
                  </a:cxn>
                  <a:cxn ang="0">
                    <a:pos x="136" y="13"/>
                  </a:cxn>
                  <a:cxn ang="0">
                    <a:pos x="146" y="5"/>
                  </a:cxn>
                  <a:cxn ang="0">
                    <a:pos x="194" y="24"/>
                  </a:cxn>
                  <a:cxn ang="0">
                    <a:pos x="227" y="20"/>
                  </a:cxn>
                  <a:cxn ang="0">
                    <a:pos x="233" y="26"/>
                  </a:cxn>
                  <a:cxn ang="0">
                    <a:pos x="270" y="50"/>
                  </a:cxn>
                  <a:cxn ang="0">
                    <a:pos x="328" y="84"/>
                  </a:cxn>
                  <a:cxn ang="0">
                    <a:pos x="354" y="89"/>
                  </a:cxn>
                  <a:cxn ang="0">
                    <a:pos x="389" y="130"/>
                  </a:cxn>
                  <a:cxn ang="0">
                    <a:pos x="383" y="170"/>
                  </a:cxn>
                  <a:cxn ang="0">
                    <a:pos x="403" y="185"/>
                  </a:cxn>
                  <a:cxn ang="0">
                    <a:pos x="454" y="175"/>
                  </a:cxn>
                  <a:cxn ang="0">
                    <a:pos x="467" y="191"/>
                  </a:cxn>
                  <a:cxn ang="0">
                    <a:pos x="513" y="191"/>
                  </a:cxn>
                  <a:cxn ang="0">
                    <a:pos x="575" y="220"/>
                  </a:cxn>
                  <a:cxn ang="0">
                    <a:pos x="549" y="310"/>
                  </a:cxn>
                  <a:cxn ang="0">
                    <a:pos x="532" y="374"/>
                  </a:cxn>
                  <a:cxn ang="0">
                    <a:pos x="522" y="405"/>
                  </a:cxn>
                  <a:cxn ang="0">
                    <a:pos x="485" y="449"/>
                  </a:cxn>
                  <a:cxn ang="0">
                    <a:pos x="429" y="474"/>
                  </a:cxn>
                  <a:cxn ang="0">
                    <a:pos x="412" y="524"/>
                  </a:cxn>
                  <a:cxn ang="0">
                    <a:pos x="388" y="559"/>
                  </a:cxn>
                  <a:cxn ang="0">
                    <a:pos x="311" y="614"/>
                  </a:cxn>
                  <a:cxn ang="0">
                    <a:pos x="297" y="619"/>
                  </a:cxn>
                  <a:cxn ang="0">
                    <a:pos x="308" y="654"/>
                  </a:cxn>
                  <a:cxn ang="0">
                    <a:pos x="244" y="677"/>
                  </a:cxn>
                  <a:cxn ang="0">
                    <a:pos x="240" y="707"/>
                  </a:cxn>
                  <a:cxn ang="0">
                    <a:pos x="205" y="711"/>
                  </a:cxn>
                  <a:cxn ang="0">
                    <a:pos x="225" y="730"/>
                  </a:cxn>
                  <a:cxn ang="0">
                    <a:pos x="214" y="739"/>
                  </a:cxn>
                  <a:cxn ang="0">
                    <a:pos x="178" y="787"/>
                  </a:cxn>
                  <a:cxn ang="0">
                    <a:pos x="176" y="846"/>
                  </a:cxn>
                  <a:cxn ang="0">
                    <a:pos x="161" y="884"/>
                  </a:cxn>
                  <a:cxn ang="0">
                    <a:pos x="200" y="935"/>
                  </a:cxn>
                  <a:cxn ang="0">
                    <a:pos x="169" y="945"/>
                  </a:cxn>
                  <a:cxn ang="0">
                    <a:pos x="127" y="921"/>
                  </a:cxn>
                  <a:cxn ang="0">
                    <a:pos x="92" y="903"/>
                  </a:cxn>
                  <a:cxn ang="0">
                    <a:pos x="93" y="889"/>
                  </a:cxn>
                  <a:cxn ang="0">
                    <a:pos x="84" y="857"/>
                  </a:cxn>
                  <a:cxn ang="0">
                    <a:pos x="82" y="791"/>
                  </a:cxn>
                  <a:cxn ang="0">
                    <a:pos x="86" y="782"/>
                  </a:cxn>
                  <a:cxn ang="0">
                    <a:pos x="112" y="718"/>
                  </a:cxn>
                  <a:cxn ang="0">
                    <a:pos x="95" y="708"/>
                  </a:cxn>
                  <a:cxn ang="0">
                    <a:pos x="102" y="680"/>
                  </a:cxn>
                  <a:cxn ang="0">
                    <a:pos x="114" y="626"/>
                  </a:cxn>
                  <a:cxn ang="0">
                    <a:pos x="124" y="562"/>
                  </a:cxn>
                  <a:cxn ang="0">
                    <a:pos x="136" y="494"/>
                  </a:cxn>
                  <a:cxn ang="0">
                    <a:pos x="143" y="434"/>
                  </a:cxn>
                  <a:cxn ang="0">
                    <a:pos x="104" y="370"/>
                  </a:cxn>
                  <a:cxn ang="0">
                    <a:pos x="62" y="330"/>
                  </a:cxn>
                  <a:cxn ang="0">
                    <a:pos x="28" y="261"/>
                  </a:cxn>
                  <a:cxn ang="0">
                    <a:pos x="11" y="242"/>
                  </a:cxn>
                  <a:cxn ang="0">
                    <a:pos x="18" y="191"/>
                  </a:cxn>
                  <a:cxn ang="0">
                    <a:pos x="14" y="148"/>
                  </a:cxn>
                  <a:cxn ang="0">
                    <a:pos x="47" y="106"/>
                  </a:cxn>
                </a:cxnLst>
                <a:rect l="0" t="0" r="r" b="b"/>
                <a:pathLst>
                  <a:path w="586" h="945">
                    <a:moveTo>
                      <a:pt x="49" y="103"/>
                    </a:moveTo>
                    <a:cubicBezTo>
                      <a:pt x="49" y="102"/>
                      <a:pt x="49" y="101"/>
                      <a:pt x="49" y="100"/>
                    </a:cubicBezTo>
                    <a:cubicBezTo>
                      <a:pt x="49" y="97"/>
                      <a:pt x="46" y="94"/>
                      <a:pt x="46" y="91"/>
                    </a:cubicBezTo>
                    <a:cubicBezTo>
                      <a:pt x="46" y="85"/>
                      <a:pt x="48" y="84"/>
                      <a:pt x="48" y="79"/>
                    </a:cubicBezTo>
                    <a:cubicBezTo>
                      <a:pt x="48" y="70"/>
                      <a:pt x="40" y="71"/>
                      <a:pt x="40" y="63"/>
                    </a:cubicBezTo>
                    <a:cubicBezTo>
                      <a:pt x="40" y="57"/>
                      <a:pt x="49" y="55"/>
                      <a:pt x="51" y="51"/>
                    </a:cubicBezTo>
                    <a:cubicBezTo>
                      <a:pt x="55" y="52"/>
                      <a:pt x="53" y="52"/>
                      <a:pt x="57" y="51"/>
                    </a:cubicBezTo>
                    <a:cubicBezTo>
                      <a:pt x="57" y="50"/>
                      <a:pt x="57" y="49"/>
                      <a:pt x="57" y="48"/>
                    </a:cubicBezTo>
                    <a:cubicBezTo>
                      <a:pt x="57" y="48"/>
                      <a:pt x="58" y="46"/>
                      <a:pt x="59" y="46"/>
                    </a:cubicBezTo>
                    <a:cubicBezTo>
                      <a:pt x="59" y="42"/>
                      <a:pt x="64" y="40"/>
                      <a:pt x="66" y="39"/>
                    </a:cubicBezTo>
                    <a:cubicBezTo>
                      <a:pt x="69" y="37"/>
                      <a:pt x="69" y="31"/>
                      <a:pt x="70" y="28"/>
                    </a:cubicBezTo>
                    <a:cubicBezTo>
                      <a:pt x="72" y="21"/>
                      <a:pt x="76" y="19"/>
                      <a:pt x="82" y="18"/>
                    </a:cubicBezTo>
                    <a:cubicBezTo>
                      <a:pt x="93" y="14"/>
                      <a:pt x="100" y="12"/>
                      <a:pt x="111" y="9"/>
                    </a:cubicBezTo>
                    <a:cubicBezTo>
                      <a:pt x="117" y="7"/>
                      <a:pt x="118" y="0"/>
                      <a:pt x="124" y="0"/>
                    </a:cubicBezTo>
                    <a:cubicBezTo>
                      <a:pt x="126" y="0"/>
                      <a:pt x="128" y="5"/>
                      <a:pt x="128" y="6"/>
                    </a:cubicBezTo>
                    <a:cubicBezTo>
                      <a:pt x="128" y="9"/>
                      <a:pt x="125" y="11"/>
                      <a:pt x="123" y="11"/>
                    </a:cubicBezTo>
                    <a:cubicBezTo>
                      <a:pt x="122" y="18"/>
                      <a:pt x="119" y="25"/>
                      <a:pt x="119" y="29"/>
                    </a:cubicBezTo>
                    <a:cubicBezTo>
                      <a:pt x="119" y="34"/>
                      <a:pt x="122" y="42"/>
                      <a:pt x="126" y="42"/>
                    </a:cubicBezTo>
                    <a:cubicBezTo>
                      <a:pt x="128" y="42"/>
                      <a:pt x="131" y="37"/>
                      <a:pt x="131" y="35"/>
                    </a:cubicBezTo>
                    <a:cubicBezTo>
                      <a:pt x="131" y="30"/>
                      <a:pt x="125" y="27"/>
                      <a:pt x="125" y="21"/>
                    </a:cubicBezTo>
                    <a:cubicBezTo>
                      <a:pt x="125" y="15"/>
                      <a:pt x="132" y="16"/>
                      <a:pt x="136" y="13"/>
                    </a:cubicBezTo>
                    <a:cubicBezTo>
                      <a:pt x="147" y="13"/>
                      <a:pt x="147" y="13"/>
                      <a:pt x="147" y="13"/>
                    </a:cubicBezTo>
                    <a:cubicBezTo>
                      <a:pt x="145" y="8"/>
                      <a:pt x="139" y="10"/>
                      <a:pt x="139" y="5"/>
                    </a:cubicBezTo>
                    <a:cubicBezTo>
                      <a:pt x="146" y="5"/>
                      <a:pt x="146" y="5"/>
                      <a:pt x="146" y="5"/>
                    </a:cubicBezTo>
                    <a:cubicBezTo>
                      <a:pt x="148" y="12"/>
                      <a:pt x="158" y="14"/>
                      <a:pt x="165" y="16"/>
                    </a:cubicBezTo>
                    <a:cubicBezTo>
                      <a:pt x="165" y="20"/>
                      <a:pt x="167" y="23"/>
                      <a:pt x="170" y="24"/>
                    </a:cubicBezTo>
                    <a:cubicBezTo>
                      <a:pt x="177" y="24"/>
                      <a:pt x="190" y="24"/>
                      <a:pt x="194" y="24"/>
                    </a:cubicBezTo>
                    <a:cubicBezTo>
                      <a:pt x="194" y="28"/>
                      <a:pt x="199" y="29"/>
                      <a:pt x="203" y="29"/>
                    </a:cubicBezTo>
                    <a:cubicBezTo>
                      <a:pt x="209" y="28"/>
                      <a:pt x="214" y="28"/>
                      <a:pt x="216" y="22"/>
                    </a:cubicBezTo>
                    <a:cubicBezTo>
                      <a:pt x="217" y="21"/>
                      <a:pt x="226" y="21"/>
                      <a:pt x="227" y="20"/>
                    </a:cubicBezTo>
                    <a:cubicBezTo>
                      <a:pt x="232" y="20"/>
                      <a:pt x="240" y="21"/>
                      <a:pt x="240" y="21"/>
                    </a:cubicBezTo>
                    <a:cubicBezTo>
                      <a:pt x="238" y="23"/>
                      <a:pt x="234" y="23"/>
                      <a:pt x="233" y="22"/>
                    </a:cubicBezTo>
                    <a:cubicBezTo>
                      <a:pt x="233" y="26"/>
                      <a:pt x="233" y="26"/>
                      <a:pt x="233" y="26"/>
                    </a:cubicBezTo>
                    <a:cubicBezTo>
                      <a:pt x="236" y="32"/>
                      <a:pt x="245" y="33"/>
                      <a:pt x="252" y="36"/>
                    </a:cubicBezTo>
                    <a:cubicBezTo>
                      <a:pt x="258" y="37"/>
                      <a:pt x="256" y="44"/>
                      <a:pt x="258" y="50"/>
                    </a:cubicBezTo>
                    <a:cubicBezTo>
                      <a:pt x="270" y="50"/>
                      <a:pt x="270" y="50"/>
                      <a:pt x="270" y="50"/>
                    </a:cubicBezTo>
                    <a:cubicBezTo>
                      <a:pt x="279" y="58"/>
                      <a:pt x="283" y="57"/>
                      <a:pt x="288" y="68"/>
                    </a:cubicBezTo>
                    <a:cubicBezTo>
                      <a:pt x="289" y="70"/>
                      <a:pt x="293" y="70"/>
                      <a:pt x="295" y="70"/>
                    </a:cubicBezTo>
                    <a:cubicBezTo>
                      <a:pt x="298" y="83"/>
                      <a:pt x="316" y="81"/>
                      <a:pt x="328" y="84"/>
                    </a:cubicBezTo>
                    <a:cubicBezTo>
                      <a:pt x="340" y="84"/>
                      <a:pt x="340" y="84"/>
                      <a:pt x="340" y="84"/>
                    </a:cubicBezTo>
                    <a:cubicBezTo>
                      <a:pt x="343" y="85"/>
                      <a:pt x="350" y="89"/>
                      <a:pt x="354" y="89"/>
                    </a:cubicBezTo>
                    <a:cubicBezTo>
                      <a:pt x="354" y="89"/>
                      <a:pt x="354" y="89"/>
                      <a:pt x="354" y="89"/>
                    </a:cubicBezTo>
                    <a:cubicBezTo>
                      <a:pt x="355" y="89"/>
                      <a:pt x="356" y="89"/>
                      <a:pt x="357" y="89"/>
                    </a:cubicBezTo>
                    <a:cubicBezTo>
                      <a:pt x="364" y="89"/>
                      <a:pt x="373" y="104"/>
                      <a:pt x="381" y="106"/>
                    </a:cubicBezTo>
                    <a:cubicBezTo>
                      <a:pt x="381" y="111"/>
                      <a:pt x="386" y="125"/>
                      <a:pt x="389" y="130"/>
                    </a:cubicBezTo>
                    <a:cubicBezTo>
                      <a:pt x="391" y="134"/>
                      <a:pt x="397" y="134"/>
                      <a:pt x="397" y="139"/>
                    </a:cubicBezTo>
                    <a:cubicBezTo>
                      <a:pt x="390" y="148"/>
                      <a:pt x="377" y="152"/>
                      <a:pt x="377" y="165"/>
                    </a:cubicBezTo>
                    <a:cubicBezTo>
                      <a:pt x="377" y="170"/>
                      <a:pt x="381" y="169"/>
                      <a:pt x="383" y="170"/>
                    </a:cubicBezTo>
                    <a:cubicBezTo>
                      <a:pt x="387" y="172"/>
                      <a:pt x="390" y="176"/>
                      <a:pt x="390" y="180"/>
                    </a:cubicBezTo>
                    <a:cubicBezTo>
                      <a:pt x="401" y="180"/>
                      <a:pt x="401" y="180"/>
                      <a:pt x="401" y="180"/>
                    </a:cubicBezTo>
                    <a:cubicBezTo>
                      <a:pt x="401" y="182"/>
                      <a:pt x="402" y="185"/>
                      <a:pt x="403" y="185"/>
                    </a:cubicBezTo>
                    <a:cubicBezTo>
                      <a:pt x="405" y="185"/>
                      <a:pt x="407" y="182"/>
                      <a:pt x="408" y="180"/>
                    </a:cubicBezTo>
                    <a:cubicBezTo>
                      <a:pt x="413" y="173"/>
                      <a:pt x="418" y="164"/>
                      <a:pt x="425" y="164"/>
                    </a:cubicBezTo>
                    <a:cubicBezTo>
                      <a:pt x="433" y="164"/>
                      <a:pt x="449" y="172"/>
                      <a:pt x="454" y="175"/>
                    </a:cubicBezTo>
                    <a:cubicBezTo>
                      <a:pt x="458" y="178"/>
                      <a:pt x="462" y="177"/>
                      <a:pt x="463" y="180"/>
                    </a:cubicBezTo>
                    <a:cubicBezTo>
                      <a:pt x="464" y="184"/>
                      <a:pt x="464" y="187"/>
                      <a:pt x="464" y="191"/>
                    </a:cubicBezTo>
                    <a:cubicBezTo>
                      <a:pt x="467" y="191"/>
                      <a:pt x="467" y="191"/>
                      <a:pt x="467" y="191"/>
                    </a:cubicBezTo>
                    <a:cubicBezTo>
                      <a:pt x="471" y="190"/>
                      <a:pt x="472" y="186"/>
                      <a:pt x="476" y="186"/>
                    </a:cubicBezTo>
                    <a:cubicBezTo>
                      <a:pt x="486" y="186"/>
                      <a:pt x="487" y="194"/>
                      <a:pt x="496" y="194"/>
                    </a:cubicBezTo>
                    <a:cubicBezTo>
                      <a:pt x="513" y="191"/>
                      <a:pt x="513" y="191"/>
                      <a:pt x="513" y="191"/>
                    </a:cubicBezTo>
                    <a:cubicBezTo>
                      <a:pt x="521" y="193"/>
                      <a:pt x="529" y="196"/>
                      <a:pt x="534" y="198"/>
                    </a:cubicBezTo>
                    <a:cubicBezTo>
                      <a:pt x="538" y="205"/>
                      <a:pt x="551" y="217"/>
                      <a:pt x="558" y="220"/>
                    </a:cubicBezTo>
                    <a:cubicBezTo>
                      <a:pt x="565" y="221"/>
                      <a:pt x="569" y="219"/>
                      <a:pt x="575" y="220"/>
                    </a:cubicBezTo>
                    <a:cubicBezTo>
                      <a:pt x="584" y="223"/>
                      <a:pt x="586" y="232"/>
                      <a:pt x="586" y="242"/>
                    </a:cubicBezTo>
                    <a:cubicBezTo>
                      <a:pt x="586" y="274"/>
                      <a:pt x="568" y="283"/>
                      <a:pt x="556" y="301"/>
                    </a:cubicBezTo>
                    <a:cubicBezTo>
                      <a:pt x="553" y="305"/>
                      <a:pt x="551" y="306"/>
                      <a:pt x="549" y="310"/>
                    </a:cubicBezTo>
                    <a:cubicBezTo>
                      <a:pt x="544" y="317"/>
                      <a:pt x="540" y="317"/>
                      <a:pt x="535" y="322"/>
                    </a:cubicBezTo>
                    <a:cubicBezTo>
                      <a:pt x="529" y="328"/>
                      <a:pt x="535" y="343"/>
                      <a:pt x="535" y="353"/>
                    </a:cubicBezTo>
                    <a:cubicBezTo>
                      <a:pt x="535" y="361"/>
                      <a:pt x="532" y="369"/>
                      <a:pt x="532" y="374"/>
                    </a:cubicBezTo>
                    <a:cubicBezTo>
                      <a:pt x="532" y="377"/>
                      <a:pt x="530" y="378"/>
                      <a:pt x="530" y="380"/>
                    </a:cubicBezTo>
                    <a:cubicBezTo>
                      <a:pt x="528" y="382"/>
                      <a:pt x="524" y="386"/>
                      <a:pt x="524" y="390"/>
                    </a:cubicBezTo>
                    <a:cubicBezTo>
                      <a:pt x="524" y="394"/>
                      <a:pt x="523" y="403"/>
                      <a:pt x="522" y="405"/>
                    </a:cubicBezTo>
                    <a:cubicBezTo>
                      <a:pt x="515" y="415"/>
                      <a:pt x="513" y="419"/>
                      <a:pt x="506" y="428"/>
                    </a:cubicBezTo>
                    <a:cubicBezTo>
                      <a:pt x="505" y="431"/>
                      <a:pt x="505" y="436"/>
                      <a:pt x="504" y="438"/>
                    </a:cubicBezTo>
                    <a:cubicBezTo>
                      <a:pt x="502" y="443"/>
                      <a:pt x="492" y="449"/>
                      <a:pt x="485" y="449"/>
                    </a:cubicBezTo>
                    <a:cubicBezTo>
                      <a:pt x="476" y="449"/>
                      <a:pt x="470" y="449"/>
                      <a:pt x="463" y="452"/>
                    </a:cubicBezTo>
                    <a:cubicBezTo>
                      <a:pt x="461" y="453"/>
                      <a:pt x="460" y="455"/>
                      <a:pt x="459" y="457"/>
                    </a:cubicBezTo>
                    <a:cubicBezTo>
                      <a:pt x="448" y="467"/>
                      <a:pt x="437" y="461"/>
                      <a:pt x="429" y="474"/>
                    </a:cubicBezTo>
                    <a:cubicBezTo>
                      <a:pt x="426" y="479"/>
                      <a:pt x="420" y="479"/>
                      <a:pt x="416" y="483"/>
                    </a:cubicBezTo>
                    <a:cubicBezTo>
                      <a:pt x="411" y="489"/>
                      <a:pt x="412" y="495"/>
                      <a:pt x="412" y="503"/>
                    </a:cubicBezTo>
                    <a:cubicBezTo>
                      <a:pt x="412" y="524"/>
                      <a:pt x="412" y="524"/>
                      <a:pt x="412" y="524"/>
                    </a:cubicBezTo>
                    <a:cubicBezTo>
                      <a:pt x="403" y="528"/>
                      <a:pt x="398" y="536"/>
                      <a:pt x="394" y="545"/>
                    </a:cubicBezTo>
                    <a:cubicBezTo>
                      <a:pt x="394" y="545"/>
                      <a:pt x="394" y="545"/>
                      <a:pt x="394" y="545"/>
                    </a:cubicBezTo>
                    <a:cubicBezTo>
                      <a:pt x="391" y="550"/>
                      <a:pt x="391" y="553"/>
                      <a:pt x="388" y="559"/>
                    </a:cubicBezTo>
                    <a:cubicBezTo>
                      <a:pt x="380" y="571"/>
                      <a:pt x="371" y="572"/>
                      <a:pt x="364" y="584"/>
                    </a:cubicBezTo>
                    <a:cubicBezTo>
                      <a:pt x="355" y="597"/>
                      <a:pt x="351" y="619"/>
                      <a:pt x="331" y="619"/>
                    </a:cubicBezTo>
                    <a:cubicBezTo>
                      <a:pt x="324" y="619"/>
                      <a:pt x="314" y="614"/>
                      <a:pt x="311" y="614"/>
                    </a:cubicBezTo>
                    <a:cubicBezTo>
                      <a:pt x="305" y="614"/>
                      <a:pt x="299" y="609"/>
                      <a:pt x="293" y="609"/>
                    </a:cubicBezTo>
                    <a:cubicBezTo>
                      <a:pt x="291" y="609"/>
                      <a:pt x="289" y="610"/>
                      <a:pt x="289" y="611"/>
                    </a:cubicBezTo>
                    <a:cubicBezTo>
                      <a:pt x="289" y="615"/>
                      <a:pt x="296" y="617"/>
                      <a:pt x="297" y="619"/>
                    </a:cubicBezTo>
                    <a:cubicBezTo>
                      <a:pt x="300" y="622"/>
                      <a:pt x="300" y="627"/>
                      <a:pt x="302" y="632"/>
                    </a:cubicBezTo>
                    <a:cubicBezTo>
                      <a:pt x="304" y="637"/>
                      <a:pt x="311" y="637"/>
                      <a:pt x="311" y="642"/>
                    </a:cubicBezTo>
                    <a:cubicBezTo>
                      <a:pt x="311" y="647"/>
                      <a:pt x="311" y="650"/>
                      <a:pt x="308" y="654"/>
                    </a:cubicBezTo>
                    <a:cubicBezTo>
                      <a:pt x="304" y="660"/>
                      <a:pt x="301" y="663"/>
                      <a:pt x="297" y="667"/>
                    </a:cubicBezTo>
                    <a:cubicBezTo>
                      <a:pt x="289" y="675"/>
                      <a:pt x="280" y="673"/>
                      <a:pt x="270" y="676"/>
                    </a:cubicBezTo>
                    <a:cubicBezTo>
                      <a:pt x="263" y="678"/>
                      <a:pt x="248" y="673"/>
                      <a:pt x="244" y="677"/>
                    </a:cubicBezTo>
                    <a:cubicBezTo>
                      <a:pt x="238" y="683"/>
                      <a:pt x="243" y="696"/>
                      <a:pt x="240" y="703"/>
                    </a:cubicBezTo>
                    <a:cubicBezTo>
                      <a:pt x="240" y="702"/>
                      <a:pt x="240" y="702"/>
                      <a:pt x="240" y="702"/>
                    </a:cubicBezTo>
                    <a:cubicBezTo>
                      <a:pt x="240" y="703"/>
                      <a:pt x="240" y="706"/>
                      <a:pt x="240" y="707"/>
                    </a:cubicBezTo>
                    <a:cubicBezTo>
                      <a:pt x="240" y="709"/>
                      <a:pt x="233" y="712"/>
                      <a:pt x="229" y="712"/>
                    </a:cubicBezTo>
                    <a:cubicBezTo>
                      <a:pt x="220" y="712"/>
                      <a:pt x="218" y="706"/>
                      <a:pt x="210" y="706"/>
                    </a:cubicBezTo>
                    <a:cubicBezTo>
                      <a:pt x="207" y="706"/>
                      <a:pt x="205" y="709"/>
                      <a:pt x="205" y="711"/>
                    </a:cubicBezTo>
                    <a:cubicBezTo>
                      <a:pt x="205" y="717"/>
                      <a:pt x="211" y="729"/>
                      <a:pt x="214" y="729"/>
                    </a:cubicBezTo>
                    <a:cubicBezTo>
                      <a:pt x="217" y="729"/>
                      <a:pt x="219" y="726"/>
                      <a:pt x="221" y="726"/>
                    </a:cubicBezTo>
                    <a:cubicBezTo>
                      <a:pt x="222" y="728"/>
                      <a:pt x="225" y="728"/>
                      <a:pt x="225" y="730"/>
                    </a:cubicBezTo>
                    <a:cubicBezTo>
                      <a:pt x="225" y="733"/>
                      <a:pt x="221" y="736"/>
                      <a:pt x="220" y="736"/>
                    </a:cubicBezTo>
                    <a:cubicBezTo>
                      <a:pt x="215" y="736"/>
                      <a:pt x="213" y="732"/>
                      <a:pt x="209" y="732"/>
                    </a:cubicBezTo>
                    <a:cubicBezTo>
                      <a:pt x="209" y="737"/>
                      <a:pt x="211" y="738"/>
                      <a:pt x="214" y="739"/>
                    </a:cubicBezTo>
                    <a:cubicBezTo>
                      <a:pt x="206" y="747"/>
                      <a:pt x="206" y="755"/>
                      <a:pt x="203" y="766"/>
                    </a:cubicBezTo>
                    <a:cubicBezTo>
                      <a:pt x="202" y="770"/>
                      <a:pt x="194" y="771"/>
                      <a:pt x="191" y="771"/>
                    </a:cubicBezTo>
                    <a:cubicBezTo>
                      <a:pt x="184" y="773"/>
                      <a:pt x="178" y="779"/>
                      <a:pt x="178" y="787"/>
                    </a:cubicBezTo>
                    <a:cubicBezTo>
                      <a:pt x="178" y="804"/>
                      <a:pt x="198" y="798"/>
                      <a:pt x="198" y="811"/>
                    </a:cubicBezTo>
                    <a:cubicBezTo>
                      <a:pt x="198" y="824"/>
                      <a:pt x="187" y="825"/>
                      <a:pt x="181" y="831"/>
                    </a:cubicBezTo>
                    <a:cubicBezTo>
                      <a:pt x="177" y="835"/>
                      <a:pt x="178" y="841"/>
                      <a:pt x="176" y="846"/>
                    </a:cubicBezTo>
                    <a:cubicBezTo>
                      <a:pt x="173" y="852"/>
                      <a:pt x="166" y="850"/>
                      <a:pt x="162" y="854"/>
                    </a:cubicBezTo>
                    <a:cubicBezTo>
                      <a:pt x="156" y="859"/>
                      <a:pt x="154" y="865"/>
                      <a:pt x="154" y="874"/>
                    </a:cubicBezTo>
                    <a:cubicBezTo>
                      <a:pt x="154" y="878"/>
                      <a:pt x="158" y="883"/>
                      <a:pt x="161" y="884"/>
                    </a:cubicBezTo>
                    <a:cubicBezTo>
                      <a:pt x="169" y="888"/>
                      <a:pt x="168" y="908"/>
                      <a:pt x="174" y="914"/>
                    </a:cubicBezTo>
                    <a:cubicBezTo>
                      <a:pt x="184" y="924"/>
                      <a:pt x="196" y="928"/>
                      <a:pt x="207" y="934"/>
                    </a:cubicBezTo>
                    <a:cubicBezTo>
                      <a:pt x="206" y="936"/>
                      <a:pt x="203" y="935"/>
                      <a:pt x="200" y="935"/>
                    </a:cubicBezTo>
                    <a:cubicBezTo>
                      <a:pt x="194" y="935"/>
                      <a:pt x="183" y="943"/>
                      <a:pt x="179" y="943"/>
                    </a:cubicBezTo>
                    <a:cubicBezTo>
                      <a:pt x="176" y="943"/>
                      <a:pt x="176" y="943"/>
                      <a:pt x="174" y="943"/>
                    </a:cubicBezTo>
                    <a:cubicBezTo>
                      <a:pt x="173" y="943"/>
                      <a:pt x="171" y="945"/>
                      <a:pt x="169" y="945"/>
                    </a:cubicBezTo>
                    <a:cubicBezTo>
                      <a:pt x="165" y="945"/>
                      <a:pt x="162" y="945"/>
                      <a:pt x="157" y="945"/>
                    </a:cubicBezTo>
                    <a:cubicBezTo>
                      <a:pt x="147" y="945"/>
                      <a:pt x="151" y="933"/>
                      <a:pt x="143" y="931"/>
                    </a:cubicBezTo>
                    <a:cubicBezTo>
                      <a:pt x="137" y="929"/>
                      <a:pt x="127" y="929"/>
                      <a:pt x="127" y="921"/>
                    </a:cubicBezTo>
                    <a:cubicBezTo>
                      <a:pt x="124" y="921"/>
                      <a:pt x="122" y="921"/>
                      <a:pt x="119" y="921"/>
                    </a:cubicBezTo>
                    <a:cubicBezTo>
                      <a:pt x="115" y="921"/>
                      <a:pt x="114" y="917"/>
                      <a:pt x="114" y="915"/>
                    </a:cubicBezTo>
                    <a:cubicBezTo>
                      <a:pt x="102" y="915"/>
                      <a:pt x="98" y="909"/>
                      <a:pt x="92" y="903"/>
                    </a:cubicBezTo>
                    <a:cubicBezTo>
                      <a:pt x="91" y="902"/>
                      <a:pt x="88" y="900"/>
                      <a:pt x="88" y="899"/>
                    </a:cubicBezTo>
                    <a:cubicBezTo>
                      <a:pt x="88" y="895"/>
                      <a:pt x="96" y="895"/>
                      <a:pt x="97" y="891"/>
                    </a:cubicBezTo>
                    <a:cubicBezTo>
                      <a:pt x="95" y="891"/>
                      <a:pt x="94" y="890"/>
                      <a:pt x="93" y="889"/>
                    </a:cubicBezTo>
                    <a:cubicBezTo>
                      <a:pt x="94" y="887"/>
                      <a:pt x="96" y="884"/>
                      <a:pt x="96" y="882"/>
                    </a:cubicBezTo>
                    <a:cubicBezTo>
                      <a:pt x="96" y="871"/>
                      <a:pt x="84" y="873"/>
                      <a:pt x="84" y="863"/>
                    </a:cubicBezTo>
                    <a:cubicBezTo>
                      <a:pt x="84" y="860"/>
                      <a:pt x="84" y="859"/>
                      <a:pt x="84" y="857"/>
                    </a:cubicBezTo>
                    <a:cubicBezTo>
                      <a:pt x="84" y="848"/>
                      <a:pt x="78" y="832"/>
                      <a:pt x="78" y="825"/>
                    </a:cubicBezTo>
                    <a:cubicBezTo>
                      <a:pt x="78" y="817"/>
                      <a:pt x="88" y="814"/>
                      <a:pt x="88" y="807"/>
                    </a:cubicBezTo>
                    <a:cubicBezTo>
                      <a:pt x="88" y="803"/>
                      <a:pt x="83" y="796"/>
                      <a:pt x="82" y="791"/>
                    </a:cubicBezTo>
                    <a:cubicBezTo>
                      <a:pt x="82" y="787"/>
                      <a:pt x="82" y="787"/>
                      <a:pt x="82" y="787"/>
                    </a:cubicBezTo>
                    <a:cubicBezTo>
                      <a:pt x="82" y="787"/>
                      <a:pt x="82" y="787"/>
                      <a:pt x="82" y="787"/>
                    </a:cubicBezTo>
                    <a:cubicBezTo>
                      <a:pt x="82" y="784"/>
                      <a:pt x="84" y="782"/>
                      <a:pt x="86" y="782"/>
                    </a:cubicBezTo>
                    <a:cubicBezTo>
                      <a:pt x="94" y="782"/>
                      <a:pt x="91" y="790"/>
                      <a:pt x="98" y="790"/>
                    </a:cubicBezTo>
                    <a:cubicBezTo>
                      <a:pt x="112" y="725"/>
                      <a:pt x="112" y="725"/>
                      <a:pt x="112" y="725"/>
                    </a:cubicBezTo>
                    <a:cubicBezTo>
                      <a:pt x="112" y="718"/>
                      <a:pt x="112" y="718"/>
                      <a:pt x="112" y="718"/>
                    </a:cubicBezTo>
                    <a:cubicBezTo>
                      <a:pt x="111" y="718"/>
                      <a:pt x="109" y="717"/>
                      <a:pt x="108" y="718"/>
                    </a:cubicBezTo>
                    <a:cubicBezTo>
                      <a:pt x="105" y="719"/>
                      <a:pt x="105" y="723"/>
                      <a:pt x="102" y="723"/>
                    </a:cubicBezTo>
                    <a:cubicBezTo>
                      <a:pt x="98" y="723"/>
                      <a:pt x="95" y="713"/>
                      <a:pt x="95" y="708"/>
                    </a:cubicBezTo>
                    <a:cubicBezTo>
                      <a:pt x="95" y="699"/>
                      <a:pt x="98" y="696"/>
                      <a:pt x="100" y="688"/>
                    </a:cubicBezTo>
                    <a:cubicBezTo>
                      <a:pt x="103" y="688"/>
                      <a:pt x="104" y="687"/>
                      <a:pt x="104" y="685"/>
                    </a:cubicBezTo>
                    <a:cubicBezTo>
                      <a:pt x="104" y="683"/>
                      <a:pt x="102" y="680"/>
                      <a:pt x="102" y="680"/>
                    </a:cubicBezTo>
                    <a:cubicBezTo>
                      <a:pt x="100" y="680"/>
                      <a:pt x="99" y="668"/>
                      <a:pt x="99" y="665"/>
                    </a:cubicBezTo>
                    <a:cubicBezTo>
                      <a:pt x="99" y="655"/>
                      <a:pt x="106" y="645"/>
                      <a:pt x="109" y="639"/>
                    </a:cubicBezTo>
                    <a:cubicBezTo>
                      <a:pt x="111" y="635"/>
                      <a:pt x="112" y="629"/>
                      <a:pt x="114" y="626"/>
                    </a:cubicBezTo>
                    <a:cubicBezTo>
                      <a:pt x="116" y="624"/>
                      <a:pt x="118" y="625"/>
                      <a:pt x="118" y="623"/>
                    </a:cubicBezTo>
                    <a:cubicBezTo>
                      <a:pt x="121" y="613"/>
                      <a:pt x="121" y="605"/>
                      <a:pt x="124" y="595"/>
                    </a:cubicBezTo>
                    <a:cubicBezTo>
                      <a:pt x="124" y="562"/>
                      <a:pt x="124" y="562"/>
                      <a:pt x="124" y="562"/>
                    </a:cubicBezTo>
                    <a:cubicBezTo>
                      <a:pt x="121" y="554"/>
                      <a:pt x="126" y="548"/>
                      <a:pt x="126" y="541"/>
                    </a:cubicBezTo>
                    <a:cubicBezTo>
                      <a:pt x="126" y="524"/>
                      <a:pt x="136" y="513"/>
                      <a:pt x="136" y="498"/>
                    </a:cubicBezTo>
                    <a:cubicBezTo>
                      <a:pt x="136" y="497"/>
                      <a:pt x="136" y="495"/>
                      <a:pt x="136" y="494"/>
                    </a:cubicBezTo>
                    <a:cubicBezTo>
                      <a:pt x="136" y="491"/>
                      <a:pt x="138" y="483"/>
                      <a:pt x="139" y="478"/>
                    </a:cubicBezTo>
                    <a:cubicBezTo>
                      <a:pt x="139" y="465"/>
                      <a:pt x="139" y="465"/>
                      <a:pt x="139" y="459"/>
                    </a:cubicBezTo>
                    <a:cubicBezTo>
                      <a:pt x="139" y="453"/>
                      <a:pt x="143" y="441"/>
                      <a:pt x="143" y="434"/>
                    </a:cubicBezTo>
                    <a:cubicBezTo>
                      <a:pt x="143" y="429"/>
                      <a:pt x="141" y="403"/>
                      <a:pt x="140" y="399"/>
                    </a:cubicBezTo>
                    <a:cubicBezTo>
                      <a:pt x="136" y="388"/>
                      <a:pt x="128" y="381"/>
                      <a:pt x="121" y="377"/>
                    </a:cubicBezTo>
                    <a:cubicBezTo>
                      <a:pt x="114" y="374"/>
                      <a:pt x="109" y="375"/>
                      <a:pt x="104" y="370"/>
                    </a:cubicBezTo>
                    <a:cubicBezTo>
                      <a:pt x="99" y="365"/>
                      <a:pt x="96" y="363"/>
                      <a:pt x="90" y="362"/>
                    </a:cubicBezTo>
                    <a:cubicBezTo>
                      <a:pt x="78" y="358"/>
                      <a:pt x="72" y="351"/>
                      <a:pt x="64" y="343"/>
                    </a:cubicBezTo>
                    <a:cubicBezTo>
                      <a:pt x="60" y="340"/>
                      <a:pt x="62" y="335"/>
                      <a:pt x="62" y="330"/>
                    </a:cubicBezTo>
                    <a:cubicBezTo>
                      <a:pt x="62" y="323"/>
                      <a:pt x="55" y="319"/>
                      <a:pt x="53" y="313"/>
                    </a:cubicBezTo>
                    <a:cubicBezTo>
                      <a:pt x="50" y="302"/>
                      <a:pt x="41" y="294"/>
                      <a:pt x="38" y="285"/>
                    </a:cubicBezTo>
                    <a:cubicBezTo>
                      <a:pt x="35" y="275"/>
                      <a:pt x="32" y="269"/>
                      <a:pt x="28" y="261"/>
                    </a:cubicBezTo>
                    <a:cubicBezTo>
                      <a:pt x="27" y="258"/>
                      <a:pt x="24" y="259"/>
                      <a:pt x="23" y="257"/>
                    </a:cubicBezTo>
                    <a:cubicBezTo>
                      <a:pt x="20" y="254"/>
                      <a:pt x="19" y="248"/>
                      <a:pt x="17" y="245"/>
                    </a:cubicBezTo>
                    <a:cubicBezTo>
                      <a:pt x="16" y="242"/>
                      <a:pt x="12" y="243"/>
                      <a:pt x="11" y="242"/>
                    </a:cubicBezTo>
                    <a:cubicBezTo>
                      <a:pt x="6" y="237"/>
                      <a:pt x="0" y="228"/>
                      <a:pt x="0" y="220"/>
                    </a:cubicBezTo>
                    <a:cubicBezTo>
                      <a:pt x="0" y="215"/>
                      <a:pt x="3" y="209"/>
                      <a:pt x="5" y="207"/>
                    </a:cubicBezTo>
                    <a:cubicBezTo>
                      <a:pt x="8" y="200"/>
                      <a:pt x="16" y="198"/>
                      <a:pt x="18" y="191"/>
                    </a:cubicBezTo>
                    <a:cubicBezTo>
                      <a:pt x="14" y="189"/>
                      <a:pt x="15" y="191"/>
                      <a:pt x="12" y="191"/>
                    </a:cubicBezTo>
                    <a:cubicBezTo>
                      <a:pt x="5" y="191"/>
                      <a:pt x="5" y="182"/>
                      <a:pt x="5" y="176"/>
                    </a:cubicBezTo>
                    <a:cubicBezTo>
                      <a:pt x="5" y="166"/>
                      <a:pt x="16" y="168"/>
                      <a:pt x="14" y="148"/>
                    </a:cubicBezTo>
                    <a:cubicBezTo>
                      <a:pt x="26" y="148"/>
                      <a:pt x="29" y="136"/>
                      <a:pt x="32" y="129"/>
                    </a:cubicBezTo>
                    <a:cubicBezTo>
                      <a:pt x="37" y="119"/>
                      <a:pt x="49" y="123"/>
                      <a:pt x="51" y="111"/>
                    </a:cubicBezTo>
                    <a:cubicBezTo>
                      <a:pt x="49" y="110"/>
                      <a:pt x="47" y="107"/>
                      <a:pt x="47" y="106"/>
                    </a:cubicBezTo>
                    <a:cubicBezTo>
                      <a:pt x="49" y="103"/>
                      <a:pt x="49" y="103"/>
                      <a:pt x="49" y="10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45" name="Group 277">
              <a:extLst>
                <a:ext uri="{FF2B5EF4-FFF2-40B4-BE49-F238E27FC236}">
                  <a16:creationId xmlns:a16="http://schemas.microsoft.com/office/drawing/2014/main" id="{C41A524A-F97F-EDC8-A710-5CAF3DC27E27}"/>
                </a:ext>
              </a:extLst>
            </p:cNvPr>
            <p:cNvGrpSpPr/>
            <p:nvPr/>
          </p:nvGrpSpPr>
          <p:grpSpPr>
            <a:xfrm>
              <a:off x="4027664" y="1691640"/>
              <a:ext cx="3031413" cy="2350669"/>
              <a:chOff x="1585913" y="960438"/>
              <a:chExt cx="2590800" cy="1804987"/>
            </a:xfrm>
            <a:solidFill>
              <a:srgbClr val="121E3B"/>
            </a:solidFill>
          </p:grpSpPr>
          <p:sp>
            <p:nvSpPr>
              <p:cNvPr id="214" name="Freeform 21">
                <a:extLst>
                  <a:ext uri="{FF2B5EF4-FFF2-40B4-BE49-F238E27FC236}">
                    <a16:creationId xmlns:a16="http://schemas.microsoft.com/office/drawing/2014/main" id="{677D307B-12D1-4C87-8E06-0BDE039D20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9150" y="2703513"/>
                <a:ext cx="12700" cy="14288"/>
              </a:xfrm>
              <a:custGeom>
                <a:avLst/>
                <a:gdLst/>
                <a:ahLst/>
                <a:cxnLst>
                  <a:cxn ang="0">
                    <a:pos x="9" y="4"/>
                  </a:cxn>
                  <a:cxn ang="0">
                    <a:pos x="9" y="0"/>
                  </a:cxn>
                  <a:cxn ang="0">
                    <a:pos x="5" y="0"/>
                  </a:cxn>
                  <a:cxn ang="0">
                    <a:pos x="0" y="9"/>
                  </a:cxn>
                  <a:cxn ang="0">
                    <a:pos x="4" y="9"/>
                  </a:cxn>
                  <a:cxn ang="0">
                    <a:pos x="9" y="4"/>
                  </a:cxn>
                </a:cxnLst>
                <a:rect l="0" t="0" r="r" b="b"/>
                <a:pathLst>
                  <a:path w="9" h="11">
                    <a:moveTo>
                      <a:pt x="9" y="4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2" y="0"/>
                      <a:pt x="0" y="5"/>
                      <a:pt x="0" y="9"/>
                    </a:cubicBezTo>
                    <a:cubicBezTo>
                      <a:pt x="0" y="11"/>
                      <a:pt x="2" y="9"/>
                      <a:pt x="4" y="9"/>
                    </a:cubicBezTo>
                    <a:cubicBezTo>
                      <a:pt x="6" y="9"/>
                      <a:pt x="8" y="5"/>
                      <a:pt x="9" y="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15" name="Freeform 39">
                <a:extLst>
                  <a:ext uri="{FF2B5EF4-FFF2-40B4-BE49-F238E27FC236}">
                    <a16:creationId xmlns:a16="http://schemas.microsoft.com/office/drawing/2014/main" id="{D260ACD4-7D93-ACA2-785E-7FDB815546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9388" y="1552575"/>
                <a:ext cx="169863" cy="77788"/>
              </a:xfrm>
              <a:custGeom>
                <a:avLst/>
                <a:gdLst/>
                <a:ahLst/>
                <a:cxnLst>
                  <a:cxn ang="0">
                    <a:pos x="127" y="31"/>
                  </a:cxn>
                  <a:cxn ang="0">
                    <a:pos x="108" y="47"/>
                  </a:cxn>
                  <a:cxn ang="0">
                    <a:pos x="74" y="58"/>
                  </a:cxn>
                  <a:cxn ang="0">
                    <a:pos x="34" y="50"/>
                  </a:cxn>
                  <a:cxn ang="0">
                    <a:pos x="14" y="42"/>
                  </a:cxn>
                  <a:cxn ang="0">
                    <a:pos x="18" y="40"/>
                  </a:cxn>
                  <a:cxn ang="0">
                    <a:pos x="21" y="27"/>
                  </a:cxn>
                  <a:cxn ang="0">
                    <a:pos x="2" y="25"/>
                  </a:cxn>
                  <a:cxn ang="0">
                    <a:pos x="25" y="21"/>
                  </a:cxn>
                  <a:cxn ang="0">
                    <a:pos x="23" y="18"/>
                  </a:cxn>
                  <a:cxn ang="0">
                    <a:pos x="0" y="8"/>
                  </a:cxn>
                  <a:cxn ang="0">
                    <a:pos x="9" y="9"/>
                  </a:cxn>
                  <a:cxn ang="0">
                    <a:pos x="9" y="5"/>
                  </a:cxn>
                  <a:cxn ang="0">
                    <a:pos x="17" y="0"/>
                  </a:cxn>
                  <a:cxn ang="0">
                    <a:pos x="21" y="0"/>
                  </a:cxn>
                  <a:cxn ang="0">
                    <a:pos x="23" y="7"/>
                  </a:cxn>
                  <a:cxn ang="0">
                    <a:pos x="30" y="16"/>
                  </a:cxn>
                  <a:cxn ang="0">
                    <a:pos x="38" y="13"/>
                  </a:cxn>
                  <a:cxn ang="0">
                    <a:pos x="38" y="8"/>
                  </a:cxn>
                  <a:cxn ang="0">
                    <a:pos x="44" y="12"/>
                  </a:cxn>
                  <a:cxn ang="0">
                    <a:pos x="54" y="9"/>
                  </a:cxn>
                  <a:cxn ang="0">
                    <a:pos x="60" y="12"/>
                  </a:cxn>
                  <a:cxn ang="0">
                    <a:pos x="60" y="8"/>
                  </a:cxn>
                  <a:cxn ang="0">
                    <a:pos x="74" y="9"/>
                  </a:cxn>
                  <a:cxn ang="0">
                    <a:pos x="89" y="8"/>
                  </a:cxn>
                  <a:cxn ang="0">
                    <a:pos x="91" y="1"/>
                  </a:cxn>
                  <a:cxn ang="0">
                    <a:pos x="96" y="1"/>
                  </a:cxn>
                  <a:cxn ang="0">
                    <a:pos x="104" y="7"/>
                  </a:cxn>
                  <a:cxn ang="0">
                    <a:pos x="115" y="4"/>
                  </a:cxn>
                  <a:cxn ang="0">
                    <a:pos x="112" y="8"/>
                  </a:cxn>
                  <a:cxn ang="0">
                    <a:pos x="128" y="30"/>
                  </a:cxn>
                  <a:cxn ang="0">
                    <a:pos x="127" y="31"/>
                  </a:cxn>
                </a:cxnLst>
                <a:rect l="0" t="0" r="r" b="b"/>
                <a:pathLst>
                  <a:path w="128" h="58">
                    <a:moveTo>
                      <a:pt x="127" y="31"/>
                    </a:moveTo>
                    <a:cubicBezTo>
                      <a:pt x="124" y="38"/>
                      <a:pt x="113" y="45"/>
                      <a:pt x="108" y="47"/>
                    </a:cubicBezTo>
                    <a:cubicBezTo>
                      <a:pt x="97" y="51"/>
                      <a:pt x="89" y="58"/>
                      <a:pt x="74" y="58"/>
                    </a:cubicBezTo>
                    <a:cubicBezTo>
                      <a:pt x="57" y="58"/>
                      <a:pt x="46" y="54"/>
                      <a:pt x="34" y="50"/>
                    </a:cubicBezTo>
                    <a:cubicBezTo>
                      <a:pt x="28" y="49"/>
                      <a:pt x="24" y="42"/>
                      <a:pt x="14" y="42"/>
                    </a:cubicBezTo>
                    <a:cubicBezTo>
                      <a:pt x="16" y="41"/>
                      <a:pt x="17" y="40"/>
                      <a:pt x="18" y="40"/>
                    </a:cubicBezTo>
                    <a:cubicBezTo>
                      <a:pt x="18" y="34"/>
                      <a:pt x="20" y="32"/>
                      <a:pt x="21" y="27"/>
                    </a:cubicBezTo>
                    <a:cubicBezTo>
                      <a:pt x="14" y="25"/>
                      <a:pt x="6" y="30"/>
                      <a:pt x="2" y="25"/>
                    </a:cubicBezTo>
                    <a:cubicBezTo>
                      <a:pt x="8" y="25"/>
                      <a:pt x="20" y="23"/>
                      <a:pt x="25" y="21"/>
                    </a:cubicBezTo>
                    <a:cubicBezTo>
                      <a:pt x="23" y="20"/>
                      <a:pt x="23" y="19"/>
                      <a:pt x="23" y="18"/>
                    </a:cubicBezTo>
                    <a:cubicBezTo>
                      <a:pt x="18" y="18"/>
                      <a:pt x="1" y="13"/>
                      <a:pt x="0" y="8"/>
                    </a:cubicBezTo>
                    <a:cubicBezTo>
                      <a:pt x="4" y="7"/>
                      <a:pt x="7" y="8"/>
                      <a:pt x="9" y="9"/>
                    </a:cubicBezTo>
                    <a:cubicBezTo>
                      <a:pt x="9" y="8"/>
                      <a:pt x="9" y="7"/>
                      <a:pt x="9" y="5"/>
                    </a:cubicBezTo>
                    <a:cubicBezTo>
                      <a:pt x="13" y="5"/>
                      <a:pt x="14" y="0"/>
                      <a:pt x="17" y="0"/>
                    </a:cubicBezTo>
                    <a:cubicBezTo>
                      <a:pt x="18" y="0"/>
                      <a:pt x="19" y="0"/>
                      <a:pt x="21" y="0"/>
                    </a:cubicBezTo>
                    <a:cubicBezTo>
                      <a:pt x="21" y="3"/>
                      <a:pt x="23" y="4"/>
                      <a:pt x="23" y="7"/>
                    </a:cubicBezTo>
                    <a:cubicBezTo>
                      <a:pt x="23" y="10"/>
                      <a:pt x="27" y="16"/>
                      <a:pt x="30" y="16"/>
                    </a:cubicBezTo>
                    <a:cubicBezTo>
                      <a:pt x="33" y="16"/>
                      <a:pt x="36" y="14"/>
                      <a:pt x="38" y="13"/>
                    </a:cubicBezTo>
                    <a:cubicBezTo>
                      <a:pt x="37" y="10"/>
                      <a:pt x="37" y="9"/>
                      <a:pt x="38" y="8"/>
                    </a:cubicBezTo>
                    <a:cubicBezTo>
                      <a:pt x="40" y="9"/>
                      <a:pt x="41" y="12"/>
                      <a:pt x="44" y="12"/>
                    </a:cubicBezTo>
                    <a:cubicBezTo>
                      <a:pt x="54" y="9"/>
                      <a:pt x="54" y="9"/>
                      <a:pt x="54" y="9"/>
                    </a:cubicBezTo>
                    <a:cubicBezTo>
                      <a:pt x="58" y="10"/>
                      <a:pt x="59" y="11"/>
                      <a:pt x="60" y="12"/>
                    </a:cubicBezTo>
                    <a:cubicBezTo>
                      <a:pt x="60" y="11"/>
                      <a:pt x="60" y="9"/>
                      <a:pt x="60" y="8"/>
                    </a:cubicBezTo>
                    <a:cubicBezTo>
                      <a:pt x="67" y="8"/>
                      <a:pt x="70" y="9"/>
                      <a:pt x="74" y="9"/>
                    </a:cubicBezTo>
                    <a:cubicBezTo>
                      <a:pt x="80" y="9"/>
                      <a:pt x="85" y="4"/>
                      <a:pt x="89" y="8"/>
                    </a:cubicBezTo>
                    <a:cubicBezTo>
                      <a:pt x="89" y="4"/>
                      <a:pt x="90" y="3"/>
                      <a:pt x="91" y="1"/>
                    </a:cubicBezTo>
                    <a:cubicBezTo>
                      <a:pt x="94" y="2"/>
                      <a:pt x="94" y="2"/>
                      <a:pt x="96" y="1"/>
                    </a:cubicBezTo>
                    <a:cubicBezTo>
                      <a:pt x="96" y="6"/>
                      <a:pt x="100" y="7"/>
                      <a:pt x="104" y="7"/>
                    </a:cubicBezTo>
                    <a:cubicBezTo>
                      <a:pt x="108" y="7"/>
                      <a:pt x="111" y="4"/>
                      <a:pt x="115" y="4"/>
                    </a:cubicBezTo>
                    <a:cubicBezTo>
                      <a:pt x="113" y="5"/>
                      <a:pt x="112" y="7"/>
                      <a:pt x="112" y="8"/>
                    </a:cubicBezTo>
                    <a:cubicBezTo>
                      <a:pt x="112" y="21"/>
                      <a:pt x="128" y="18"/>
                      <a:pt x="128" y="30"/>
                    </a:cubicBezTo>
                    <a:lnTo>
                      <a:pt x="1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16" name="Freeform 40">
                <a:extLst>
                  <a:ext uri="{FF2B5EF4-FFF2-40B4-BE49-F238E27FC236}">
                    <a16:creationId xmlns:a16="http://schemas.microsoft.com/office/drawing/2014/main" id="{F34B0FC5-7B26-0984-C696-16DE8154F4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1800" y="2487613"/>
                <a:ext cx="174625" cy="60325"/>
              </a:xfrm>
              <a:custGeom>
                <a:avLst/>
                <a:gdLst/>
                <a:ahLst/>
                <a:cxnLst>
                  <a:cxn ang="0">
                    <a:pos x="131" y="40"/>
                  </a:cxn>
                  <a:cxn ang="0">
                    <a:pos x="114" y="45"/>
                  </a:cxn>
                  <a:cxn ang="0">
                    <a:pos x="88" y="42"/>
                  </a:cxn>
                  <a:cxn ang="0">
                    <a:pos x="88" y="39"/>
                  </a:cxn>
                  <a:cxn ang="0">
                    <a:pos x="93" y="35"/>
                  </a:cxn>
                  <a:cxn ang="0">
                    <a:pos x="78" y="26"/>
                  </a:cxn>
                  <a:cxn ang="0">
                    <a:pos x="73" y="22"/>
                  </a:cxn>
                  <a:cxn ang="0">
                    <a:pos x="64" y="22"/>
                  </a:cxn>
                  <a:cxn ang="0">
                    <a:pos x="48" y="15"/>
                  </a:cxn>
                  <a:cxn ang="0">
                    <a:pos x="35" y="15"/>
                  </a:cxn>
                  <a:cxn ang="0">
                    <a:pos x="34" y="10"/>
                  </a:cxn>
                  <a:cxn ang="0">
                    <a:pos x="28" y="9"/>
                  </a:cxn>
                  <a:cxn ang="0">
                    <a:pos x="4" y="20"/>
                  </a:cxn>
                  <a:cxn ang="0">
                    <a:pos x="0" y="20"/>
                  </a:cxn>
                  <a:cxn ang="0">
                    <a:pos x="36" y="0"/>
                  </a:cxn>
                  <a:cxn ang="0">
                    <a:pos x="79" y="11"/>
                  </a:cxn>
                  <a:cxn ang="0">
                    <a:pos x="86" y="17"/>
                  </a:cxn>
                  <a:cxn ang="0">
                    <a:pos x="114" y="28"/>
                  </a:cxn>
                  <a:cxn ang="0">
                    <a:pos x="114" y="31"/>
                  </a:cxn>
                  <a:cxn ang="0">
                    <a:pos x="120" y="31"/>
                  </a:cxn>
                  <a:cxn ang="0">
                    <a:pos x="131" y="40"/>
                  </a:cxn>
                </a:cxnLst>
                <a:rect l="0" t="0" r="r" b="b"/>
                <a:pathLst>
                  <a:path w="131" h="45">
                    <a:moveTo>
                      <a:pt x="131" y="40"/>
                    </a:moveTo>
                    <a:cubicBezTo>
                      <a:pt x="127" y="45"/>
                      <a:pt x="119" y="45"/>
                      <a:pt x="114" y="45"/>
                    </a:cubicBezTo>
                    <a:cubicBezTo>
                      <a:pt x="104" y="45"/>
                      <a:pt x="97" y="42"/>
                      <a:pt x="88" y="42"/>
                    </a:cubicBezTo>
                    <a:cubicBezTo>
                      <a:pt x="88" y="41"/>
                      <a:pt x="88" y="40"/>
                      <a:pt x="88" y="39"/>
                    </a:cubicBezTo>
                    <a:cubicBezTo>
                      <a:pt x="90" y="39"/>
                      <a:pt x="92" y="38"/>
                      <a:pt x="93" y="35"/>
                    </a:cubicBezTo>
                    <a:cubicBezTo>
                      <a:pt x="86" y="32"/>
                      <a:pt x="79" y="33"/>
                      <a:pt x="78" y="26"/>
                    </a:cubicBezTo>
                    <a:cubicBezTo>
                      <a:pt x="74" y="26"/>
                      <a:pt x="75" y="23"/>
                      <a:pt x="73" y="22"/>
                    </a:cubicBezTo>
                    <a:cubicBezTo>
                      <a:pt x="69" y="20"/>
                      <a:pt x="67" y="22"/>
                      <a:pt x="64" y="22"/>
                    </a:cubicBezTo>
                    <a:cubicBezTo>
                      <a:pt x="57" y="22"/>
                      <a:pt x="54" y="15"/>
                      <a:pt x="48" y="15"/>
                    </a:cubicBezTo>
                    <a:cubicBezTo>
                      <a:pt x="35" y="15"/>
                      <a:pt x="35" y="15"/>
                      <a:pt x="35" y="15"/>
                    </a:cubicBezTo>
                    <a:cubicBezTo>
                      <a:pt x="33" y="13"/>
                      <a:pt x="33" y="12"/>
                      <a:pt x="34" y="10"/>
                    </a:cubicBezTo>
                    <a:cubicBezTo>
                      <a:pt x="33" y="9"/>
                      <a:pt x="30" y="9"/>
                      <a:pt x="28" y="9"/>
                    </a:cubicBezTo>
                    <a:cubicBezTo>
                      <a:pt x="20" y="9"/>
                      <a:pt x="8" y="15"/>
                      <a:pt x="4" y="2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7" y="8"/>
                      <a:pt x="16" y="0"/>
                      <a:pt x="36" y="0"/>
                    </a:cubicBezTo>
                    <a:cubicBezTo>
                      <a:pt x="55" y="0"/>
                      <a:pt x="64" y="11"/>
                      <a:pt x="79" y="11"/>
                    </a:cubicBezTo>
                    <a:cubicBezTo>
                      <a:pt x="82" y="11"/>
                      <a:pt x="86" y="16"/>
                      <a:pt x="86" y="17"/>
                    </a:cubicBezTo>
                    <a:cubicBezTo>
                      <a:pt x="93" y="23"/>
                      <a:pt x="104" y="28"/>
                      <a:pt x="114" y="28"/>
                    </a:cubicBezTo>
                    <a:cubicBezTo>
                      <a:pt x="114" y="28"/>
                      <a:pt x="113" y="30"/>
                      <a:pt x="114" y="31"/>
                    </a:cubicBezTo>
                    <a:cubicBezTo>
                      <a:pt x="120" y="31"/>
                      <a:pt x="120" y="31"/>
                      <a:pt x="120" y="31"/>
                    </a:cubicBezTo>
                    <a:cubicBezTo>
                      <a:pt x="125" y="32"/>
                      <a:pt x="127" y="39"/>
                      <a:pt x="131" y="4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17" name="Freeform 41">
                <a:extLst>
                  <a:ext uri="{FF2B5EF4-FFF2-40B4-BE49-F238E27FC236}">
                    <a16:creationId xmlns:a16="http://schemas.microsoft.com/office/drawing/2014/main" id="{AD28F33E-7609-BFAF-6F41-F70C278CD8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5613" y="2509838"/>
                <a:ext cx="9525" cy="11113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6" y="7"/>
                  </a:cxn>
                  <a:cxn ang="0">
                    <a:pos x="0" y="7"/>
                  </a:cxn>
                  <a:cxn ang="0">
                    <a:pos x="4" y="3"/>
                  </a:cxn>
                  <a:cxn ang="0">
                    <a:pos x="4" y="0"/>
                  </a:cxn>
                  <a:cxn ang="0">
                    <a:pos x="5" y="0"/>
                  </a:cxn>
                  <a:cxn ang="0">
                    <a:pos x="6" y="0"/>
                  </a:cxn>
                </a:cxnLst>
                <a:rect l="0" t="0" r="r" b="b"/>
                <a:pathLst>
                  <a:path w="7" h="8">
                    <a:moveTo>
                      <a:pt x="6" y="0"/>
                    </a:moveTo>
                    <a:cubicBezTo>
                      <a:pt x="6" y="3"/>
                      <a:pt x="7" y="5"/>
                      <a:pt x="6" y="7"/>
                    </a:cubicBezTo>
                    <a:cubicBezTo>
                      <a:pt x="5" y="7"/>
                      <a:pt x="0" y="8"/>
                      <a:pt x="0" y="7"/>
                    </a:cubicBezTo>
                    <a:cubicBezTo>
                      <a:pt x="0" y="4"/>
                      <a:pt x="2" y="3"/>
                      <a:pt x="4" y="3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0"/>
                      <a:pt x="5" y="0"/>
                      <a:pt x="5" y="0"/>
                    </a:cubicBezTo>
                    <a:lnTo>
                      <a:pt x="6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18" name="Freeform 42">
                <a:extLst>
                  <a:ext uri="{FF2B5EF4-FFF2-40B4-BE49-F238E27FC236}">
                    <a16:creationId xmlns:a16="http://schemas.microsoft.com/office/drawing/2014/main" id="{499067E9-1CE7-EBD6-0D01-6605A390B9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2925" y="2568575"/>
                <a:ext cx="28575" cy="14288"/>
              </a:xfrm>
              <a:custGeom>
                <a:avLst/>
                <a:gdLst/>
                <a:ahLst/>
                <a:cxnLst>
                  <a:cxn ang="0">
                    <a:pos x="18" y="3"/>
                  </a:cxn>
                  <a:cxn ang="0">
                    <a:pos x="22" y="7"/>
                  </a:cxn>
                  <a:cxn ang="0">
                    <a:pos x="7" y="10"/>
                  </a:cxn>
                  <a:cxn ang="0">
                    <a:pos x="0" y="3"/>
                  </a:cxn>
                  <a:cxn ang="0">
                    <a:pos x="5" y="0"/>
                  </a:cxn>
                  <a:cxn ang="0">
                    <a:pos x="19" y="4"/>
                  </a:cxn>
                  <a:cxn ang="0">
                    <a:pos x="18" y="3"/>
                  </a:cxn>
                </a:cxnLst>
                <a:rect l="0" t="0" r="r" b="b"/>
                <a:pathLst>
                  <a:path w="22" h="10">
                    <a:moveTo>
                      <a:pt x="18" y="3"/>
                    </a:moveTo>
                    <a:cubicBezTo>
                      <a:pt x="21" y="4"/>
                      <a:pt x="22" y="5"/>
                      <a:pt x="22" y="7"/>
                    </a:cubicBezTo>
                    <a:cubicBezTo>
                      <a:pt x="17" y="8"/>
                      <a:pt x="13" y="10"/>
                      <a:pt x="7" y="10"/>
                    </a:cubicBezTo>
                    <a:cubicBezTo>
                      <a:pt x="4" y="10"/>
                      <a:pt x="0" y="7"/>
                      <a:pt x="0" y="3"/>
                    </a:cubicBezTo>
                    <a:cubicBezTo>
                      <a:pt x="0" y="1"/>
                      <a:pt x="3" y="0"/>
                      <a:pt x="5" y="0"/>
                    </a:cubicBezTo>
                    <a:cubicBezTo>
                      <a:pt x="10" y="0"/>
                      <a:pt x="16" y="3"/>
                      <a:pt x="19" y="4"/>
                    </a:cubicBezTo>
                    <a:lnTo>
                      <a:pt x="18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19" name="Freeform 43">
                <a:extLst>
                  <a:ext uri="{FF2B5EF4-FFF2-40B4-BE49-F238E27FC236}">
                    <a16:creationId xmlns:a16="http://schemas.microsoft.com/office/drawing/2014/main" id="{D32FB11A-FCE2-9E27-7A52-A34079F619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7075" y="2568575"/>
                <a:ext cx="23813" cy="9525"/>
              </a:xfrm>
              <a:custGeom>
                <a:avLst/>
                <a:gdLst/>
                <a:ahLst/>
                <a:cxnLst>
                  <a:cxn ang="0">
                    <a:pos x="18" y="4"/>
                  </a:cxn>
                  <a:cxn ang="0">
                    <a:pos x="11" y="7"/>
                  </a:cxn>
                  <a:cxn ang="0">
                    <a:pos x="0" y="2"/>
                  </a:cxn>
                  <a:cxn ang="0">
                    <a:pos x="5" y="0"/>
                  </a:cxn>
                  <a:cxn ang="0">
                    <a:pos x="18" y="4"/>
                  </a:cxn>
                </a:cxnLst>
                <a:rect l="0" t="0" r="r" b="b"/>
                <a:pathLst>
                  <a:path w="18" h="7">
                    <a:moveTo>
                      <a:pt x="18" y="4"/>
                    </a:moveTo>
                    <a:cubicBezTo>
                      <a:pt x="17" y="7"/>
                      <a:pt x="14" y="7"/>
                      <a:pt x="11" y="7"/>
                    </a:cubicBezTo>
                    <a:cubicBezTo>
                      <a:pt x="6" y="7"/>
                      <a:pt x="0" y="7"/>
                      <a:pt x="0" y="2"/>
                    </a:cubicBezTo>
                    <a:cubicBezTo>
                      <a:pt x="0" y="0"/>
                      <a:pt x="4" y="0"/>
                      <a:pt x="5" y="0"/>
                    </a:cubicBezTo>
                    <a:cubicBezTo>
                      <a:pt x="6" y="0"/>
                      <a:pt x="17" y="2"/>
                      <a:pt x="18" y="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20" name="Freeform 44">
                <a:extLst>
                  <a:ext uri="{FF2B5EF4-FFF2-40B4-BE49-F238E27FC236}">
                    <a16:creationId xmlns:a16="http://schemas.microsoft.com/office/drawing/2014/main" id="{ECD7E9B6-48CD-6AC6-71CF-5B766D2846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6425" y="2543175"/>
                <a:ext cx="100013" cy="39688"/>
              </a:xfrm>
              <a:custGeom>
                <a:avLst/>
                <a:gdLst/>
                <a:ahLst/>
                <a:cxnLst>
                  <a:cxn ang="0">
                    <a:pos x="64" y="11"/>
                  </a:cxn>
                  <a:cxn ang="0">
                    <a:pos x="75" y="21"/>
                  </a:cxn>
                  <a:cxn ang="0">
                    <a:pos x="59" y="21"/>
                  </a:cxn>
                  <a:cxn ang="0">
                    <a:pos x="51" y="24"/>
                  </a:cxn>
                  <a:cxn ang="0">
                    <a:pos x="47" y="22"/>
                  </a:cxn>
                  <a:cxn ang="0">
                    <a:pos x="37" y="30"/>
                  </a:cxn>
                  <a:cxn ang="0">
                    <a:pos x="31" y="24"/>
                  </a:cxn>
                  <a:cxn ang="0">
                    <a:pos x="11" y="23"/>
                  </a:cxn>
                  <a:cxn ang="0">
                    <a:pos x="6" y="23"/>
                  </a:cxn>
                  <a:cxn ang="0">
                    <a:pos x="6" y="27"/>
                  </a:cxn>
                  <a:cxn ang="0">
                    <a:pos x="0" y="19"/>
                  </a:cxn>
                  <a:cxn ang="0">
                    <a:pos x="3" y="18"/>
                  </a:cxn>
                  <a:cxn ang="0">
                    <a:pos x="22" y="17"/>
                  </a:cxn>
                  <a:cxn ang="0">
                    <a:pos x="19" y="8"/>
                  </a:cxn>
                  <a:cxn ang="0">
                    <a:pos x="14" y="3"/>
                  </a:cxn>
                  <a:cxn ang="0">
                    <a:pos x="17" y="0"/>
                  </a:cxn>
                  <a:cxn ang="0">
                    <a:pos x="28" y="3"/>
                  </a:cxn>
                  <a:cxn ang="0">
                    <a:pos x="41" y="1"/>
                  </a:cxn>
                  <a:cxn ang="0">
                    <a:pos x="66" y="13"/>
                  </a:cxn>
                  <a:cxn ang="0">
                    <a:pos x="64" y="11"/>
                  </a:cxn>
                </a:cxnLst>
                <a:rect l="0" t="0" r="r" b="b"/>
                <a:pathLst>
                  <a:path w="75" h="30">
                    <a:moveTo>
                      <a:pt x="64" y="11"/>
                    </a:moveTo>
                    <a:cubicBezTo>
                      <a:pt x="68" y="15"/>
                      <a:pt x="72" y="16"/>
                      <a:pt x="75" y="21"/>
                    </a:cubicBezTo>
                    <a:cubicBezTo>
                      <a:pt x="59" y="21"/>
                      <a:pt x="59" y="21"/>
                      <a:pt x="59" y="21"/>
                    </a:cubicBezTo>
                    <a:cubicBezTo>
                      <a:pt x="56" y="23"/>
                      <a:pt x="54" y="24"/>
                      <a:pt x="51" y="24"/>
                    </a:cubicBezTo>
                    <a:cubicBezTo>
                      <a:pt x="49" y="24"/>
                      <a:pt x="49" y="22"/>
                      <a:pt x="47" y="22"/>
                    </a:cubicBezTo>
                    <a:cubicBezTo>
                      <a:pt x="41" y="22"/>
                      <a:pt x="41" y="30"/>
                      <a:pt x="37" y="30"/>
                    </a:cubicBezTo>
                    <a:cubicBezTo>
                      <a:pt x="33" y="30"/>
                      <a:pt x="34" y="26"/>
                      <a:pt x="31" y="24"/>
                    </a:cubicBezTo>
                    <a:cubicBezTo>
                      <a:pt x="27" y="22"/>
                      <a:pt x="17" y="23"/>
                      <a:pt x="11" y="23"/>
                    </a:cubicBezTo>
                    <a:cubicBezTo>
                      <a:pt x="8" y="23"/>
                      <a:pt x="8" y="24"/>
                      <a:pt x="6" y="23"/>
                    </a:cubicBezTo>
                    <a:cubicBezTo>
                      <a:pt x="6" y="24"/>
                      <a:pt x="6" y="25"/>
                      <a:pt x="6" y="27"/>
                    </a:cubicBezTo>
                    <a:cubicBezTo>
                      <a:pt x="3" y="26"/>
                      <a:pt x="0" y="22"/>
                      <a:pt x="0" y="19"/>
                    </a:cubicBezTo>
                    <a:cubicBezTo>
                      <a:pt x="1" y="19"/>
                      <a:pt x="2" y="18"/>
                      <a:pt x="3" y="18"/>
                    </a:cubicBezTo>
                    <a:cubicBezTo>
                      <a:pt x="13" y="18"/>
                      <a:pt x="17" y="20"/>
                      <a:pt x="22" y="17"/>
                    </a:cubicBezTo>
                    <a:cubicBezTo>
                      <a:pt x="20" y="15"/>
                      <a:pt x="19" y="12"/>
                      <a:pt x="19" y="8"/>
                    </a:cubicBezTo>
                    <a:cubicBezTo>
                      <a:pt x="17" y="8"/>
                      <a:pt x="14" y="6"/>
                      <a:pt x="14" y="3"/>
                    </a:cubicBezTo>
                    <a:cubicBezTo>
                      <a:pt x="14" y="2"/>
                      <a:pt x="16" y="0"/>
                      <a:pt x="17" y="0"/>
                    </a:cubicBezTo>
                    <a:cubicBezTo>
                      <a:pt x="21" y="0"/>
                      <a:pt x="24" y="3"/>
                      <a:pt x="28" y="3"/>
                    </a:cubicBezTo>
                    <a:cubicBezTo>
                      <a:pt x="34" y="3"/>
                      <a:pt x="36" y="1"/>
                      <a:pt x="41" y="1"/>
                    </a:cubicBezTo>
                    <a:cubicBezTo>
                      <a:pt x="55" y="1"/>
                      <a:pt x="58" y="9"/>
                      <a:pt x="66" y="13"/>
                    </a:cubicBezTo>
                    <a:lnTo>
                      <a:pt x="64" y="1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21" name="Freeform 45">
                <a:extLst>
                  <a:ext uri="{FF2B5EF4-FFF2-40B4-BE49-F238E27FC236}">
                    <a16:creationId xmlns:a16="http://schemas.microsoft.com/office/drawing/2014/main" id="{05221820-7107-5C42-3D63-2CE51E5B2C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6575" y="2455863"/>
                <a:ext cx="9525" cy="1111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7" y="6"/>
                  </a:cxn>
                  <a:cxn ang="0">
                    <a:pos x="5" y="8"/>
                  </a:cxn>
                  <a:cxn ang="0">
                    <a:pos x="0" y="0"/>
                  </a:cxn>
                  <a:cxn ang="0">
                    <a:pos x="2" y="0"/>
                  </a:cxn>
                </a:cxnLst>
                <a:rect l="0" t="0" r="r" b="b"/>
                <a:pathLst>
                  <a:path w="7" h="8">
                    <a:moveTo>
                      <a:pt x="2" y="0"/>
                    </a:moveTo>
                    <a:cubicBezTo>
                      <a:pt x="6" y="0"/>
                      <a:pt x="7" y="3"/>
                      <a:pt x="7" y="6"/>
                    </a:cubicBezTo>
                    <a:cubicBezTo>
                      <a:pt x="7" y="7"/>
                      <a:pt x="6" y="8"/>
                      <a:pt x="5" y="8"/>
                    </a:cubicBezTo>
                    <a:cubicBezTo>
                      <a:pt x="0" y="8"/>
                      <a:pt x="0" y="3"/>
                      <a:pt x="0" y="0"/>
                    </a:cubicBezTo>
                    <a:cubicBezTo>
                      <a:pt x="0" y="0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22" name="Freeform 46">
                <a:extLst>
                  <a:ext uri="{FF2B5EF4-FFF2-40B4-BE49-F238E27FC236}">
                    <a16:creationId xmlns:a16="http://schemas.microsoft.com/office/drawing/2014/main" id="{A6D65CD1-C164-8072-5FBA-549E5BA40A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8638" y="2422525"/>
                <a:ext cx="14288" cy="4763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6" y="0"/>
                  </a:cxn>
                  <a:cxn ang="0">
                    <a:pos x="11" y="3"/>
                  </a:cxn>
                  <a:cxn ang="0">
                    <a:pos x="0" y="3"/>
                  </a:cxn>
                </a:cxnLst>
                <a:rect l="0" t="0" r="r" b="b"/>
                <a:pathLst>
                  <a:path w="11" h="4">
                    <a:moveTo>
                      <a:pt x="0" y="3"/>
                    </a:moveTo>
                    <a:cubicBezTo>
                      <a:pt x="1" y="2"/>
                      <a:pt x="4" y="0"/>
                      <a:pt x="6" y="0"/>
                    </a:cubicBezTo>
                    <a:cubicBezTo>
                      <a:pt x="9" y="0"/>
                      <a:pt x="10" y="2"/>
                      <a:pt x="11" y="3"/>
                    </a:cubicBezTo>
                    <a:cubicBezTo>
                      <a:pt x="7" y="4"/>
                      <a:pt x="2" y="3"/>
                      <a:pt x="0" y="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23" name="Freeform 47">
                <a:extLst>
                  <a:ext uri="{FF2B5EF4-FFF2-40B4-BE49-F238E27FC236}">
                    <a16:creationId xmlns:a16="http://schemas.microsoft.com/office/drawing/2014/main" id="{5EEBCEC2-4099-04BC-1DCB-D0A53E203B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4038" y="2428875"/>
                <a:ext cx="4763" cy="6350"/>
              </a:xfrm>
              <a:custGeom>
                <a:avLst/>
                <a:gdLst/>
                <a:ahLst/>
                <a:cxnLst>
                  <a:cxn ang="0">
                    <a:pos x="3" y="4"/>
                  </a:cxn>
                  <a:cxn ang="0">
                    <a:pos x="1" y="0"/>
                  </a:cxn>
                  <a:cxn ang="0">
                    <a:pos x="3" y="4"/>
                  </a:cxn>
                </a:cxnLst>
                <a:rect l="0" t="0" r="r" b="b"/>
                <a:pathLst>
                  <a:path w="3" h="4">
                    <a:moveTo>
                      <a:pt x="3" y="4"/>
                    </a:moveTo>
                    <a:cubicBezTo>
                      <a:pt x="2" y="4"/>
                      <a:pt x="0" y="1"/>
                      <a:pt x="1" y="0"/>
                    </a:cubicBezTo>
                    <a:lnTo>
                      <a:pt x="3" y="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24" name="Freeform 48">
                <a:extLst>
                  <a:ext uri="{FF2B5EF4-FFF2-40B4-BE49-F238E27FC236}">
                    <a16:creationId xmlns:a16="http://schemas.microsoft.com/office/drawing/2014/main" id="{65395ACF-3B9C-727D-6529-B0019038B1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4363" y="2517775"/>
                <a:ext cx="11113" cy="7938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0" y="7"/>
                  </a:cxn>
                  <a:cxn ang="0">
                    <a:pos x="2" y="7"/>
                  </a:cxn>
                  <a:cxn ang="0">
                    <a:pos x="9" y="4"/>
                  </a:cxn>
                  <a:cxn ang="0">
                    <a:pos x="9" y="0"/>
                  </a:cxn>
                  <a:cxn ang="0">
                    <a:pos x="0" y="4"/>
                  </a:cxn>
                </a:cxnLst>
                <a:rect l="0" t="0" r="r" b="b"/>
                <a:pathLst>
                  <a:path w="9" h="7">
                    <a:moveTo>
                      <a:pt x="0" y="4"/>
                    </a:moveTo>
                    <a:cubicBezTo>
                      <a:pt x="0" y="5"/>
                      <a:pt x="0" y="6"/>
                      <a:pt x="0" y="7"/>
                    </a:cubicBezTo>
                    <a:cubicBezTo>
                      <a:pt x="0" y="7"/>
                      <a:pt x="1" y="7"/>
                      <a:pt x="2" y="7"/>
                    </a:cubicBezTo>
                    <a:cubicBezTo>
                      <a:pt x="4" y="7"/>
                      <a:pt x="7" y="6"/>
                      <a:pt x="9" y="4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7" y="3"/>
                      <a:pt x="4" y="5"/>
                      <a:pt x="0" y="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25" name="Freeform 49">
                <a:extLst>
                  <a:ext uri="{FF2B5EF4-FFF2-40B4-BE49-F238E27FC236}">
                    <a16:creationId xmlns:a16="http://schemas.microsoft.com/office/drawing/2014/main" id="{93954571-6EF5-A4C7-1FE0-5968E17F01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1875" y="1979613"/>
                <a:ext cx="966788" cy="473075"/>
              </a:xfrm>
              <a:custGeom>
                <a:avLst/>
                <a:gdLst/>
                <a:ahLst/>
                <a:cxnLst>
                  <a:cxn ang="0">
                    <a:pos x="543" y="285"/>
                  </a:cxn>
                  <a:cxn ang="0">
                    <a:pos x="555" y="317"/>
                  </a:cxn>
                  <a:cxn ang="0">
                    <a:pos x="560" y="338"/>
                  </a:cxn>
                  <a:cxn ang="0">
                    <a:pos x="542" y="345"/>
                  </a:cxn>
                  <a:cxn ang="0">
                    <a:pos x="507" y="287"/>
                  </a:cxn>
                  <a:cxn ang="0">
                    <a:pos x="474" y="283"/>
                  </a:cxn>
                  <a:cxn ang="0">
                    <a:pos x="460" y="283"/>
                  </a:cxn>
                  <a:cxn ang="0">
                    <a:pos x="443" y="286"/>
                  </a:cxn>
                  <a:cxn ang="0">
                    <a:pos x="412" y="292"/>
                  </a:cxn>
                  <a:cxn ang="0">
                    <a:pos x="393" y="291"/>
                  </a:cxn>
                  <a:cxn ang="0">
                    <a:pos x="357" y="309"/>
                  </a:cxn>
                  <a:cxn ang="0">
                    <a:pos x="343" y="342"/>
                  </a:cxn>
                  <a:cxn ang="0">
                    <a:pos x="282" y="290"/>
                  </a:cxn>
                  <a:cxn ang="0">
                    <a:pos x="246" y="281"/>
                  </a:cxn>
                  <a:cxn ang="0">
                    <a:pos x="207" y="262"/>
                  </a:cxn>
                  <a:cxn ang="0">
                    <a:pos x="170" y="268"/>
                  </a:cxn>
                  <a:cxn ang="0">
                    <a:pos x="95" y="252"/>
                  </a:cxn>
                  <a:cxn ang="0">
                    <a:pos x="47" y="214"/>
                  </a:cxn>
                  <a:cxn ang="0">
                    <a:pos x="4" y="141"/>
                  </a:cxn>
                  <a:cxn ang="0">
                    <a:pos x="4" y="95"/>
                  </a:cxn>
                  <a:cxn ang="0">
                    <a:pos x="0" y="23"/>
                  </a:cxn>
                  <a:cxn ang="0">
                    <a:pos x="20" y="27"/>
                  </a:cxn>
                  <a:cxn ang="0">
                    <a:pos x="20" y="5"/>
                  </a:cxn>
                  <a:cxn ang="0">
                    <a:pos x="373" y="0"/>
                  </a:cxn>
                  <a:cxn ang="0">
                    <a:pos x="406" y="11"/>
                  </a:cxn>
                  <a:cxn ang="0">
                    <a:pos x="408" y="45"/>
                  </a:cxn>
                  <a:cxn ang="0">
                    <a:pos x="423" y="42"/>
                  </a:cxn>
                  <a:cxn ang="0">
                    <a:pos x="441" y="40"/>
                  </a:cxn>
                  <a:cxn ang="0">
                    <a:pos x="456" y="42"/>
                  </a:cxn>
                  <a:cxn ang="0">
                    <a:pos x="472" y="47"/>
                  </a:cxn>
                  <a:cxn ang="0">
                    <a:pos x="510" y="48"/>
                  </a:cxn>
                  <a:cxn ang="0">
                    <a:pos x="490" y="54"/>
                  </a:cxn>
                  <a:cxn ang="0">
                    <a:pos x="472" y="69"/>
                  </a:cxn>
                  <a:cxn ang="0">
                    <a:pos x="471" y="121"/>
                  </a:cxn>
                  <a:cxn ang="0">
                    <a:pos x="480" y="88"/>
                  </a:cxn>
                  <a:cxn ang="0">
                    <a:pos x="501" y="57"/>
                  </a:cxn>
                  <a:cxn ang="0">
                    <a:pos x="516" y="87"/>
                  </a:cxn>
                  <a:cxn ang="0">
                    <a:pos x="531" y="97"/>
                  </a:cxn>
                  <a:cxn ang="0">
                    <a:pos x="527" y="123"/>
                  </a:cxn>
                  <a:cxn ang="0">
                    <a:pos x="564" y="97"/>
                  </a:cxn>
                  <a:cxn ang="0">
                    <a:pos x="610" y="84"/>
                  </a:cxn>
                  <a:cxn ang="0">
                    <a:pos x="653" y="65"/>
                  </a:cxn>
                  <a:cxn ang="0">
                    <a:pos x="675" y="63"/>
                  </a:cxn>
                  <a:cxn ang="0">
                    <a:pos x="699" y="28"/>
                  </a:cxn>
                  <a:cxn ang="0">
                    <a:pos x="726" y="73"/>
                  </a:cxn>
                  <a:cxn ang="0">
                    <a:pos x="701" y="80"/>
                  </a:cxn>
                  <a:cxn ang="0">
                    <a:pos x="681" y="113"/>
                  </a:cxn>
                  <a:cxn ang="0">
                    <a:pos x="690" y="118"/>
                  </a:cxn>
                  <a:cxn ang="0">
                    <a:pos x="676" y="122"/>
                  </a:cxn>
                  <a:cxn ang="0">
                    <a:pos x="648" y="132"/>
                  </a:cxn>
                  <a:cxn ang="0">
                    <a:pos x="642" y="134"/>
                  </a:cxn>
                  <a:cxn ang="0">
                    <a:pos x="635" y="137"/>
                  </a:cxn>
                  <a:cxn ang="0">
                    <a:pos x="627" y="161"/>
                  </a:cxn>
                  <a:cxn ang="0">
                    <a:pos x="622" y="159"/>
                  </a:cxn>
                  <a:cxn ang="0">
                    <a:pos x="615" y="186"/>
                  </a:cxn>
                  <a:cxn ang="0">
                    <a:pos x="614" y="178"/>
                  </a:cxn>
                  <a:cxn ang="0">
                    <a:pos x="608" y="170"/>
                  </a:cxn>
                  <a:cxn ang="0">
                    <a:pos x="611" y="192"/>
                  </a:cxn>
                  <a:cxn ang="0">
                    <a:pos x="614" y="196"/>
                  </a:cxn>
                  <a:cxn ang="0">
                    <a:pos x="614" y="205"/>
                  </a:cxn>
                  <a:cxn ang="0">
                    <a:pos x="607" y="213"/>
                  </a:cxn>
                  <a:cxn ang="0">
                    <a:pos x="607" y="221"/>
                  </a:cxn>
                  <a:cxn ang="0">
                    <a:pos x="589" y="232"/>
                  </a:cxn>
                </a:cxnLst>
                <a:rect l="0" t="0" r="r" b="b"/>
                <a:pathLst>
                  <a:path w="726" h="356">
                    <a:moveTo>
                      <a:pt x="590" y="233"/>
                    </a:moveTo>
                    <a:cubicBezTo>
                      <a:pt x="569" y="245"/>
                      <a:pt x="543" y="253"/>
                      <a:pt x="543" y="285"/>
                    </a:cubicBezTo>
                    <a:cubicBezTo>
                      <a:pt x="543" y="300"/>
                      <a:pt x="555" y="304"/>
                      <a:pt x="555" y="318"/>
                    </a:cubicBezTo>
                    <a:cubicBezTo>
                      <a:pt x="555" y="317"/>
                      <a:pt x="555" y="317"/>
                      <a:pt x="555" y="317"/>
                    </a:cubicBezTo>
                    <a:cubicBezTo>
                      <a:pt x="555" y="320"/>
                      <a:pt x="555" y="320"/>
                      <a:pt x="555" y="320"/>
                    </a:cubicBezTo>
                    <a:cubicBezTo>
                      <a:pt x="556" y="326"/>
                      <a:pt x="560" y="330"/>
                      <a:pt x="560" y="338"/>
                    </a:cubicBezTo>
                    <a:cubicBezTo>
                      <a:pt x="560" y="347"/>
                      <a:pt x="558" y="356"/>
                      <a:pt x="551" y="356"/>
                    </a:cubicBezTo>
                    <a:cubicBezTo>
                      <a:pt x="544" y="356"/>
                      <a:pt x="544" y="349"/>
                      <a:pt x="542" y="345"/>
                    </a:cubicBezTo>
                    <a:cubicBezTo>
                      <a:pt x="537" y="338"/>
                      <a:pt x="532" y="335"/>
                      <a:pt x="529" y="328"/>
                    </a:cubicBezTo>
                    <a:cubicBezTo>
                      <a:pt x="522" y="314"/>
                      <a:pt x="527" y="287"/>
                      <a:pt x="507" y="287"/>
                    </a:cubicBezTo>
                    <a:cubicBezTo>
                      <a:pt x="503" y="287"/>
                      <a:pt x="502" y="293"/>
                      <a:pt x="498" y="293"/>
                    </a:cubicBezTo>
                    <a:cubicBezTo>
                      <a:pt x="490" y="293"/>
                      <a:pt x="485" y="283"/>
                      <a:pt x="474" y="283"/>
                    </a:cubicBezTo>
                    <a:cubicBezTo>
                      <a:pt x="468" y="283"/>
                      <a:pt x="467" y="286"/>
                      <a:pt x="463" y="286"/>
                    </a:cubicBezTo>
                    <a:cubicBezTo>
                      <a:pt x="462" y="286"/>
                      <a:pt x="460" y="284"/>
                      <a:pt x="460" y="283"/>
                    </a:cubicBezTo>
                    <a:cubicBezTo>
                      <a:pt x="453" y="285"/>
                      <a:pt x="444" y="284"/>
                      <a:pt x="436" y="286"/>
                    </a:cubicBezTo>
                    <a:cubicBezTo>
                      <a:pt x="441" y="288"/>
                      <a:pt x="440" y="288"/>
                      <a:pt x="443" y="286"/>
                    </a:cubicBezTo>
                    <a:cubicBezTo>
                      <a:pt x="442" y="293"/>
                      <a:pt x="438" y="297"/>
                      <a:pt x="443" y="301"/>
                    </a:cubicBezTo>
                    <a:cubicBezTo>
                      <a:pt x="431" y="307"/>
                      <a:pt x="421" y="292"/>
                      <a:pt x="412" y="292"/>
                    </a:cubicBezTo>
                    <a:cubicBezTo>
                      <a:pt x="409" y="292"/>
                      <a:pt x="408" y="295"/>
                      <a:pt x="405" y="295"/>
                    </a:cubicBezTo>
                    <a:cubicBezTo>
                      <a:pt x="400" y="295"/>
                      <a:pt x="398" y="291"/>
                      <a:pt x="393" y="291"/>
                    </a:cubicBezTo>
                    <a:cubicBezTo>
                      <a:pt x="380" y="291"/>
                      <a:pt x="374" y="302"/>
                      <a:pt x="368" y="307"/>
                    </a:cubicBezTo>
                    <a:cubicBezTo>
                      <a:pt x="365" y="311"/>
                      <a:pt x="361" y="308"/>
                      <a:pt x="357" y="309"/>
                    </a:cubicBezTo>
                    <a:cubicBezTo>
                      <a:pt x="347" y="313"/>
                      <a:pt x="341" y="325"/>
                      <a:pt x="341" y="338"/>
                    </a:cubicBezTo>
                    <a:cubicBezTo>
                      <a:pt x="341" y="339"/>
                      <a:pt x="343" y="341"/>
                      <a:pt x="343" y="342"/>
                    </a:cubicBezTo>
                    <a:cubicBezTo>
                      <a:pt x="336" y="342"/>
                      <a:pt x="325" y="339"/>
                      <a:pt x="321" y="336"/>
                    </a:cubicBezTo>
                    <a:cubicBezTo>
                      <a:pt x="307" y="322"/>
                      <a:pt x="308" y="290"/>
                      <a:pt x="282" y="290"/>
                    </a:cubicBezTo>
                    <a:cubicBezTo>
                      <a:pt x="272" y="290"/>
                      <a:pt x="275" y="302"/>
                      <a:pt x="266" y="302"/>
                    </a:cubicBezTo>
                    <a:cubicBezTo>
                      <a:pt x="257" y="302"/>
                      <a:pt x="250" y="287"/>
                      <a:pt x="246" y="281"/>
                    </a:cubicBezTo>
                    <a:cubicBezTo>
                      <a:pt x="239" y="268"/>
                      <a:pt x="230" y="266"/>
                      <a:pt x="215" y="262"/>
                    </a:cubicBezTo>
                    <a:cubicBezTo>
                      <a:pt x="207" y="262"/>
                      <a:pt x="207" y="262"/>
                      <a:pt x="207" y="262"/>
                    </a:cubicBezTo>
                    <a:cubicBezTo>
                      <a:pt x="207" y="268"/>
                      <a:pt x="207" y="268"/>
                      <a:pt x="207" y="268"/>
                    </a:cubicBezTo>
                    <a:cubicBezTo>
                      <a:pt x="170" y="268"/>
                      <a:pt x="170" y="268"/>
                      <a:pt x="170" y="268"/>
                    </a:cubicBezTo>
                    <a:cubicBezTo>
                      <a:pt x="123" y="252"/>
                      <a:pt x="123" y="252"/>
                      <a:pt x="123" y="252"/>
                    </a:cubicBezTo>
                    <a:cubicBezTo>
                      <a:pt x="95" y="252"/>
                      <a:pt x="95" y="252"/>
                      <a:pt x="95" y="252"/>
                    </a:cubicBezTo>
                    <a:cubicBezTo>
                      <a:pt x="88" y="239"/>
                      <a:pt x="66" y="230"/>
                      <a:pt x="50" y="223"/>
                    </a:cubicBezTo>
                    <a:cubicBezTo>
                      <a:pt x="47" y="222"/>
                      <a:pt x="48" y="217"/>
                      <a:pt x="47" y="214"/>
                    </a:cubicBezTo>
                    <a:cubicBezTo>
                      <a:pt x="40" y="198"/>
                      <a:pt x="28" y="193"/>
                      <a:pt x="30" y="175"/>
                    </a:cubicBezTo>
                    <a:cubicBezTo>
                      <a:pt x="21" y="174"/>
                      <a:pt x="11" y="154"/>
                      <a:pt x="4" y="141"/>
                    </a:cubicBezTo>
                    <a:cubicBezTo>
                      <a:pt x="2" y="137"/>
                      <a:pt x="6" y="134"/>
                      <a:pt x="8" y="133"/>
                    </a:cubicBezTo>
                    <a:cubicBezTo>
                      <a:pt x="3" y="123"/>
                      <a:pt x="8" y="107"/>
                      <a:pt x="4" y="95"/>
                    </a:cubicBezTo>
                    <a:cubicBezTo>
                      <a:pt x="0" y="85"/>
                      <a:pt x="11" y="60"/>
                      <a:pt x="11" y="46"/>
                    </a:cubicBezTo>
                    <a:cubicBezTo>
                      <a:pt x="11" y="36"/>
                      <a:pt x="0" y="32"/>
                      <a:pt x="0" y="23"/>
                    </a:cubicBezTo>
                    <a:cubicBezTo>
                      <a:pt x="0" y="20"/>
                      <a:pt x="5" y="20"/>
                      <a:pt x="7" y="20"/>
                    </a:cubicBezTo>
                    <a:cubicBezTo>
                      <a:pt x="13" y="20"/>
                      <a:pt x="17" y="23"/>
                      <a:pt x="20" y="27"/>
                    </a:cubicBezTo>
                    <a:cubicBezTo>
                      <a:pt x="22" y="24"/>
                      <a:pt x="26" y="19"/>
                      <a:pt x="26" y="15"/>
                    </a:cubicBezTo>
                    <a:cubicBezTo>
                      <a:pt x="26" y="11"/>
                      <a:pt x="22" y="10"/>
                      <a:pt x="20" y="5"/>
                    </a:cubicBezTo>
                    <a:cubicBezTo>
                      <a:pt x="373" y="5"/>
                      <a:pt x="373" y="5"/>
                      <a:pt x="373" y="5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9" y="4"/>
                      <a:pt x="378" y="8"/>
                      <a:pt x="384" y="11"/>
                    </a:cubicBezTo>
                    <a:cubicBezTo>
                      <a:pt x="406" y="11"/>
                      <a:pt x="406" y="11"/>
                      <a:pt x="406" y="11"/>
                    </a:cubicBezTo>
                    <a:cubicBezTo>
                      <a:pt x="415" y="20"/>
                      <a:pt x="426" y="20"/>
                      <a:pt x="443" y="20"/>
                    </a:cubicBezTo>
                    <a:cubicBezTo>
                      <a:pt x="431" y="28"/>
                      <a:pt x="418" y="32"/>
                      <a:pt x="408" y="45"/>
                    </a:cubicBezTo>
                    <a:cubicBezTo>
                      <a:pt x="415" y="45"/>
                      <a:pt x="415" y="45"/>
                      <a:pt x="415" y="45"/>
                    </a:cubicBezTo>
                    <a:cubicBezTo>
                      <a:pt x="418" y="43"/>
                      <a:pt x="420" y="42"/>
                      <a:pt x="423" y="42"/>
                    </a:cubicBezTo>
                    <a:cubicBezTo>
                      <a:pt x="425" y="46"/>
                      <a:pt x="426" y="46"/>
                      <a:pt x="429" y="46"/>
                    </a:cubicBezTo>
                    <a:cubicBezTo>
                      <a:pt x="437" y="46"/>
                      <a:pt x="437" y="40"/>
                      <a:pt x="441" y="40"/>
                    </a:cubicBezTo>
                    <a:cubicBezTo>
                      <a:pt x="446" y="40"/>
                      <a:pt x="454" y="32"/>
                      <a:pt x="461" y="31"/>
                    </a:cubicBezTo>
                    <a:cubicBezTo>
                      <a:pt x="461" y="37"/>
                      <a:pt x="458" y="38"/>
                      <a:pt x="456" y="42"/>
                    </a:cubicBezTo>
                    <a:cubicBezTo>
                      <a:pt x="465" y="42"/>
                      <a:pt x="465" y="42"/>
                      <a:pt x="465" y="42"/>
                    </a:cubicBezTo>
                    <a:cubicBezTo>
                      <a:pt x="465" y="45"/>
                      <a:pt x="469" y="47"/>
                      <a:pt x="472" y="47"/>
                    </a:cubicBezTo>
                    <a:cubicBezTo>
                      <a:pt x="478" y="47"/>
                      <a:pt x="480" y="43"/>
                      <a:pt x="484" y="43"/>
                    </a:cubicBezTo>
                    <a:cubicBezTo>
                      <a:pt x="495" y="43"/>
                      <a:pt x="500" y="48"/>
                      <a:pt x="510" y="48"/>
                    </a:cubicBezTo>
                    <a:cubicBezTo>
                      <a:pt x="510" y="54"/>
                      <a:pt x="510" y="54"/>
                      <a:pt x="510" y="54"/>
                    </a:cubicBezTo>
                    <a:cubicBezTo>
                      <a:pt x="503" y="56"/>
                      <a:pt x="493" y="54"/>
                      <a:pt x="490" y="54"/>
                    </a:cubicBezTo>
                    <a:cubicBezTo>
                      <a:pt x="480" y="54"/>
                      <a:pt x="462" y="66"/>
                      <a:pt x="462" y="75"/>
                    </a:cubicBezTo>
                    <a:cubicBezTo>
                      <a:pt x="466" y="72"/>
                      <a:pt x="468" y="69"/>
                      <a:pt x="472" y="69"/>
                    </a:cubicBezTo>
                    <a:cubicBezTo>
                      <a:pt x="465" y="78"/>
                      <a:pt x="461" y="101"/>
                      <a:pt x="461" y="112"/>
                    </a:cubicBezTo>
                    <a:cubicBezTo>
                      <a:pt x="461" y="117"/>
                      <a:pt x="466" y="121"/>
                      <a:pt x="471" y="121"/>
                    </a:cubicBezTo>
                    <a:cubicBezTo>
                      <a:pt x="478" y="121"/>
                      <a:pt x="480" y="108"/>
                      <a:pt x="480" y="102"/>
                    </a:cubicBezTo>
                    <a:cubicBezTo>
                      <a:pt x="480" y="97"/>
                      <a:pt x="480" y="88"/>
                      <a:pt x="480" y="88"/>
                    </a:cubicBezTo>
                    <a:cubicBezTo>
                      <a:pt x="480" y="82"/>
                      <a:pt x="480" y="69"/>
                      <a:pt x="485" y="69"/>
                    </a:cubicBezTo>
                    <a:cubicBezTo>
                      <a:pt x="501" y="68"/>
                      <a:pt x="494" y="57"/>
                      <a:pt x="501" y="57"/>
                    </a:cubicBezTo>
                    <a:cubicBezTo>
                      <a:pt x="504" y="57"/>
                      <a:pt x="521" y="65"/>
                      <a:pt x="521" y="70"/>
                    </a:cubicBezTo>
                    <a:cubicBezTo>
                      <a:pt x="521" y="77"/>
                      <a:pt x="517" y="81"/>
                      <a:pt x="516" y="87"/>
                    </a:cubicBezTo>
                    <a:cubicBezTo>
                      <a:pt x="521" y="87"/>
                      <a:pt x="520" y="85"/>
                      <a:pt x="525" y="84"/>
                    </a:cubicBezTo>
                    <a:cubicBezTo>
                      <a:pt x="526" y="91"/>
                      <a:pt x="526" y="94"/>
                      <a:pt x="531" y="97"/>
                    </a:cubicBezTo>
                    <a:cubicBezTo>
                      <a:pt x="526" y="103"/>
                      <a:pt x="521" y="106"/>
                      <a:pt x="521" y="112"/>
                    </a:cubicBezTo>
                    <a:cubicBezTo>
                      <a:pt x="521" y="117"/>
                      <a:pt x="523" y="123"/>
                      <a:pt x="527" y="123"/>
                    </a:cubicBezTo>
                    <a:cubicBezTo>
                      <a:pt x="539" y="123"/>
                      <a:pt x="559" y="112"/>
                      <a:pt x="568" y="108"/>
                    </a:cubicBezTo>
                    <a:cubicBezTo>
                      <a:pt x="567" y="103"/>
                      <a:pt x="565" y="99"/>
                      <a:pt x="564" y="97"/>
                    </a:cubicBezTo>
                    <a:cubicBezTo>
                      <a:pt x="567" y="97"/>
                      <a:pt x="567" y="97"/>
                      <a:pt x="569" y="97"/>
                    </a:cubicBezTo>
                    <a:cubicBezTo>
                      <a:pt x="582" y="97"/>
                      <a:pt x="610" y="101"/>
                      <a:pt x="610" y="84"/>
                    </a:cubicBezTo>
                    <a:cubicBezTo>
                      <a:pt x="611" y="84"/>
                      <a:pt x="627" y="68"/>
                      <a:pt x="630" y="66"/>
                    </a:cubicBezTo>
                    <a:cubicBezTo>
                      <a:pt x="632" y="64"/>
                      <a:pt x="643" y="65"/>
                      <a:pt x="653" y="65"/>
                    </a:cubicBezTo>
                    <a:cubicBezTo>
                      <a:pt x="657" y="65"/>
                      <a:pt x="660" y="65"/>
                      <a:pt x="664" y="65"/>
                    </a:cubicBezTo>
                    <a:cubicBezTo>
                      <a:pt x="668" y="65"/>
                      <a:pt x="672" y="63"/>
                      <a:pt x="675" y="63"/>
                    </a:cubicBezTo>
                    <a:cubicBezTo>
                      <a:pt x="680" y="62"/>
                      <a:pt x="678" y="61"/>
                      <a:pt x="680" y="59"/>
                    </a:cubicBezTo>
                    <a:cubicBezTo>
                      <a:pt x="688" y="51"/>
                      <a:pt x="688" y="36"/>
                      <a:pt x="699" y="28"/>
                    </a:cubicBezTo>
                    <a:cubicBezTo>
                      <a:pt x="704" y="35"/>
                      <a:pt x="712" y="25"/>
                      <a:pt x="716" y="32"/>
                    </a:cubicBezTo>
                    <a:cubicBezTo>
                      <a:pt x="723" y="44"/>
                      <a:pt x="717" y="62"/>
                      <a:pt x="726" y="73"/>
                    </a:cubicBezTo>
                    <a:cubicBezTo>
                      <a:pt x="723" y="77"/>
                      <a:pt x="718" y="80"/>
                      <a:pt x="712" y="80"/>
                    </a:cubicBezTo>
                    <a:cubicBezTo>
                      <a:pt x="706" y="80"/>
                      <a:pt x="706" y="78"/>
                      <a:pt x="701" y="80"/>
                    </a:cubicBezTo>
                    <a:cubicBezTo>
                      <a:pt x="694" y="87"/>
                      <a:pt x="679" y="92"/>
                      <a:pt x="679" y="109"/>
                    </a:cubicBezTo>
                    <a:cubicBezTo>
                      <a:pt x="679" y="110"/>
                      <a:pt x="680" y="112"/>
                      <a:pt x="681" y="113"/>
                    </a:cubicBezTo>
                    <a:cubicBezTo>
                      <a:pt x="681" y="115"/>
                      <a:pt x="683" y="121"/>
                      <a:pt x="686" y="121"/>
                    </a:cubicBezTo>
                    <a:cubicBezTo>
                      <a:pt x="687" y="121"/>
                      <a:pt x="690" y="118"/>
                      <a:pt x="690" y="118"/>
                    </a:cubicBezTo>
                    <a:cubicBezTo>
                      <a:pt x="690" y="121"/>
                      <a:pt x="690" y="121"/>
                      <a:pt x="690" y="121"/>
                    </a:cubicBezTo>
                    <a:cubicBezTo>
                      <a:pt x="685" y="122"/>
                      <a:pt x="678" y="124"/>
                      <a:pt x="676" y="122"/>
                    </a:cubicBezTo>
                    <a:cubicBezTo>
                      <a:pt x="667" y="129"/>
                      <a:pt x="652" y="126"/>
                      <a:pt x="643" y="132"/>
                    </a:cubicBezTo>
                    <a:cubicBezTo>
                      <a:pt x="648" y="132"/>
                      <a:pt x="648" y="132"/>
                      <a:pt x="648" y="132"/>
                    </a:cubicBezTo>
                    <a:cubicBezTo>
                      <a:pt x="652" y="132"/>
                      <a:pt x="656" y="129"/>
                      <a:pt x="659" y="132"/>
                    </a:cubicBezTo>
                    <a:cubicBezTo>
                      <a:pt x="653" y="134"/>
                      <a:pt x="648" y="134"/>
                      <a:pt x="642" y="134"/>
                    </a:cubicBezTo>
                    <a:cubicBezTo>
                      <a:pt x="641" y="134"/>
                      <a:pt x="639" y="133"/>
                      <a:pt x="638" y="133"/>
                    </a:cubicBezTo>
                    <a:cubicBezTo>
                      <a:pt x="637" y="134"/>
                      <a:pt x="635" y="135"/>
                      <a:pt x="635" y="137"/>
                    </a:cubicBezTo>
                    <a:cubicBezTo>
                      <a:pt x="635" y="139"/>
                      <a:pt x="639" y="142"/>
                      <a:pt x="639" y="142"/>
                    </a:cubicBezTo>
                    <a:cubicBezTo>
                      <a:pt x="638" y="145"/>
                      <a:pt x="630" y="161"/>
                      <a:pt x="627" y="161"/>
                    </a:cubicBezTo>
                    <a:cubicBezTo>
                      <a:pt x="626" y="161"/>
                      <a:pt x="625" y="158"/>
                      <a:pt x="624" y="157"/>
                    </a:cubicBezTo>
                    <a:cubicBezTo>
                      <a:pt x="622" y="159"/>
                      <a:pt x="622" y="159"/>
                      <a:pt x="622" y="159"/>
                    </a:cubicBezTo>
                    <a:cubicBezTo>
                      <a:pt x="623" y="163"/>
                      <a:pt x="626" y="164"/>
                      <a:pt x="626" y="168"/>
                    </a:cubicBezTo>
                    <a:cubicBezTo>
                      <a:pt x="626" y="170"/>
                      <a:pt x="617" y="186"/>
                      <a:pt x="615" y="186"/>
                    </a:cubicBezTo>
                    <a:cubicBezTo>
                      <a:pt x="615" y="186"/>
                      <a:pt x="614" y="184"/>
                      <a:pt x="614" y="183"/>
                    </a:cubicBezTo>
                    <a:cubicBezTo>
                      <a:pt x="614" y="181"/>
                      <a:pt x="614" y="180"/>
                      <a:pt x="614" y="178"/>
                    </a:cubicBezTo>
                    <a:cubicBezTo>
                      <a:pt x="614" y="175"/>
                      <a:pt x="610" y="168"/>
                      <a:pt x="609" y="164"/>
                    </a:cubicBezTo>
                    <a:cubicBezTo>
                      <a:pt x="608" y="166"/>
                      <a:pt x="608" y="170"/>
                      <a:pt x="608" y="170"/>
                    </a:cubicBezTo>
                    <a:cubicBezTo>
                      <a:pt x="608" y="173"/>
                      <a:pt x="611" y="181"/>
                      <a:pt x="611" y="185"/>
                    </a:cubicBezTo>
                    <a:cubicBezTo>
                      <a:pt x="611" y="189"/>
                      <a:pt x="608" y="189"/>
                      <a:pt x="611" y="192"/>
                    </a:cubicBezTo>
                    <a:cubicBezTo>
                      <a:pt x="612" y="192"/>
                      <a:pt x="613" y="192"/>
                      <a:pt x="614" y="192"/>
                    </a:cubicBezTo>
                    <a:cubicBezTo>
                      <a:pt x="614" y="193"/>
                      <a:pt x="614" y="195"/>
                      <a:pt x="614" y="196"/>
                    </a:cubicBezTo>
                    <a:cubicBezTo>
                      <a:pt x="614" y="200"/>
                      <a:pt x="610" y="201"/>
                      <a:pt x="608" y="201"/>
                    </a:cubicBezTo>
                    <a:cubicBezTo>
                      <a:pt x="610" y="205"/>
                      <a:pt x="612" y="205"/>
                      <a:pt x="614" y="205"/>
                    </a:cubicBezTo>
                    <a:cubicBezTo>
                      <a:pt x="613" y="210"/>
                      <a:pt x="611" y="210"/>
                      <a:pt x="607" y="210"/>
                    </a:cubicBezTo>
                    <a:cubicBezTo>
                      <a:pt x="607" y="213"/>
                      <a:pt x="607" y="213"/>
                      <a:pt x="607" y="213"/>
                    </a:cubicBezTo>
                    <a:cubicBezTo>
                      <a:pt x="612" y="216"/>
                      <a:pt x="612" y="216"/>
                      <a:pt x="612" y="216"/>
                    </a:cubicBezTo>
                    <a:cubicBezTo>
                      <a:pt x="611" y="218"/>
                      <a:pt x="610" y="221"/>
                      <a:pt x="607" y="221"/>
                    </a:cubicBezTo>
                    <a:cubicBezTo>
                      <a:pt x="602" y="222"/>
                      <a:pt x="600" y="226"/>
                      <a:pt x="596" y="226"/>
                    </a:cubicBezTo>
                    <a:cubicBezTo>
                      <a:pt x="591" y="228"/>
                      <a:pt x="591" y="230"/>
                      <a:pt x="589" y="232"/>
                    </a:cubicBezTo>
                    <a:lnTo>
                      <a:pt x="590" y="23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26" name="Freeform 50">
                <a:extLst>
                  <a:ext uri="{FF2B5EF4-FFF2-40B4-BE49-F238E27FC236}">
                    <a16:creationId xmlns:a16="http://schemas.microsoft.com/office/drawing/2014/main" id="{7636E8CA-2573-8CF9-95CC-E83AC5D752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0413" y="1400175"/>
                <a:ext cx="1425575" cy="736600"/>
              </a:xfrm>
              <a:custGeom>
                <a:avLst/>
                <a:gdLst/>
                <a:ahLst/>
                <a:cxnLst>
                  <a:cxn ang="0">
                    <a:pos x="950" y="501"/>
                  </a:cxn>
                  <a:cxn ang="0">
                    <a:pos x="950" y="527"/>
                  </a:cxn>
                  <a:cxn ang="0">
                    <a:pos x="955" y="469"/>
                  </a:cxn>
                  <a:cxn ang="0">
                    <a:pos x="944" y="436"/>
                  </a:cxn>
                  <a:cxn ang="0">
                    <a:pos x="982" y="418"/>
                  </a:cxn>
                  <a:cxn ang="0">
                    <a:pos x="1060" y="356"/>
                  </a:cxn>
                  <a:cxn ang="0">
                    <a:pos x="1050" y="346"/>
                  </a:cxn>
                  <a:cxn ang="0">
                    <a:pos x="991" y="310"/>
                  </a:cxn>
                  <a:cxn ang="0">
                    <a:pos x="965" y="247"/>
                  </a:cxn>
                  <a:cxn ang="0">
                    <a:pos x="908" y="267"/>
                  </a:cxn>
                  <a:cxn ang="0">
                    <a:pos x="831" y="204"/>
                  </a:cxn>
                  <a:cxn ang="0">
                    <a:pos x="794" y="247"/>
                  </a:cxn>
                  <a:cxn ang="0">
                    <a:pos x="783" y="387"/>
                  </a:cxn>
                  <a:cxn ang="0">
                    <a:pos x="726" y="334"/>
                  </a:cxn>
                  <a:cxn ang="0">
                    <a:pos x="607" y="306"/>
                  </a:cxn>
                  <a:cxn ang="0">
                    <a:pos x="595" y="216"/>
                  </a:cxn>
                  <a:cxn ang="0">
                    <a:pos x="633" y="178"/>
                  </a:cxn>
                  <a:cxn ang="0">
                    <a:pos x="675" y="146"/>
                  </a:cxn>
                  <a:cxn ang="0">
                    <a:pos x="686" y="127"/>
                  </a:cxn>
                  <a:cxn ang="0">
                    <a:pos x="722" y="120"/>
                  </a:cxn>
                  <a:cxn ang="0">
                    <a:pos x="746" y="61"/>
                  </a:cxn>
                  <a:cxn ang="0">
                    <a:pos x="702" y="67"/>
                  </a:cxn>
                  <a:cxn ang="0">
                    <a:pos x="665" y="74"/>
                  </a:cxn>
                  <a:cxn ang="0">
                    <a:pos x="625" y="55"/>
                  </a:cxn>
                  <a:cxn ang="0">
                    <a:pos x="574" y="0"/>
                  </a:cxn>
                  <a:cxn ang="0">
                    <a:pos x="555" y="38"/>
                  </a:cxn>
                  <a:cxn ang="0">
                    <a:pos x="567" y="98"/>
                  </a:cxn>
                  <a:cxn ang="0">
                    <a:pos x="492" y="92"/>
                  </a:cxn>
                  <a:cxn ang="0">
                    <a:pos x="430" y="75"/>
                  </a:cxn>
                  <a:cxn ang="0">
                    <a:pos x="387" y="89"/>
                  </a:cxn>
                  <a:cxn ang="0">
                    <a:pos x="333" y="81"/>
                  </a:cxn>
                  <a:cxn ang="0">
                    <a:pos x="202" y="42"/>
                  </a:cxn>
                  <a:cxn ang="0">
                    <a:pos x="138" y="40"/>
                  </a:cxn>
                  <a:cxn ang="0">
                    <a:pos x="61" y="70"/>
                  </a:cxn>
                  <a:cxn ang="0">
                    <a:pos x="0" y="242"/>
                  </a:cxn>
                  <a:cxn ang="0">
                    <a:pos x="67" y="253"/>
                  </a:cxn>
                  <a:cxn ang="0">
                    <a:pos x="124" y="316"/>
                  </a:cxn>
                  <a:cxn ang="0">
                    <a:pos x="136" y="366"/>
                  </a:cxn>
                  <a:cxn ang="0">
                    <a:pos x="181" y="413"/>
                  </a:cxn>
                  <a:cxn ang="0">
                    <a:pos x="224" y="440"/>
                  </a:cxn>
                  <a:cxn ang="0">
                    <a:pos x="610" y="446"/>
                  </a:cxn>
                  <a:cxn ang="0">
                    <a:pos x="676" y="453"/>
                  </a:cxn>
                  <a:cxn ang="0">
                    <a:pos x="705" y="477"/>
                  </a:cxn>
                  <a:cxn ang="0">
                    <a:pos x="759" y="512"/>
                  </a:cxn>
                  <a:cxn ang="0">
                    <a:pos x="732" y="553"/>
                  </a:cxn>
                  <a:cxn ang="0">
                    <a:pos x="772" y="543"/>
                  </a:cxn>
                  <a:cxn ang="0">
                    <a:pos x="814" y="519"/>
                  </a:cxn>
                  <a:cxn ang="0">
                    <a:pos x="879" y="498"/>
                  </a:cxn>
                  <a:cxn ang="0">
                    <a:pos x="928" y="505"/>
                  </a:cxn>
                </a:cxnLst>
                <a:rect l="0" t="0" r="r" b="b"/>
                <a:pathLst>
                  <a:path w="1071" h="553">
                    <a:moveTo>
                      <a:pt x="928" y="503"/>
                    </a:moveTo>
                    <a:cubicBezTo>
                      <a:pt x="928" y="502"/>
                      <a:pt x="928" y="502"/>
                      <a:pt x="928" y="502"/>
                    </a:cubicBezTo>
                    <a:cubicBezTo>
                      <a:pt x="928" y="502"/>
                      <a:pt x="931" y="502"/>
                      <a:pt x="932" y="502"/>
                    </a:cubicBezTo>
                    <a:cubicBezTo>
                      <a:pt x="935" y="502"/>
                      <a:pt x="946" y="504"/>
                      <a:pt x="950" y="501"/>
                    </a:cubicBezTo>
                    <a:cubicBezTo>
                      <a:pt x="954" y="498"/>
                      <a:pt x="954" y="493"/>
                      <a:pt x="960" y="492"/>
                    </a:cubicBezTo>
                    <a:cubicBezTo>
                      <a:pt x="960" y="498"/>
                      <a:pt x="960" y="499"/>
                      <a:pt x="967" y="499"/>
                    </a:cubicBezTo>
                    <a:cubicBezTo>
                      <a:pt x="957" y="500"/>
                      <a:pt x="941" y="507"/>
                      <a:pt x="941" y="516"/>
                    </a:cubicBezTo>
                    <a:cubicBezTo>
                      <a:pt x="941" y="520"/>
                      <a:pt x="947" y="527"/>
                      <a:pt x="950" y="527"/>
                    </a:cubicBezTo>
                    <a:cubicBezTo>
                      <a:pt x="953" y="527"/>
                      <a:pt x="961" y="516"/>
                      <a:pt x="970" y="513"/>
                    </a:cubicBezTo>
                    <a:cubicBezTo>
                      <a:pt x="972" y="513"/>
                      <a:pt x="1003" y="501"/>
                      <a:pt x="1003" y="497"/>
                    </a:cubicBezTo>
                    <a:cubicBezTo>
                      <a:pt x="1003" y="493"/>
                      <a:pt x="991" y="492"/>
                      <a:pt x="988" y="492"/>
                    </a:cubicBezTo>
                    <a:cubicBezTo>
                      <a:pt x="976" y="492"/>
                      <a:pt x="955" y="480"/>
                      <a:pt x="955" y="469"/>
                    </a:cubicBezTo>
                    <a:cubicBezTo>
                      <a:pt x="955" y="466"/>
                      <a:pt x="959" y="463"/>
                      <a:pt x="960" y="458"/>
                    </a:cubicBezTo>
                    <a:cubicBezTo>
                      <a:pt x="958" y="458"/>
                      <a:pt x="953" y="457"/>
                      <a:pt x="949" y="457"/>
                    </a:cubicBezTo>
                    <a:cubicBezTo>
                      <a:pt x="951" y="453"/>
                      <a:pt x="967" y="451"/>
                      <a:pt x="967" y="442"/>
                    </a:cubicBezTo>
                    <a:cubicBezTo>
                      <a:pt x="967" y="434"/>
                      <a:pt x="954" y="436"/>
                      <a:pt x="944" y="436"/>
                    </a:cubicBezTo>
                    <a:cubicBezTo>
                      <a:pt x="925" y="436"/>
                      <a:pt x="916" y="449"/>
                      <a:pt x="903" y="451"/>
                    </a:cubicBezTo>
                    <a:cubicBezTo>
                      <a:pt x="909" y="439"/>
                      <a:pt x="918" y="443"/>
                      <a:pt x="928" y="433"/>
                    </a:cubicBezTo>
                    <a:cubicBezTo>
                      <a:pt x="934" y="427"/>
                      <a:pt x="929" y="423"/>
                      <a:pt x="939" y="420"/>
                    </a:cubicBezTo>
                    <a:cubicBezTo>
                      <a:pt x="955" y="415"/>
                      <a:pt x="965" y="418"/>
                      <a:pt x="982" y="418"/>
                    </a:cubicBezTo>
                    <a:cubicBezTo>
                      <a:pt x="1004" y="418"/>
                      <a:pt x="1016" y="425"/>
                      <a:pt x="1029" y="408"/>
                    </a:cubicBezTo>
                    <a:cubicBezTo>
                      <a:pt x="1035" y="400"/>
                      <a:pt x="1071" y="398"/>
                      <a:pt x="1071" y="384"/>
                    </a:cubicBezTo>
                    <a:cubicBezTo>
                      <a:pt x="1071" y="374"/>
                      <a:pt x="1067" y="370"/>
                      <a:pt x="1063" y="363"/>
                    </a:cubicBezTo>
                    <a:cubicBezTo>
                      <a:pt x="1060" y="363"/>
                      <a:pt x="1065" y="359"/>
                      <a:pt x="1060" y="356"/>
                    </a:cubicBezTo>
                    <a:cubicBezTo>
                      <a:pt x="1060" y="351"/>
                      <a:pt x="1060" y="351"/>
                      <a:pt x="1060" y="351"/>
                    </a:cubicBezTo>
                    <a:cubicBezTo>
                      <a:pt x="1050" y="357"/>
                      <a:pt x="1029" y="364"/>
                      <a:pt x="1018" y="364"/>
                    </a:cubicBezTo>
                    <a:cubicBezTo>
                      <a:pt x="1017" y="364"/>
                      <a:pt x="1014" y="363"/>
                      <a:pt x="1014" y="362"/>
                    </a:cubicBezTo>
                    <a:cubicBezTo>
                      <a:pt x="1022" y="358"/>
                      <a:pt x="1047" y="354"/>
                      <a:pt x="1050" y="346"/>
                    </a:cubicBezTo>
                    <a:cubicBezTo>
                      <a:pt x="1050" y="344"/>
                      <a:pt x="1046" y="343"/>
                      <a:pt x="1046" y="341"/>
                    </a:cubicBezTo>
                    <a:cubicBezTo>
                      <a:pt x="1035" y="342"/>
                      <a:pt x="1013" y="337"/>
                      <a:pt x="1013" y="322"/>
                    </a:cubicBezTo>
                    <a:cubicBezTo>
                      <a:pt x="1013" y="321"/>
                      <a:pt x="1013" y="321"/>
                      <a:pt x="1013" y="321"/>
                    </a:cubicBezTo>
                    <a:cubicBezTo>
                      <a:pt x="1003" y="321"/>
                      <a:pt x="997" y="315"/>
                      <a:pt x="991" y="310"/>
                    </a:cubicBezTo>
                    <a:cubicBezTo>
                      <a:pt x="994" y="309"/>
                      <a:pt x="998" y="308"/>
                      <a:pt x="998" y="302"/>
                    </a:cubicBezTo>
                    <a:cubicBezTo>
                      <a:pt x="998" y="298"/>
                      <a:pt x="994" y="295"/>
                      <a:pt x="995" y="290"/>
                    </a:cubicBezTo>
                    <a:cubicBezTo>
                      <a:pt x="991" y="289"/>
                      <a:pt x="977" y="280"/>
                      <a:pt x="980" y="272"/>
                    </a:cubicBezTo>
                    <a:cubicBezTo>
                      <a:pt x="985" y="262"/>
                      <a:pt x="966" y="259"/>
                      <a:pt x="965" y="247"/>
                    </a:cubicBezTo>
                    <a:cubicBezTo>
                      <a:pt x="964" y="247"/>
                      <a:pt x="959" y="243"/>
                      <a:pt x="958" y="242"/>
                    </a:cubicBezTo>
                    <a:cubicBezTo>
                      <a:pt x="954" y="244"/>
                      <a:pt x="947" y="248"/>
                      <a:pt x="947" y="254"/>
                    </a:cubicBezTo>
                    <a:cubicBezTo>
                      <a:pt x="947" y="261"/>
                      <a:pt x="933" y="277"/>
                      <a:pt x="922" y="277"/>
                    </a:cubicBezTo>
                    <a:cubicBezTo>
                      <a:pt x="914" y="277"/>
                      <a:pt x="913" y="267"/>
                      <a:pt x="908" y="267"/>
                    </a:cubicBezTo>
                    <a:cubicBezTo>
                      <a:pt x="900" y="267"/>
                      <a:pt x="897" y="246"/>
                      <a:pt x="896" y="236"/>
                    </a:cubicBezTo>
                    <a:cubicBezTo>
                      <a:pt x="894" y="224"/>
                      <a:pt x="870" y="233"/>
                      <a:pt x="870" y="216"/>
                    </a:cubicBezTo>
                    <a:cubicBezTo>
                      <a:pt x="858" y="215"/>
                      <a:pt x="855" y="200"/>
                      <a:pt x="843" y="200"/>
                    </a:cubicBezTo>
                    <a:cubicBezTo>
                      <a:pt x="837" y="200"/>
                      <a:pt x="837" y="204"/>
                      <a:pt x="831" y="204"/>
                    </a:cubicBezTo>
                    <a:cubicBezTo>
                      <a:pt x="818" y="204"/>
                      <a:pt x="810" y="197"/>
                      <a:pt x="797" y="197"/>
                    </a:cubicBezTo>
                    <a:cubicBezTo>
                      <a:pt x="791" y="197"/>
                      <a:pt x="784" y="200"/>
                      <a:pt x="784" y="208"/>
                    </a:cubicBezTo>
                    <a:cubicBezTo>
                      <a:pt x="784" y="212"/>
                      <a:pt x="800" y="218"/>
                      <a:pt x="786" y="227"/>
                    </a:cubicBezTo>
                    <a:cubicBezTo>
                      <a:pt x="780" y="231"/>
                      <a:pt x="794" y="241"/>
                      <a:pt x="794" y="247"/>
                    </a:cubicBezTo>
                    <a:cubicBezTo>
                      <a:pt x="796" y="260"/>
                      <a:pt x="783" y="264"/>
                      <a:pt x="778" y="266"/>
                    </a:cubicBezTo>
                    <a:cubicBezTo>
                      <a:pt x="788" y="283"/>
                      <a:pt x="803" y="289"/>
                      <a:pt x="803" y="318"/>
                    </a:cubicBezTo>
                    <a:cubicBezTo>
                      <a:pt x="803" y="326"/>
                      <a:pt x="777" y="346"/>
                      <a:pt x="768" y="347"/>
                    </a:cubicBezTo>
                    <a:cubicBezTo>
                      <a:pt x="783" y="355"/>
                      <a:pt x="777" y="379"/>
                      <a:pt x="783" y="387"/>
                    </a:cubicBezTo>
                    <a:cubicBezTo>
                      <a:pt x="782" y="389"/>
                      <a:pt x="776" y="392"/>
                      <a:pt x="775" y="397"/>
                    </a:cubicBezTo>
                    <a:cubicBezTo>
                      <a:pt x="770" y="397"/>
                      <a:pt x="766" y="406"/>
                      <a:pt x="762" y="403"/>
                    </a:cubicBezTo>
                    <a:cubicBezTo>
                      <a:pt x="751" y="394"/>
                      <a:pt x="736" y="380"/>
                      <a:pt x="736" y="367"/>
                    </a:cubicBezTo>
                    <a:cubicBezTo>
                      <a:pt x="736" y="353"/>
                      <a:pt x="738" y="342"/>
                      <a:pt x="726" y="334"/>
                    </a:cubicBezTo>
                    <a:cubicBezTo>
                      <a:pt x="697" y="334"/>
                      <a:pt x="697" y="334"/>
                      <a:pt x="697" y="334"/>
                    </a:cubicBezTo>
                    <a:cubicBezTo>
                      <a:pt x="681" y="322"/>
                      <a:pt x="662" y="315"/>
                      <a:pt x="643" y="308"/>
                    </a:cubicBezTo>
                    <a:cubicBezTo>
                      <a:pt x="640" y="306"/>
                      <a:pt x="629" y="299"/>
                      <a:pt x="623" y="299"/>
                    </a:cubicBezTo>
                    <a:cubicBezTo>
                      <a:pt x="617" y="299"/>
                      <a:pt x="614" y="306"/>
                      <a:pt x="607" y="306"/>
                    </a:cubicBezTo>
                    <a:cubicBezTo>
                      <a:pt x="607" y="295"/>
                      <a:pt x="600" y="270"/>
                      <a:pt x="590" y="270"/>
                    </a:cubicBezTo>
                    <a:cubicBezTo>
                      <a:pt x="586" y="270"/>
                      <a:pt x="584" y="274"/>
                      <a:pt x="579" y="275"/>
                    </a:cubicBezTo>
                    <a:cubicBezTo>
                      <a:pt x="581" y="269"/>
                      <a:pt x="579" y="268"/>
                      <a:pt x="579" y="255"/>
                    </a:cubicBezTo>
                    <a:cubicBezTo>
                      <a:pt x="579" y="237"/>
                      <a:pt x="584" y="227"/>
                      <a:pt x="595" y="216"/>
                    </a:cubicBezTo>
                    <a:cubicBezTo>
                      <a:pt x="598" y="213"/>
                      <a:pt x="606" y="196"/>
                      <a:pt x="609" y="194"/>
                    </a:cubicBezTo>
                    <a:cubicBezTo>
                      <a:pt x="617" y="192"/>
                      <a:pt x="630" y="196"/>
                      <a:pt x="630" y="186"/>
                    </a:cubicBezTo>
                    <a:cubicBezTo>
                      <a:pt x="630" y="179"/>
                      <a:pt x="613" y="178"/>
                      <a:pt x="607" y="175"/>
                    </a:cubicBezTo>
                    <a:cubicBezTo>
                      <a:pt x="611" y="176"/>
                      <a:pt x="597" y="167"/>
                      <a:pt x="633" y="178"/>
                    </a:cubicBezTo>
                    <a:cubicBezTo>
                      <a:pt x="643" y="181"/>
                      <a:pt x="637" y="169"/>
                      <a:pt x="642" y="169"/>
                    </a:cubicBezTo>
                    <a:cubicBezTo>
                      <a:pt x="643" y="169"/>
                      <a:pt x="647" y="169"/>
                      <a:pt x="652" y="169"/>
                    </a:cubicBezTo>
                    <a:cubicBezTo>
                      <a:pt x="662" y="169"/>
                      <a:pt x="668" y="158"/>
                      <a:pt x="675" y="153"/>
                    </a:cubicBezTo>
                    <a:cubicBezTo>
                      <a:pt x="675" y="146"/>
                      <a:pt x="675" y="146"/>
                      <a:pt x="675" y="146"/>
                    </a:cubicBezTo>
                    <a:cubicBezTo>
                      <a:pt x="660" y="142"/>
                      <a:pt x="645" y="145"/>
                      <a:pt x="639" y="131"/>
                    </a:cubicBezTo>
                    <a:cubicBezTo>
                      <a:pt x="639" y="131"/>
                      <a:pt x="643" y="131"/>
                      <a:pt x="647" y="131"/>
                    </a:cubicBezTo>
                    <a:cubicBezTo>
                      <a:pt x="652" y="135"/>
                      <a:pt x="658" y="141"/>
                      <a:pt x="666" y="141"/>
                    </a:cubicBezTo>
                    <a:cubicBezTo>
                      <a:pt x="673" y="141"/>
                      <a:pt x="686" y="132"/>
                      <a:pt x="686" y="127"/>
                    </a:cubicBezTo>
                    <a:cubicBezTo>
                      <a:pt x="686" y="125"/>
                      <a:pt x="680" y="117"/>
                      <a:pt x="683" y="117"/>
                    </a:cubicBezTo>
                    <a:cubicBezTo>
                      <a:pt x="693" y="117"/>
                      <a:pt x="696" y="126"/>
                      <a:pt x="703" y="126"/>
                    </a:cubicBezTo>
                    <a:cubicBezTo>
                      <a:pt x="707" y="126"/>
                      <a:pt x="709" y="123"/>
                      <a:pt x="717" y="123"/>
                    </a:cubicBezTo>
                    <a:cubicBezTo>
                      <a:pt x="715" y="120"/>
                      <a:pt x="717" y="112"/>
                      <a:pt x="722" y="120"/>
                    </a:cubicBezTo>
                    <a:cubicBezTo>
                      <a:pt x="725" y="125"/>
                      <a:pt x="748" y="105"/>
                      <a:pt x="748" y="100"/>
                    </a:cubicBezTo>
                    <a:cubicBezTo>
                      <a:pt x="748" y="96"/>
                      <a:pt x="738" y="91"/>
                      <a:pt x="738" y="89"/>
                    </a:cubicBezTo>
                    <a:cubicBezTo>
                      <a:pt x="738" y="85"/>
                      <a:pt x="732" y="78"/>
                      <a:pt x="746" y="72"/>
                    </a:cubicBezTo>
                    <a:cubicBezTo>
                      <a:pt x="748" y="68"/>
                      <a:pt x="746" y="68"/>
                      <a:pt x="746" y="61"/>
                    </a:cubicBezTo>
                    <a:cubicBezTo>
                      <a:pt x="732" y="61"/>
                      <a:pt x="735" y="50"/>
                      <a:pt x="717" y="50"/>
                    </a:cubicBezTo>
                    <a:cubicBezTo>
                      <a:pt x="713" y="49"/>
                      <a:pt x="710" y="47"/>
                      <a:pt x="706" y="47"/>
                    </a:cubicBezTo>
                    <a:cubicBezTo>
                      <a:pt x="701" y="47"/>
                      <a:pt x="695" y="50"/>
                      <a:pt x="695" y="55"/>
                    </a:cubicBezTo>
                    <a:cubicBezTo>
                      <a:pt x="695" y="61"/>
                      <a:pt x="702" y="63"/>
                      <a:pt x="702" y="67"/>
                    </a:cubicBezTo>
                    <a:cubicBezTo>
                      <a:pt x="702" y="72"/>
                      <a:pt x="692" y="72"/>
                      <a:pt x="689" y="76"/>
                    </a:cubicBezTo>
                    <a:cubicBezTo>
                      <a:pt x="686" y="84"/>
                      <a:pt x="687" y="90"/>
                      <a:pt x="681" y="98"/>
                    </a:cubicBezTo>
                    <a:cubicBezTo>
                      <a:pt x="671" y="110"/>
                      <a:pt x="658" y="90"/>
                      <a:pt x="658" y="85"/>
                    </a:cubicBezTo>
                    <a:cubicBezTo>
                      <a:pt x="658" y="79"/>
                      <a:pt x="665" y="81"/>
                      <a:pt x="665" y="74"/>
                    </a:cubicBezTo>
                    <a:cubicBezTo>
                      <a:pt x="665" y="71"/>
                      <a:pt x="652" y="59"/>
                      <a:pt x="649" y="59"/>
                    </a:cubicBezTo>
                    <a:cubicBezTo>
                      <a:pt x="636" y="59"/>
                      <a:pt x="645" y="78"/>
                      <a:pt x="631" y="78"/>
                    </a:cubicBezTo>
                    <a:cubicBezTo>
                      <a:pt x="631" y="70"/>
                      <a:pt x="630" y="65"/>
                      <a:pt x="621" y="60"/>
                    </a:cubicBezTo>
                    <a:cubicBezTo>
                      <a:pt x="622" y="58"/>
                      <a:pt x="623" y="57"/>
                      <a:pt x="625" y="55"/>
                    </a:cubicBezTo>
                    <a:cubicBezTo>
                      <a:pt x="618" y="51"/>
                      <a:pt x="609" y="55"/>
                      <a:pt x="603" y="48"/>
                    </a:cubicBezTo>
                    <a:cubicBezTo>
                      <a:pt x="606" y="47"/>
                      <a:pt x="614" y="44"/>
                      <a:pt x="614" y="38"/>
                    </a:cubicBezTo>
                    <a:cubicBezTo>
                      <a:pt x="614" y="29"/>
                      <a:pt x="601" y="30"/>
                      <a:pt x="601" y="23"/>
                    </a:cubicBezTo>
                    <a:cubicBezTo>
                      <a:pt x="601" y="10"/>
                      <a:pt x="591" y="1"/>
                      <a:pt x="574" y="0"/>
                    </a:cubicBezTo>
                    <a:cubicBezTo>
                      <a:pt x="565" y="0"/>
                      <a:pt x="569" y="6"/>
                      <a:pt x="569" y="10"/>
                    </a:cubicBezTo>
                    <a:cubicBezTo>
                      <a:pt x="564" y="11"/>
                      <a:pt x="557" y="10"/>
                      <a:pt x="557" y="17"/>
                    </a:cubicBezTo>
                    <a:cubicBezTo>
                      <a:pt x="557" y="21"/>
                      <a:pt x="561" y="23"/>
                      <a:pt x="561" y="28"/>
                    </a:cubicBezTo>
                    <a:cubicBezTo>
                      <a:pt x="561" y="32"/>
                      <a:pt x="555" y="32"/>
                      <a:pt x="555" y="38"/>
                    </a:cubicBezTo>
                    <a:cubicBezTo>
                      <a:pt x="555" y="52"/>
                      <a:pt x="585" y="44"/>
                      <a:pt x="585" y="59"/>
                    </a:cubicBezTo>
                    <a:cubicBezTo>
                      <a:pt x="585" y="61"/>
                      <a:pt x="581" y="72"/>
                      <a:pt x="581" y="72"/>
                    </a:cubicBezTo>
                    <a:cubicBezTo>
                      <a:pt x="584" y="70"/>
                      <a:pt x="587" y="69"/>
                      <a:pt x="591" y="67"/>
                    </a:cubicBezTo>
                    <a:cubicBezTo>
                      <a:pt x="596" y="85"/>
                      <a:pt x="567" y="77"/>
                      <a:pt x="567" y="98"/>
                    </a:cubicBezTo>
                    <a:cubicBezTo>
                      <a:pt x="553" y="102"/>
                      <a:pt x="564" y="88"/>
                      <a:pt x="561" y="83"/>
                    </a:cubicBezTo>
                    <a:cubicBezTo>
                      <a:pt x="559" y="81"/>
                      <a:pt x="547" y="78"/>
                      <a:pt x="541" y="78"/>
                    </a:cubicBezTo>
                    <a:cubicBezTo>
                      <a:pt x="533" y="78"/>
                      <a:pt x="530" y="82"/>
                      <a:pt x="530" y="92"/>
                    </a:cubicBezTo>
                    <a:cubicBezTo>
                      <a:pt x="522" y="91"/>
                      <a:pt x="517" y="92"/>
                      <a:pt x="492" y="92"/>
                    </a:cubicBezTo>
                    <a:cubicBezTo>
                      <a:pt x="468" y="92"/>
                      <a:pt x="441" y="83"/>
                      <a:pt x="435" y="65"/>
                    </a:cubicBezTo>
                    <a:cubicBezTo>
                      <a:pt x="427" y="67"/>
                      <a:pt x="400" y="68"/>
                      <a:pt x="400" y="78"/>
                    </a:cubicBezTo>
                    <a:cubicBezTo>
                      <a:pt x="400" y="81"/>
                      <a:pt x="403" y="82"/>
                      <a:pt x="406" y="82"/>
                    </a:cubicBezTo>
                    <a:cubicBezTo>
                      <a:pt x="413" y="82"/>
                      <a:pt x="425" y="79"/>
                      <a:pt x="430" y="75"/>
                    </a:cubicBezTo>
                    <a:cubicBezTo>
                      <a:pt x="432" y="90"/>
                      <a:pt x="409" y="78"/>
                      <a:pt x="409" y="93"/>
                    </a:cubicBezTo>
                    <a:cubicBezTo>
                      <a:pt x="409" y="96"/>
                      <a:pt x="414" y="106"/>
                      <a:pt x="412" y="106"/>
                    </a:cubicBezTo>
                    <a:cubicBezTo>
                      <a:pt x="403" y="106"/>
                      <a:pt x="401" y="95"/>
                      <a:pt x="394" y="92"/>
                    </a:cubicBezTo>
                    <a:cubicBezTo>
                      <a:pt x="387" y="89"/>
                      <a:pt x="387" y="89"/>
                      <a:pt x="387" y="89"/>
                    </a:cubicBezTo>
                    <a:cubicBezTo>
                      <a:pt x="377" y="89"/>
                      <a:pt x="370" y="89"/>
                      <a:pt x="359" y="89"/>
                    </a:cubicBezTo>
                    <a:cubicBezTo>
                      <a:pt x="350" y="89"/>
                      <a:pt x="344" y="92"/>
                      <a:pt x="335" y="93"/>
                    </a:cubicBezTo>
                    <a:cubicBezTo>
                      <a:pt x="317" y="93"/>
                      <a:pt x="317" y="87"/>
                      <a:pt x="317" y="86"/>
                    </a:cubicBezTo>
                    <a:cubicBezTo>
                      <a:pt x="317" y="82"/>
                      <a:pt x="331" y="83"/>
                      <a:pt x="333" y="81"/>
                    </a:cubicBezTo>
                    <a:cubicBezTo>
                      <a:pt x="321" y="64"/>
                      <a:pt x="323" y="66"/>
                      <a:pt x="298" y="68"/>
                    </a:cubicBezTo>
                    <a:cubicBezTo>
                      <a:pt x="271" y="70"/>
                      <a:pt x="258" y="48"/>
                      <a:pt x="231" y="48"/>
                    </a:cubicBezTo>
                    <a:cubicBezTo>
                      <a:pt x="223" y="48"/>
                      <a:pt x="219" y="54"/>
                      <a:pt x="212" y="54"/>
                    </a:cubicBezTo>
                    <a:cubicBezTo>
                      <a:pt x="207" y="54"/>
                      <a:pt x="202" y="46"/>
                      <a:pt x="202" y="42"/>
                    </a:cubicBezTo>
                    <a:cubicBezTo>
                      <a:pt x="193" y="44"/>
                      <a:pt x="193" y="54"/>
                      <a:pt x="184" y="54"/>
                    </a:cubicBezTo>
                    <a:cubicBezTo>
                      <a:pt x="176" y="54"/>
                      <a:pt x="164" y="34"/>
                      <a:pt x="161" y="34"/>
                    </a:cubicBezTo>
                    <a:cubicBezTo>
                      <a:pt x="153" y="34"/>
                      <a:pt x="156" y="47"/>
                      <a:pt x="146" y="47"/>
                    </a:cubicBezTo>
                    <a:cubicBezTo>
                      <a:pt x="143" y="47"/>
                      <a:pt x="140" y="44"/>
                      <a:pt x="138" y="40"/>
                    </a:cubicBezTo>
                    <a:cubicBezTo>
                      <a:pt x="125" y="44"/>
                      <a:pt x="120" y="44"/>
                      <a:pt x="108" y="49"/>
                    </a:cubicBezTo>
                    <a:cubicBezTo>
                      <a:pt x="103" y="50"/>
                      <a:pt x="91" y="59"/>
                      <a:pt x="87" y="55"/>
                    </a:cubicBezTo>
                    <a:cubicBezTo>
                      <a:pt x="76" y="44"/>
                      <a:pt x="78" y="58"/>
                      <a:pt x="74" y="58"/>
                    </a:cubicBezTo>
                    <a:cubicBezTo>
                      <a:pt x="45" y="59"/>
                      <a:pt x="65" y="70"/>
                      <a:pt x="61" y="70"/>
                    </a:cubicBezTo>
                    <a:cubicBezTo>
                      <a:pt x="50" y="70"/>
                      <a:pt x="30" y="67"/>
                      <a:pt x="12" y="56"/>
                    </a:cubicBezTo>
                    <a:cubicBezTo>
                      <a:pt x="11" y="56"/>
                      <a:pt x="6" y="52"/>
                      <a:pt x="6" y="51"/>
                    </a:cubicBezTo>
                    <a:cubicBezTo>
                      <a:pt x="3" y="52"/>
                      <a:pt x="5" y="52"/>
                      <a:pt x="0" y="51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6" y="247"/>
                      <a:pt x="19" y="240"/>
                      <a:pt x="25" y="248"/>
                    </a:cubicBezTo>
                    <a:cubicBezTo>
                      <a:pt x="29" y="254"/>
                      <a:pt x="38" y="266"/>
                      <a:pt x="47" y="266"/>
                    </a:cubicBezTo>
                    <a:cubicBezTo>
                      <a:pt x="53" y="266"/>
                      <a:pt x="53" y="257"/>
                      <a:pt x="59" y="255"/>
                    </a:cubicBezTo>
                    <a:cubicBezTo>
                      <a:pt x="62" y="254"/>
                      <a:pt x="64" y="255"/>
                      <a:pt x="67" y="253"/>
                    </a:cubicBezTo>
                    <a:cubicBezTo>
                      <a:pt x="81" y="266"/>
                      <a:pt x="87" y="271"/>
                      <a:pt x="99" y="288"/>
                    </a:cubicBezTo>
                    <a:cubicBezTo>
                      <a:pt x="100" y="290"/>
                      <a:pt x="103" y="291"/>
                      <a:pt x="105" y="295"/>
                    </a:cubicBezTo>
                    <a:cubicBezTo>
                      <a:pt x="106" y="300"/>
                      <a:pt x="108" y="306"/>
                      <a:pt x="113" y="311"/>
                    </a:cubicBezTo>
                    <a:cubicBezTo>
                      <a:pt x="116" y="314"/>
                      <a:pt x="121" y="313"/>
                      <a:pt x="124" y="316"/>
                    </a:cubicBezTo>
                    <a:cubicBezTo>
                      <a:pt x="128" y="320"/>
                      <a:pt x="135" y="322"/>
                      <a:pt x="135" y="332"/>
                    </a:cubicBezTo>
                    <a:cubicBezTo>
                      <a:pt x="135" y="336"/>
                      <a:pt x="129" y="337"/>
                      <a:pt x="129" y="340"/>
                    </a:cubicBezTo>
                    <a:cubicBezTo>
                      <a:pt x="129" y="343"/>
                      <a:pt x="132" y="344"/>
                      <a:pt x="132" y="347"/>
                    </a:cubicBezTo>
                    <a:cubicBezTo>
                      <a:pt x="132" y="352"/>
                      <a:pt x="130" y="364"/>
                      <a:pt x="136" y="366"/>
                    </a:cubicBezTo>
                    <a:cubicBezTo>
                      <a:pt x="140" y="367"/>
                      <a:pt x="143" y="367"/>
                      <a:pt x="146" y="370"/>
                    </a:cubicBezTo>
                    <a:cubicBezTo>
                      <a:pt x="150" y="373"/>
                      <a:pt x="145" y="379"/>
                      <a:pt x="150" y="383"/>
                    </a:cubicBezTo>
                    <a:cubicBezTo>
                      <a:pt x="150" y="383"/>
                      <a:pt x="162" y="390"/>
                      <a:pt x="162" y="391"/>
                    </a:cubicBezTo>
                    <a:cubicBezTo>
                      <a:pt x="165" y="401"/>
                      <a:pt x="166" y="413"/>
                      <a:pt x="181" y="413"/>
                    </a:cubicBezTo>
                    <a:cubicBezTo>
                      <a:pt x="183" y="422"/>
                      <a:pt x="199" y="416"/>
                      <a:pt x="202" y="428"/>
                    </a:cubicBezTo>
                    <a:cubicBezTo>
                      <a:pt x="204" y="432"/>
                      <a:pt x="215" y="433"/>
                      <a:pt x="219" y="437"/>
                    </a:cubicBezTo>
                    <a:cubicBezTo>
                      <a:pt x="220" y="438"/>
                      <a:pt x="222" y="439"/>
                      <a:pt x="224" y="440"/>
                    </a:cubicBezTo>
                    <a:cubicBezTo>
                      <a:pt x="224" y="440"/>
                      <a:pt x="224" y="440"/>
                      <a:pt x="224" y="440"/>
                    </a:cubicBezTo>
                    <a:cubicBezTo>
                      <a:pt x="577" y="440"/>
                      <a:pt x="577" y="440"/>
                      <a:pt x="577" y="440"/>
                    </a:cubicBezTo>
                    <a:cubicBezTo>
                      <a:pt x="577" y="435"/>
                      <a:pt x="577" y="435"/>
                      <a:pt x="577" y="435"/>
                    </a:cubicBezTo>
                    <a:cubicBezTo>
                      <a:pt x="583" y="439"/>
                      <a:pt x="582" y="443"/>
                      <a:pt x="588" y="446"/>
                    </a:cubicBezTo>
                    <a:cubicBezTo>
                      <a:pt x="610" y="446"/>
                      <a:pt x="610" y="446"/>
                      <a:pt x="610" y="446"/>
                    </a:cubicBezTo>
                    <a:cubicBezTo>
                      <a:pt x="619" y="455"/>
                      <a:pt x="630" y="455"/>
                      <a:pt x="647" y="455"/>
                    </a:cubicBezTo>
                    <a:cubicBezTo>
                      <a:pt x="652" y="453"/>
                      <a:pt x="653" y="455"/>
                      <a:pt x="658" y="452"/>
                    </a:cubicBezTo>
                    <a:cubicBezTo>
                      <a:pt x="662" y="450"/>
                      <a:pt x="661" y="443"/>
                      <a:pt x="665" y="443"/>
                    </a:cubicBezTo>
                    <a:cubicBezTo>
                      <a:pt x="670" y="443"/>
                      <a:pt x="674" y="451"/>
                      <a:pt x="676" y="453"/>
                    </a:cubicBezTo>
                    <a:cubicBezTo>
                      <a:pt x="677" y="451"/>
                      <a:pt x="676" y="448"/>
                      <a:pt x="676" y="447"/>
                    </a:cubicBezTo>
                    <a:cubicBezTo>
                      <a:pt x="677" y="447"/>
                      <a:pt x="678" y="447"/>
                      <a:pt x="680" y="447"/>
                    </a:cubicBezTo>
                    <a:cubicBezTo>
                      <a:pt x="682" y="447"/>
                      <a:pt x="701" y="462"/>
                      <a:pt x="702" y="463"/>
                    </a:cubicBezTo>
                    <a:cubicBezTo>
                      <a:pt x="704" y="469"/>
                      <a:pt x="702" y="473"/>
                      <a:pt x="705" y="477"/>
                    </a:cubicBezTo>
                    <a:cubicBezTo>
                      <a:pt x="715" y="487"/>
                      <a:pt x="729" y="485"/>
                      <a:pt x="740" y="492"/>
                    </a:cubicBezTo>
                    <a:cubicBezTo>
                      <a:pt x="752" y="492"/>
                      <a:pt x="752" y="492"/>
                      <a:pt x="752" y="492"/>
                    </a:cubicBezTo>
                    <a:cubicBezTo>
                      <a:pt x="757" y="495"/>
                      <a:pt x="763" y="500"/>
                      <a:pt x="763" y="506"/>
                    </a:cubicBezTo>
                    <a:cubicBezTo>
                      <a:pt x="763" y="509"/>
                      <a:pt x="762" y="512"/>
                      <a:pt x="759" y="512"/>
                    </a:cubicBezTo>
                    <a:cubicBezTo>
                      <a:pt x="754" y="512"/>
                      <a:pt x="748" y="506"/>
                      <a:pt x="747" y="504"/>
                    </a:cubicBezTo>
                    <a:cubicBezTo>
                      <a:pt x="745" y="511"/>
                      <a:pt x="741" y="532"/>
                      <a:pt x="735" y="532"/>
                    </a:cubicBezTo>
                    <a:cubicBezTo>
                      <a:pt x="730" y="538"/>
                      <a:pt x="725" y="541"/>
                      <a:pt x="725" y="547"/>
                    </a:cubicBezTo>
                    <a:cubicBezTo>
                      <a:pt x="726" y="549"/>
                      <a:pt x="729" y="553"/>
                      <a:pt x="732" y="553"/>
                    </a:cubicBezTo>
                    <a:cubicBezTo>
                      <a:pt x="736" y="553"/>
                      <a:pt x="736" y="550"/>
                      <a:pt x="738" y="548"/>
                    </a:cubicBezTo>
                    <a:cubicBezTo>
                      <a:pt x="742" y="544"/>
                      <a:pt x="748" y="545"/>
                      <a:pt x="755" y="545"/>
                    </a:cubicBezTo>
                    <a:cubicBezTo>
                      <a:pt x="760" y="545"/>
                      <a:pt x="763" y="548"/>
                      <a:pt x="765" y="546"/>
                    </a:cubicBezTo>
                    <a:cubicBezTo>
                      <a:pt x="768" y="545"/>
                      <a:pt x="770" y="544"/>
                      <a:pt x="772" y="543"/>
                    </a:cubicBezTo>
                    <a:cubicBezTo>
                      <a:pt x="772" y="540"/>
                      <a:pt x="771" y="538"/>
                      <a:pt x="770" y="536"/>
                    </a:cubicBezTo>
                    <a:cubicBezTo>
                      <a:pt x="769" y="534"/>
                      <a:pt x="767" y="533"/>
                      <a:pt x="767" y="531"/>
                    </a:cubicBezTo>
                    <a:cubicBezTo>
                      <a:pt x="767" y="529"/>
                      <a:pt x="771" y="528"/>
                      <a:pt x="773" y="528"/>
                    </a:cubicBezTo>
                    <a:cubicBezTo>
                      <a:pt x="782" y="525"/>
                      <a:pt x="803" y="519"/>
                      <a:pt x="814" y="519"/>
                    </a:cubicBezTo>
                    <a:cubicBezTo>
                      <a:pt x="815" y="519"/>
                      <a:pt x="831" y="503"/>
                      <a:pt x="834" y="501"/>
                    </a:cubicBezTo>
                    <a:cubicBezTo>
                      <a:pt x="836" y="499"/>
                      <a:pt x="847" y="500"/>
                      <a:pt x="857" y="500"/>
                    </a:cubicBezTo>
                    <a:cubicBezTo>
                      <a:pt x="861" y="500"/>
                      <a:pt x="864" y="500"/>
                      <a:pt x="868" y="500"/>
                    </a:cubicBezTo>
                    <a:cubicBezTo>
                      <a:pt x="872" y="500"/>
                      <a:pt x="876" y="498"/>
                      <a:pt x="879" y="498"/>
                    </a:cubicBezTo>
                    <a:cubicBezTo>
                      <a:pt x="884" y="497"/>
                      <a:pt x="882" y="496"/>
                      <a:pt x="884" y="494"/>
                    </a:cubicBezTo>
                    <a:cubicBezTo>
                      <a:pt x="892" y="486"/>
                      <a:pt x="892" y="471"/>
                      <a:pt x="903" y="463"/>
                    </a:cubicBezTo>
                    <a:cubicBezTo>
                      <a:pt x="908" y="470"/>
                      <a:pt x="916" y="460"/>
                      <a:pt x="920" y="467"/>
                    </a:cubicBezTo>
                    <a:cubicBezTo>
                      <a:pt x="926" y="478"/>
                      <a:pt x="922" y="494"/>
                      <a:pt x="928" y="505"/>
                    </a:cubicBezTo>
                    <a:lnTo>
                      <a:pt x="928" y="50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27" name="Freeform 51">
                <a:extLst>
                  <a:ext uri="{FF2B5EF4-FFF2-40B4-BE49-F238E27FC236}">
                    <a16:creationId xmlns:a16="http://schemas.microsoft.com/office/drawing/2014/main" id="{6B6B7698-901B-6466-0E45-0D1DA3EFA3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5913" y="1417638"/>
                <a:ext cx="623888" cy="457200"/>
              </a:xfrm>
              <a:custGeom>
                <a:avLst/>
                <a:gdLst/>
                <a:ahLst/>
                <a:cxnLst>
                  <a:cxn ang="0">
                    <a:pos x="334" y="228"/>
                  </a:cxn>
                  <a:cxn ang="0">
                    <a:pos x="381" y="252"/>
                  </a:cxn>
                  <a:cxn ang="0">
                    <a:pos x="401" y="239"/>
                  </a:cxn>
                  <a:cxn ang="0">
                    <a:pos x="439" y="281"/>
                  </a:cxn>
                  <a:cxn ang="0">
                    <a:pos x="458" y="302"/>
                  </a:cxn>
                  <a:cxn ang="0">
                    <a:pos x="463" y="326"/>
                  </a:cxn>
                  <a:cxn ang="0">
                    <a:pos x="440" y="314"/>
                  </a:cxn>
                  <a:cxn ang="0">
                    <a:pos x="427" y="300"/>
                  </a:cxn>
                  <a:cxn ang="0">
                    <a:pos x="426" y="286"/>
                  </a:cxn>
                  <a:cxn ang="0">
                    <a:pos x="414" y="286"/>
                  </a:cxn>
                  <a:cxn ang="0">
                    <a:pos x="412" y="270"/>
                  </a:cxn>
                  <a:cxn ang="0">
                    <a:pos x="390" y="261"/>
                  </a:cxn>
                  <a:cxn ang="0">
                    <a:pos x="363" y="252"/>
                  </a:cxn>
                  <a:cxn ang="0">
                    <a:pos x="299" y="236"/>
                  </a:cxn>
                  <a:cxn ang="0">
                    <a:pos x="240" y="221"/>
                  </a:cxn>
                  <a:cxn ang="0">
                    <a:pos x="200" y="252"/>
                  </a:cxn>
                  <a:cxn ang="0">
                    <a:pos x="199" y="245"/>
                  </a:cxn>
                  <a:cxn ang="0">
                    <a:pos x="218" y="219"/>
                  </a:cxn>
                  <a:cxn ang="0">
                    <a:pos x="213" y="214"/>
                  </a:cxn>
                  <a:cxn ang="0">
                    <a:pos x="173" y="260"/>
                  </a:cxn>
                  <a:cxn ang="0">
                    <a:pos x="143" y="288"/>
                  </a:cxn>
                  <a:cxn ang="0">
                    <a:pos x="79" y="322"/>
                  </a:cxn>
                  <a:cxn ang="0">
                    <a:pos x="57" y="328"/>
                  </a:cxn>
                  <a:cxn ang="0">
                    <a:pos x="92" y="307"/>
                  </a:cxn>
                  <a:cxn ang="0">
                    <a:pos x="148" y="256"/>
                  </a:cxn>
                  <a:cxn ang="0">
                    <a:pos x="125" y="262"/>
                  </a:cxn>
                  <a:cxn ang="0">
                    <a:pos x="110" y="266"/>
                  </a:cxn>
                  <a:cxn ang="0">
                    <a:pos x="88" y="261"/>
                  </a:cxn>
                  <a:cxn ang="0">
                    <a:pos x="76" y="264"/>
                  </a:cxn>
                  <a:cxn ang="0">
                    <a:pos x="72" y="244"/>
                  </a:cxn>
                  <a:cxn ang="0">
                    <a:pos x="60" y="245"/>
                  </a:cxn>
                  <a:cxn ang="0">
                    <a:pos x="37" y="224"/>
                  </a:cxn>
                  <a:cxn ang="0">
                    <a:pos x="52" y="180"/>
                  </a:cxn>
                  <a:cxn ang="0">
                    <a:pos x="79" y="152"/>
                  </a:cxn>
                  <a:cxn ang="0">
                    <a:pos x="85" y="145"/>
                  </a:cxn>
                  <a:cxn ang="0">
                    <a:pos x="60" y="153"/>
                  </a:cxn>
                  <a:cxn ang="0">
                    <a:pos x="18" y="150"/>
                  </a:cxn>
                  <a:cxn ang="0">
                    <a:pos x="13" y="133"/>
                  </a:cxn>
                  <a:cxn ang="0">
                    <a:pos x="40" y="106"/>
                  </a:cxn>
                  <a:cxn ang="0">
                    <a:pos x="64" y="116"/>
                  </a:cxn>
                  <a:cxn ang="0">
                    <a:pos x="50" y="95"/>
                  </a:cxn>
                  <a:cxn ang="0">
                    <a:pos x="13" y="68"/>
                  </a:cxn>
                  <a:cxn ang="0">
                    <a:pos x="44" y="56"/>
                  </a:cxn>
                  <a:cxn ang="0">
                    <a:pos x="117" y="13"/>
                  </a:cxn>
                  <a:cxn ang="0">
                    <a:pos x="150" y="7"/>
                  </a:cxn>
                  <a:cxn ang="0">
                    <a:pos x="157" y="7"/>
                  </a:cxn>
                  <a:cxn ang="0">
                    <a:pos x="189" y="11"/>
                  </a:cxn>
                  <a:cxn ang="0">
                    <a:pos x="236" y="20"/>
                  </a:cxn>
                  <a:cxn ang="0">
                    <a:pos x="307" y="28"/>
                  </a:cxn>
                  <a:cxn ang="0">
                    <a:pos x="334" y="36"/>
                  </a:cxn>
                </a:cxnLst>
                <a:rect l="0" t="0" r="r" b="b"/>
                <a:pathLst>
                  <a:path w="469" h="343">
                    <a:moveTo>
                      <a:pt x="334" y="37"/>
                    </a:moveTo>
                    <a:cubicBezTo>
                      <a:pt x="334" y="228"/>
                      <a:pt x="334" y="228"/>
                      <a:pt x="334" y="228"/>
                    </a:cubicBezTo>
                    <a:cubicBezTo>
                      <a:pt x="340" y="233"/>
                      <a:pt x="353" y="226"/>
                      <a:pt x="359" y="234"/>
                    </a:cubicBezTo>
                    <a:cubicBezTo>
                      <a:pt x="363" y="240"/>
                      <a:pt x="372" y="252"/>
                      <a:pt x="381" y="252"/>
                    </a:cubicBezTo>
                    <a:cubicBezTo>
                      <a:pt x="387" y="252"/>
                      <a:pt x="387" y="243"/>
                      <a:pt x="393" y="241"/>
                    </a:cubicBezTo>
                    <a:cubicBezTo>
                      <a:pt x="396" y="240"/>
                      <a:pt x="398" y="241"/>
                      <a:pt x="401" y="239"/>
                    </a:cubicBezTo>
                    <a:cubicBezTo>
                      <a:pt x="415" y="252"/>
                      <a:pt x="421" y="257"/>
                      <a:pt x="433" y="274"/>
                    </a:cubicBezTo>
                    <a:cubicBezTo>
                      <a:pt x="434" y="276"/>
                      <a:pt x="437" y="277"/>
                      <a:pt x="439" y="281"/>
                    </a:cubicBezTo>
                    <a:cubicBezTo>
                      <a:pt x="440" y="286"/>
                      <a:pt x="442" y="292"/>
                      <a:pt x="447" y="297"/>
                    </a:cubicBezTo>
                    <a:cubicBezTo>
                      <a:pt x="450" y="300"/>
                      <a:pt x="455" y="299"/>
                      <a:pt x="458" y="302"/>
                    </a:cubicBezTo>
                    <a:cubicBezTo>
                      <a:pt x="462" y="306"/>
                      <a:pt x="469" y="308"/>
                      <a:pt x="469" y="318"/>
                    </a:cubicBezTo>
                    <a:cubicBezTo>
                      <a:pt x="469" y="322"/>
                      <a:pt x="463" y="323"/>
                      <a:pt x="463" y="326"/>
                    </a:cubicBezTo>
                    <a:cubicBezTo>
                      <a:pt x="461" y="326"/>
                      <a:pt x="461" y="327"/>
                      <a:pt x="459" y="327"/>
                    </a:cubicBezTo>
                    <a:cubicBezTo>
                      <a:pt x="451" y="327"/>
                      <a:pt x="440" y="318"/>
                      <a:pt x="440" y="314"/>
                    </a:cubicBezTo>
                    <a:cubicBezTo>
                      <a:pt x="440" y="310"/>
                      <a:pt x="440" y="311"/>
                      <a:pt x="440" y="307"/>
                    </a:cubicBezTo>
                    <a:cubicBezTo>
                      <a:pt x="440" y="300"/>
                      <a:pt x="435" y="300"/>
                      <a:pt x="427" y="300"/>
                    </a:cubicBezTo>
                    <a:cubicBezTo>
                      <a:pt x="421" y="300"/>
                      <a:pt x="419" y="296"/>
                      <a:pt x="419" y="294"/>
                    </a:cubicBezTo>
                    <a:cubicBezTo>
                      <a:pt x="419" y="290"/>
                      <a:pt x="426" y="290"/>
                      <a:pt x="426" y="286"/>
                    </a:cubicBezTo>
                    <a:cubicBezTo>
                      <a:pt x="426" y="283"/>
                      <a:pt x="426" y="281"/>
                      <a:pt x="426" y="281"/>
                    </a:cubicBezTo>
                    <a:cubicBezTo>
                      <a:pt x="417" y="281"/>
                      <a:pt x="420" y="286"/>
                      <a:pt x="414" y="286"/>
                    </a:cubicBezTo>
                    <a:cubicBezTo>
                      <a:pt x="412" y="286"/>
                      <a:pt x="407" y="282"/>
                      <a:pt x="407" y="280"/>
                    </a:cubicBezTo>
                    <a:cubicBezTo>
                      <a:pt x="407" y="274"/>
                      <a:pt x="410" y="273"/>
                      <a:pt x="412" y="270"/>
                    </a:cubicBezTo>
                    <a:cubicBezTo>
                      <a:pt x="409" y="268"/>
                      <a:pt x="405" y="264"/>
                      <a:pt x="404" y="267"/>
                    </a:cubicBezTo>
                    <a:cubicBezTo>
                      <a:pt x="397" y="267"/>
                      <a:pt x="394" y="264"/>
                      <a:pt x="390" y="261"/>
                    </a:cubicBezTo>
                    <a:cubicBezTo>
                      <a:pt x="389" y="264"/>
                      <a:pt x="387" y="269"/>
                      <a:pt x="384" y="269"/>
                    </a:cubicBezTo>
                    <a:cubicBezTo>
                      <a:pt x="375" y="269"/>
                      <a:pt x="368" y="256"/>
                      <a:pt x="363" y="252"/>
                    </a:cubicBezTo>
                    <a:cubicBezTo>
                      <a:pt x="352" y="243"/>
                      <a:pt x="337" y="244"/>
                      <a:pt x="323" y="236"/>
                    </a:cubicBezTo>
                    <a:cubicBezTo>
                      <a:pt x="299" y="236"/>
                      <a:pt x="299" y="236"/>
                      <a:pt x="299" y="236"/>
                    </a:cubicBezTo>
                    <a:cubicBezTo>
                      <a:pt x="285" y="232"/>
                      <a:pt x="265" y="230"/>
                      <a:pt x="258" y="214"/>
                    </a:cubicBezTo>
                    <a:cubicBezTo>
                      <a:pt x="252" y="217"/>
                      <a:pt x="244" y="219"/>
                      <a:pt x="240" y="221"/>
                    </a:cubicBezTo>
                    <a:cubicBezTo>
                      <a:pt x="241" y="224"/>
                      <a:pt x="242" y="225"/>
                      <a:pt x="244" y="227"/>
                    </a:cubicBezTo>
                    <a:cubicBezTo>
                      <a:pt x="238" y="236"/>
                      <a:pt x="210" y="252"/>
                      <a:pt x="200" y="252"/>
                    </a:cubicBezTo>
                    <a:cubicBezTo>
                      <a:pt x="198" y="252"/>
                      <a:pt x="195" y="251"/>
                      <a:pt x="195" y="249"/>
                    </a:cubicBezTo>
                    <a:cubicBezTo>
                      <a:pt x="195" y="246"/>
                      <a:pt x="198" y="246"/>
                      <a:pt x="199" y="245"/>
                    </a:cubicBezTo>
                    <a:cubicBezTo>
                      <a:pt x="197" y="242"/>
                      <a:pt x="199" y="242"/>
                      <a:pt x="199" y="240"/>
                    </a:cubicBezTo>
                    <a:cubicBezTo>
                      <a:pt x="199" y="230"/>
                      <a:pt x="205" y="223"/>
                      <a:pt x="218" y="219"/>
                    </a:cubicBezTo>
                    <a:cubicBezTo>
                      <a:pt x="218" y="217"/>
                      <a:pt x="218" y="216"/>
                      <a:pt x="218" y="214"/>
                    </a:cubicBezTo>
                    <a:cubicBezTo>
                      <a:pt x="214" y="214"/>
                      <a:pt x="215" y="214"/>
                      <a:pt x="213" y="214"/>
                    </a:cubicBezTo>
                    <a:cubicBezTo>
                      <a:pt x="203" y="214"/>
                      <a:pt x="173" y="239"/>
                      <a:pt x="173" y="253"/>
                    </a:cubicBezTo>
                    <a:cubicBezTo>
                      <a:pt x="173" y="255"/>
                      <a:pt x="173" y="258"/>
                      <a:pt x="173" y="260"/>
                    </a:cubicBezTo>
                    <a:cubicBezTo>
                      <a:pt x="173" y="270"/>
                      <a:pt x="164" y="273"/>
                      <a:pt x="154" y="277"/>
                    </a:cubicBezTo>
                    <a:cubicBezTo>
                      <a:pt x="148" y="280"/>
                      <a:pt x="146" y="284"/>
                      <a:pt x="143" y="288"/>
                    </a:cubicBezTo>
                    <a:cubicBezTo>
                      <a:pt x="136" y="297"/>
                      <a:pt x="121" y="301"/>
                      <a:pt x="114" y="308"/>
                    </a:cubicBezTo>
                    <a:cubicBezTo>
                      <a:pt x="107" y="315"/>
                      <a:pt x="91" y="320"/>
                      <a:pt x="79" y="322"/>
                    </a:cubicBezTo>
                    <a:cubicBezTo>
                      <a:pt x="63" y="324"/>
                      <a:pt x="54" y="343"/>
                      <a:pt x="35" y="337"/>
                    </a:cubicBezTo>
                    <a:cubicBezTo>
                      <a:pt x="41" y="329"/>
                      <a:pt x="49" y="333"/>
                      <a:pt x="57" y="328"/>
                    </a:cubicBezTo>
                    <a:cubicBezTo>
                      <a:pt x="62" y="325"/>
                      <a:pt x="66" y="316"/>
                      <a:pt x="71" y="314"/>
                    </a:cubicBezTo>
                    <a:cubicBezTo>
                      <a:pt x="78" y="309"/>
                      <a:pt x="87" y="314"/>
                      <a:pt x="92" y="307"/>
                    </a:cubicBezTo>
                    <a:cubicBezTo>
                      <a:pt x="99" y="297"/>
                      <a:pt x="117" y="290"/>
                      <a:pt x="127" y="283"/>
                    </a:cubicBezTo>
                    <a:cubicBezTo>
                      <a:pt x="137" y="276"/>
                      <a:pt x="137" y="263"/>
                      <a:pt x="148" y="256"/>
                    </a:cubicBezTo>
                    <a:cubicBezTo>
                      <a:pt x="141" y="256"/>
                      <a:pt x="141" y="256"/>
                      <a:pt x="141" y="256"/>
                    </a:cubicBezTo>
                    <a:cubicBezTo>
                      <a:pt x="135" y="259"/>
                      <a:pt x="132" y="262"/>
                      <a:pt x="125" y="262"/>
                    </a:cubicBezTo>
                    <a:cubicBezTo>
                      <a:pt x="120" y="262"/>
                      <a:pt x="117" y="260"/>
                      <a:pt x="113" y="258"/>
                    </a:cubicBezTo>
                    <a:cubicBezTo>
                      <a:pt x="112" y="262"/>
                      <a:pt x="110" y="263"/>
                      <a:pt x="110" y="266"/>
                    </a:cubicBezTo>
                    <a:cubicBezTo>
                      <a:pt x="99" y="262"/>
                      <a:pt x="96" y="260"/>
                      <a:pt x="89" y="254"/>
                    </a:cubicBezTo>
                    <a:cubicBezTo>
                      <a:pt x="88" y="257"/>
                      <a:pt x="88" y="259"/>
                      <a:pt x="88" y="261"/>
                    </a:cubicBezTo>
                    <a:cubicBezTo>
                      <a:pt x="84" y="261"/>
                      <a:pt x="85" y="261"/>
                      <a:pt x="83" y="261"/>
                    </a:cubicBezTo>
                    <a:cubicBezTo>
                      <a:pt x="80" y="261"/>
                      <a:pt x="78" y="264"/>
                      <a:pt x="76" y="264"/>
                    </a:cubicBezTo>
                    <a:cubicBezTo>
                      <a:pt x="74" y="264"/>
                      <a:pt x="72" y="257"/>
                      <a:pt x="72" y="253"/>
                    </a:cubicBezTo>
                    <a:cubicBezTo>
                      <a:pt x="72" y="248"/>
                      <a:pt x="72" y="248"/>
                      <a:pt x="72" y="244"/>
                    </a:cubicBezTo>
                    <a:cubicBezTo>
                      <a:pt x="72" y="243"/>
                      <a:pt x="72" y="238"/>
                      <a:pt x="68" y="238"/>
                    </a:cubicBezTo>
                    <a:cubicBezTo>
                      <a:pt x="65" y="238"/>
                      <a:pt x="61" y="245"/>
                      <a:pt x="60" y="245"/>
                    </a:cubicBezTo>
                    <a:cubicBezTo>
                      <a:pt x="54" y="245"/>
                      <a:pt x="33" y="229"/>
                      <a:pt x="30" y="225"/>
                    </a:cubicBezTo>
                    <a:cubicBezTo>
                      <a:pt x="32" y="225"/>
                      <a:pt x="35" y="224"/>
                      <a:pt x="37" y="224"/>
                    </a:cubicBezTo>
                    <a:cubicBezTo>
                      <a:pt x="33" y="214"/>
                      <a:pt x="19" y="212"/>
                      <a:pt x="19" y="205"/>
                    </a:cubicBezTo>
                    <a:cubicBezTo>
                      <a:pt x="19" y="191"/>
                      <a:pt x="43" y="180"/>
                      <a:pt x="52" y="180"/>
                    </a:cubicBezTo>
                    <a:cubicBezTo>
                      <a:pt x="56" y="180"/>
                      <a:pt x="86" y="169"/>
                      <a:pt x="86" y="163"/>
                    </a:cubicBezTo>
                    <a:cubicBezTo>
                      <a:pt x="86" y="160"/>
                      <a:pt x="79" y="153"/>
                      <a:pt x="79" y="152"/>
                    </a:cubicBezTo>
                    <a:cubicBezTo>
                      <a:pt x="83" y="150"/>
                      <a:pt x="82" y="150"/>
                      <a:pt x="85" y="152"/>
                    </a:cubicBezTo>
                    <a:cubicBezTo>
                      <a:pt x="85" y="145"/>
                      <a:pt x="85" y="145"/>
                      <a:pt x="85" y="145"/>
                    </a:cubicBezTo>
                    <a:cubicBezTo>
                      <a:pt x="81" y="145"/>
                      <a:pt x="81" y="145"/>
                      <a:pt x="79" y="145"/>
                    </a:cubicBezTo>
                    <a:cubicBezTo>
                      <a:pt x="72" y="145"/>
                      <a:pt x="69" y="153"/>
                      <a:pt x="60" y="153"/>
                    </a:cubicBezTo>
                    <a:cubicBezTo>
                      <a:pt x="51" y="153"/>
                      <a:pt x="48" y="148"/>
                      <a:pt x="41" y="150"/>
                    </a:cubicBezTo>
                    <a:cubicBezTo>
                      <a:pt x="32" y="150"/>
                      <a:pt x="21" y="150"/>
                      <a:pt x="18" y="150"/>
                    </a:cubicBezTo>
                    <a:cubicBezTo>
                      <a:pt x="17" y="143"/>
                      <a:pt x="12" y="141"/>
                      <a:pt x="12" y="137"/>
                    </a:cubicBezTo>
                    <a:cubicBezTo>
                      <a:pt x="12" y="136"/>
                      <a:pt x="13" y="134"/>
                      <a:pt x="13" y="133"/>
                    </a:cubicBezTo>
                    <a:cubicBezTo>
                      <a:pt x="6" y="133"/>
                      <a:pt x="2" y="130"/>
                      <a:pt x="0" y="126"/>
                    </a:cubicBezTo>
                    <a:cubicBezTo>
                      <a:pt x="11" y="119"/>
                      <a:pt x="29" y="113"/>
                      <a:pt x="40" y="106"/>
                    </a:cubicBezTo>
                    <a:cubicBezTo>
                      <a:pt x="48" y="106"/>
                      <a:pt x="48" y="106"/>
                      <a:pt x="48" y="106"/>
                    </a:cubicBezTo>
                    <a:cubicBezTo>
                      <a:pt x="48" y="120"/>
                      <a:pt x="55" y="116"/>
                      <a:pt x="64" y="116"/>
                    </a:cubicBezTo>
                    <a:cubicBezTo>
                      <a:pt x="70" y="116"/>
                      <a:pt x="71" y="118"/>
                      <a:pt x="76" y="116"/>
                    </a:cubicBezTo>
                    <a:cubicBezTo>
                      <a:pt x="72" y="102"/>
                      <a:pt x="63" y="101"/>
                      <a:pt x="50" y="95"/>
                    </a:cubicBezTo>
                    <a:cubicBezTo>
                      <a:pt x="46" y="94"/>
                      <a:pt x="41" y="80"/>
                      <a:pt x="37" y="78"/>
                    </a:cubicBezTo>
                    <a:cubicBezTo>
                      <a:pt x="31" y="75"/>
                      <a:pt x="13" y="71"/>
                      <a:pt x="13" y="68"/>
                    </a:cubicBezTo>
                    <a:cubicBezTo>
                      <a:pt x="13" y="68"/>
                      <a:pt x="20" y="57"/>
                      <a:pt x="20" y="56"/>
                    </a:cubicBezTo>
                    <a:cubicBezTo>
                      <a:pt x="44" y="56"/>
                      <a:pt x="44" y="56"/>
                      <a:pt x="44" y="56"/>
                    </a:cubicBezTo>
                    <a:cubicBezTo>
                      <a:pt x="57" y="38"/>
                      <a:pt x="77" y="21"/>
                      <a:pt x="101" y="14"/>
                    </a:cubicBezTo>
                    <a:cubicBezTo>
                      <a:pt x="107" y="12"/>
                      <a:pt x="111" y="15"/>
                      <a:pt x="117" y="13"/>
                    </a:cubicBezTo>
                    <a:cubicBezTo>
                      <a:pt x="124" y="10"/>
                      <a:pt x="128" y="0"/>
                      <a:pt x="136" y="0"/>
                    </a:cubicBezTo>
                    <a:cubicBezTo>
                      <a:pt x="142" y="0"/>
                      <a:pt x="144" y="5"/>
                      <a:pt x="150" y="7"/>
                    </a:cubicBezTo>
                    <a:cubicBezTo>
                      <a:pt x="147" y="10"/>
                      <a:pt x="147" y="11"/>
                      <a:pt x="146" y="13"/>
                    </a:cubicBezTo>
                    <a:cubicBezTo>
                      <a:pt x="150" y="14"/>
                      <a:pt x="154" y="11"/>
                      <a:pt x="157" y="7"/>
                    </a:cubicBezTo>
                    <a:cubicBezTo>
                      <a:pt x="162" y="9"/>
                      <a:pt x="163" y="10"/>
                      <a:pt x="167" y="11"/>
                    </a:cubicBezTo>
                    <a:cubicBezTo>
                      <a:pt x="189" y="11"/>
                      <a:pt x="189" y="11"/>
                      <a:pt x="189" y="11"/>
                    </a:cubicBezTo>
                    <a:cubicBezTo>
                      <a:pt x="194" y="15"/>
                      <a:pt x="196" y="17"/>
                      <a:pt x="202" y="20"/>
                    </a:cubicBezTo>
                    <a:cubicBezTo>
                      <a:pt x="236" y="20"/>
                      <a:pt x="236" y="20"/>
                      <a:pt x="236" y="20"/>
                    </a:cubicBezTo>
                    <a:cubicBezTo>
                      <a:pt x="245" y="29"/>
                      <a:pt x="272" y="31"/>
                      <a:pt x="286" y="31"/>
                    </a:cubicBezTo>
                    <a:cubicBezTo>
                      <a:pt x="294" y="31"/>
                      <a:pt x="299" y="28"/>
                      <a:pt x="307" y="28"/>
                    </a:cubicBezTo>
                    <a:cubicBezTo>
                      <a:pt x="319" y="28"/>
                      <a:pt x="323" y="34"/>
                      <a:pt x="334" y="37"/>
                    </a:cubicBezTo>
                    <a:cubicBezTo>
                      <a:pt x="334" y="36"/>
                      <a:pt x="334" y="36"/>
                      <a:pt x="334" y="36"/>
                    </a:cubicBezTo>
                    <a:lnTo>
                      <a:pt x="334" y="37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28" name="Freeform 52">
                <a:extLst>
                  <a:ext uri="{FF2B5EF4-FFF2-40B4-BE49-F238E27FC236}">
                    <a16:creationId xmlns:a16="http://schemas.microsoft.com/office/drawing/2014/main" id="{2625B714-DD3F-2396-DF57-32344B84F2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9475" y="1820863"/>
                <a:ext cx="28575" cy="38100"/>
              </a:xfrm>
              <a:custGeom>
                <a:avLst/>
                <a:gdLst/>
                <a:ahLst/>
                <a:cxnLst>
                  <a:cxn ang="0">
                    <a:pos x="9" y="11"/>
                  </a:cxn>
                  <a:cxn ang="0">
                    <a:pos x="0" y="11"/>
                  </a:cxn>
                  <a:cxn ang="0">
                    <a:pos x="11" y="2"/>
                  </a:cxn>
                  <a:cxn ang="0">
                    <a:pos x="22" y="25"/>
                  </a:cxn>
                  <a:cxn ang="0">
                    <a:pos x="18" y="29"/>
                  </a:cxn>
                  <a:cxn ang="0">
                    <a:pos x="9" y="20"/>
                  </a:cxn>
                  <a:cxn ang="0">
                    <a:pos x="9" y="11"/>
                  </a:cxn>
                </a:cxnLst>
                <a:rect l="0" t="0" r="r" b="b"/>
                <a:pathLst>
                  <a:path w="22" h="29">
                    <a:moveTo>
                      <a:pt x="9" y="11"/>
                    </a:moveTo>
                    <a:cubicBezTo>
                      <a:pt x="2" y="9"/>
                      <a:pt x="5" y="7"/>
                      <a:pt x="0" y="11"/>
                    </a:cubicBezTo>
                    <a:cubicBezTo>
                      <a:pt x="0" y="0"/>
                      <a:pt x="2" y="0"/>
                      <a:pt x="11" y="2"/>
                    </a:cubicBezTo>
                    <a:cubicBezTo>
                      <a:pt x="10" y="14"/>
                      <a:pt x="22" y="15"/>
                      <a:pt x="22" y="25"/>
                    </a:cubicBezTo>
                    <a:cubicBezTo>
                      <a:pt x="22" y="28"/>
                      <a:pt x="20" y="29"/>
                      <a:pt x="18" y="29"/>
                    </a:cubicBezTo>
                    <a:cubicBezTo>
                      <a:pt x="14" y="29"/>
                      <a:pt x="9" y="20"/>
                      <a:pt x="9" y="20"/>
                    </a:cubicBezTo>
                    <a:cubicBezTo>
                      <a:pt x="9" y="16"/>
                      <a:pt x="8" y="13"/>
                      <a:pt x="9" y="1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29" name="Freeform 53">
                <a:extLst>
                  <a:ext uri="{FF2B5EF4-FFF2-40B4-BE49-F238E27FC236}">
                    <a16:creationId xmlns:a16="http://schemas.microsoft.com/office/drawing/2014/main" id="{39799E60-2E78-6581-BF99-44D9C94E56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5025" y="1776413"/>
                <a:ext cx="30163" cy="46038"/>
              </a:xfrm>
              <a:custGeom>
                <a:avLst/>
                <a:gdLst/>
                <a:ahLst/>
                <a:cxnLst>
                  <a:cxn ang="0">
                    <a:pos x="15" y="18"/>
                  </a:cxn>
                  <a:cxn ang="0">
                    <a:pos x="19" y="18"/>
                  </a:cxn>
                  <a:cxn ang="0">
                    <a:pos x="19" y="35"/>
                  </a:cxn>
                  <a:cxn ang="0">
                    <a:pos x="11" y="17"/>
                  </a:cxn>
                  <a:cxn ang="0">
                    <a:pos x="0" y="4"/>
                  </a:cxn>
                  <a:cxn ang="0">
                    <a:pos x="5" y="0"/>
                  </a:cxn>
                  <a:cxn ang="0">
                    <a:pos x="15" y="0"/>
                  </a:cxn>
                  <a:cxn ang="0">
                    <a:pos x="15" y="18"/>
                  </a:cxn>
                </a:cxnLst>
                <a:rect l="0" t="0" r="r" b="b"/>
                <a:pathLst>
                  <a:path w="23" h="35">
                    <a:moveTo>
                      <a:pt x="15" y="18"/>
                    </a:moveTo>
                    <a:cubicBezTo>
                      <a:pt x="15" y="19"/>
                      <a:pt x="19" y="19"/>
                      <a:pt x="19" y="18"/>
                    </a:cubicBezTo>
                    <a:cubicBezTo>
                      <a:pt x="19" y="24"/>
                      <a:pt x="23" y="30"/>
                      <a:pt x="19" y="35"/>
                    </a:cubicBezTo>
                    <a:cubicBezTo>
                      <a:pt x="13" y="30"/>
                      <a:pt x="11" y="24"/>
                      <a:pt x="11" y="17"/>
                    </a:cubicBezTo>
                    <a:cubicBezTo>
                      <a:pt x="5" y="16"/>
                      <a:pt x="0" y="11"/>
                      <a:pt x="0" y="4"/>
                    </a:cubicBezTo>
                    <a:cubicBezTo>
                      <a:pt x="0" y="1"/>
                      <a:pt x="3" y="0"/>
                      <a:pt x="5" y="0"/>
                    </a:cubicBezTo>
                    <a:cubicBezTo>
                      <a:pt x="13" y="0"/>
                      <a:pt x="9" y="3"/>
                      <a:pt x="15" y="0"/>
                    </a:cubicBezTo>
                    <a:cubicBezTo>
                      <a:pt x="15" y="11"/>
                      <a:pt x="13" y="11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30" name="Freeform 54">
                <a:extLst>
                  <a:ext uri="{FF2B5EF4-FFF2-40B4-BE49-F238E27FC236}">
                    <a16:creationId xmlns:a16="http://schemas.microsoft.com/office/drawing/2014/main" id="{D1D353D7-32CA-C5E1-47C2-670E06DAAF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9188" y="1335088"/>
                <a:ext cx="307975" cy="161925"/>
              </a:xfrm>
              <a:custGeom>
                <a:avLst/>
                <a:gdLst/>
                <a:ahLst/>
                <a:cxnLst>
                  <a:cxn ang="0">
                    <a:pos x="214" y="96"/>
                  </a:cxn>
                  <a:cxn ang="0">
                    <a:pos x="209" y="100"/>
                  </a:cxn>
                  <a:cxn ang="0">
                    <a:pos x="215" y="103"/>
                  </a:cxn>
                  <a:cxn ang="0">
                    <a:pos x="220" y="110"/>
                  </a:cxn>
                  <a:cxn ang="0">
                    <a:pos x="195" y="118"/>
                  </a:cxn>
                  <a:cxn ang="0">
                    <a:pos x="158" y="104"/>
                  </a:cxn>
                  <a:cxn ang="0">
                    <a:pos x="147" y="112"/>
                  </a:cxn>
                  <a:cxn ang="0">
                    <a:pos x="115" y="121"/>
                  </a:cxn>
                  <a:cxn ang="0">
                    <a:pos x="75" y="121"/>
                  </a:cxn>
                  <a:cxn ang="0">
                    <a:pos x="68" y="110"/>
                  </a:cxn>
                  <a:cxn ang="0">
                    <a:pos x="43" y="108"/>
                  </a:cxn>
                  <a:cxn ang="0">
                    <a:pos x="23" y="92"/>
                  </a:cxn>
                  <a:cxn ang="0">
                    <a:pos x="65" y="82"/>
                  </a:cxn>
                  <a:cxn ang="0">
                    <a:pos x="80" y="81"/>
                  </a:cxn>
                  <a:cxn ang="0">
                    <a:pos x="69" y="77"/>
                  </a:cxn>
                  <a:cxn ang="0">
                    <a:pos x="45" y="77"/>
                  </a:cxn>
                  <a:cxn ang="0">
                    <a:pos x="12" y="69"/>
                  </a:cxn>
                  <a:cxn ang="0">
                    <a:pos x="29" y="60"/>
                  </a:cxn>
                  <a:cxn ang="0">
                    <a:pos x="14" y="59"/>
                  </a:cxn>
                  <a:cxn ang="0">
                    <a:pos x="0" y="51"/>
                  </a:cxn>
                  <a:cxn ang="0">
                    <a:pos x="56" y="13"/>
                  </a:cxn>
                  <a:cxn ang="0">
                    <a:pos x="64" y="29"/>
                  </a:cxn>
                  <a:cxn ang="0">
                    <a:pos x="78" y="21"/>
                  </a:cxn>
                  <a:cxn ang="0">
                    <a:pos x="98" y="34"/>
                  </a:cxn>
                  <a:cxn ang="0">
                    <a:pos x="111" y="31"/>
                  </a:cxn>
                  <a:cxn ang="0">
                    <a:pos x="109" y="23"/>
                  </a:cxn>
                  <a:cxn ang="0">
                    <a:pos x="118" y="23"/>
                  </a:cxn>
                  <a:cxn ang="0">
                    <a:pos x="133" y="35"/>
                  </a:cxn>
                  <a:cxn ang="0">
                    <a:pos x="140" y="51"/>
                  </a:cxn>
                  <a:cxn ang="0">
                    <a:pos x="146" y="48"/>
                  </a:cxn>
                  <a:cxn ang="0">
                    <a:pos x="136" y="17"/>
                  </a:cxn>
                  <a:cxn ang="0">
                    <a:pos x="144" y="12"/>
                  </a:cxn>
                  <a:cxn ang="0">
                    <a:pos x="156" y="12"/>
                  </a:cxn>
                  <a:cxn ang="0">
                    <a:pos x="156" y="7"/>
                  </a:cxn>
                  <a:cxn ang="0">
                    <a:pos x="169" y="0"/>
                  </a:cxn>
                  <a:cxn ang="0">
                    <a:pos x="184" y="10"/>
                  </a:cxn>
                  <a:cxn ang="0">
                    <a:pos x="175" y="24"/>
                  </a:cxn>
                  <a:cxn ang="0">
                    <a:pos x="187" y="62"/>
                  </a:cxn>
                  <a:cxn ang="0">
                    <a:pos x="232" y="92"/>
                  </a:cxn>
                  <a:cxn ang="0">
                    <a:pos x="214" y="96"/>
                  </a:cxn>
                </a:cxnLst>
                <a:rect l="0" t="0" r="r" b="b"/>
                <a:pathLst>
                  <a:path w="232" h="121">
                    <a:moveTo>
                      <a:pt x="214" y="96"/>
                    </a:moveTo>
                    <a:cubicBezTo>
                      <a:pt x="211" y="96"/>
                      <a:pt x="209" y="97"/>
                      <a:pt x="209" y="100"/>
                    </a:cubicBezTo>
                    <a:cubicBezTo>
                      <a:pt x="209" y="103"/>
                      <a:pt x="214" y="103"/>
                      <a:pt x="215" y="103"/>
                    </a:cubicBezTo>
                    <a:cubicBezTo>
                      <a:pt x="216" y="107"/>
                      <a:pt x="218" y="108"/>
                      <a:pt x="220" y="110"/>
                    </a:cubicBezTo>
                    <a:cubicBezTo>
                      <a:pt x="216" y="118"/>
                      <a:pt x="206" y="118"/>
                      <a:pt x="195" y="118"/>
                    </a:cubicBezTo>
                    <a:cubicBezTo>
                      <a:pt x="177" y="118"/>
                      <a:pt x="171" y="104"/>
                      <a:pt x="158" y="104"/>
                    </a:cubicBezTo>
                    <a:cubicBezTo>
                      <a:pt x="150" y="104"/>
                      <a:pt x="154" y="109"/>
                      <a:pt x="147" y="112"/>
                    </a:cubicBezTo>
                    <a:cubicBezTo>
                      <a:pt x="135" y="118"/>
                      <a:pt x="124" y="115"/>
                      <a:pt x="115" y="121"/>
                    </a:cubicBezTo>
                    <a:cubicBezTo>
                      <a:pt x="95" y="121"/>
                      <a:pt x="87" y="121"/>
                      <a:pt x="75" y="121"/>
                    </a:cubicBezTo>
                    <a:cubicBezTo>
                      <a:pt x="68" y="121"/>
                      <a:pt x="73" y="114"/>
                      <a:pt x="68" y="110"/>
                    </a:cubicBezTo>
                    <a:cubicBezTo>
                      <a:pt x="63" y="107"/>
                      <a:pt x="49" y="108"/>
                      <a:pt x="43" y="108"/>
                    </a:cubicBezTo>
                    <a:cubicBezTo>
                      <a:pt x="34" y="108"/>
                      <a:pt x="26" y="98"/>
                      <a:pt x="23" y="92"/>
                    </a:cubicBezTo>
                    <a:cubicBezTo>
                      <a:pt x="33" y="85"/>
                      <a:pt x="47" y="82"/>
                      <a:pt x="65" y="82"/>
                    </a:cubicBezTo>
                    <a:cubicBezTo>
                      <a:pt x="72" y="82"/>
                      <a:pt x="75" y="82"/>
                      <a:pt x="80" y="81"/>
                    </a:cubicBezTo>
                    <a:cubicBezTo>
                      <a:pt x="77" y="80"/>
                      <a:pt x="73" y="77"/>
                      <a:pt x="69" y="77"/>
                    </a:cubicBezTo>
                    <a:cubicBezTo>
                      <a:pt x="60" y="77"/>
                      <a:pt x="50" y="77"/>
                      <a:pt x="45" y="77"/>
                    </a:cubicBezTo>
                    <a:cubicBezTo>
                      <a:pt x="36" y="77"/>
                      <a:pt x="12" y="81"/>
                      <a:pt x="12" y="69"/>
                    </a:cubicBezTo>
                    <a:cubicBezTo>
                      <a:pt x="12" y="59"/>
                      <a:pt x="24" y="63"/>
                      <a:pt x="29" y="60"/>
                    </a:cubicBezTo>
                    <a:cubicBezTo>
                      <a:pt x="22" y="58"/>
                      <a:pt x="19" y="59"/>
                      <a:pt x="14" y="59"/>
                    </a:cubicBezTo>
                    <a:cubicBezTo>
                      <a:pt x="9" y="59"/>
                      <a:pt x="0" y="53"/>
                      <a:pt x="0" y="51"/>
                    </a:cubicBezTo>
                    <a:cubicBezTo>
                      <a:pt x="0" y="29"/>
                      <a:pt x="41" y="13"/>
                      <a:pt x="56" y="13"/>
                    </a:cubicBezTo>
                    <a:cubicBezTo>
                      <a:pt x="63" y="13"/>
                      <a:pt x="62" y="26"/>
                      <a:pt x="64" y="29"/>
                    </a:cubicBezTo>
                    <a:cubicBezTo>
                      <a:pt x="68" y="26"/>
                      <a:pt x="71" y="21"/>
                      <a:pt x="78" y="21"/>
                    </a:cubicBezTo>
                    <a:cubicBezTo>
                      <a:pt x="90" y="21"/>
                      <a:pt x="94" y="26"/>
                      <a:pt x="98" y="34"/>
                    </a:cubicBezTo>
                    <a:cubicBezTo>
                      <a:pt x="102" y="33"/>
                      <a:pt x="106" y="32"/>
                      <a:pt x="111" y="31"/>
                    </a:cubicBezTo>
                    <a:cubicBezTo>
                      <a:pt x="110" y="27"/>
                      <a:pt x="109" y="25"/>
                      <a:pt x="109" y="23"/>
                    </a:cubicBezTo>
                    <a:cubicBezTo>
                      <a:pt x="118" y="23"/>
                      <a:pt x="118" y="23"/>
                      <a:pt x="118" y="23"/>
                    </a:cubicBezTo>
                    <a:cubicBezTo>
                      <a:pt x="124" y="25"/>
                      <a:pt x="131" y="30"/>
                      <a:pt x="133" y="35"/>
                    </a:cubicBezTo>
                    <a:cubicBezTo>
                      <a:pt x="135" y="40"/>
                      <a:pt x="132" y="51"/>
                      <a:pt x="140" y="51"/>
                    </a:cubicBezTo>
                    <a:cubicBezTo>
                      <a:pt x="144" y="51"/>
                      <a:pt x="144" y="50"/>
                      <a:pt x="146" y="48"/>
                    </a:cubicBezTo>
                    <a:cubicBezTo>
                      <a:pt x="142" y="42"/>
                      <a:pt x="136" y="21"/>
                      <a:pt x="136" y="17"/>
                    </a:cubicBezTo>
                    <a:cubicBezTo>
                      <a:pt x="136" y="14"/>
                      <a:pt x="140" y="12"/>
                      <a:pt x="144" y="12"/>
                    </a:cubicBezTo>
                    <a:cubicBezTo>
                      <a:pt x="152" y="12"/>
                      <a:pt x="149" y="15"/>
                      <a:pt x="156" y="12"/>
                    </a:cubicBezTo>
                    <a:cubicBezTo>
                      <a:pt x="156" y="10"/>
                      <a:pt x="156" y="9"/>
                      <a:pt x="156" y="7"/>
                    </a:cubicBezTo>
                    <a:cubicBezTo>
                      <a:pt x="156" y="3"/>
                      <a:pt x="162" y="0"/>
                      <a:pt x="169" y="0"/>
                    </a:cubicBezTo>
                    <a:cubicBezTo>
                      <a:pt x="177" y="0"/>
                      <a:pt x="184" y="3"/>
                      <a:pt x="184" y="10"/>
                    </a:cubicBezTo>
                    <a:cubicBezTo>
                      <a:pt x="184" y="16"/>
                      <a:pt x="175" y="20"/>
                      <a:pt x="175" y="24"/>
                    </a:cubicBezTo>
                    <a:cubicBezTo>
                      <a:pt x="175" y="40"/>
                      <a:pt x="187" y="50"/>
                      <a:pt x="187" y="62"/>
                    </a:cubicBezTo>
                    <a:cubicBezTo>
                      <a:pt x="187" y="76"/>
                      <a:pt x="224" y="85"/>
                      <a:pt x="232" y="92"/>
                    </a:cubicBezTo>
                    <a:cubicBezTo>
                      <a:pt x="224" y="97"/>
                      <a:pt x="222" y="96"/>
                      <a:pt x="214" y="9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31" name="Freeform 55">
                <a:extLst>
                  <a:ext uri="{FF2B5EF4-FFF2-40B4-BE49-F238E27FC236}">
                    <a16:creationId xmlns:a16="http://schemas.microsoft.com/office/drawing/2014/main" id="{0C481567-F670-CD5B-6E6B-F5FE71A760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4888" y="1309688"/>
                <a:ext cx="173038" cy="114300"/>
              </a:xfrm>
              <a:custGeom>
                <a:avLst/>
                <a:gdLst/>
                <a:ahLst/>
                <a:cxnLst>
                  <a:cxn ang="0">
                    <a:pos x="28" y="82"/>
                  </a:cxn>
                  <a:cxn ang="0">
                    <a:pos x="22" y="73"/>
                  </a:cxn>
                  <a:cxn ang="0">
                    <a:pos x="0" y="64"/>
                  </a:cxn>
                  <a:cxn ang="0">
                    <a:pos x="22" y="21"/>
                  </a:cxn>
                  <a:cxn ang="0">
                    <a:pos x="16" y="5"/>
                  </a:cxn>
                  <a:cxn ang="0">
                    <a:pos x="42" y="5"/>
                  </a:cxn>
                  <a:cxn ang="0">
                    <a:pos x="60" y="2"/>
                  </a:cxn>
                  <a:cxn ang="0">
                    <a:pos x="84" y="11"/>
                  </a:cxn>
                  <a:cxn ang="0">
                    <a:pos x="99" y="10"/>
                  </a:cxn>
                  <a:cxn ang="0">
                    <a:pos x="130" y="29"/>
                  </a:cxn>
                  <a:cxn ang="0">
                    <a:pos x="102" y="38"/>
                  </a:cxn>
                  <a:cxn ang="0">
                    <a:pos x="69" y="71"/>
                  </a:cxn>
                  <a:cxn ang="0">
                    <a:pos x="35" y="86"/>
                  </a:cxn>
                  <a:cxn ang="0">
                    <a:pos x="28" y="82"/>
                  </a:cxn>
                </a:cxnLst>
                <a:rect l="0" t="0" r="r" b="b"/>
                <a:pathLst>
                  <a:path w="130" h="86">
                    <a:moveTo>
                      <a:pt x="28" y="82"/>
                    </a:moveTo>
                    <a:cubicBezTo>
                      <a:pt x="26" y="82"/>
                      <a:pt x="23" y="75"/>
                      <a:pt x="22" y="73"/>
                    </a:cubicBezTo>
                    <a:cubicBezTo>
                      <a:pt x="18" y="68"/>
                      <a:pt x="0" y="69"/>
                      <a:pt x="0" y="64"/>
                    </a:cubicBezTo>
                    <a:cubicBezTo>
                      <a:pt x="0" y="49"/>
                      <a:pt x="22" y="37"/>
                      <a:pt x="22" y="21"/>
                    </a:cubicBezTo>
                    <a:cubicBezTo>
                      <a:pt x="22" y="17"/>
                      <a:pt x="16" y="10"/>
                      <a:pt x="16" y="5"/>
                    </a:cubicBezTo>
                    <a:cubicBezTo>
                      <a:pt x="27" y="1"/>
                      <a:pt x="32" y="5"/>
                      <a:pt x="42" y="5"/>
                    </a:cubicBezTo>
                    <a:cubicBezTo>
                      <a:pt x="48" y="5"/>
                      <a:pt x="52" y="0"/>
                      <a:pt x="60" y="2"/>
                    </a:cubicBezTo>
                    <a:cubicBezTo>
                      <a:pt x="70" y="5"/>
                      <a:pt x="74" y="10"/>
                      <a:pt x="84" y="11"/>
                    </a:cubicBezTo>
                    <a:cubicBezTo>
                      <a:pt x="88" y="15"/>
                      <a:pt x="93" y="10"/>
                      <a:pt x="99" y="10"/>
                    </a:cubicBezTo>
                    <a:cubicBezTo>
                      <a:pt x="108" y="10"/>
                      <a:pt x="130" y="19"/>
                      <a:pt x="130" y="29"/>
                    </a:cubicBezTo>
                    <a:cubicBezTo>
                      <a:pt x="130" y="34"/>
                      <a:pt x="106" y="37"/>
                      <a:pt x="102" y="38"/>
                    </a:cubicBezTo>
                    <a:cubicBezTo>
                      <a:pt x="88" y="43"/>
                      <a:pt x="69" y="61"/>
                      <a:pt x="69" y="71"/>
                    </a:cubicBezTo>
                    <a:cubicBezTo>
                      <a:pt x="69" y="75"/>
                      <a:pt x="38" y="86"/>
                      <a:pt x="35" y="86"/>
                    </a:cubicBezTo>
                    <a:cubicBezTo>
                      <a:pt x="32" y="86"/>
                      <a:pt x="30" y="82"/>
                      <a:pt x="28" y="8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32" name="Freeform 56">
                <a:extLst>
                  <a:ext uri="{FF2B5EF4-FFF2-40B4-BE49-F238E27FC236}">
                    <a16:creationId xmlns:a16="http://schemas.microsoft.com/office/drawing/2014/main" id="{4369153B-A39C-E438-E37D-0D846ADC47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3000" y="1228725"/>
                <a:ext cx="204788" cy="87313"/>
              </a:xfrm>
              <a:custGeom>
                <a:avLst/>
                <a:gdLst/>
                <a:ahLst/>
                <a:cxnLst>
                  <a:cxn ang="0">
                    <a:pos x="53" y="65"/>
                  </a:cxn>
                  <a:cxn ang="0">
                    <a:pos x="41" y="59"/>
                  </a:cxn>
                  <a:cxn ang="0">
                    <a:pos x="53" y="53"/>
                  </a:cxn>
                  <a:cxn ang="0">
                    <a:pos x="46" y="43"/>
                  </a:cxn>
                  <a:cxn ang="0">
                    <a:pos x="41" y="49"/>
                  </a:cxn>
                  <a:cxn ang="0">
                    <a:pos x="22" y="52"/>
                  </a:cxn>
                  <a:cxn ang="0">
                    <a:pos x="7" y="49"/>
                  </a:cxn>
                  <a:cxn ang="0">
                    <a:pos x="0" y="42"/>
                  </a:cxn>
                  <a:cxn ang="0">
                    <a:pos x="0" y="36"/>
                  </a:cxn>
                  <a:cxn ang="0">
                    <a:pos x="11" y="31"/>
                  </a:cxn>
                  <a:cxn ang="0">
                    <a:pos x="31" y="36"/>
                  </a:cxn>
                  <a:cxn ang="0">
                    <a:pos x="11" y="30"/>
                  </a:cxn>
                  <a:cxn ang="0">
                    <a:pos x="11" y="23"/>
                  </a:cxn>
                  <a:cxn ang="0">
                    <a:pos x="19" y="23"/>
                  </a:cxn>
                  <a:cxn ang="0">
                    <a:pos x="38" y="26"/>
                  </a:cxn>
                  <a:cxn ang="0">
                    <a:pos x="16" y="22"/>
                  </a:cxn>
                  <a:cxn ang="0">
                    <a:pos x="25" y="17"/>
                  </a:cxn>
                  <a:cxn ang="0">
                    <a:pos x="36" y="18"/>
                  </a:cxn>
                  <a:cxn ang="0">
                    <a:pos x="23" y="12"/>
                  </a:cxn>
                  <a:cxn ang="0">
                    <a:pos x="38" y="12"/>
                  </a:cxn>
                  <a:cxn ang="0">
                    <a:pos x="45" y="19"/>
                  </a:cxn>
                  <a:cxn ang="0">
                    <a:pos x="55" y="19"/>
                  </a:cxn>
                  <a:cxn ang="0">
                    <a:pos x="97" y="36"/>
                  </a:cxn>
                  <a:cxn ang="0">
                    <a:pos x="107" y="30"/>
                  </a:cxn>
                  <a:cxn ang="0">
                    <a:pos x="98" y="29"/>
                  </a:cxn>
                  <a:cxn ang="0">
                    <a:pos x="102" y="27"/>
                  </a:cxn>
                  <a:cxn ang="0">
                    <a:pos x="102" y="21"/>
                  </a:cxn>
                  <a:cxn ang="0">
                    <a:pos x="91" y="15"/>
                  </a:cxn>
                  <a:cxn ang="0">
                    <a:pos x="107" y="0"/>
                  </a:cxn>
                  <a:cxn ang="0">
                    <a:pos x="116" y="4"/>
                  </a:cxn>
                  <a:cxn ang="0">
                    <a:pos x="116" y="9"/>
                  </a:cxn>
                  <a:cxn ang="0">
                    <a:pos x="132" y="26"/>
                  </a:cxn>
                  <a:cxn ang="0">
                    <a:pos x="144" y="20"/>
                  </a:cxn>
                  <a:cxn ang="0">
                    <a:pos x="154" y="31"/>
                  </a:cxn>
                  <a:cxn ang="0">
                    <a:pos x="140" y="52"/>
                  </a:cxn>
                  <a:cxn ang="0">
                    <a:pos x="111" y="51"/>
                  </a:cxn>
                  <a:cxn ang="0">
                    <a:pos x="82" y="59"/>
                  </a:cxn>
                  <a:cxn ang="0">
                    <a:pos x="53" y="65"/>
                  </a:cxn>
                </a:cxnLst>
                <a:rect l="0" t="0" r="r" b="b"/>
                <a:pathLst>
                  <a:path w="154" h="65">
                    <a:moveTo>
                      <a:pt x="53" y="65"/>
                    </a:moveTo>
                    <a:cubicBezTo>
                      <a:pt x="48" y="65"/>
                      <a:pt x="41" y="61"/>
                      <a:pt x="41" y="59"/>
                    </a:cubicBezTo>
                    <a:cubicBezTo>
                      <a:pt x="41" y="52"/>
                      <a:pt x="47" y="53"/>
                      <a:pt x="53" y="53"/>
                    </a:cubicBezTo>
                    <a:cubicBezTo>
                      <a:pt x="50" y="50"/>
                      <a:pt x="46" y="48"/>
                      <a:pt x="46" y="43"/>
                    </a:cubicBezTo>
                    <a:cubicBezTo>
                      <a:pt x="43" y="44"/>
                      <a:pt x="41" y="46"/>
                      <a:pt x="41" y="49"/>
                    </a:cubicBezTo>
                    <a:cubicBezTo>
                      <a:pt x="33" y="50"/>
                      <a:pt x="27" y="52"/>
                      <a:pt x="22" y="52"/>
                    </a:cubicBezTo>
                    <a:cubicBezTo>
                      <a:pt x="16" y="52"/>
                      <a:pt x="10" y="49"/>
                      <a:pt x="7" y="49"/>
                    </a:cubicBezTo>
                    <a:cubicBezTo>
                      <a:pt x="3" y="49"/>
                      <a:pt x="0" y="46"/>
                      <a:pt x="0" y="42"/>
                    </a:cubicBezTo>
                    <a:cubicBezTo>
                      <a:pt x="0" y="38"/>
                      <a:pt x="2" y="39"/>
                      <a:pt x="0" y="36"/>
                    </a:cubicBezTo>
                    <a:cubicBezTo>
                      <a:pt x="5" y="35"/>
                      <a:pt x="7" y="31"/>
                      <a:pt x="11" y="31"/>
                    </a:cubicBezTo>
                    <a:cubicBezTo>
                      <a:pt x="20" y="31"/>
                      <a:pt x="24" y="35"/>
                      <a:pt x="31" y="36"/>
                    </a:cubicBezTo>
                    <a:cubicBezTo>
                      <a:pt x="24" y="35"/>
                      <a:pt x="17" y="32"/>
                      <a:pt x="11" y="30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5" y="23"/>
                      <a:pt x="19" y="23"/>
                      <a:pt x="19" y="23"/>
                    </a:cubicBezTo>
                    <a:cubicBezTo>
                      <a:pt x="20" y="23"/>
                      <a:pt x="34" y="26"/>
                      <a:pt x="38" y="26"/>
                    </a:cubicBezTo>
                    <a:cubicBezTo>
                      <a:pt x="30" y="25"/>
                      <a:pt x="23" y="26"/>
                      <a:pt x="16" y="22"/>
                    </a:cubicBezTo>
                    <a:cubicBezTo>
                      <a:pt x="18" y="19"/>
                      <a:pt x="22" y="17"/>
                      <a:pt x="25" y="17"/>
                    </a:cubicBezTo>
                    <a:cubicBezTo>
                      <a:pt x="31" y="17"/>
                      <a:pt x="32" y="19"/>
                      <a:pt x="36" y="18"/>
                    </a:cubicBezTo>
                    <a:cubicBezTo>
                      <a:pt x="31" y="19"/>
                      <a:pt x="23" y="18"/>
                      <a:pt x="23" y="12"/>
                    </a:cubicBezTo>
                    <a:cubicBezTo>
                      <a:pt x="31" y="11"/>
                      <a:pt x="34" y="12"/>
                      <a:pt x="38" y="12"/>
                    </a:cubicBezTo>
                    <a:cubicBezTo>
                      <a:pt x="39" y="12"/>
                      <a:pt x="45" y="14"/>
                      <a:pt x="45" y="19"/>
                    </a:cubicBezTo>
                    <a:cubicBezTo>
                      <a:pt x="50" y="19"/>
                      <a:pt x="54" y="19"/>
                      <a:pt x="55" y="19"/>
                    </a:cubicBezTo>
                    <a:cubicBezTo>
                      <a:pt x="68" y="19"/>
                      <a:pt x="78" y="36"/>
                      <a:pt x="97" y="36"/>
                    </a:cubicBezTo>
                    <a:cubicBezTo>
                      <a:pt x="103" y="36"/>
                      <a:pt x="105" y="34"/>
                      <a:pt x="107" y="30"/>
                    </a:cubicBezTo>
                    <a:cubicBezTo>
                      <a:pt x="102" y="30"/>
                      <a:pt x="100" y="30"/>
                      <a:pt x="98" y="29"/>
                    </a:cubicBezTo>
                    <a:cubicBezTo>
                      <a:pt x="98" y="28"/>
                      <a:pt x="101" y="27"/>
                      <a:pt x="102" y="27"/>
                    </a:cubicBezTo>
                    <a:cubicBezTo>
                      <a:pt x="102" y="21"/>
                      <a:pt x="102" y="21"/>
                      <a:pt x="102" y="21"/>
                    </a:cubicBezTo>
                    <a:cubicBezTo>
                      <a:pt x="99" y="21"/>
                      <a:pt x="91" y="19"/>
                      <a:pt x="91" y="15"/>
                    </a:cubicBezTo>
                    <a:cubicBezTo>
                      <a:pt x="91" y="7"/>
                      <a:pt x="103" y="4"/>
                      <a:pt x="107" y="0"/>
                    </a:cubicBezTo>
                    <a:cubicBezTo>
                      <a:pt x="110" y="2"/>
                      <a:pt x="113" y="4"/>
                      <a:pt x="116" y="4"/>
                    </a:cubicBezTo>
                    <a:cubicBezTo>
                      <a:pt x="115" y="7"/>
                      <a:pt x="116" y="8"/>
                      <a:pt x="116" y="9"/>
                    </a:cubicBezTo>
                    <a:cubicBezTo>
                      <a:pt x="116" y="16"/>
                      <a:pt x="124" y="26"/>
                      <a:pt x="132" y="26"/>
                    </a:cubicBezTo>
                    <a:cubicBezTo>
                      <a:pt x="136" y="26"/>
                      <a:pt x="139" y="20"/>
                      <a:pt x="144" y="20"/>
                    </a:cubicBezTo>
                    <a:cubicBezTo>
                      <a:pt x="150" y="20"/>
                      <a:pt x="154" y="26"/>
                      <a:pt x="154" y="31"/>
                    </a:cubicBezTo>
                    <a:cubicBezTo>
                      <a:pt x="154" y="37"/>
                      <a:pt x="144" y="51"/>
                      <a:pt x="140" y="52"/>
                    </a:cubicBezTo>
                    <a:cubicBezTo>
                      <a:pt x="137" y="53"/>
                      <a:pt x="111" y="50"/>
                      <a:pt x="111" y="51"/>
                    </a:cubicBezTo>
                    <a:cubicBezTo>
                      <a:pt x="111" y="52"/>
                      <a:pt x="83" y="58"/>
                      <a:pt x="82" y="59"/>
                    </a:cubicBezTo>
                    <a:cubicBezTo>
                      <a:pt x="73" y="62"/>
                      <a:pt x="64" y="65"/>
                      <a:pt x="53" y="6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33" name="Freeform 57">
                <a:extLst>
                  <a:ext uri="{FF2B5EF4-FFF2-40B4-BE49-F238E27FC236}">
                    <a16:creationId xmlns:a16="http://schemas.microsoft.com/office/drawing/2014/main" id="{3477DDDB-9B88-6D09-EB32-5CDABA7254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2838" y="1260475"/>
                <a:ext cx="28575" cy="20638"/>
              </a:xfrm>
              <a:custGeom>
                <a:avLst/>
                <a:gdLst/>
                <a:ahLst/>
                <a:cxnLst>
                  <a:cxn ang="0">
                    <a:pos x="8" y="16"/>
                  </a:cxn>
                  <a:cxn ang="0">
                    <a:pos x="0" y="11"/>
                  </a:cxn>
                  <a:cxn ang="0">
                    <a:pos x="21" y="0"/>
                  </a:cxn>
                  <a:cxn ang="0">
                    <a:pos x="8" y="16"/>
                  </a:cxn>
                </a:cxnLst>
                <a:rect l="0" t="0" r="r" b="b"/>
                <a:pathLst>
                  <a:path w="21" h="16">
                    <a:moveTo>
                      <a:pt x="8" y="16"/>
                    </a:moveTo>
                    <a:cubicBezTo>
                      <a:pt x="4" y="16"/>
                      <a:pt x="0" y="14"/>
                      <a:pt x="0" y="11"/>
                    </a:cubicBezTo>
                    <a:cubicBezTo>
                      <a:pt x="0" y="3"/>
                      <a:pt x="16" y="0"/>
                      <a:pt x="21" y="0"/>
                    </a:cubicBezTo>
                    <a:cubicBezTo>
                      <a:pt x="20" y="7"/>
                      <a:pt x="13" y="16"/>
                      <a:pt x="8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34" name="Freeform 58">
                <a:extLst>
                  <a:ext uri="{FF2B5EF4-FFF2-40B4-BE49-F238E27FC236}">
                    <a16:creationId xmlns:a16="http://schemas.microsoft.com/office/drawing/2014/main" id="{711FCD3C-03B9-2674-BC84-95B218F372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7450" y="1230313"/>
                <a:ext cx="22225" cy="7938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0" y="0"/>
                  </a:cxn>
                  <a:cxn ang="0">
                    <a:pos x="16" y="0"/>
                  </a:cxn>
                  <a:cxn ang="0">
                    <a:pos x="16" y="6"/>
                  </a:cxn>
                  <a:cxn ang="0">
                    <a:pos x="6" y="6"/>
                  </a:cxn>
                </a:cxnLst>
                <a:rect l="0" t="0" r="r" b="b"/>
                <a:pathLst>
                  <a:path w="16" h="6">
                    <a:moveTo>
                      <a:pt x="6" y="6"/>
                    </a:moveTo>
                    <a:cubicBezTo>
                      <a:pt x="4" y="6"/>
                      <a:pt x="0" y="4"/>
                      <a:pt x="0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4" y="6"/>
                      <a:pt x="6" y="6"/>
                      <a:pt x="6" y="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35" name="Freeform 59">
                <a:extLst>
                  <a:ext uri="{FF2B5EF4-FFF2-40B4-BE49-F238E27FC236}">
                    <a16:creationId xmlns:a16="http://schemas.microsoft.com/office/drawing/2014/main" id="{BF9F7D70-BC0C-2BA9-9282-1937C112A8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4100" y="1203325"/>
                <a:ext cx="117475" cy="65088"/>
              </a:xfrm>
              <a:custGeom>
                <a:avLst/>
                <a:gdLst/>
                <a:ahLst/>
                <a:cxnLst>
                  <a:cxn ang="0">
                    <a:pos x="88" y="8"/>
                  </a:cxn>
                  <a:cxn ang="0">
                    <a:pos x="82" y="15"/>
                  </a:cxn>
                  <a:cxn ang="0">
                    <a:pos x="86" y="24"/>
                  </a:cxn>
                  <a:cxn ang="0">
                    <a:pos x="67" y="38"/>
                  </a:cxn>
                  <a:cxn ang="0">
                    <a:pos x="56" y="26"/>
                  </a:cxn>
                  <a:cxn ang="0">
                    <a:pos x="41" y="39"/>
                  </a:cxn>
                  <a:cxn ang="0">
                    <a:pos x="32" y="49"/>
                  </a:cxn>
                  <a:cxn ang="0">
                    <a:pos x="24" y="42"/>
                  </a:cxn>
                  <a:cxn ang="0">
                    <a:pos x="12" y="42"/>
                  </a:cxn>
                  <a:cxn ang="0">
                    <a:pos x="4" y="46"/>
                  </a:cxn>
                  <a:cxn ang="0">
                    <a:pos x="0" y="39"/>
                  </a:cxn>
                  <a:cxn ang="0">
                    <a:pos x="10" y="31"/>
                  </a:cxn>
                  <a:cxn ang="0">
                    <a:pos x="31" y="23"/>
                  </a:cxn>
                  <a:cxn ang="0">
                    <a:pos x="54" y="6"/>
                  </a:cxn>
                  <a:cxn ang="0">
                    <a:pos x="62" y="7"/>
                  </a:cxn>
                  <a:cxn ang="0">
                    <a:pos x="88" y="8"/>
                  </a:cxn>
                </a:cxnLst>
                <a:rect l="0" t="0" r="r" b="b"/>
                <a:pathLst>
                  <a:path w="88" h="49">
                    <a:moveTo>
                      <a:pt x="88" y="8"/>
                    </a:moveTo>
                    <a:cubicBezTo>
                      <a:pt x="88" y="11"/>
                      <a:pt x="86" y="14"/>
                      <a:pt x="82" y="15"/>
                    </a:cubicBezTo>
                    <a:cubicBezTo>
                      <a:pt x="83" y="19"/>
                      <a:pt x="86" y="20"/>
                      <a:pt x="86" y="24"/>
                    </a:cubicBezTo>
                    <a:cubicBezTo>
                      <a:pt x="67" y="38"/>
                      <a:pt x="67" y="38"/>
                      <a:pt x="67" y="38"/>
                    </a:cubicBezTo>
                    <a:cubicBezTo>
                      <a:pt x="60" y="38"/>
                      <a:pt x="60" y="28"/>
                      <a:pt x="56" y="26"/>
                    </a:cubicBezTo>
                    <a:cubicBezTo>
                      <a:pt x="55" y="33"/>
                      <a:pt x="48" y="40"/>
                      <a:pt x="41" y="39"/>
                    </a:cubicBezTo>
                    <a:cubicBezTo>
                      <a:pt x="40" y="44"/>
                      <a:pt x="37" y="49"/>
                      <a:pt x="32" y="49"/>
                    </a:cubicBezTo>
                    <a:cubicBezTo>
                      <a:pt x="28" y="49"/>
                      <a:pt x="25" y="44"/>
                      <a:pt x="24" y="42"/>
                    </a:cubicBezTo>
                    <a:cubicBezTo>
                      <a:pt x="19" y="45"/>
                      <a:pt x="16" y="42"/>
                      <a:pt x="12" y="42"/>
                    </a:cubicBezTo>
                    <a:cubicBezTo>
                      <a:pt x="9" y="42"/>
                      <a:pt x="8" y="45"/>
                      <a:pt x="4" y="46"/>
                    </a:cubicBezTo>
                    <a:cubicBezTo>
                      <a:pt x="4" y="43"/>
                      <a:pt x="0" y="41"/>
                      <a:pt x="0" y="39"/>
                    </a:cubicBezTo>
                    <a:cubicBezTo>
                      <a:pt x="0" y="38"/>
                      <a:pt x="8" y="32"/>
                      <a:pt x="10" y="31"/>
                    </a:cubicBezTo>
                    <a:cubicBezTo>
                      <a:pt x="17" y="28"/>
                      <a:pt x="23" y="27"/>
                      <a:pt x="31" y="23"/>
                    </a:cubicBezTo>
                    <a:cubicBezTo>
                      <a:pt x="39" y="18"/>
                      <a:pt x="41" y="6"/>
                      <a:pt x="54" y="6"/>
                    </a:cubicBezTo>
                    <a:cubicBezTo>
                      <a:pt x="57" y="6"/>
                      <a:pt x="58" y="7"/>
                      <a:pt x="62" y="7"/>
                    </a:cubicBezTo>
                    <a:cubicBezTo>
                      <a:pt x="62" y="7"/>
                      <a:pt x="88" y="0"/>
                      <a:pt x="88" y="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36" name="Freeform 60">
                <a:extLst>
                  <a:ext uri="{FF2B5EF4-FFF2-40B4-BE49-F238E27FC236}">
                    <a16:creationId xmlns:a16="http://schemas.microsoft.com/office/drawing/2014/main" id="{F7D2DF01-2FD7-A6E1-9EE5-DD192F2028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1263" y="1162050"/>
                <a:ext cx="66675" cy="20638"/>
              </a:xfrm>
              <a:custGeom>
                <a:avLst/>
                <a:gdLst/>
                <a:ahLst/>
                <a:cxnLst>
                  <a:cxn ang="0">
                    <a:pos x="20" y="15"/>
                  </a:cxn>
                  <a:cxn ang="0">
                    <a:pos x="9" y="12"/>
                  </a:cxn>
                  <a:cxn ang="0">
                    <a:pos x="0" y="15"/>
                  </a:cxn>
                  <a:cxn ang="0">
                    <a:pos x="32" y="0"/>
                  </a:cxn>
                  <a:cxn ang="0">
                    <a:pos x="50" y="11"/>
                  </a:cxn>
                  <a:cxn ang="0">
                    <a:pos x="39" y="15"/>
                  </a:cxn>
                  <a:cxn ang="0">
                    <a:pos x="20" y="15"/>
                  </a:cxn>
                </a:cxnLst>
                <a:rect l="0" t="0" r="r" b="b"/>
                <a:pathLst>
                  <a:path w="50" h="15">
                    <a:moveTo>
                      <a:pt x="20" y="15"/>
                    </a:moveTo>
                    <a:cubicBezTo>
                      <a:pt x="14" y="15"/>
                      <a:pt x="13" y="12"/>
                      <a:pt x="9" y="12"/>
                    </a:cubicBezTo>
                    <a:cubicBezTo>
                      <a:pt x="5" y="12"/>
                      <a:pt x="3" y="15"/>
                      <a:pt x="0" y="15"/>
                    </a:cubicBezTo>
                    <a:cubicBezTo>
                      <a:pt x="0" y="9"/>
                      <a:pt x="26" y="0"/>
                      <a:pt x="32" y="0"/>
                    </a:cubicBezTo>
                    <a:cubicBezTo>
                      <a:pt x="41" y="0"/>
                      <a:pt x="49" y="5"/>
                      <a:pt x="50" y="11"/>
                    </a:cubicBezTo>
                    <a:cubicBezTo>
                      <a:pt x="47" y="12"/>
                      <a:pt x="44" y="15"/>
                      <a:pt x="39" y="15"/>
                    </a:cubicBezTo>
                    <a:cubicBezTo>
                      <a:pt x="27" y="15"/>
                      <a:pt x="29" y="15"/>
                      <a:pt x="20" y="1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37" name="Freeform 61">
                <a:extLst>
                  <a:ext uri="{FF2B5EF4-FFF2-40B4-BE49-F238E27FC236}">
                    <a16:creationId xmlns:a16="http://schemas.microsoft.com/office/drawing/2014/main" id="{B2718C86-E653-7F6D-1822-97B3339ED7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850" y="1185863"/>
                <a:ext cx="58738" cy="30163"/>
              </a:xfrm>
              <a:custGeom>
                <a:avLst/>
                <a:gdLst/>
                <a:ahLst/>
                <a:cxnLst>
                  <a:cxn ang="0">
                    <a:pos x="38" y="10"/>
                  </a:cxn>
                  <a:cxn ang="0">
                    <a:pos x="14" y="23"/>
                  </a:cxn>
                  <a:cxn ang="0">
                    <a:pos x="0" y="11"/>
                  </a:cxn>
                  <a:cxn ang="0">
                    <a:pos x="36" y="0"/>
                  </a:cxn>
                  <a:cxn ang="0">
                    <a:pos x="44" y="5"/>
                  </a:cxn>
                  <a:cxn ang="0">
                    <a:pos x="25" y="10"/>
                  </a:cxn>
                  <a:cxn ang="0">
                    <a:pos x="38" y="10"/>
                  </a:cxn>
                </a:cxnLst>
                <a:rect l="0" t="0" r="r" b="b"/>
                <a:pathLst>
                  <a:path w="44" h="23">
                    <a:moveTo>
                      <a:pt x="38" y="10"/>
                    </a:moveTo>
                    <a:cubicBezTo>
                      <a:pt x="38" y="19"/>
                      <a:pt x="24" y="23"/>
                      <a:pt x="14" y="23"/>
                    </a:cubicBezTo>
                    <a:cubicBezTo>
                      <a:pt x="8" y="23"/>
                      <a:pt x="0" y="15"/>
                      <a:pt x="0" y="11"/>
                    </a:cubicBezTo>
                    <a:cubicBezTo>
                      <a:pt x="0" y="1"/>
                      <a:pt x="27" y="0"/>
                      <a:pt x="36" y="0"/>
                    </a:cubicBezTo>
                    <a:cubicBezTo>
                      <a:pt x="41" y="0"/>
                      <a:pt x="43" y="3"/>
                      <a:pt x="44" y="5"/>
                    </a:cubicBezTo>
                    <a:cubicBezTo>
                      <a:pt x="39" y="9"/>
                      <a:pt x="32" y="10"/>
                      <a:pt x="25" y="10"/>
                    </a:cubicBezTo>
                    <a:lnTo>
                      <a:pt x="38" y="1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38" name="Freeform 62">
                <a:extLst>
                  <a:ext uri="{FF2B5EF4-FFF2-40B4-BE49-F238E27FC236}">
                    <a16:creationId xmlns:a16="http://schemas.microsoft.com/office/drawing/2014/main" id="{1E6690FF-D338-7AC4-AA48-7289848F75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4275" y="1181100"/>
                <a:ext cx="20638" cy="22225"/>
              </a:xfrm>
              <a:custGeom>
                <a:avLst/>
                <a:gdLst/>
                <a:ahLst/>
                <a:cxnLst>
                  <a:cxn ang="0">
                    <a:pos x="15" y="12"/>
                  </a:cxn>
                  <a:cxn ang="0">
                    <a:pos x="9" y="17"/>
                  </a:cxn>
                  <a:cxn ang="0">
                    <a:pos x="0" y="11"/>
                  </a:cxn>
                  <a:cxn ang="0">
                    <a:pos x="15" y="12"/>
                  </a:cxn>
                </a:cxnLst>
                <a:rect l="0" t="0" r="r" b="b"/>
                <a:pathLst>
                  <a:path w="15" h="17">
                    <a:moveTo>
                      <a:pt x="15" y="12"/>
                    </a:moveTo>
                    <a:cubicBezTo>
                      <a:pt x="13" y="15"/>
                      <a:pt x="12" y="17"/>
                      <a:pt x="9" y="17"/>
                    </a:cubicBezTo>
                    <a:cubicBezTo>
                      <a:pt x="5" y="17"/>
                      <a:pt x="0" y="13"/>
                      <a:pt x="0" y="11"/>
                    </a:cubicBezTo>
                    <a:cubicBezTo>
                      <a:pt x="0" y="0"/>
                      <a:pt x="12" y="11"/>
                      <a:pt x="15" y="1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39" name="Freeform 63">
                <a:extLst>
                  <a:ext uri="{FF2B5EF4-FFF2-40B4-BE49-F238E27FC236}">
                    <a16:creationId xmlns:a16="http://schemas.microsoft.com/office/drawing/2014/main" id="{7B2FEA53-DB16-A49A-32C5-7E981D1F60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1763" y="1335088"/>
                <a:ext cx="100013" cy="80963"/>
              </a:xfrm>
              <a:custGeom>
                <a:avLst/>
                <a:gdLst/>
                <a:ahLst/>
                <a:cxnLst>
                  <a:cxn ang="0">
                    <a:pos x="66" y="23"/>
                  </a:cxn>
                  <a:cxn ang="0">
                    <a:pos x="65" y="30"/>
                  </a:cxn>
                  <a:cxn ang="0">
                    <a:pos x="75" y="32"/>
                  </a:cxn>
                  <a:cxn ang="0">
                    <a:pos x="57" y="55"/>
                  </a:cxn>
                  <a:cxn ang="0">
                    <a:pos x="49" y="61"/>
                  </a:cxn>
                  <a:cxn ang="0">
                    <a:pos x="39" y="54"/>
                  </a:cxn>
                  <a:cxn ang="0">
                    <a:pos x="0" y="30"/>
                  </a:cxn>
                  <a:cxn ang="0">
                    <a:pos x="0" y="23"/>
                  </a:cxn>
                  <a:cxn ang="0">
                    <a:pos x="20" y="28"/>
                  </a:cxn>
                  <a:cxn ang="0">
                    <a:pos x="27" y="28"/>
                  </a:cxn>
                  <a:cxn ang="0">
                    <a:pos x="27" y="16"/>
                  </a:cxn>
                  <a:cxn ang="0">
                    <a:pos x="12" y="11"/>
                  </a:cxn>
                  <a:cxn ang="0">
                    <a:pos x="16" y="7"/>
                  </a:cxn>
                  <a:cxn ang="0">
                    <a:pos x="42" y="2"/>
                  </a:cxn>
                  <a:cxn ang="0">
                    <a:pos x="60" y="2"/>
                  </a:cxn>
                  <a:cxn ang="0">
                    <a:pos x="64" y="6"/>
                  </a:cxn>
                  <a:cxn ang="0">
                    <a:pos x="50" y="22"/>
                  </a:cxn>
                  <a:cxn ang="0">
                    <a:pos x="66" y="23"/>
                  </a:cxn>
                </a:cxnLst>
                <a:rect l="0" t="0" r="r" b="b"/>
                <a:pathLst>
                  <a:path w="75" h="61">
                    <a:moveTo>
                      <a:pt x="66" y="23"/>
                    </a:moveTo>
                    <a:cubicBezTo>
                      <a:pt x="66" y="29"/>
                      <a:pt x="65" y="25"/>
                      <a:pt x="65" y="30"/>
                    </a:cubicBezTo>
                    <a:cubicBezTo>
                      <a:pt x="67" y="30"/>
                      <a:pt x="72" y="31"/>
                      <a:pt x="75" y="32"/>
                    </a:cubicBezTo>
                    <a:cubicBezTo>
                      <a:pt x="73" y="56"/>
                      <a:pt x="72" y="49"/>
                      <a:pt x="57" y="55"/>
                    </a:cubicBezTo>
                    <a:cubicBezTo>
                      <a:pt x="53" y="56"/>
                      <a:pt x="53" y="61"/>
                      <a:pt x="49" y="61"/>
                    </a:cubicBezTo>
                    <a:cubicBezTo>
                      <a:pt x="42" y="61"/>
                      <a:pt x="42" y="56"/>
                      <a:pt x="39" y="54"/>
                    </a:cubicBezTo>
                    <a:cubicBezTo>
                      <a:pt x="27" y="41"/>
                      <a:pt x="13" y="43"/>
                      <a:pt x="0" y="3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6" y="23"/>
                      <a:pt x="12" y="28"/>
                      <a:pt x="20" y="28"/>
                    </a:cubicBezTo>
                    <a:cubicBezTo>
                      <a:pt x="24" y="28"/>
                      <a:pt x="23" y="28"/>
                      <a:pt x="27" y="28"/>
                    </a:cubicBezTo>
                    <a:cubicBezTo>
                      <a:pt x="27" y="16"/>
                      <a:pt x="27" y="16"/>
                      <a:pt x="27" y="16"/>
                    </a:cubicBezTo>
                    <a:cubicBezTo>
                      <a:pt x="21" y="15"/>
                      <a:pt x="12" y="16"/>
                      <a:pt x="12" y="11"/>
                    </a:cubicBezTo>
                    <a:cubicBezTo>
                      <a:pt x="12" y="9"/>
                      <a:pt x="15" y="8"/>
                      <a:pt x="16" y="7"/>
                    </a:cubicBezTo>
                    <a:cubicBezTo>
                      <a:pt x="23" y="0"/>
                      <a:pt x="32" y="2"/>
                      <a:pt x="42" y="2"/>
                    </a:cubicBezTo>
                    <a:cubicBezTo>
                      <a:pt x="50" y="2"/>
                      <a:pt x="60" y="2"/>
                      <a:pt x="60" y="2"/>
                    </a:cubicBezTo>
                    <a:cubicBezTo>
                      <a:pt x="61" y="2"/>
                      <a:pt x="64" y="4"/>
                      <a:pt x="64" y="6"/>
                    </a:cubicBezTo>
                    <a:cubicBezTo>
                      <a:pt x="64" y="15"/>
                      <a:pt x="53" y="18"/>
                      <a:pt x="50" y="22"/>
                    </a:cubicBezTo>
                    <a:cubicBezTo>
                      <a:pt x="53" y="22"/>
                      <a:pt x="66" y="18"/>
                      <a:pt x="66" y="2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40" name="Freeform 64">
                <a:extLst>
                  <a:ext uri="{FF2B5EF4-FFF2-40B4-BE49-F238E27FC236}">
                    <a16:creationId xmlns:a16="http://schemas.microsoft.com/office/drawing/2014/main" id="{6684AFA8-486C-A737-EDFE-3D6513B1DA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6838" y="1236663"/>
                <a:ext cx="111125" cy="60325"/>
              </a:xfrm>
              <a:custGeom>
                <a:avLst/>
                <a:gdLst/>
                <a:ahLst/>
                <a:cxnLst>
                  <a:cxn ang="0">
                    <a:pos x="4" y="11"/>
                  </a:cxn>
                  <a:cxn ang="0">
                    <a:pos x="0" y="2"/>
                  </a:cxn>
                  <a:cxn ang="0">
                    <a:pos x="5" y="2"/>
                  </a:cxn>
                  <a:cxn ang="0">
                    <a:pos x="38" y="20"/>
                  </a:cxn>
                  <a:cxn ang="0">
                    <a:pos x="29" y="13"/>
                  </a:cxn>
                  <a:cxn ang="0">
                    <a:pos x="29" y="8"/>
                  </a:cxn>
                  <a:cxn ang="0">
                    <a:pos x="54" y="17"/>
                  </a:cxn>
                  <a:cxn ang="0">
                    <a:pos x="54" y="8"/>
                  </a:cxn>
                  <a:cxn ang="0">
                    <a:pos x="38" y="1"/>
                  </a:cxn>
                  <a:cxn ang="0">
                    <a:pos x="46" y="1"/>
                  </a:cxn>
                  <a:cxn ang="0">
                    <a:pos x="66" y="5"/>
                  </a:cxn>
                  <a:cxn ang="0">
                    <a:pos x="75" y="2"/>
                  </a:cxn>
                  <a:cxn ang="0">
                    <a:pos x="84" y="13"/>
                  </a:cxn>
                  <a:cxn ang="0">
                    <a:pos x="80" y="41"/>
                  </a:cxn>
                  <a:cxn ang="0">
                    <a:pos x="62" y="43"/>
                  </a:cxn>
                  <a:cxn ang="0">
                    <a:pos x="48" y="41"/>
                  </a:cxn>
                  <a:cxn ang="0">
                    <a:pos x="51" y="36"/>
                  </a:cxn>
                  <a:cxn ang="0">
                    <a:pos x="51" y="32"/>
                  </a:cxn>
                  <a:cxn ang="0">
                    <a:pos x="62" y="25"/>
                  </a:cxn>
                  <a:cxn ang="0">
                    <a:pos x="57" y="24"/>
                  </a:cxn>
                  <a:cxn ang="0">
                    <a:pos x="25" y="28"/>
                  </a:cxn>
                  <a:cxn ang="0">
                    <a:pos x="20" y="23"/>
                  </a:cxn>
                  <a:cxn ang="0">
                    <a:pos x="13" y="23"/>
                  </a:cxn>
                  <a:cxn ang="0">
                    <a:pos x="12" y="19"/>
                  </a:cxn>
                  <a:cxn ang="0">
                    <a:pos x="1" y="14"/>
                  </a:cxn>
                  <a:cxn ang="0">
                    <a:pos x="1" y="6"/>
                  </a:cxn>
                  <a:cxn ang="0">
                    <a:pos x="4" y="11"/>
                  </a:cxn>
                </a:cxnLst>
                <a:rect l="0" t="0" r="r" b="b"/>
                <a:pathLst>
                  <a:path w="84" h="45">
                    <a:moveTo>
                      <a:pt x="4" y="11"/>
                    </a:moveTo>
                    <a:cubicBezTo>
                      <a:pt x="2" y="9"/>
                      <a:pt x="0" y="6"/>
                      <a:pt x="0" y="2"/>
                    </a:cubicBezTo>
                    <a:cubicBezTo>
                      <a:pt x="1" y="2"/>
                      <a:pt x="3" y="2"/>
                      <a:pt x="5" y="2"/>
                    </a:cubicBezTo>
                    <a:cubicBezTo>
                      <a:pt x="18" y="2"/>
                      <a:pt x="24" y="24"/>
                      <a:pt x="38" y="20"/>
                    </a:cubicBezTo>
                    <a:cubicBezTo>
                      <a:pt x="35" y="18"/>
                      <a:pt x="31" y="15"/>
                      <a:pt x="29" y="13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39" y="8"/>
                      <a:pt x="43" y="17"/>
                      <a:pt x="54" y="17"/>
                    </a:cubicBezTo>
                    <a:cubicBezTo>
                      <a:pt x="54" y="8"/>
                      <a:pt x="54" y="8"/>
                      <a:pt x="54" y="8"/>
                    </a:cubicBezTo>
                    <a:cubicBezTo>
                      <a:pt x="46" y="8"/>
                      <a:pt x="40" y="8"/>
                      <a:pt x="38" y="1"/>
                    </a:cubicBezTo>
                    <a:cubicBezTo>
                      <a:pt x="41" y="0"/>
                      <a:pt x="43" y="1"/>
                      <a:pt x="46" y="1"/>
                    </a:cubicBezTo>
                    <a:cubicBezTo>
                      <a:pt x="53" y="1"/>
                      <a:pt x="58" y="5"/>
                      <a:pt x="66" y="5"/>
                    </a:cubicBezTo>
                    <a:cubicBezTo>
                      <a:pt x="69" y="5"/>
                      <a:pt x="71" y="2"/>
                      <a:pt x="75" y="2"/>
                    </a:cubicBezTo>
                    <a:cubicBezTo>
                      <a:pt x="83" y="2"/>
                      <a:pt x="84" y="6"/>
                      <a:pt x="84" y="13"/>
                    </a:cubicBezTo>
                    <a:cubicBezTo>
                      <a:pt x="84" y="23"/>
                      <a:pt x="78" y="28"/>
                      <a:pt x="80" y="41"/>
                    </a:cubicBezTo>
                    <a:cubicBezTo>
                      <a:pt x="73" y="43"/>
                      <a:pt x="64" y="43"/>
                      <a:pt x="62" y="43"/>
                    </a:cubicBezTo>
                    <a:cubicBezTo>
                      <a:pt x="60" y="43"/>
                      <a:pt x="48" y="45"/>
                      <a:pt x="48" y="41"/>
                    </a:cubicBezTo>
                    <a:cubicBezTo>
                      <a:pt x="48" y="39"/>
                      <a:pt x="50" y="37"/>
                      <a:pt x="51" y="36"/>
                    </a:cubicBezTo>
                    <a:cubicBezTo>
                      <a:pt x="51" y="35"/>
                      <a:pt x="51" y="33"/>
                      <a:pt x="51" y="32"/>
                    </a:cubicBezTo>
                    <a:cubicBezTo>
                      <a:pt x="51" y="28"/>
                      <a:pt x="60" y="28"/>
                      <a:pt x="62" y="25"/>
                    </a:cubicBezTo>
                    <a:cubicBezTo>
                      <a:pt x="61" y="24"/>
                      <a:pt x="59" y="24"/>
                      <a:pt x="57" y="24"/>
                    </a:cubicBezTo>
                    <a:cubicBezTo>
                      <a:pt x="49" y="24"/>
                      <a:pt x="34" y="28"/>
                      <a:pt x="25" y="28"/>
                    </a:cubicBezTo>
                    <a:cubicBezTo>
                      <a:pt x="22" y="28"/>
                      <a:pt x="20" y="26"/>
                      <a:pt x="20" y="23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2" y="19"/>
                      <a:pt x="12" y="19"/>
                      <a:pt x="12" y="19"/>
                    </a:cubicBezTo>
                    <a:cubicBezTo>
                      <a:pt x="7" y="20"/>
                      <a:pt x="4" y="17"/>
                      <a:pt x="1" y="14"/>
                    </a:cubicBezTo>
                    <a:cubicBezTo>
                      <a:pt x="1" y="6"/>
                      <a:pt x="1" y="6"/>
                      <a:pt x="1" y="6"/>
                    </a:cubicBezTo>
                    <a:lnTo>
                      <a:pt x="4" y="1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41" name="Freeform 65">
                <a:extLst>
                  <a:ext uri="{FF2B5EF4-FFF2-40B4-BE49-F238E27FC236}">
                    <a16:creationId xmlns:a16="http://schemas.microsoft.com/office/drawing/2014/main" id="{B9A62DD4-D141-6D5C-7727-412457095B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0975" y="1462088"/>
                <a:ext cx="65088" cy="38100"/>
              </a:xfrm>
              <a:custGeom>
                <a:avLst/>
                <a:gdLst/>
                <a:ahLst/>
                <a:cxnLst>
                  <a:cxn ang="0">
                    <a:pos x="38" y="29"/>
                  </a:cxn>
                  <a:cxn ang="0">
                    <a:pos x="0" y="16"/>
                  </a:cxn>
                  <a:cxn ang="0">
                    <a:pos x="9" y="14"/>
                  </a:cxn>
                  <a:cxn ang="0">
                    <a:pos x="22" y="0"/>
                  </a:cxn>
                  <a:cxn ang="0">
                    <a:pos x="49" y="22"/>
                  </a:cxn>
                  <a:cxn ang="0">
                    <a:pos x="38" y="29"/>
                  </a:cxn>
                </a:cxnLst>
                <a:rect l="0" t="0" r="r" b="b"/>
                <a:pathLst>
                  <a:path w="49" h="29">
                    <a:moveTo>
                      <a:pt x="38" y="29"/>
                    </a:moveTo>
                    <a:cubicBezTo>
                      <a:pt x="32" y="29"/>
                      <a:pt x="0" y="17"/>
                      <a:pt x="0" y="16"/>
                    </a:cubicBezTo>
                    <a:cubicBezTo>
                      <a:pt x="0" y="12"/>
                      <a:pt x="8" y="14"/>
                      <a:pt x="9" y="14"/>
                    </a:cubicBezTo>
                    <a:cubicBezTo>
                      <a:pt x="15" y="12"/>
                      <a:pt x="13" y="0"/>
                      <a:pt x="22" y="0"/>
                    </a:cubicBezTo>
                    <a:cubicBezTo>
                      <a:pt x="28" y="0"/>
                      <a:pt x="46" y="16"/>
                      <a:pt x="49" y="22"/>
                    </a:cubicBezTo>
                    <a:cubicBezTo>
                      <a:pt x="45" y="25"/>
                      <a:pt x="43" y="29"/>
                      <a:pt x="38" y="2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42" name="Freeform 66">
                <a:extLst>
                  <a:ext uri="{FF2B5EF4-FFF2-40B4-BE49-F238E27FC236}">
                    <a16:creationId xmlns:a16="http://schemas.microsoft.com/office/drawing/2014/main" id="{80527EA7-015A-2019-0D63-59E33A1DFA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4475" y="1323975"/>
                <a:ext cx="85725" cy="69850"/>
              </a:xfrm>
              <a:custGeom>
                <a:avLst/>
                <a:gdLst/>
                <a:ahLst/>
                <a:cxnLst>
                  <a:cxn ang="0">
                    <a:pos x="65" y="11"/>
                  </a:cxn>
                  <a:cxn ang="0">
                    <a:pos x="57" y="18"/>
                  </a:cxn>
                  <a:cxn ang="0">
                    <a:pos x="32" y="35"/>
                  </a:cxn>
                  <a:cxn ang="0">
                    <a:pos x="20" y="38"/>
                  </a:cxn>
                  <a:cxn ang="0">
                    <a:pos x="25" y="38"/>
                  </a:cxn>
                  <a:cxn ang="0">
                    <a:pos x="15" y="53"/>
                  </a:cxn>
                  <a:cxn ang="0">
                    <a:pos x="6" y="53"/>
                  </a:cxn>
                  <a:cxn ang="0">
                    <a:pos x="7" y="40"/>
                  </a:cxn>
                  <a:cxn ang="0">
                    <a:pos x="0" y="19"/>
                  </a:cxn>
                  <a:cxn ang="0">
                    <a:pos x="0" y="11"/>
                  </a:cxn>
                  <a:cxn ang="0">
                    <a:pos x="10" y="11"/>
                  </a:cxn>
                  <a:cxn ang="0">
                    <a:pos x="10" y="7"/>
                  </a:cxn>
                  <a:cxn ang="0">
                    <a:pos x="22" y="0"/>
                  </a:cxn>
                  <a:cxn ang="0">
                    <a:pos x="65" y="5"/>
                  </a:cxn>
                  <a:cxn ang="0">
                    <a:pos x="65" y="11"/>
                  </a:cxn>
                </a:cxnLst>
                <a:rect l="0" t="0" r="r" b="b"/>
                <a:pathLst>
                  <a:path w="65" h="53">
                    <a:moveTo>
                      <a:pt x="65" y="11"/>
                    </a:moveTo>
                    <a:cubicBezTo>
                      <a:pt x="65" y="12"/>
                      <a:pt x="57" y="18"/>
                      <a:pt x="57" y="18"/>
                    </a:cubicBezTo>
                    <a:cubicBezTo>
                      <a:pt x="51" y="26"/>
                      <a:pt x="45" y="35"/>
                      <a:pt x="32" y="35"/>
                    </a:cubicBezTo>
                    <a:cubicBezTo>
                      <a:pt x="22" y="35"/>
                      <a:pt x="22" y="30"/>
                      <a:pt x="20" y="38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4" y="46"/>
                      <a:pt x="21" y="48"/>
                      <a:pt x="15" y="53"/>
                    </a:cubicBezTo>
                    <a:cubicBezTo>
                      <a:pt x="6" y="53"/>
                      <a:pt x="6" y="53"/>
                      <a:pt x="6" y="53"/>
                    </a:cubicBezTo>
                    <a:cubicBezTo>
                      <a:pt x="6" y="47"/>
                      <a:pt x="6" y="42"/>
                      <a:pt x="7" y="40"/>
                    </a:cubicBezTo>
                    <a:cubicBezTo>
                      <a:pt x="0" y="33"/>
                      <a:pt x="3" y="27"/>
                      <a:pt x="0" y="19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3" y="11"/>
                      <a:pt x="8" y="11"/>
                      <a:pt x="10" y="11"/>
                    </a:cubicBezTo>
                    <a:cubicBezTo>
                      <a:pt x="9" y="11"/>
                      <a:pt x="10" y="8"/>
                      <a:pt x="10" y="7"/>
                    </a:cubicBezTo>
                    <a:cubicBezTo>
                      <a:pt x="10" y="6"/>
                      <a:pt x="13" y="0"/>
                      <a:pt x="22" y="0"/>
                    </a:cubicBezTo>
                    <a:cubicBezTo>
                      <a:pt x="37" y="0"/>
                      <a:pt x="49" y="5"/>
                      <a:pt x="65" y="5"/>
                    </a:cubicBezTo>
                    <a:cubicBezTo>
                      <a:pt x="65" y="8"/>
                      <a:pt x="65" y="9"/>
                      <a:pt x="65" y="1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43" name="Freeform 67">
                <a:extLst>
                  <a:ext uri="{FF2B5EF4-FFF2-40B4-BE49-F238E27FC236}">
                    <a16:creationId xmlns:a16="http://schemas.microsoft.com/office/drawing/2014/main" id="{83B21E57-4B19-5E78-E704-52A3EABB90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8263" y="1198563"/>
                <a:ext cx="28575" cy="23813"/>
              </a:xfrm>
              <a:custGeom>
                <a:avLst/>
                <a:gdLst/>
                <a:ahLst/>
                <a:cxnLst>
                  <a:cxn ang="0">
                    <a:pos x="21" y="12"/>
                  </a:cxn>
                  <a:cxn ang="0">
                    <a:pos x="15" y="18"/>
                  </a:cxn>
                  <a:cxn ang="0">
                    <a:pos x="0" y="0"/>
                  </a:cxn>
                  <a:cxn ang="0">
                    <a:pos x="21" y="12"/>
                  </a:cxn>
                </a:cxnLst>
                <a:rect l="0" t="0" r="r" b="b"/>
                <a:pathLst>
                  <a:path w="21" h="18">
                    <a:moveTo>
                      <a:pt x="21" y="12"/>
                    </a:moveTo>
                    <a:cubicBezTo>
                      <a:pt x="21" y="16"/>
                      <a:pt x="18" y="18"/>
                      <a:pt x="15" y="18"/>
                    </a:cubicBezTo>
                    <a:cubicBezTo>
                      <a:pt x="10" y="18"/>
                      <a:pt x="0" y="6"/>
                      <a:pt x="0" y="0"/>
                    </a:cubicBezTo>
                    <a:cubicBezTo>
                      <a:pt x="11" y="0"/>
                      <a:pt x="12" y="9"/>
                      <a:pt x="21" y="1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44" name="Freeform 68">
                <a:extLst>
                  <a:ext uri="{FF2B5EF4-FFF2-40B4-BE49-F238E27FC236}">
                    <a16:creationId xmlns:a16="http://schemas.microsoft.com/office/drawing/2014/main" id="{3618A4A5-C1D7-BC11-3252-03C9791FDB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5725" y="1277938"/>
                <a:ext cx="19050" cy="15875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5" y="6"/>
                  </a:cxn>
                  <a:cxn ang="0">
                    <a:pos x="9" y="12"/>
                  </a:cxn>
                  <a:cxn ang="0">
                    <a:pos x="0" y="12"/>
                  </a:cxn>
                  <a:cxn ang="0">
                    <a:pos x="12" y="0"/>
                  </a:cxn>
                </a:cxnLst>
                <a:rect l="0" t="0" r="r" b="b"/>
                <a:pathLst>
                  <a:path w="15" h="12">
                    <a:moveTo>
                      <a:pt x="12" y="0"/>
                    </a:moveTo>
                    <a:cubicBezTo>
                      <a:pt x="13" y="2"/>
                      <a:pt x="15" y="3"/>
                      <a:pt x="15" y="6"/>
                    </a:cubicBezTo>
                    <a:cubicBezTo>
                      <a:pt x="15" y="12"/>
                      <a:pt x="11" y="12"/>
                      <a:pt x="9" y="12"/>
                    </a:cubicBezTo>
                    <a:cubicBezTo>
                      <a:pt x="4" y="12"/>
                      <a:pt x="3" y="11"/>
                      <a:pt x="0" y="12"/>
                    </a:cubicBezTo>
                    <a:cubicBezTo>
                      <a:pt x="2" y="4"/>
                      <a:pt x="6" y="2"/>
                      <a:pt x="12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45" name="Freeform 69">
                <a:extLst>
                  <a:ext uri="{FF2B5EF4-FFF2-40B4-BE49-F238E27FC236}">
                    <a16:creationId xmlns:a16="http://schemas.microsoft.com/office/drawing/2014/main" id="{3E2A0FC6-B5AB-CFE5-8D76-7711287AF2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4613" y="1139825"/>
                <a:ext cx="109538" cy="57150"/>
              </a:xfrm>
              <a:custGeom>
                <a:avLst/>
                <a:gdLst/>
                <a:ahLst/>
                <a:cxnLst>
                  <a:cxn ang="0">
                    <a:pos x="54" y="32"/>
                  </a:cxn>
                  <a:cxn ang="0">
                    <a:pos x="33" y="30"/>
                  </a:cxn>
                  <a:cxn ang="0">
                    <a:pos x="19" y="29"/>
                  </a:cxn>
                  <a:cxn ang="0">
                    <a:pos x="7" y="25"/>
                  </a:cxn>
                  <a:cxn ang="0">
                    <a:pos x="20" y="20"/>
                  </a:cxn>
                  <a:cxn ang="0">
                    <a:pos x="20" y="15"/>
                  </a:cxn>
                  <a:cxn ang="0">
                    <a:pos x="5" y="15"/>
                  </a:cxn>
                  <a:cxn ang="0">
                    <a:pos x="8" y="10"/>
                  </a:cxn>
                  <a:cxn ang="0">
                    <a:pos x="0" y="3"/>
                  </a:cxn>
                  <a:cxn ang="0">
                    <a:pos x="14" y="0"/>
                  </a:cxn>
                  <a:cxn ang="0">
                    <a:pos x="31" y="8"/>
                  </a:cxn>
                  <a:cxn ang="0">
                    <a:pos x="40" y="4"/>
                  </a:cxn>
                  <a:cxn ang="0">
                    <a:pos x="53" y="15"/>
                  </a:cxn>
                  <a:cxn ang="0">
                    <a:pos x="60" y="11"/>
                  </a:cxn>
                  <a:cxn ang="0">
                    <a:pos x="73" y="21"/>
                  </a:cxn>
                  <a:cxn ang="0">
                    <a:pos x="70" y="26"/>
                  </a:cxn>
                  <a:cxn ang="0">
                    <a:pos x="82" y="37"/>
                  </a:cxn>
                  <a:cxn ang="0">
                    <a:pos x="74" y="43"/>
                  </a:cxn>
                  <a:cxn ang="0">
                    <a:pos x="54" y="32"/>
                  </a:cxn>
                </a:cxnLst>
                <a:rect l="0" t="0" r="r" b="b"/>
                <a:pathLst>
                  <a:path w="82" h="43">
                    <a:moveTo>
                      <a:pt x="54" y="32"/>
                    </a:moveTo>
                    <a:cubicBezTo>
                      <a:pt x="46" y="32"/>
                      <a:pt x="41" y="29"/>
                      <a:pt x="33" y="30"/>
                    </a:cubicBezTo>
                    <a:cubicBezTo>
                      <a:pt x="31" y="26"/>
                      <a:pt x="25" y="29"/>
                      <a:pt x="19" y="29"/>
                    </a:cubicBezTo>
                    <a:cubicBezTo>
                      <a:pt x="13" y="29"/>
                      <a:pt x="11" y="29"/>
                      <a:pt x="7" y="25"/>
                    </a:cubicBezTo>
                    <a:cubicBezTo>
                      <a:pt x="11" y="21"/>
                      <a:pt x="15" y="22"/>
                      <a:pt x="20" y="20"/>
                    </a:cubicBezTo>
                    <a:cubicBezTo>
                      <a:pt x="19" y="18"/>
                      <a:pt x="19" y="16"/>
                      <a:pt x="20" y="15"/>
                    </a:cubicBezTo>
                    <a:cubicBezTo>
                      <a:pt x="10" y="15"/>
                      <a:pt x="8" y="17"/>
                      <a:pt x="5" y="15"/>
                    </a:cubicBezTo>
                    <a:cubicBezTo>
                      <a:pt x="6" y="14"/>
                      <a:pt x="7" y="12"/>
                      <a:pt x="8" y="10"/>
                    </a:cubicBezTo>
                    <a:cubicBezTo>
                      <a:pt x="2" y="10"/>
                      <a:pt x="0" y="9"/>
                      <a:pt x="0" y="3"/>
                    </a:cubicBezTo>
                    <a:cubicBezTo>
                      <a:pt x="6" y="3"/>
                      <a:pt x="9" y="0"/>
                      <a:pt x="14" y="0"/>
                    </a:cubicBezTo>
                    <a:cubicBezTo>
                      <a:pt x="24" y="0"/>
                      <a:pt x="26" y="8"/>
                      <a:pt x="31" y="8"/>
                    </a:cubicBezTo>
                    <a:cubicBezTo>
                      <a:pt x="35" y="8"/>
                      <a:pt x="36" y="4"/>
                      <a:pt x="40" y="4"/>
                    </a:cubicBezTo>
                    <a:cubicBezTo>
                      <a:pt x="49" y="4"/>
                      <a:pt x="48" y="15"/>
                      <a:pt x="53" y="15"/>
                    </a:cubicBezTo>
                    <a:cubicBezTo>
                      <a:pt x="56" y="15"/>
                      <a:pt x="57" y="11"/>
                      <a:pt x="60" y="11"/>
                    </a:cubicBezTo>
                    <a:cubicBezTo>
                      <a:pt x="66" y="11"/>
                      <a:pt x="71" y="19"/>
                      <a:pt x="73" y="21"/>
                    </a:cubicBezTo>
                    <a:cubicBezTo>
                      <a:pt x="72" y="22"/>
                      <a:pt x="70" y="24"/>
                      <a:pt x="70" y="26"/>
                    </a:cubicBezTo>
                    <a:cubicBezTo>
                      <a:pt x="73" y="29"/>
                      <a:pt x="82" y="33"/>
                      <a:pt x="82" y="37"/>
                    </a:cubicBezTo>
                    <a:cubicBezTo>
                      <a:pt x="82" y="42"/>
                      <a:pt x="77" y="43"/>
                      <a:pt x="74" y="43"/>
                    </a:cubicBezTo>
                    <a:cubicBezTo>
                      <a:pt x="63" y="43"/>
                      <a:pt x="64" y="32"/>
                      <a:pt x="54" y="3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46" name="Freeform 70">
                <a:extLst>
                  <a:ext uri="{FF2B5EF4-FFF2-40B4-BE49-F238E27FC236}">
                    <a16:creationId xmlns:a16="http://schemas.microsoft.com/office/drawing/2014/main" id="{1933D86F-2BDC-652C-E992-986E199BB8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7475" y="1189038"/>
                <a:ext cx="30163" cy="9525"/>
              </a:xfrm>
              <a:custGeom>
                <a:avLst/>
                <a:gdLst/>
                <a:ahLst/>
                <a:cxnLst>
                  <a:cxn ang="0">
                    <a:pos x="8" y="7"/>
                  </a:cxn>
                  <a:cxn ang="0">
                    <a:pos x="12" y="0"/>
                  </a:cxn>
                  <a:cxn ang="0">
                    <a:pos x="23" y="4"/>
                  </a:cxn>
                  <a:cxn ang="0">
                    <a:pos x="8" y="7"/>
                  </a:cxn>
                </a:cxnLst>
                <a:rect l="0" t="0" r="r" b="b"/>
                <a:pathLst>
                  <a:path w="23" h="7">
                    <a:moveTo>
                      <a:pt x="8" y="7"/>
                    </a:moveTo>
                    <a:cubicBezTo>
                      <a:pt x="0" y="7"/>
                      <a:pt x="11" y="0"/>
                      <a:pt x="12" y="0"/>
                    </a:cubicBezTo>
                    <a:cubicBezTo>
                      <a:pt x="17" y="0"/>
                      <a:pt x="19" y="3"/>
                      <a:pt x="23" y="4"/>
                    </a:cubicBezTo>
                    <a:cubicBezTo>
                      <a:pt x="20" y="7"/>
                      <a:pt x="15" y="7"/>
                      <a:pt x="8" y="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47" name="Freeform 71">
                <a:extLst>
                  <a:ext uri="{FF2B5EF4-FFF2-40B4-BE49-F238E27FC236}">
                    <a16:creationId xmlns:a16="http://schemas.microsoft.com/office/drawing/2014/main" id="{0DB1B41F-581D-749C-D3F3-586CCCA96E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5425" y="1223963"/>
                <a:ext cx="287338" cy="90488"/>
              </a:xfrm>
              <a:custGeom>
                <a:avLst/>
                <a:gdLst/>
                <a:ahLst/>
                <a:cxnLst>
                  <a:cxn ang="0">
                    <a:pos x="215" y="45"/>
                  </a:cxn>
                  <a:cxn ang="0">
                    <a:pos x="210" y="51"/>
                  </a:cxn>
                  <a:cxn ang="0">
                    <a:pos x="216" y="52"/>
                  </a:cxn>
                  <a:cxn ang="0">
                    <a:pos x="179" y="67"/>
                  </a:cxn>
                  <a:cxn ang="0">
                    <a:pos x="170" y="60"/>
                  </a:cxn>
                  <a:cxn ang="0">
                    <a:pos x="159" y="66"/>
                  </a:cxn>
                  <a:cxn ang="0">
                    <a:pos x="124" y="66"/>
                  </a:cxn>
                  <a:cxn ang="0">
                    <a:pos x="102" y="60"/>
                  </a:cxn>
                  <a:cxn ang="0">
                    <a:pos x="97" y="60"/>
                  </a:cxn>
                  <a:cxn ang="0">
                    <a:pos x="84" y="67"/>
                  </a:cxn>
                  <a:cxn ang="0">
                    <a:pos x="53" y="47"/>
                  </a:cxn>
                  <a:cxn ang="0">
                    <a:pos x="58" y="40"/>
                  </a:cxn>
                  <a:cxn ang="0">
                    <a:pos x="40" y="18"/>
                  </a:cxn>
                  <a:cxn ang="0">
                    <a:pos x="32" y="22"/>
                  </a:cxn>
                  <a:cxn ang="0">
                    <a:pos x="0" y="7"/>
                  </a:cxn>
                  <a:cxn ang="0">
                    <a:pos x="13" y="0"/>
                  </a:cxn>
                  <a:cxn ang="0">
                    <a:pos x="51" y="15"/>
                  </a:cxn>
                  <a:cxn ang="0">
                    <a:pos x="60" y="12"/>
                  </a:cxn>
                  <a:cxn ang="0">
                    <a:pos x="68" y="12"/>
                  </a:cxn>
                  <a:cxn ang="0">
                    <a:pos x="89" y="25"/>
                  </a:cxn>
                  <a:cxn ang="0">
                    <a:pos x="71" y="25"/>
                  </a:cxn>
                  <a:cxn ang="0">
                    <a:pos x="91" y="35"/>
                  </a:cxn>
                  <a:cxn ang="0">
                    <a:pos x="88" y="38"/>
                  </a:cxn>
                  <a:cxn ang="0">
                    <a:pos x="95" y="40"/>
                  </a:cxn>
                  <a:cxn ang="0">
                    <a:pos x="125" y="45"/>
                  </a:cxn>
                  <a:cxn ang="0">
                    <a:pos x="181" y="34"/>
                  </a:cxn>
                  <a:cxn ang="0">
                    <a:pos x="216" y="46"/>
                  </a:cxn>
                  <a:cxn ang="0">
                    <a:pos x="211" y="47"/>
                  </a:cxn>
                  <a:cxn ang="0">
                    <a:pos x="215" y="45"/>
                  </a:cxn>
                </a:cxnLst>
                <a:rect l="0" t="0" r="r" b="b"/>
                <a:pathLst>
                  <a:path w="216" h="68">
                    <a:moveTo>
                      <a:pt x="215" y="45"/>
                    </a:moveTo>
                    <a:cubicBezTo>
                      <a:pt x="213" y="46"/>
                      <a:pt x="211" y="48"/>
                      <a:pt x="210" y="51"/>
                    </a:cubicBezTo>
                    <a:cubicBezTo>
                      <a:pt x="213" y="52"/>
                      <a:pt x="216" y="52"/>
                      <a:pt x="216" y="52"/>
                    </a:cubicBezTo>
                    <a:cubicBezTo>
                      <a:pt x="215" y="67"/>
                      <a:pt x="195" y="67"/>
                      <a:pt x="179" y="67"/>
                    </a:cubicBezTo>
                    <a:cubicBezTo>
                      <a:pt x="174" y="67"/>
                      <a:pt x="171" y="64"/>
                      <a:pt x="170" y="60"/>
                    </a:cubicBezTo>
                    <a:cubicBezTo>
                      <a:pt x="164" y="61"/>
                      <a:pt x="163" y="64"/>
                      <a:pt x="159" y="66"/>
                    </a:cubicBezTo>
                    <a:cubicBezTo>
                      <a:pt x="124" y="66"/>
                      <a:pt x="124" y="66"/>
                      <a:pt x="124" y="66"/>
                    </a:cubicBezTo>
                    <a:cubicBezTo>
                      <a:pt x="115" y="68"/>
                      <a:pt x="101" y="67"/>
                      <a:pt x="102" y="60"/>
                    </a:cubicBezTo>
                    <a:cubicBezTo>
                      <a:pt x="97" y="60"/>
                      <a:pt x="97" y="60"/>
                      <a:pt x="97" y="60"/>
                    </a:cubicBezTo>
                    <a:cubicBezTo>
                      <a:pt x="95" y="62"/>
                      <a:pt x="88" y="67"/>
                      <a:pt x="84" y="67"/>
                    </a:cubicBezTo>
                    <a:cubicBezTo>
                      <a:pt x="75" y="67"/>
                      <a:pt x="53" y="56"/>
                      <a:pt x="53" y="47"/>
                    </a:cubicBezTo>
                    <a:cubicBezTo>
                      <a:pt x="53" y="44"/>
                      <a:pt x="56" y="41"/>
                      <a:pt x="58" y="40"/>
                    </a:cubicBezTo>
                    <a:cubicBezTo>
                      <a:pt x="50" y="32"/>
                      <a:pt x="48" y="25"/>
                      <a:pt x="40" y="18"/>
                    </a:cubicBezTo>
                    <a:cubicBezTo>
                      <a:pt x="38" y="20"/>
                      <a:pt x="35" y="22"/>
                      <a:pt x="32" y="22"/>
                    </a:cubicBezTo>
                    <a:cubicBezTo>
                      <a:pt x="27" y="22"/>
                      <a:pt x="0" y="11"/>
                      <a:pt x="0" y="7"/>
                    </a:cubicBezTo>
                    <a:cubicBezTo>
                      <a:pt x="0" y="0"/>
                      <a:pt x="8" y="0"/>
                      <a:pt x="13" y="0"/>
                    </a:cubicBezTo>
                    <a:cubicBezTo>
                      <a:pt x="33" y="0"/>
                      <a:pt x="36" y="15"/>
                      <a:pt x="51" y="15"/>
                    </a:cubicBezTo>
                    <a:cubicBezTo>
                      <a:pt x="56" y="15"/>
                      <a:pt x="58" y="15"/>
                      <a:pt x="60" y="12"/>
                    </a:cubicBezTo>
                    <a:cubicBezTo>
                      <a:pt x="63" y="12"/>
                      <a:pt x="68" y="12"/>
                      <a:pt x="68" y="12"/>
                    </a:cubicBezTo>
                    <a:cubicBezTo>
                      <a:pt x="65" y="22"/>
                      <a:pt x="85" y="19"/>
                      <a:pt x="89" y="25"/>
                    </a:cubicBezTo>
                    <a:cubicBezTo>
                      <a:pt x="71" y="25"/>
                      <a:pt x="71" y="25"/>
                      <a:pt x="71" y="25"/>
                    </a:cubicBezTo>
                    <a:cubicBezTo>
                      <a:pt x="74" y="37"/>
                      <a:pt x="85" y="30"/>
                      <a:pt x="91" y="35"/>
                    </a:cubicBezTo>
                    <a:cubicBezTo>
                      <a:pt x="90" y="36"/>
                      <a:pt x="88" y="36"/>
                      <a:pt x="88" y="38"/>
                    </a:cubicBezTo>
                    <a:cubicBezTo>
                      <a:pt x="88" y="44"/>
                      <a:pt x="93" y="41"/>
                      <a:pt x="95" y="40"/>
                    </a:cubicBezTo>
                    <a:cubicBezTo>
                      <a:pt x="106" y="42"/>
                      <a:pt x="114" y="45"/>
                      <a:pt x="125" y="45"/>
                    </a:cubicBezTo>
                    <a:cubicBezTo>
                      <a:pt x="150" y="45"/>
                      <a:pt x="158" y="34"/>
                      <a:pt x="181" y="34"/>
                    </a:cubicBezTo>
                    <a:cubicBezTo>
                      <a:pt x="198" y="34"/>
                      <a:pt x="210" y="35"/>
                      <a:pt x="216" y="46"/>
                    </a:cubicBezTo>
                    <a:cubicBezTo>
                      <a:pt x="215" y="47"/>
                      <a:pt x="213" y="47"/>
                      <a:pt x="211" y="47"/>
                    </a:cubicBezTo>
                    <a:lnTo>
                      <a:pt x="215" y="45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48" name="Freeform 72">
                <a:extLst>
                  <a:ext uri="{FF2B5EF4-FFF2-40B4-BE49-F238E27FC236}">
                    <a16:creationId xmlns:a16="http://schemas.microsoft.com/office/drawing/2014/main" id="{AE48F0E4-5FF9-E8A6-A356-3D93298818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600" y="1271588"/>
                <a:ext cx="49213" cy="38100"/>
              </a:xfrm>
              <a:custGeom>
                <a:avLst/>
                <a:gdLst/>
                <a:ahLst/>
                <a:cxnLst>
                  <a:cxn ang="0">
                    <a:pos x="6" y="10"/>
                  </a:cxn>
                  <a:cxn ang="0">
                    <a:pos x="19" y="0"/>
                  </a:cxn>
                  <a:cxn ang="0">
                    <a:pos x="37" y="15"/>
                  </a:cxn>
                  <a:cxn ang="0">
                    <a:pos x="29" y="29"/>
                  </a:cxn>
                  <a:cxn ang="0">
                    <a:pos x="0" y="17"/>
                  </a:cxn>
                  <a:cxn ang="0">
                    <a:pos x="6" y="10"/>
                  </a:cxn>
                </a:cxnLst>
                <a:rect l="0" t="0" r="r" b="b"/>
                <a:pathLst>
                  <a:path w="37" h="29">
                    <a:moveTo>
                      <a:pt x="6" y="10"/>
                    </a:moveTo>
                    <a:cubicBezTo>
                      <a:pt x="10" y="10"/>
                      <a:pt x="9" y="0"/>
                      <a:pt x="19" y="0"/>
                    </a:cubicBezTo>
                    <a:cubicBezTo>
                      <a:pt x="27" y="0"/>
                      <a:pt x="37" y="9"/>
                      <a:pt x="37" y="15"/>
                    </a:cubicBezTo>
                    <a:cubicBezTo>
                      <a:pt x="37" y="22"/>
                      <a:pt x="35" y="29"/>
                      <a:pt x="29" y="29"/>
                    </a:cubicBezTo>
                    <a:cubicBezTo>
                      <a:pt x="25" y="29"/>
                      <a:pt x="0" y="17"/>
                      <a:pt x="0" y="17"/>
                    </a:cubicBezTo>
                    <a:cubicBezTo>
                      <a:pt x="0" y="13"/>
                      <a:pt x="5" y="10"/>
                      <a:pt x="6" y="1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49" name="Freeform 73">
                <a:extLst>
                  <a:ext uri="{FF2B5EF4-FFF2-40B4-BE49-F238E27FC236}">
                    <a16:creationId xmlns:a16="http://schemas.microsoft.com/office/drawing/2014/main" id="{8A742A72-2F07-D0C9-E635-5A013F1D43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4950" y="1198563"/>
                <a:ext cx="46038" cy="12700"/>
              </a:xfrm>
              <a:custGeom>
                <a:avLst/>
                <a:gdLst/>
                <a:ahLst/>
                <a:cxnLst>
                  <a:cxn ang="0">
                    <a:pos x="29" y="0"/>
                  </a:cxn>
                  <a:cxn ang="0">
                    <a:pos x="35" y="0"/>
                  </a:cxn>
                  <a:cxn ang="0">
                    <a:pos x="35" y="6"/>
                  </a:cxn>
                  <a:cxn ang="0">
                    <a:pos x="28" y="10"/>
                  </a:cxn>
                  <a:cxn ang="0">
                    <a:pos x="0" y="5"/>
                  </a:cxn>
                  <a:cxn ang="0">
                    <a:pos x="29" y="0"/>
                  </a:cxn>
                </a:cxnLst>
                <a:rect l="0" t="0" r="r" b="b"/>
                <a:pathLst>
                  <a:path w="35" h="10">
                    <a:moveTo>
                      <a:pt x="29" y="0"/>
                    </a:moveTo>
                    <a:cubicBezTo>
                      <a:pt x="34" y="0"/>
                      <a:pt x="30" y="1"/>
                      <a:pt x="35" y="0"/>
                    </a:cubicBezTo>
                    <a:cubicBezTo>
                      <a:pt x="35" y="3"/>
                      <a:pt x="35" y="5"/>
                      <a:pt x="35" y="6"/>
                    </a:cubicBezTo>
                    <a:cubicBezTo>
                      <a:pt x="35" y="8"/>
                      <a:pt x="32" y="10"/>
                      <a:pt x="28" y="10"/>
                    </a:cubicBezTo>
                    <a:cubicBezTo>
                      <a:pt x="26" y="10"/>
                      <a:pt x="0" y="5"/>
                      <a:pt x="0" y="5"/>
                    </a:cubicBezTo>
                    <a:cubicBezTo>
                      <a:pt x="5" y="1"/>
                      <a:pt x="21" y="0"/>
                      <a:pt x="29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50" name="Freeform 74">
                <a:extLst>
                  <a:ext uri="{FF2B5EF4-FFF2-40B4-BE49-F238E27FC236}">
                    <a16:creationId xmlns:a16="http://schemas.microsoft.com/office/drawing/2014/main" id="{8092D1DC-03F6-F098-2903-3B5FB5FE23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0025" y="1154113"/>
                <a:ext cx="53975" cy="44450"/>
              </a:xfrm>
              <a:custGeom>
                <a:avLst/>
                <a:gdLst/>
                <a:ahLst/>
                <a:cxnLst>
                  <a:cxn ang="0">
                    <a:pos x="10" y="28"/>
                  </a:cxn>
                  <a:cxn ang="0">
                    <a:pos x="14" y="23"/>
                  </a:cxn>
                  <a:cxn ang="0">
                    <a:pos x="0" y="7"/>
                  </a:cxn>
                  <a:cxn ang="0">
                    <a:pos x="10" y="0"/>
                  </a:cxn>
                  <a:cxn ang="0">
                    <a:pos x="25" y="7"/>
                  </a:cxn>
                  <a:cxn ang="0">
                    <a:pos x="41" y="17"/>
                  </a:cxn>
                  <a:cxn ang="0">
                    <a:pos x="41" y="28"/>
                  </a:cxn>
                  <a:cxn ang="0">
                    <a:pos x="10" y="28"/>
                  </a:cxn>
                </a:cxnLst>
                <a:rect l="0" t="0" r="r" b="b"/>
                <a:pathLst>
                  <a:path w="41" h="33">
                    <a:moveTo>
                      <a:pt x="10" y="28"/>
                    </a:moveTo>
                    <a:cubicBezTo>
                      <a:pt x="10" y="26"/>
                      <a:pt x="13" y="24"/>
                      <a:pt x="14" y="23"/>
                    </a:cubicBezTo>
                    <a:cubicBezTo>
                      <a:pt x="9" y="18"/>
                      <a:pt x="0" y="15"/>
                      <a:pt x="0" y="7"/>
                    </a:cubicBezTo>
                    <a:cubicBezTo>
                      <a:pt x="0" y="2"/>
                      <a:pt x="6" y="0"/>
                      <a:pt x="10" y="0"/>
                    </a:cubicBezTo>
                    <a:cubicBezTo>
                      <a:pt x="11" y="4"/>
                      <a:pt x="21" y="7"/>
                      <a:pt x="25" y="7"/>
                    </a:cubicBezTo>
                    <a:cubicBezTo>
                      <a:pt x="25" y="17"/>
                      <a:pt x="41" y="7"/>
                      <a:pt x="41" y="17"/>
                    </a:cubicBezTo>
                    <a:cubicBezTo>
                      <a:pt x="41" y="20"/>
                      <a:pt x="39" y="23"/>
                      <a:pt x="41" y="28"/>
                    </a:cubicBezTo>
                    <a:cubicBezTo>
                      <a:pt x="25" y="31"/>
                      <a:pt x="10" y="33"/>
                      <a:pt x="10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51" name="Freeform 75">
                <a:extLst>
                  <a:ext uri="{FF2B5EF4-FFF2-40B4-BE49-F238E27FC236}">
                    <a16:creationId xmlns:a16="http://schemas.microsoft.com/office/drawing/2014/main" id="{3D7D8B3A-DA8C-4721-10A2-4E5B738F58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9388" y="1114425"/>
                <a:ext cx="20638" cy="12700"/>
              </a:xfrm>
              <a:custGeom>
                <a:avLst/>
                <a:gdLst/>
                <a:ahLst/>
                <a:cxnLst>
                  <a:cxn ang="0">
                    <a:pos x="16" y="0"/>
                  </a:cxn>
                  <a:cxn ang="0">
                    <a:pos x="16" y="9"/>
                  </a:cxn>
                  <a:cxn ang="0">
                    <a:pos x="8" y="9"/>
                  </a:cxn>
                  <a:cxn ang="0">
                    <a:pos x="0" y="0"/>
                  </a:cxn>
                  <a:cxn ang="0">
                    <a:pos x="16" y="0"/>
                  </a:cxn>
                </a:cxnLst>
                <a:rect l="0" t="0" r="r" b="b"/>
                <a:pathLst>
                  <a:path w="16" h="9">
                    <a:moveTo>
                      <a:pt x="16" y="0"/>
                    </a:moveTo>
                    <a:cubicBezTo>
                      <a:pt x="16" y="9"/>
                      <a:pt x="16" y="9"/>
                      <a:pt x="16" y="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6" y="7"/>
                      <a:pt x="0" y="6"/>
                      <a:pt x="0" y="0"/>
                    </a:cubicBezTo>
                    <a:cubicBezTo>
                      <a:pt x="6" y="0"/>
                      <a:pt x="13" y="0"/>
                      <a:pt x="16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52" name="Freeform 76">
                <a:extLst>
                  <a:ext uri="{FF2B5EF4-FFF2-40B4-BE49-F238E27FC236}">
                    <a16:creationId xmlns:a16="http://schemas.microsoft.com/office/drawing/2014/main" id="{DA7E28F8-1334-71CD-CF32-EF148D8488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6538" y="1062038"/>
                <a:ext cx="184150" cy="123825"/>
              </a:xfrm>
              <a:custGeom>
                <a:avLst/>
                <a:gdLst/>
                <a:ahLst/>
                <a:cxnLst>
                  <a:cxn ang="0">
                    <a:pos x="92" y="37"/>
                  </a:cxn>
                  <a:cxn ang="0">
                    <a:pos x="97" y="37"/>
                  </a:cxn>
                  <a:cxn ang="0">
                    <a:pos x="97" y="32"/>
                  </a:cxn>
                  <a:cxn ang="0">
                    <a:pos x="95" y="28"/>
                  </a:cxn>
                  <a:cxn ang="0">
                    <a:pos x="100" y="28"/>
                  </a:cxn>
                  <a:cxn ang="0">
                    <a:pos x="105" y="36"/>
                  </a:cxn>
                  <a:cxn ang="0">
                    <a:pos x="111" y="43"/>
                  </a:cxn>
                  <a:cxn ang="0">
                    <a:pos x="108" y="49"/>
                  </a:cxn>
                  <a:cxn ang="0">
                    <a:pos x="115" y="49"/>
                  </a:cxn>
                  <a:cxn ang="0">
                    <a:pos x="137" y="55"/>
                  </a:cxn>
                  <a:cxn ang="0">
                    <a:pos x="136" y="61"/>
                  </a:cxn>
                  <a:cxn ang="0">
                    <a:pos x="126" y="64"/>
                  </a:cxn>
                  <a:cxn ang="0">
                    <a:pos x="105" y="78"/>
                  </a:cxn>
                  <a:cxn ang="0">
                    <a:pos x="98" y="69"/>
                  </a:cxn>
                  <a:cxn ang="0">
                    <a:pos x="93" y="76"/>
                  </a:cxn>
                  <a:cxn ang="0">
                    <a:pos x="99" y="84"/>
                  </a:cxn>
                  <a:cxn ang="0">
                    <a:pos x="91" y="84"/>
                  </a:cxn>
                  <a:cxn ang="0">
                    <a:pos x="91" y="90"/>
                  </a:cxn>
                  <a:cxn ang="0">
                    <a:pos x="75" y="82"/>
                  </a:cxn>
                  <a:cxn ang="0">
                    <a:pos x="64" y="92"/>
                  </a:cxn>
                  <a:cxn ang="0">
                    <a:pos x="47" y="84"/>
                  </a:cxn>
                  <a:cxn ang="0">
                    <a:pos x="53" y="81"/>
                  </a:cxn>
                  <a:cxn ang="0">
                    <a:pos x="33" y="70"/>
                  </a:cxn>
                  <a:cxn ang="0">
                    <a:pos x="66" y="61"/>
                  </a:cxn>
                  <a:cxn ang="0">
                    <a:pos x="48" y="58"/>
                  </a:cxn>
                  <a:cxn ang="0">
                    <a:pos x="35" y="61"/>
                  </a:cxn>
                  <a:cxn ang="0">
                    <a:pos x="29" y="56"/>
                  </a:cxn>
                  <a:cxn ang="0">
                    <a:pos x="19" y="59"/>
                  </a:cxn>
                  <a:cxn ang="0">
                    <a:pos x="16" y="55"/>
                  </a:cxn>
                  <a:cxn ang="0">
                    <a:pos x="26" y="49"/>
                  </a:cxn>
                  <a:cxn ang="0">
                    <a:pos x="0" y="35"/>
                  </a:cxn>
                  <a:cxn ang="0">
                    <a:pos x="7" y="35"/>
                  </a:cxn>
                  <a:cxn ang="0">
                    <a:pos x="20" y="39"/>
                  </a:cxn>
                  <a:cxn ang="0">
                    <a:pos x="24" y="36"/>
                  </a:cxn>
                  <a:cxn ang="0">
                    <a:pos x="5" y="26"/>
                  </a:cxn>
                  <a:cxn ang="0">
                    <a:pos x="15" y="22"/>
                  </a:cxn>
                  <a:cxn ang="0">
                    <a:pos x="27" y="25"/>
                  </a:cxn>
                  <a:cxn ang="0">
                    <a:pos x="32" y="20"/>
                  </a:cxn>
                  <a:cxn ang="0">
                    <a:pos x="19" y="20"/>
                  </a:cxn>
                  <a:cxn ang="0">
                    <a:pos x="14" y="13"/>
                  </a:cxn>
                  <a:cxn ang="0">
                    <a:pos x="30" y="9"/>
                  </a:cxn>
                  <a:cxn ang="0">
                    <a:pos x="38" y="9"/>
                  </a:cxn>
                  <a:cxn ang="0">
                    <a:pos x="25" y="0"/>
                  </a:cxn>
                  <a:cxn ang="0">
                    <a:pos x="53" y="5"/>
                  </a:cxn>
                  <a:cxn ang="0">
                    <a:pos x="67" y="24"/>
                  </a:cxn>
                  <a:cxn ang="0">
                    <a:pos x="84" y="25"/>
                  </a:cxn>
                  <a:cxn ang="0">
                    <a:pos x="92" y="37"/>
                  </a:cxn>
                </a:cxnLst>
                <a:rect l="0" t="0" r="r" b="b"/>
                <a:pathLst>
                  <a:path w="138" h="92">
                    <a:moveTo>
                      <a:pt x="92" y="37"/>
                    </a:moveTo>
                    <a:cubicBezTo>
                      <a:pt x="97" y="37"/>
                      <a:pt x="97" y="37"/>
                      <a:pt x="97" y="37"/>
                    </a:cubicBezTo>
                    <a:cubicBezTo>
                      <a:pt x="97" y="32"/>
                      <a:pt x="97" y="32"/>
                      <a:pt x="97" y="32"/>
                    </a:cubicBezTo>
                    <a:cubicBezTo>
                      <a:pt x="95" y="28"/>
                      <a:pt x="95" y="28"/>
                      <a:pt x="95" y="28"/>
                    </a:cubicBezTo>
                    <a:cubicBezTo>
                      <a:pt x="97" y="28"/>
                      <a:pt x="98" y="28"/>
                      <a:pt x="100" y="28"/>
                    </a:cubicBezTo>
                    <a:cubicBezTo>
                      <a:pt x="106" y="28"/>
                      <a:pt x="105" y="31"/>
                      <a:pt x="105" y="36"/>
                    </a:cubicBezTo>
                    <a:cubicBezTo>
                      <a:pt x="105" y="39"/>
                      <a:pt x="111" y="39"/>
                      <a:pt x="111" y="43"/>
                    </a:cubicBezTo>
                    <a:cubicBezTo>
                      <a:pt x="111" y="46"/>
                      <a:pt x="108" y="46"/>
                      <a:pt x="108" y="49"/>
                    </a:cubicBezTo>
                    <a:cubicBezTo>
                      <a:pt x="108" y="53"/>
                      <a:pt x="114" y="49"/>
                      <a:pt x="115" y="49"/>
                    </a:cubicBezTo>
                    <a:cubicBezTo>
                      <a:pt x="120" y="49"/>
                      <a:pt x="131" y="54"/>
                      <a:pt x="137" y="55"/>
                    </a:cubicBezTo>
                    <a:cubicBezTo>
                      <a:pt x="137" y="58"/>
                      <a:pt x="138" y="60"/>
                      <a:pt x="136" y="61"/>
                    </a:cubicBezTo>
                    <a:cubicBezTo>
                      <a:pt x="135" y="64"/>
                      <a:pt x="130" y="63"/>
                      <a:pt x="126" y="64"/>
                    </a:cubicBezTo>
                    <a:cubicBezTo>
                      <a:pt x="117" y="65"/>
                      <a:pt x="111" y="78"/>
                      <a:pt x="105" y="78"/>
                    </a:cubicBezTo>
                    <a:cubicBezTo>
                      <a:pt x="100" y="78"/>
                      <a:pt x="100" y="74"/>
                      <a:pt x="98" y="69"/>
                    </a:cubicBezTo>
                    <a:cubicBezTo>
                      <a:pt x="96" y="71"/>
                      <a:pt x="95" y="73"/>
                      <a:pt x="93" y="76"/>
                    </a:cubicBezTo>
                    <a:cubicBezTo>
                      <a:pt x="96" y="80"/>
                      <a:pt x="97" y="81"/>
                      <a:pt x="99" y="84"/>
                    </a:cubicBezTo>
                    <a:cubicBezTo>
                      <a:pt x="91" y="84"/>
                      <a:pt x="91" y="84"/>
                      <a:pt x="91" y="84"/>
                    </a:cubicBezTo>
                    <a:cubicBezTo>
                      <a:pt x="91" y="90"/>
                      <a:pt x="91" y="90"/>
                      <a:pt x="91" y="90"/>
                    </a:cubicBezTo>
                    <a:cubicBezTo>
                      <a:pt x="87" y="91"/>
                      <a:pt x="79" y="85"/>
                      <a:pt x="75" y="82"/>
                    </a:cubicBezTo>
                    <a:cubicBezTo>
                      <a:pt x="75" y="90"/>
                      <a:pt x="71" y="92"/>
                      <a:pt x="64" y="92"/>
                    </a:cubicBezTo>
                    <a:cubicBezTo>
                      <a:pt x="57" y="92"/>
                      <a:pt x="48" y="91"/>
                      <a:pt x="47" y="84"/>
                    </a:cubicBezTo>
                    <a:cubicBezTo>
                      <a:pt x="50" y="84"/>
                      <a:pt x="51" y="83"/>
                      <a:pt x="53" y="81"/>
                    </a:cubicBezTo>
                    <a:cubicBezTo>
                      <a:pt x="45" y="81"/>
                      <a:pt x="33" y="77"/>
                      <a:pt x="33" y="70"/>
                    </a:cubicBezTo>
                    <a:cubicBezTo>
                      <a:pt x="33" y="62"/>
                      <a:pt x="60" y="63"/>
                      <a:pt x="66" y="61"/>
                    </a:cubicBezTo>
                    <a:cubicBezTo>
                      <a:pt x="60" y="60"/>
                      <a:pt x="55" y="58"/>
                      <a:pt x="48" y="58"/>
                    </a:cubicBezTo>
                    <a:cubicBezTo>
                      <a:pt x="41" y="58"/>
                      <a:pt x="40" y="61"/>
                      <a:pt x="35" y="61"/>
                    </a:cubicBezTo>
                    <a:cubicBezTo>
                      <a:pt x="30" y="61"/>
                      <a:pt x="30" y="58"/>
                      <a:pt x="29" y="56"/>
                    </a:cubicBezTo>
                    <a:cubicBezTo>
                      <a:pt x="24" y="58"/>
                      <a:pt x="23" y="59"/>
                      <a:pt x="19" y="59"/>
                    </a:cubicBezTo>
                    <a:cubicBezTo>
                      <a:pt x="16" y="59"/>
                      <a:pt x="16" y="58"/>
                      <a:pt x="16" y="55"/>
                    </a:cubicBezTo>
                    <a:cubicBezTo>
                      <a:pt x="20" y="53"/>
                      <a:pt x="23" y="53"/>
                      <a:pt x="26" y="49"/>
                    </a:cubicBezTo>
                    <a:cubicBezTo>
                      <a:pt x="11" y="49"/>
                      <a:pt x="2" y="48"/>
                      <a:pt x="0" y="35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9" y="37"/>
                      <a:pt x="16" y="39"/>
                      <a:pt x="20" y="39"/>
                    </a:cubicBezTo>
                    <a:cubicBezTo>
                      <a:pt x="22" y="39"/>
                      <a:pt x="24" y="36"/>
                      <a:pt x="24" y="36"/>
                    </a:cubicBezTo>
                    <a:cubicBezTo>
                      <a:pt x="19" y="34"/>
                      <a:pt x="5" y="31"/>
                      <a:pt x="5" y="26"/>
                    </a:cubicBezTo>
                    <a:cubicBezTo>
                      <a:pt x="5" y="21"/>
                      <a:pt x="11" y="22"/>
                      <a:pt x="15" y="22"/>
                    </a:cubicBezTo>
                    <a:cubicBezTo>
                      <a:pt x="21" y="22"/>
                      <a:pt x="23" y="25"/>
                      <a:pt x="27" y="25"/>
                    </a:cubicBezTo>
                    <a:cubicBezTo>
                      <a:pt x="30" y="25"/>
                      <a:pt x="30" y="22"/>
                      <a:pt x="32" y="20"/>
                    </a:cubicBezTo>
                    <a:cubicBezTo>
                      <a:pt x="27" y="18"/>
                      <a:pt x="22" y="20"/>
                      <a:pt x="19" y="20"/>
                    </a:cubicBezTo>
                    <a:cubicBezTo>
                      <a:pt x="18" y="20"/>
                      <a:pt x="14" y="14"/>
                      <a:pt x="14" y="13"/>
                    </a:cubicBezTo>
                    <a:cubicBezTo>
                      <a:pt x="19" y="10"/>
                      <a:pt x="23" y="8"/>
                      <a:pt x="30" y="9"/>
                    </a:cubicBezTo>
                    <a:cubicBezTo>
                      <a:pt x="38" y="9"/>
                      <a:pt x="38" y="9"/>
                      <a:pt x="38" y="9"/>
                    </a:cubicBezTo>
                    <a:cubicBezTo>
                      <a:pt x="33" y="7"/>
                      <a:pt x="25" y="6"/>
                      <a:pt x="25" y="0"/>
                    </a:cubicBezTo>
                    <a:cubicBezTo>
                      <a:pt x="36" y="1"/>
                      <a:pt x="45" y="2"/>
                      <a:pt x="53" y="5"/>
                    </a:cubicBezTo>
                    <a:cubicBezTo>
                      <a:pt x="61" y="9"/>
                      <a:pt x="60" y="21"/>
                      <a:pt x="67" y="24"/>
                    </a:cubicBezTo>
                    <a:cubicBezTo>
                      <a:pt x="73" y="27"/>
                      <a:pt x="78" y="22"/>
                      <a:pt x="84" y="25"/>
                    </a:cubicBezTo>
                    <a:cubicBezTo>
                      <a:pt x="91" y="28"/>
                      <a:pt x="88" y="33"/>
                      <a:pt x="92" y="3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53" name="Freeform 77">
                <a:extLst>
                  <a:ext uri="{FF2B5EF4-FFF2-40B4-BE49-F238E27FC236}">
                    <a16:creationId xmlns:a16="http://schemas.microsoft.com/office/drawing/2014/main" id="{CAF11D7E-A4CD-6069-882F-1AF2F41E6D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5763" y="1574800"/>
                <a:ext cx="117475" cy="74613"/>
              </a:xfrm>
              <a:custGeom>
                <a:avLst/>
                <a:gdLst/>
                <a:ahLst/>
                <a:cxnLst>
                  <a:cxn ang="0">
                    <a:pos x="6" y="39"/>
                  </a:cxn>
                  <a:cxn ang="0">
                    <a:pos x="11" y="33"/>
                  </a:cxn>
                  <a:cxn ang="0">
                    <a:pos x="11" y="27"/>
                  </a:cxn>
                  <a:cxn ang="0">
                    <a:pos x="25" y="0"/>
                  </a:cxn>
                  <a:cxn ang="0">
                    <a:pos x="32" y="13"/>
                  </a:cxn>
                  <a:cxn ang="0">
                    <a:pos x="36" y="9"/>
                  </a:cxn>
                  <a:cxn ang="0">
                    <a:pos x="67" y="27"/>
                  </a:cxn>
                  <a:cxn ang="0">
                    <a:pos x="70" y="35"/>
                  </a:cxn>
                  <a:cxn ang="0">
                    <a:pos x="89" y="43"/>
                  </a:cxn>
                  <a:cxn ang="0">
                    <a:pos x="75" y="48"/>
                  </a:cxn>
                  <a:cxn ang="0">
                    <a:pos x="63" y="48"/>
                  </a:cxn>
                  <a:cxn ang="0">
                    <a:pos x="46" y="37"/>
                  </a:cxn>
                  <a:cxn ang="0">
                    <a:pos x="25" y="53"/>
                  </a:cxn>
                  <a:cxn ang="0">
                    <a:pos x="22" y="57"/>
                  </a:cxn>
                  <a:cxn ang="0">
                    <a:pos x="19" y="48"/>
                  </a:cxn>
                  <a:cxn ang="0">
                    <a:pos x="0" y="48"/>
                  </a:cxn>
                  <a:cxn ang="0">
                    <a:pos x="6" y="39"/>
                  </a:cxn>
                </a:cxnLst>
                <a:rect l="0" t="0" r="r" b="b"/>
                <a:pathLst>
                  <a:path w="89" h="57">
                    <a:moveTo>
                      <a:pt x="6" y="39"/>
                    </a:moveTo>
                    <a:cubicBezTo>
                      <a:pt x="9" y="37"/>
                      <a:pt x="11" y="36"/>
                      <a:pt x="11" y="33"/>
                    </a:cubicBezTo>
                    <a:cubicBezTo>
                      <a:pt x="11" y="29"/>
                      <a:pt x="11" y="31"/>
                      <a:pt x="11" y="27"/>
                    </a:cubicBezTo>
                    <a:cubicBezTo>
                      <a:pt x="11" y="19"/>
                      <a:pt x="13" y="2"/>
                      <a:pt x="25" y="0"/>
                    </a:cubicBezTo>
                    <a:cubicBezTo>
                      <a:pt x="28" y="7"/>
                      <a:pt x="30" y="8"/>
                      <a:pt x="32" y="13"/>
                    </a:cubicBezTo>
                    <a:cubicBezTo>
                      <a:pt x="33" y="11"/>
                      <a:pt x="35" y="10"/>
                      <a:pt x="36" y="9"/>
                    </a:cubicBezTo>
                    <a:cubicBezTo>
                      <a:pt x="45" y="21"/>
                      <a:pt x="59" y="16"/>
                      <a:pt x="67" y="27"/>
                    </a:cubicBezTo>
                    <a:cubicBezTo>
                      <a:pt x="69" y="30"/>
                      <a:pt x="68" y="33"/>
                      <a:pt x="70" y="35"/>
                    </a:cubicBezTo>
                    <a:cubicBezTo>
                      <a:pt x="77" y="40"/>
                      <a:pt x="85" y="38"/>
                      <a:pt x="89" y="43"/>
                    </a:cubicBezTo>
                    <a:cubicBezTo>
                      <a:pt x="84" y="46"/>
                      <a:pt x="80" y="48"/>
                      <a:pt x="75" y="48"/>
                    </a:cubicBezTo>
                    <a:cubicBezTo>
                      <a:pt x="69" y="48"/>
                      <a:pt x="67" y="48"/>
                      <a:pt x="63" y="48"/>
                    </a:cubicBezTo>
                    <a:cubicBezTo>
                      <a:pt x="63" y="48"/>
                      <a:pt x="49" y="38"/>
                      <a:pt x="46" y="37"/>
                    </a:cubicBezTo>
                    <a:cubicBezTo>
                      <a:pt x="46" y="47"/>
                      <a:pt x="31" y="56"/>
                      <a:pt x="25" y="53"/>
                    </a:cubicBezTo>
                    <a:cubicBezTo>
                      <a:pt x="24" y="55"/>
                      <a:pt x="24" y="57"/>
                      <a:pt x="22" y="57"/>
                    </a:cubicBezTo>
                    <a:cubicBezTo>
                      <a:pt x="16" y="57"/>
                      <a:pt x="18" y="52"/>
                      <a:pt x="19" y="48"/>
                    </a:cubicBezTo>
                    <a:cubicBezTo>
                      <a:pt x="12" y="46"/>
                      <a:pt x="3" y="48"/>
                      <a:pt x="0" y="48"/>
                    </a:cubicBezTo>
                    <a:cubicBezTo>
                      <a:pt x="0" y="40"/>
                      <a:pt x="5" y="41"/>
                      <a:pt x="6" y="3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54" name="Freeform 78">
                <a:extLst>
                  <a:ext uri="{FF2B5EF4-FFF2-40B4-BE49-F238E27FC236}">
                    <a16:creationId xmlns:a16="http://schemas.microsoft.com/office/drawing/2014/main" id="{41B550A5-D3C4-E531-1804-8D94C2ACBB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4038" y="1500188"/>
                <a:ext cx="36513" cy="36513"/>
              </a:xfrm>
              <a:custGeom>
                <a:avLst/>
                <a:gdLst/>
                <a:ahLst/>
                <a:cxnLst>
                  <a:cxn ang="0">
                    <a:pos x="27" y="18"/>
                  </a:cxn>
                  <a:cxn ang="0">
                    <a:pos x="11" y="28"/>
                  </a:cxn>
                  <a:cxn ang="0">
                    <a:pos x="0" y="18"/>
                  </a:cxn>
                  <a:cxn ang="0">
                    <a:pos x="27" y="18"/>
                  </a:cxn>
                </a:cxnLst>
                <a:rect l="0" t="0" r="r" b="b"/>
                <a:pathLst>
                  <a:path w="27" h="28">
                    <a:moveTo>
                      <a:pt x="27" y="18"/>
                    </a:moveTo>
                    <a:cubicBezTo>
                      <a:pt x="27" y="24"/>
                      <a:pt x="16" y="28"/>
                      <a:pt x="11" y="28"/>
                    </a:cubicBezTo>
                    <a:cubicBezTo>
                      <a:pt x="4" y="28"/>
                      <a:pt x="0" y="23"/>
                      <a:pt x="0" y="18"/>
                    </a:cubicBezTo>
                    <a:cubicBezTo>
                      <a:pt x="0" y="0"/>
                      <a:pt x="27" y="3"/>
                      <a:pt x="27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55" name="Freeform 79">
                <a:extLst>
                  <a:ext uri="{FF2B5EF4-FFF2-40B4-BE49-F238E27FC236}">
                    <a16:creationId xmlns:a16="http://schemas.microsoft.com/office/drawing/2014/main" id="{6A5B377A-29D2-3246-E7B7-D9B550305B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4500" y="1652588"/>
                <a:ext cx="30163" cy="23813"/>
              </a:xfrm>
              <a:custGeom>
                <a:avLst/>
                <a:gdLst/>
                <a:ahLst/>
                <a:cxnLst>
                  <a:cxn ang="0">
                    <a:pos x="10" y="1"/>
                  </a:cxn>
                  <a:cxn ang="0">
                    <a:pos x="22" y="3"/>
                  </a:cxn>
                  <a:cxn ang="0">
                    <a:pos x="0" y="18"/>
                  </a:cxn>
                  <a:cxn ang="0">
                    <a:pos x="0" y="12"/>
                  </a:cxn>
                  <a:cxn ang="0">
                    <a:pos x="10" y="1"/>
                  </a:cxn>
                </a:cxnLst>
                <a:rect l="0" t="0" r="r" b="b"/>
                <a:pathLst>
                  <a:path w="22" h="18">
                    <a:moveTo>
                      <a:pt x="10" y="1"/>
                    </a:moveTo>
                    <a:cubicBezTo>
                      <a:pt x="19" y="0"/>
                      <a:pt x="17" y="0"/>
                      <a:pt x="22" y="3"/>
                    </a:cubicBezTo>
                    <a:cubicBezTo>
                      <a:pt x="18" y="8"/>
                      <a:pt x="7" y="17"/>
                      <a:pt x="0" y="1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4" y="7"/>
                      <a:pt x="9" y="4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56" name="Freeform 80">
                <a:extLst>
                  <a:ext uri="{FF2B5EF4-FFF2-40B4-BE49-F238E27FC236}">
                    <a16:creationId xmlns:a16="http://schemas.microsoft.com/office/drawing/2014/main" id="{C39B2D0D-0D78-28F1-E348-39322712FE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2125" y="1336675"/>
                <a:ext cx="79375" cy="33338"/>
              </a:xfrm>
              <a:custGeom>
                <a:avLst/>
                <a:gdLst/>
                <a:ahLst/>
                <a:cxnLst>
                  <a:cxn ang="0">
                    <a:pos x="22" y="25"/>
                  </a:cxn>
                  <a:cxn ang="0">
                    <a:pos x="9" y="16"/>
                  </a:cxn>
                  <a:cxn ang="0">
                    <a:pos x="0" y="6"/>
                  </a:cxn>
                  <a:cxn ang="0">
                    <a:pos x="8" y="0"/>
                  </a:cxn>
                  <a:cxn ang="0">
                    <a:pos x="30" y="3"/>
                  </a:cxn>
                  <a:cxn ang="0">
                    <a:pos x="60" y="17"/>
                  </a:cxn>
                  <a:cxn ang="0">
                    <a:pos x="52" y="24"/>
                  </a:cxn>
                  <a:cxn ang="0">
                    <a:pos x="39" y="21"/>
                  </a:cxn>
                  <a:cxn ang="0">
                    <a:pos x="22" y="25"/>
                  </a:cxn>
                </a:cxnLst>
                <a:rect l="0" t="0" r="r" b="b"/>
                <a:pathLst>
                  <a:path w="60" h="25">
                    <a:moveTo>
                      <a:pt x="22" y="25"/>
                    </a:moveTo>
                    <a:cubicBezTo>
                      <a:pt x="14" y="25"/>
                      <a:pt x="6" y="23"/>
                      <a:pt x="9" y="16"/>
                    </a:cubicBezTo>
                    <a:cubicBezTo>
                      <a:pt x="5" y="13"/>
                      <a:pt x="0" y="11"/>
                      <a:pt x="0" y="6"/>
                    </a:cubicBezTo>
                    <a:cubicBezTo>
                      <a:pt x="0" y="2"/>
                      <a:pt x="4" y="0"/>
                      <a:pt x="8" y="0"/>
                    </a:cubicBezTo>
                    <a:cubicBezTo>
                      <a:pt x="18" y="0"/>
                      <a:pt x="21" y="3"/>
                      <a:pt x="30" y="3"/>
                    </a:cubicBezTo>
                    <a:cubicBezTo>
                      <a:pt x="42" y="3"/>
                      <a:pt x="52" y="13"/>
                      <a:pt x="60" y="17"/>
                    </a:cubicBezTo>
                    <a:cubicBezTo>
                      <a:pt x="59" y="21"/>
                      <a:pt x="56" y="24"/>
                      <a:pt x="52" y="24"/>
                    </a:cubicBezTo>
                    <a:cubicBezTo>
                      <a:pt x="46" y="24"/>
                      <a:pt x="44" y="21"/>
                      <a:pt x="39" y="21"/>
                    </a:cubicBezTo>
                    <a:cubicBezTo>
                      <a:pt x="34" y="21"/>
                      <a:pt x="30" y="25"/>
                      <a:pt x="22" y="2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57" name="Freeform 81">
                <a:extLst>
                  <a:ext uri="{FF2B5EF4-FFF2-40B4-BE49-F238E27FC236}">
                    <a16:creationId xmlns:a16="http://schemas.microsoft.com/office/drawing/2014/main" id="{2384BEB1-57BF-1E96-DF67-074A7FEE02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0063" y="1666875"/>
                <a:ext cx="17463" cy="20638"/>
              </a:xfrm>
              <a:custGeom>
                <a:avLst/>
                <a:gdLst/>
                <a:ahLst/>
                <a:cxnLst>
                  <a:cxn ang="0">
                    <a:pos x="14" y="6"/>
                  </a:cxn>
                  <a:cxn ang="0">
                    <a:pos x="6" y="15"/>
                  </a:cxn>
                  <a:cxn ang="0">
                    <a:pos x="0" y="9"/>
                  </a:cxn>
                  <a:cxn ang="0">
                    <a:pos x="14" y="6"/>
                  </a:cxn>
                </a:cxnLst>
                <a:rect l="0" t="0" r="r" b="b"/>
                <a:pathLst>
                  <a:path w="14" h="15">
                    <a:moveTo>
                      <a:pt x="14" y="6"/>
                    </a:moveTo>
                    <a:cubicBezTo>
                      <a:pt x="12" y="9"/>
                      <a:pt x="11" y="15"/>
                      <a:pt x="6" y="15"/>
                    </a:cubicBezTo>
                    <a:cubicBezTo>
                      <a:pt x="5" y="15"/>
                      <a:pt x="0" y="9"/>
                      <a:pt x="0" y="9"/>
                    </a:cubicBezTo>
                    <a:cubicBezTo>
                      <a:pt x="0" y="1"/>
                      <a:pt x="10" y="0"/>
                      <a:pt x="14" y="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58" name="Freeform 82">
                <a:extLst>
                  <a:ext uri="{FF2B5EF4-FFF2-40B4-BE49-F238E27FC236}">
                    <a16:creationId xmlns:a16="http://schemas.microsoft.com/office/drawing/2014/main" id="{834B1047-CEA3-6FE8-9469-D99F0C19A2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900" y="1509713"/>
                <a:ext cx="19050" cy="11113"/>
              </a:xfrm>
              <a:custGeom>
                <a:avLst/>
                <a:gdLst/>
                <a:ahLst/>
                <a:cxnLst>
                  <a:cxn ang="0">
                    <a:pos x="5" y="8"/>
                  </a:cxn>
                  <a:cxn ang="0">
                    <a:pos x="0" y="4"/>
                  </a:cxn>
                  <a:cxn ang="0">
                    <a:pos x="5" y="0"/>
                  </a:cxn>
                  <a:cxn ang="0">
                    <a:pos x="14" y="7"/>
                  </a:cxn>
                  <a:cxn ang="0">
                    <a:pos x="5" y="8"/>
                  </a:cxn>
                </a:cxnLst>
                <a:rect l="0" t="0" r="r" b="b"/>
                <a:pathLst>
                  <a:path w="14" h="8">
                    <a:moveTo>
                      <a:pt x="5" y="8"/>
                    </a:moveTo>
                    <a:cubicBezTo>
                      <a:pt x="2" y="8"/>
                      <a:pt x="0" y="7"/>
                      <a:pt x="0" y="4"/>
                    </a:cubicBezTo>
                    <a:cubicBezTo>
                      <a:pt x="0" y="3"/>
                      <a:pt x="4" y="0"/>
                      <a:pt x="5" y="0"/>
                    </a:cubicBezTo>
                    <a:cubicBezTo>
                      <a:pt x="9" y="0"/>
                      <a:pt x="13" y="5"/>
                      <a:pt x="14" y="7"/>
                    </a:cubicBezTo>
                    <a:cubicBezTo>
                      <a:pt x="8" y="8"/>
                      <a:pt x="10" y="8"/>
                      <a:pt x="5" y="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59" name="Freeform 83">
                <a:extLst>
                  <a:ext uri="{FF2B5EF4-FFF2-40B4-BE49-F238E27FC236}">
                    <a16:creationId xmlns:a16="http://schemas.microsoft.com/office/drawing/2014/main" id="{73A17231-3FE5-2E97-A9AF-6C5D90FFAD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2763" y="1476375"/>
                <a:ext cx="20638" cy="12700"/>
              </a:xfrm>
              <a:custGeom>
                <a:avLst/>
                <a:gdLst/>
                <a:ahLst/>
                <a:cxnLst>
                  <a:cxn ang="0">
                    <a:pos x="5" y="10"/>
                  </a:cxn>
                  <a:cxn ang="0">
                    <a:pos x="15" y="0"/>
                  </a:cxn>
                  <a:cxn ang="0">
                    <a:pos x="5" y="10"/>
                  </a:cxn>
                </a:cxnLst>
                <a:rect l="0" t="0" r="r" b="b"/>
                <a:pathLst>
                  <a:path w="15" h="10">
                    <a:moveTo>
                      <a:pt x="5" y="10"/>
                    </a:moveTo>
                    <a:cubicBezTo>
                      <a:pt x="0" y="10"/>
                      <a:pt x="10" y="0"/>
                      <a:pt x="15" y="0"/>
                    </a:cubicBezTo>
                    <a:cubicBezTo>
                      <a:pt x="14" y="6"/>
                      <a:pt x="10" y="10"/>
                      <a:pt x="5" y="1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60" name="Freeform 84">
                <a:extLst>
                  <a:ext uri="{FF2B5EF4-FFF2-40B4-BE49-F238E27FC236}">
                    <a16:creationId xmlns:a16="http://schemas.microsoft.com/office/drawing/2014/main" id="{D6074269-B91E-0872-2D9C-851CECD125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6550" y="1335088"/>
                <a:ext cx="482600" cy="347663"/>
              </a:xfrm>
              <a:custGeom>
                <a:avLst/>
                <a:gdLst/>
                <a:ahLst/>
                <a:cxnLst>
                  <a:cxn ang="0">
                    <a:pos x="333" y="196"/>
                  </a:cxn>
                  <a:cxn ang="0">
                    <a:pos x="281" y="171"/>
                  </a:cxn>
                  <a:cxn ang="0">
                    <a:pos x="289" y="177"/>
                  </a:cxn>
                  <a:cxn ang="0">
                    <a:pos x="283" y="184"/>
                  </a:cxn>
                  <a:cxn ang="0">
                    <a:pos x="298" y="201"/>
                  </a:cxn>
                  <a:cxn ang="0">
                    <a:pos x="318" y="206"/>
                  </a:cxn>
                  <a:cxn ang="0">
                    <a:pos x="326" y="225"/>
                  </a:cxn>
                  <a:cxn ang="0">
                    <a:pos x="278" y="225"/>
                  </a:cxn>
                  <a:cxn ang="0">
                    <a:pos x="304" y="256"/>
                  </a:cxn>
                  <a:cxn ang="0">
                    <a:pos x="295" y="256"/>
                  </a:cxn>
                  <a:cxn ang="0">
                    <a:pos x="233" y="226"/>
                  </a:cxn>
                  <a:cxn ang="0">
                    <a:pos x="190" y="210"/>
                  </a:cxn>
                  <a:cxn ang="0">
                    <a:pos x="169" y="214"/>
                  </a:cxn>
                  <a:cxn ang="0">
                    <a:pos x="168" y="189"/>
                  </a:cxn>
                  <a:cxn ang="0">
                    <a:pos x="207" y="183"/>
                  </a:cxn>
                  <a:cxn ang="0">
                    <a:pos x="210" y="167"/>
                  </a:cxn>
                  <a:cxn ang="0">
                    <a:pos x="186" y="115"/>
                  </a:cxn>
                  <a:cxn ang="0">
                    <a:pos x="168" y="115"/>
                  </a:cxn>
                  <a:cxn ang="0">
                    <a:pos x="146" y="85"/>
                  </a:cxn>
                  <a:cxn ang="0">
                    <a:pos x="122" y="91"/>
                  </a:cxn>
                  <a:cxn ang="0">
                    <a:pos x="41" y="82"/>
                  </a:cxn>
                  <a:cxn ang="0">
                    <a:pos x="11" y="69"/>
                  </a:cxn>
                  <a:cxn ang="0">
                    <a:pos x="30" y="65"/>
                  </a:cxn>
                  <a:cxn ang="0">
                    <a:pos x="0" y="48"/>
                  </a:cxn>
                  <a:cxn ang="0">
                    <a:pos x="11" y="16"/>
                  </a:cxn>
                  <a:cxn ang="0">
                    <a:pos x="61" y="4"/>
                  </a:cxn>
                  <a:cxn ang="0">
                    <a:pos x="46" y="32"/>
                  </a:cxn>
                  <a:cxn ang="0">
                    <a:pos x="50" y="47"/>
                  </a:cxn>
                  <a:cxn ang="0">
                    <a:pos x="55" y="26"/>
                  </a:cxn>
                  <a:cxn ang="0">
                    <a:pos x="120" y="29"/>
                  </a:cxn>
                  <a:cxn ang="0">
                    <a:pos x="128" y="34"/>
                  </a:cxn>
                  <a:cxn ang="0">
                    <a:pos x="156" y="27"/>
                  </a:cxn>
                  <a:cxn ang="0">
                    <a:pos x="217" y="56"/>
                  </a:cxn>
                  <a:cxn ang="0">
                    <a:pos x="242" y="65"/>
                  </a:cxn>
                  <a:cxn ang="0">
                    <a:pos x="273" y="85"/>
                  </a:cxn>
                  <a:cxn ang="0">
                    <a:pos x="293" y="95"/>
                  </a:cxn>
                  <a:cxn ang="0">
                    <a:pos x="291" y="102"/>
                  </a:cxn>
                  <a:cxn ang="0">
                    <a:pos x="283" y="116"/>
                  </a:cxn>
                  <a:cxn ang="0">
                    <a:pos x="317" y="135"/>
                  </a:cxn>
                  <a:cxn ang="0">
                    <a:pos x="342" y="153"/>
                  </a:cxn>
                  <a:cxn ang="0">
                    <a:pos x="362" y="165"/>
                  </a:cxn>
                  <a:cxn ang="0">
                    <a:pos x="349" y="178"/>
                  </a:cxn>
                </a:cxnLst>
                <a:rect l="0" t="0" r="r" b="b"/>
                <a:pathLst>
                  <a:path w="362" h="261">
                    <a:moveTo>
                      <a:pt x="339" y="184"/>
                    </a:moveTo>
                    <a:cubicBezTo>
                      <a:pt x="339" y="189"/>
                      <a:pt x="338" y="196"/>
                      <a:pt x="333" y="196"/>
                    </a:cubicBezTo>
                    <a:cubicBezTo>
                      <a:pt x="311" y="196"/>
                      <a:pt x="311" y="166"/>
                      <a:pt x="289" y="166"/>
                    </a:cubicBezTo>
                    <a:cubicBezTo>
                      <a:pt x="287" y="166"/>
                      <a:pt x="281" y="171"/>
                      <a:pt x="281" y="171"/>
                    </a:cubicBezTo>
                    <a:cubicBezTo>
                      <a:pt x="284" y="173"/>
                      <a:pt x="285" y="173"/>
                      <a:pt x="289" y="172"/>
                    </a:cubicBezTo>
                    <a:cubicBezTo>
                      <a:pt x="289" y="177"/>
                      <a:pt x="289" y="177"/>
                      <a:pt x="289" y="177"/>
                    </a:cubicBezTo>
                    <a:cubicBezTo>
                      <a:pt x="287" y="178"/>
                      <a:pt x="284" y="178"/>
                      <a:pt x="283" y="177"/>
                    </a:cubicBezTo>
                    <a:cubicBezTo>
                      <a:pt x="283" y="184"/>
                      <a:pt x="283" y="184"/>
                      <a:pt x="283" y="184"/>
                    </a:cubicBezTo>
                    <a:cubicBezTo>
                      <a:pt x="288" y="184"/>
                      <a:pt x="288" y="184"/>
                      <a:pt x="288" y="184"/>
                    </a:cubicBezTo>
                    <a:cubicBezTo>
                      <a:pt x="289" y="189"/>
                      <a:pt x="295" y="199"/>
                      <a:pt x="298" y="201"/>
                    </a:cubicBezTo>
                    <a:cubicBezTo>
                      <a:pt x="307" y="204"/>
                      <a:pt x="310" y="198"/>
                      <a:pt x="311" y="206"/>
                    </a:cubicBezTo>
                    <a:cubicBezTo>
                      <a:pt x="315" y="206"/>
                      <a:pt x="315" y="206"/>
                      <a:pt x="318" y="206"/>
                    </a:cubicBezTo>
                    <a:cubicBezTo>
                      <a:pt x="318" y="213"/>
                      <a:pt x="318" y="213"/>
                      <a:pt x="318" y="215"/>
                    </a:cubicBezTo>
                    <a:cubicBezTo>
                      <a:pt x="318" y="218"/>
                      <a:pt x="326" y="220"/>
                      <a:pt x="326" y="225"/>
                    </a:cubicBezTo>
                    <a:cubicBezTo>
                      <a:pt x="326" y="229"/>
                      <a:pt x="321" y="238"/>
                      <a:pt x="319" y="242"/>
                    </a:cubicBezTo>
                    <a:cubicBezTo>
                      <a:pt x="311" y="242"/>
                      <a:pt x="283" y="231"/>
                      <a:pt x="278" y="225"/>
                    </a:cubicBezTo>
                    <a:cubicBezTo>
                      <a:pt x="272" y="225"/>
                      <a:pt x="272" y="225"/>
                      <a:pt x="272" y="225"/>
                    </a:cubicBezTo>
                    <a:cubicBezTo>
                      <a:pt x="279" y="234"/>
                      <a:pt x="304" y="243"/>
                      <a:pt x="304" y="256"/>
                    </a:cubicBezTo>
                    <a:cubicBezTo>
                      <a:pt x="304" y="259"/>
                      <a:pt x="301" y="261"/>
                      <a:pt x="299" y="261"/>
                    </a:cubicBezTo>
                    <a:cubicBezTo>
                      <a:pt x="297" y="261"/>
                      <a:pt x="296" y="256"/>
                      <a:pt x="295" y="256"/>
                    </a:cubicBezTo>
                    <a:cubicBezTo>
                      <a:pt x="282" y="249"/>
                      <a:pt x="274" y="252"/>
                      <a:pt x="263" y="245"/>
                    </a:cubicBezTo>
                    <a:cubicBezTo>
                      <a:pt x="252" y="239"/>
                      <a:pt x="226" y="240"/>
                      <a:pt x="233" y="226"/>
                    </a:cubicBezTo>
                    <a:cubicBezTo>
                      <a:pt x="219" y="219"/>
                      <a:pt x="212" y="211"/>
                      <a:pt x="199" y="204"/>
                    </a:cubicBezTo>
                    <a:cubicBezTo>
                      <a:pt x="197" y="207"/>
                      <a:pt x="194" y="210"/>
                      <a:pt x="190" y="210"/>
                    </a:cubicBezTo>
                    <a:cubicBezTo>
                      <a:pt x="186" y="210"/>
                      <a:pt x="187" y="207"/>
                      <a:pt x="183" y="207"/>
                    </a:cubicBezTo>
                    <a:cubicBezTo>
                      <a:pt x="177" y="207"/>
                      <a:pt x="175" y="214"/>
                      <a:pt x="169" y="214"/>
                    </a:cubicBezTo>
                    <a:cubicBezTo>
                      <a:pt x="165" y="214"/>
                      <a:pt x="150" y="208"/>
                      <a:pt x="150" y="201"/>
                    </a:cubicBezTo>
                    <a:cubicBezTo>
                      <a:pt x="150" y="197"/>
                      <a:pt x="162" y="189"/>
                      <a:pt x="168" y="189"/>
                    </a:cubicBezTo>
                    <a:cubicBezTo>
                      <a:pt x="176" y="189"/>
                      <a:pt x="183" y="189"/>
                      <a:pt x="187" y="189"/>
                    </a:cubicBezTo>
                    <a:cubicBezTo>
                      <a:pt x="191" y="189"/>
                      <a:pt x="202" y="187"/>
                      <a:pt x="207" y="183"/>
                    </a:cubicBezTo>
                    <a:cubicBezTo>
                      <a:pt x="205" y="182"/>
                      <a:pt x="199" y="178"/>
                      <a:pt x="199" y="174"/>
                    </a:cubicBezTo>
                    <a:cubicBezTo>
                      <a:pt x="199" y="167"/>
                      <a:pt x="207" y="171"/>
                      <a:pt x="210" y="167"/>
                    </a:cubicBezTo>
                    <a:cubicBezTo>
                      <a:pt x="214" y="163"/>
                      <a:pt x="223" y="154"/>
                      <a:pt x="223" y="148"/>
                    </a:cubicBezTo>
                    <a:cubicBezTo>
                      <a:pt x="223" y="136"/>
                      <a:pt x="195" y="115"/>
                      <a:pt x="186" y="115"/>
                    </a:cubicBezTo>
                    <a:cubicBezTo>
                      <a:pt x="180" y="115"/>
                      <a:pt x="177" y="120"/>
                      <a:pt x="172" y="120"/>
                    </a:cubicBezTo>
                    <a:cubicBezTo>
                      <a:pt x="170" y="120"/>
                      <a:pt x="168" y="115"/>
                      <a:pt x="168" y="115"/>
                    </a:cubicBezTo>
                    <a:cubicBezTo>
                      <a:pt x="168" y="110"/>
                      <a:pt x="176" y="109"/>
                      <a:pt x="179" y="109"/>
                    </a:cubicBezTo>
                    <a:cubicBezTo>
                      <a:pt x="175" y="105"/>
                      <a:pt x="151" y="85"/>
                      <a:pt x="146" y="85"/>
                    </a:cubicBezTo>
                    <a:cubicBezTo>
                      <a:pt x="140" y="85"/>
                      <a:pt x="133" y="101"/>
                      <a:pt x="125" y="101"/>
                    </a:cubicBezTo>
                    <a:cubicBezTo>
                      <a:pt x="120" y="101"/>
                      <a:pt x="121" y="94"/>
                      <a:pt x="122" y="91"/>
                    </a:cubicBezTo>
                    <a:cubicBezTo>
                      <a:pt x="108" y="90"/>
                      <a:pt x="75" y="91"/>
                      <a:pt x="55" y="91"/>
                    </a:cubicBezTo>
                    <a:cubicBezTo>
                      <a:pt x="51" y="91"/>
                      <a:pt x="44" y="86"/>
                      <a:pt x="41" y="82"/>
                    </a:cubicBezTo>
                    <a:cubicBezTo>
                      <a:pt x="20" y="82"/>
                      <a:pt x="20" y="82"/>
                      <a:pt x="20" y="82"/>
                    </a:cubicBezTo>
                    <a:cubicBezTo>
                      <a:pt x="18" y="76"/>
                      <a:pt x="11" y="75"/>
                      <a:pt x="11" y="69"/>
                    </a:cubicBezTo>
                    <a:cubicBezTo>
                      <a:pt x="16" y="67"/>
                      <a:pt x="23" y="70"/>
                      <a:pt x="30" y="70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6" y="62"/>
                      <a:pt x="6" y="60"/>
                      <a:pt x="6" y="60"/>
                    </a:cubicBezTo>
                    <a:cubicBezTo>
                      <a:pt x="6" y="60"/>
                      <a:pt x="0" y="52"/>
                      <a:pt x="0" y="48"/>
                    </a:cubicBezTo>
                    <a:cubicBezTo>
                      <a:pt x="0" y="36"/>
                      <a:pt x="2" y="33"/>
                      <a:pt x="8" y="29"/>
                    </a:cubicBezTo>
                    <a:cubicBezTo>
                      <a:pt x="12" y="26"/>
                      <a:pt x="10" y="18"/>
                      <a:pt x="11" y="16"/>
                    </a:cubicBezTo>
                    <a:cubicBezTo>
                      <a:pt x="20" y="7"/>
                      <a:pt x="32" y="0"/>
                      <a:pt x="47" y="0"/>
                    </a:cubicBezTo>
                    <a:cubicBezTo>
                      <a:pt x="47" y="0"/>
                      <a:pt x="61" y="4"/>
                      <a:pt x="61" y="4"/>
                    </a:cubicBezTo>
                    <a:cubicBezTo>
                      <a:pt x="57" y="14"/>
                      <a:pt x="42" y="14"/>
                      <a:pt x="42" y="27"/>
                    </a:cubicBezTo>
                    <a:cubicBezTo>
                      <a:pt x="42" y="30"/>
                      <a:pt x="44" y="32"/>
                      <a:pt x="46" y="32"/>
                    </a:cubicBezTo>
                    <a:cubicBezTo>
                      <a:pt x="45" y="35"/>
                      <a:pt x="46" y="40"/>
                      <a:pt x="46" y="40"/>
                    </a:cubicBezTo>
                    <a:cubicBezTo>
                      <a:pt x="46" y="43"/>
                      <a:pt x="45" y="47"/>
                      <a:pt x="50" y="47"/>
                    </a:cubicBezTo>
                    <a:cubicBezTo>
                      <a:pt x="53" y="47"/>
                      <a:pt x="59" y="42"/>
                      <a:pt x="59" y="38"/>
                    </a:cubicBezTo>
                    <a:cubicBezTo>
                      <a:pt x="59" y="34"/>
                      <a:pt x="55" y="31"/>
                      <a:pt x="55" y="26"/>
                    </a:cubicBezTo>
                    <a:cubicBezTo>
                      <a:pt x="55" y="10"/>
                      <a:pt x="84" y="4"/>
                      <a:pt x="102" y="4"/>
                    </a:cubicBezTo>
                    <a:cubicBezTo>
                      <a:pt x="113" y="4"/>
                      <a:pt x="120" y="20"/>
                      <a:pt x="120" y="29"/>
                    </a:cubicBezTo>
                    <a:cubicBezTo>
                      <a:pt x="120" y="31"/>
                      <a:pt x="117" y="38"/>
                      <a:pt x="120" y="38"/>
                    </a:cubicBezTo>
                    <a:cubicBezTo>
                      <a:pt x="122" y="38"/>
                      <a:pt x="124" y="34"/>
                      <a:pt x="128" y="34"/>
                    </a:cubicBezTo>
                    <a:cubicBezTo>
                      <a:pt x="133" y="34"/>
                      <a:pt x="135" y="38"/>
                      <a:pt x="138" y="38"/>
                    </a:cubicBezTo>
                    <a:cubicBezTo>
                      <a:pt x="146" y="38"/>
                      <a:pt x="148" y="27"/>
                      <a:pt x="156" y="27"/>
                    </a:cubicBezTo>
                    <a:cubicBezTo>
                      <a:pt x="165" y="27"/>
                      <a:pt x="183" y="30"/>
                      <a:pt x="189" y="34"/>
                    </a:cubicBezTo>
                    <a:cubicBezTo>
                      <a:pt x="199" y="41"/>
                      <a:pt x="202" y="56"/>
                      <a:pt x="217" y="56"/>
                    </a:cubicBezTo>
                    <a:cubicBezTo>
                      <a:pt x="223" y="56"/>
                      <a:pt x="224" y="56"/>
                      <a:pt x="228" y="56"/>
                    </a:cubicBezTo>
                    <a:cubicBezTo>
                      <a:pt x="232" y="56"/>
                      <a:pt x="243" y="57"/>
                      <a:pt x="242" y="65"/>
                    </a:cubicBezTo>
                    <a:cubicBezTo>
                      <a:pt x="254" y="69"/>
                      <a:pt x="261" y="76"/>
                      <a:pt x="273" y="77"/>
                    </a:cubicBezTo>
                    <a:cubicBezTo>
                      <a:pt x="273" y="85"/>
                      <a:pt x="273" y="85"/>
                      <a:pt x="273" y="85"/>
                    </a:cubicBezTo>
                    <a:cubicBezTo>
                      <a:pt x="276" y="85"/>
                      <a:pt x="281" y="85"/>
                      <a:pt x="281" y="85"/>
                    </a:cubicBezTo>
                    <a:cubicBezTo>
                      <a:pt x="287" y="85"/>
                      <a:pt x="290" y="89"/>
                      <a:pt x="293" y="95"/>
                    </a:cubicBezTo>
                    <a:cubicBezTo>
                      <a:pt x="287" y="96"/>
                      <a:pt x="281" y="96"/>
                      <a:pt x="277" y="101"/>
                    </a:cubicBezTo>
                    <a:cubicBezTo>
                      <a:pt x="285" y="102"/>
                      <a:pt x="287" y="102"/>
                      <a:pt x="291" y="102"/>
                    </a:cubicBezTo>
                    <a:cubicBezTo>
                      <a:pt x="293" y="102"/>
                      <a:pt x="296" y="103"/>
                      <a:pt x="297" y="106"/>
                    </a:cubicBezTo>
                    <a:cubicBezTo>
                      <a:pt x="290" y="110"/>
                      <a:pt x="287" y="110"/>
                      <a:pt x="283" y="116"/>
                    </a:cubicBezTo>
                    <a:cubicBezTo>
                      <a:pt x="287" y="118"/>
                      <a:pt x="289" y="120"/>
                      <a:pt x="295" y="120"/>
                    </a:cubicBezTo>
                    <a:cubicBezTo>
                      <a:pt x="296" y="130"/>
                      <a:pt x="308" y="134"/>
                      <a:pt x="317" y="135"/>
                    </a:cubicBezTo>
                    <a:cubicBezTo>
                      <a:pt x="318" y="143"/>
                      <a:pt x="320" y="151"/>
                      <a:pt x="327" y="151"/>
                    </a:cubicBezTo>
                    <a:cubicBezTo>
                      <a:pt x="337" y="151"/>
                      <a:pt x="339" y="145"/>
                      <a:pt x="342" y="153"/>
                    </a:cubicBezTo>
                    <a:cubicBezTo>
                      <a:pt x="344" y="155"/>
                      <a:pt x="348" y="155"/>
                      <a:pt x="350" y="155"/>
                    </a:cubicBezTo>
                    <a:cubicBezTo>
                      <a:pt x="359" y="155"/>
                      <a:pt x="362" y="158"/>
                      <a:pt x="362" y="165"/>
                    </a:cubicBezTo>
                    <a:cubicBezTo>
                      <a:pt x="362" y="171"/>
                      <a:pt x="355" y="173"/>
                      <a:pt x="349" y="173"/>
                    </a:cubicBezTo>
                    <a:cubicBezTo>
                      <a:pt x="349" y="178"/>
                      <a:pt x="349" y="176"/>
                      <a:pt x="349" y="178"/>
                    </a:cubicBezTo>
                    <a:cubicBezTo>
                      <a:pt x="349" y="180"/>
                      <a:pt x="348" y="184"/>
                      <a:pt x="339" y="18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61" name="Freeform 85">
                <a:extLst>
                  <a:ext uri="{FF2B5EF4-FFF2-40B4-BE49-F238E27FC236}">
                    <a16:creationId xmlns:a16="http://schemas.microsoft.com/office/drawing/2014/main" id="{D377D58D-39A8-443B-207A-A7FB76CAC1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3400" y="1635125"/>
                <a:ext cx="14288" cy="12700"/>
              </a:xfrm>
              <a:custGeom>
                <a:avLst/>
                <a:gdLst/>
                <a:ahLst/>
                <a:cxnLst>
                  <a:cxn ang="0">
                    <a:pos x="10" y="6"/>
                  </a:cxn>
                  <a:cxn ang="0">
                    <a:pos x="0" y="6"/>
                  </a:cxn>
                  <a:cxn ang="0">
                    <a:pos x="10" y="6"/>
                  </a:cxn>
                </a:cxnLst>
                <a:rect l="0" t="0" r="r" b="b"/>
                <a:pathLst>
                  <a:path w="10" h="9">
                    <a:moveTo>
                      <a:pt x="10" y="6"/>
                    </a:moveTo>
                    <a:cubicBezTo>
                      <a:pt x="6" y="9"/>
                      <a:pt x="5" y="9"/>
                      <a:pt x="0" y="6"/>
                    </a:cubicBezTo>
                    <a:cubicBezTo>
                      <a:pt x="5" y="0"/>
                      <a:pt x="5" y="3"/>
                      <a:pt x="10" y="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62" name="Freeform 86">
                <a:extLst>
                  <a:ext uri="{FF2B5EF4-FFF2-40B4-BE49-F238E27FC236}">
                    <a16:creationId xmlns:a16="http://schemas.microsoft.com/office/drawing/2014/main" id="{F529757C-4AF6-3E4B-5CD0-86F749C109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4975" y="1568450"/>
                <a:ext cx="12700" cy="12700"/>
              </a:xfrm>
              <a:custGeom>
                <a:avLst/>
                <a:gdLst/>
                <a:ahLst/>
                <a:cxnLst>
                  <a:cxn ang="0">
                    <a:pos x="1" y="2"/>
                  </a:cxn>
                  <a:cxn ang="0">
                    <a:pos x="9" y="9"/>
                  </a:cxn>
                  <a:cxn ang="0">
                    <a:pos x="1" y="2"/>
                  </a:cxn>
                </a:cxnLst>
                <a:rect l="0" t="0" r="r" b="b"/>
                <a:pathLst>
                  <a:path w="9" h="9">
                    <a:moveTo>
                      <a:pt x="1" y="2"/>
                    </a:moveTo>
                    <a:cubicBezTo>
                      <a:pt x="6" y="0"/>
                      <a:pt x="6" y="5"/>
                      <a:pt x="9" y="9"/>
                    </a:cubicBezTo>
                    <a:cubicBezTo>
                      <a:pt x="4" y="9"/>
                      <a:pt x="0" y="5"/>
                      <a:pt x="1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63" name="Freeform 87">
                <a:extLst>
                  <a:ext uri="{FF2B5EF4-FFF2-40B4-BE49-F238E27FC236}">
                    <a16:creationId xmlns:a16="http://schemas.microsoft.com/office/drawing/2014/main" id="{53FBF742-9779-2851-28F6-57E86F225D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7975" y="985838"/>
                <a:ext cx="514350" cy="269875"/>
              </a:xfrm>
              <a:custGeom>
                <a:avLst/>
                <a:gdLst/>
                <a:ahLst/>
                <a:cxnLst>
                  <a:cxn ang="0">
                    <a:pos x="307" y="16"/>
                  </a:cxn>
                  <a:cxn ang="0">
                    <a:pos x="350" y="9"/>
                  </a:cxn>
                  <a:cxn ang="0">
                    <a:pos x="386" y="28"/>
                  </a:cxn>
                  <a:cxn ang="0">
                    <a:pos x="313" y="51"/>
                  </a:cxn>
                  <a:cxn ang="0">
                    <a:pos x="295" y="74"/>
                  </a:cxn>
                  <a:cxn ang="0">
                    <a:pos x="231" y="108"/>
                  </a:cxn>
                  <a:cxn ang="0">
                    <a:pos x="216" y="118"/>
                  </a:cxn>
                  <a:cxn ang="0">
                    <a:pos x="216" y="137"/>
                  </a:cxn>
                  <a:cxn ang="0">
                    <a:pos x="174" y="157"/>
                  </a:cxn>
                  <a:cxn ang="0">
                    <a:pos x="158" y="184"/>
                  </a:cxn>
                  <a:cxn ang="0">
                    <a:pos x="176" y="188"/>
                  </a:cxn>
                  <a:cxn ang="0">
                    <a:pos x="126" y="197"/>
                  </a:cxn>
                  <a:cxn ang="0">
                    <a:pos x="80" y="201"/>
                  </a:cxn>
                  <a:cxn ang="0">
                    <a:pos x="33" y="197"/>
                  </a:cxn>
                  <a:cxn ang="0">
                    <a:pos x="60" y="176"/>
                  </a:cxn>
                  <a:cxn ang="0">
                    <a:pos x="57" y="158"/>
                  </a:cxn>
                  <a:cxn ang="0">
                    <a:pos x="92" y="170"/>
                  </a:cxn>
                  <a:cxn ang="0">
                    <a:pos x="66" y="148"/>
                  </a:cxn>
                  <a:cxn ang="0">
                    <a:pos x="55" y="151"/>
                  </a:cxn>
                  <a:cxn ang="0">
                    <a:pos x="68" y="131"/>
                  </a:cxn>
                  <a:cxn ang="0">
                    <a:pos x="62" y="97"/>
                  </a:cxn>
                  <a:cxn ang="0">
                    <a:pos x="67" y="89"/>
                  </a:cxn>
                  <a:cxn ang="0">
                    <a:pos x="97" y="90"/>
                  </a:cxn>
                  <a:cxn ang="0">
                    <a:pos x="108" y="91"/>
                  </a:cxn>
                  <a:cxn ang="0">
                    <a:pos x="133" y="86"/>
                  </a:cxn>
                  <a:cxn ang="0">
                    <a:pos x="147" y="74"/>
                  </a:cxn>
                  <a:cxn ang="0">
                    <a:pos x="99" y="81"/>
                  </a:cxn>
                  <a:cxn ang="0">
                    <a:pos x="72" y="76"/>
                  </a:cxn>
                  <a:cxn ang="0">
                    <a:pos x="57" y="81"/>
                  </a:cxn>
                  <a:cxn ang="0">
                    <a:pos x="44" y="67"/>
                  </a:cxn>
                  <a:cxn ang="0">
                    <a:pos x="51" y="53"/>
                  </a:cxn>
                  <a:cxn ang="0">
                    <a:pos x="25" y="60"/>
                  </a:cxn>
                  <a:cxn ang="0">
                    <a:pos x="29" y="49"/>
                  </a:cxn>
                  <a:cxn ang="0">
                    <a:pos x="9" y="52"/>
                  </a:cxn>
                  <a:cxn ang="0">
                    <a:pos x="44" y="36"/>
                  </a:cxn>
                  <a:cxn ang="0">
                    <a:pos x="57" y="32"/>
                  </a:cxn>
                  <a:cxn ang="0">
                    <a:pos x="104" y="32"/>
                  </a:cxn>
                  <a:cxn ang="0">
                    <a:pos x="135" y="11"/>
                  </a:cxn>
                  <a:cxn ang="0">
                    <a:pos x="196" y="6"/>
                  </a:cxn>
                  <a:cxn ang="0">
                    <a:pos x="218" y="8"/>
                  </a:cxn>
                  <a:cxn ang="0">
                    <a:pos x="245" y="3"/>
                  </a:cxn>
                  <a:cxn ang="0">
                    <a:pos x="315" y="11"/>
                  </a:cxn>
                </a:cxnLst>
                <a:rect l="0" t="0" r="r" b="b"/>
                <a:pathLst>
                  <a:path w="386" h="203">
                    <a:moveTo>
                      <a:pt x="315" y="11"/>
                    </a:moveTo>
                    <a:cubicBezTo>
                      <a:pt x="312" y="14"/>
                      <a:pt x="310" y="15"/>
                      <a:pt x="307" y="16"/>
                    </a:cubicBezTo>
                    <a:cubicBezTo>
                      <a:pt x="342" y="6"/>
                      <a:pt x="342" y="6"/>
                      <a:pt x="342" y="6"/>
                    </a:cubicBezTo>
                    <a:cubicBezTo>
                      <a:pt x="345" y="7"/>
                      <a:pt x="347" y="8"/>
                      <a:pt x="350" y="9"/>
                    </a:cubicBezTo>
                    <a:cubicBezTo>
                      <a:pt x="355" y="11"/>
                      <a:pt x="355" y="14"/>
                      <a:pt x="358" y="17"/>
                    </a:cubicBezTo>
                    <a:cubicBezTo>
                      <a:pt x="363" y="22"/>
                      <a:pt x="386" y="20"/>
                      <a:pt x="386" y="28"/>
                    </a:cubicBezTo>
                    <a:cubicBezTo>
                      <a:pt x="386" y="33"/>
                      <a:pt x="378" y="32"/>
                      <a:pt x="375" y="34"/>
                    </a:cubicBezTo>
                    <a:cubicBezTo>
                      <a:pt x="358" y="48"/>
                      <a:pt x="336" y="40"/>
                      <a:pt x="313" y="51"/>
                    </a:cubicBezTo>
                    <a:cubicBezTo>
                      <a:pt x="317" y="56"/>
                      <a:pt x="335" y="52"/>
                      <a:pt x="346" y="52"/>
                    </a:cubicBezTo>
                    <a:cubicBezTo>
                      <a:pt x="336" y="63"/>
                      <a:pt x="311" y="69"/>
                      <a:pt x="295" y="74"/>
                    </a:cubicBezTo>
                    <a:cubicBezTo>
                      <a:pt x="277" y="80"/>
                      <a:pt x="267" y="97"/>
                      <a:pt x="254" y="107"/>
                    </a:cubicBezTo>
                    <a:cubicBezTo>
                      <a:pt x="248" y="112"/>
                      <a:pt x="238" y="106"/>
                      <a:pt x="231" y="108"/>
                    </a:cubicBezTo>
                    <a:cubicBezTo>
                      <a:pt x="221" y="112"/>
                      <a:pt x="210" y="112"/>
                      <a:pt x="203" y="118"/>
                    </a:cubicBezTo>
                    <a:cubicBezTo>
                      <a:pt x="216" y="118"/>
                      <a:pt x="216" y="118"/>
                      <a:pt x="216" y="118"/>
                    </a:cubicBezTo>
                    <a:cubicBezTo>
                      <a:pt x="217" y="128"/>
                      <a:pt x="211" y="127"/>
                      <a:pt x="203" y="126"/>
                    </a:cubicBezTo>
                    <a:cubicBezTo>
                      <a:pt x="208" y="129"/>
                      <a:pt x="213" y="131"/>
                      <a:pt x="216" y="137"/>
                    </a:cubicBezTo>
                    <a:cubicBezTo>
                      <a:pt x="206" y="141"/>
                      <a:pt x="203" y="152"/>
                      <a:pt x="196" y="157"/>
                    </a:cubicBezTo>
                    <a:cubicBezTo>
                      <a:pt x="177" y="157"/>
                      <a:pt x="177" y="157"/>
                      <a:pt x="174" y="157"/>
                    </a:cubicBezTo>
                    <a:cubicBezTo>
                      <a:pt x="175" y="160"/>
                      <a:pt x="177" y="161"/>
                      <a:pt x="177" y="164"/>
                    </a:cubicBezTo>
                    <a:cubicBezTo>
                      <a:pt x="177" y="178"/>
                      <a:pt x="158" y="169"/>
                      <a:pt x="158" y="184"/>
                    </a:cubicBezTo>
                    <a:cubicBezTo>
                      <a:pt x="165" y="184"/>
                      <a:pt x="166" y="184"/>
                      <a:pt x="169" y="184"/>
                    </a:cubicBezTo>
                    <a:cubicBezTo>
                      <a:pt x="171" y="184"/>
                      <a:pt x="176" y="184"/>
                      <a:pt x="176" y="188"/>
                    </a:cubicBezTo>
                    <a:cubicBezTo>
                      <a:pt x="176" y="195"/>
                      <a:pt x="151" y="203"/>
                      <a:pt x="141" y="203"/>
                    </a:cubicBezTo>
                    <a:cubicBezTo>
                      <a:pt x="131" y="203"/>
                      <a:pt x="135" y="197"/>
                      <a:pt x="126" y="197"/>
                    </a:cubicBezTo>
                    <a:cubicBezTo>
                      <a:pt x="113" y="197"/>
                      <a:pt x="104" y="197"/>
                      <a:pt x="93" y="197"/>
                    </a:cubicBezTo>
                    <a:cubicBezTo>
                      <a:pt x="89" y="197"/>
                      <a:pt x="86" y="201"/>
                      <a:pt x="80" y="201"/>
                    </a:cubicBezTo>
                    <a:cubicBezTo>
                      <a:pt x="65" y="201"/>
                      <a:pt x="53" y="197"/>
                      <a:pt x="38" y="192"/>
                    </a:cubicBezTo>
                    <a:cubicBezTo>
                      <a:pt x="37" y="194"/>
                      <a:pt x="35" y="197"/>
                      <a:pt x="33" y="197"/>
                    </a:cubicBezTo>
                    <a:cubicBezTo>
                      <a:pt x="29" y="197"/>
                      <a:pt x="28" y="194"/>
                      <a:pt x="28" y="193"/>
                    </a:cubicBezTo>
                    <a:cubicBezTo>
                      <a:pt x="28" y="176"/>
                      <a:pt x="51" y="182"/>
                      <a:pt x="60" y="176"/>
                    </a:cubicBezTo>
                    <a:cubicBezTo>
                      <a:pt x="55" y="172"/>
                      <a:pt x="46" y="170"/>
                      <a:pt x="46" y="162"/>
                    </a:cubicBezTo>
                    <a:cubicBezTo>
                      <a:pt x="46" y="156"/>
                      <a:pt x="52" y="158"/>
                      <a:pt x="57" y="158"/>
                    </a:cubicBezTo>
                    <a:cubicBezTo>
                      <a:pt x="71" y="158"/>
                      <a:pt x="76" y="165"/>
                      <a:pt x="84" y="170"/>
                    </a:cubicBezTo>
                    <a:cubicBezTo>
                      <a:pt x="92" y="170"/>
                      <a:pt x="92" y="170"/>
                      <a:pt x="92" y="170"/>
                    </a:cubicBezTo>
                    <a:cubicBezTo>
                      <a:pt x="86" y="164"/>
                      <a:pt x="72" y="159"/>
                      <a:pt x="72" y="148"/>
                    </a:cubicBezTo>
                    <a:cubicBezTo>
                      <a:pt x="66" y="148"/>
                      <a:pt x="66" y="148"/>
                      <a:pt x="66" y="148"/>
                    </a:cubicBezTo>
                    <a:cubicBezTo>
                      <a:pt x="63" y="149"/>
                      <a:pt x="63" y="149"/>
                      <a:pt x="61" y="151"/>
                    </a:cubicBezTo>
                    <a:cubicBezTo>
                      <a:pt x="55" y="151"/>
                      <a:pt x="55" y="151"/>
                      <a:pt x="55" y="151"/>
                    </a:cubicBezTo>
                    <a:cubicBezTo>
                      <a:pt x="55" y="146"/>
                      <a:pt x="55" y="146"/>
                      <a:pt x="55" y="146"/>
                    </a:cubicBezTo>
                    <a:cubicBezTo>
                      <a:pt x="58" y="138"/>
                      <a:pt x="61" y="134"/>
                      <a:pt x="68" y="131"/>
                    </a:cubicBezTo>
                    <a:cubicBezTo>
                      <a:pt x="79" y="128"/>
                      <a:pt x="92" y="132"/>
                      <a:pt x="92" y="119"/>
                    </a:cubicBezTo>
                    <a:cubicBezTo>
                      <a:pt x="92" y="105"/>
                      <a:pt x="62" y="105"/>
                      <a:pt x="62" y="97"/>
                    </a:cubicBezTo>
                    <a:cubicBezTo>
                      <a:pt x="62" y="93"/>
                      <a:pt x="69" y="94"/>
                      <a:pt x="73" y="94"/>
                    </a:cubicBezTo>
                    <a:cubicBezTo>
                      <a:pt x="68" y="94"/>
                      <a:pt x="67" y="92"/>
                      <a:pt x="67" y="89"/>
                    </a:cubicBezTo>
                    <a:cubicBezTo>
                      <a:pt x="69" y="88"/>
                      <a:pt x="71" y="89"/>
                      <a:pt x="73" y="89"/>
                    </a:cubicBezTo>
                    <a:cubicBezTo>
                      <a:pt x="78" y="89"/>
                      <a:pt x="88" y="87"/>
                      <a:pt x="97" y="90"/>
                    </a:cubicBezTo>
                    <a:cubicBezTo>
                      <a:pt x="108" y="93"/>
                      <a:pt x="112" y="106"/>
                      <a:pt x="124" y="104"/>
                    </a:cubicBezTo>
                    <a:cubicBezTo>
                      <a:pt x="122" y="102"/>
                      <a:pt x="108" y="93"/>
                      <a:pt x="108" y="91"/>
                    </a:cubicBezTo>
                    <a:cubicBezTo>
                      <a:pt x="108" y="89"/>
                      <a:pt x="110" y="88"/>
                      <a:pt x="111" y="86"/>
                    </a:cubicBezTo>
                    <a:cubicBezTo>
                      <a:pt x="133" y="86"/>
                      <a:pt x="133" y="86"/>
                      <a:pt x="133" y="86"/>
                    </a:cubicBezTo>
                    <a:cubicBezTo>
                      <a:pt x="141" y="83"/>
                      <a:pt x="149" y="81"/>
                      <a:pt x="154" y="74"/>
                    </a:cubicBezTo>
                    <a:cubicBezTo>
                      <a:pt x="147" y="74"/>
                      <a:pt x="147" y="74"/>
                      <a:pt x="147" y="74"/>
                    </a:cubicBezTo>
                    <a:cubicBezTo>
                      <a:pt x="138" y="81"/>
                      <a:pt x="128" y="84"/>
                      <a:pt x="114" y="84"/>
                    </a:cubicBezTo>
                    <a:cubicBezTo>
                      <a:pt x="106" y="84"/>
                      <a:pt x="103" y="81"/>
                      <a:pt x="99" y="81"/>
                    </a:cubicBezTo>
                    <a:cubicBezTo>
                      <a:pt x="95" y="81"/>
                      <a:pt x="93" y="85"/>
                      <a:pt x="90" y="85"/>
                    </a:cubicBezTo>
                    <a:cubicBezTo>
                      <a:pt x="81" y="85"/>
                      <a:pt x="70" y="82"/>
                      <a:pt x="72" y="76"/>
                    </a:cubicBezTo>
                    <a:cubicBezTo>
                      <a:pt x="67" y="76"/>
                      <a:pt x="67" y="76"/>
                      <a:pt x="67" y="76"/>
                    </a:cubicBezTo>
                    <a:cubicBezTo>
                      <a:pt x="63" y="78"/>
                      <a:pt x="61" y="81"/>
                      <a:pt x="57" y="81"/>
                    </a:cubicBezTo>
                    <a:cubicBezTo>
                      <a:pt x="48" y="81"/>
                      <a:pt x="36" y="75"/>
                      <a:pt x="33" y="71"/>
                    </a:cubicBezTo>
                    <a:cubicBezTo>
                      <a:pt x="36" y="69"/>
                      <a:pt x="39" y="67"/>
                      <a:pt x="44" y="67"/>
                    </a:cubicBezTo>
                    <a:cubicBezTo>
                      <a:pt x="36" y="67"/>
                      <a:pt x="27" y="66"/>
                      <a:pt x="24" y="67"/>
                    </a:cubicBezTo>
                    <a:cubicBezTo>
                      <a:pt x="29" y="55"/>
                      <a:pt x="40" y="56"/>
                      <a:pt x="51" y="53"/>
                    </a:cubicBezTo>
                    <a:cubicBezTo>
                      <a:pt x="47" y="52"/>
                      <a:pt x="46" y="52"/>
                      <a:pt x="42" y="52"/>
                    </a:cubicBezTo>
                    <a:cubicBezTo>
                      <a:pt x="33" y="52"/>
                      <a:pt x="33" y="60"/>
                      <a:pt x="25" y="60"/>
                    </a:cubicBezTo>
                    <a:cubicBezTo>
                      <a:pt x="22" y="60"/>
                      <a:pt x="18" y="57"/>
                      <a:pt x="17" y="56"/>
                    </a:cubicBezTo>
                    <a:cubicBezTo>
                      <a:pt x="21" y="52"/>
                      <a:pt x="24" y="51"/>
                      <a:pt x="29" y="49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3" y="50"/>
                      <a:pt x="11" y="51"/>
                      <a:pt x="9" y="52"/>
                    </a:cubicBezTo>
                    <a:cubicBezTo>
                      <a:pt x="7" y="52"/>
                      <a:pt x="2" y="52"/>
                      <a:pt x="0" y="52"/>
                    </a:cubicBezTo>
                    <a:cubicBezTo>
                      <a:pt x="2" y="41"/>
                      <a:pt x="31" y="36"/>
                      <a:pt x="44" y="36"/>
                    </a:cubicBezTo>
                    <a:cubicBezTo>
                      <a:pt x="49" y="36"/>
                      <a:pt x="52" y="36"/>
                      <a:pt x="53" y="36"/>
                    </a:cubicBezTo>
                    <a:cubicBezTo>
                      <a:pt x="55" y="36"/>
                      <a:pt x="57" y="34"/>
                      <a:pt x="57" y="32"/>
                    </a:cubicBezTo>
                    <a:cubicBezTo>
                      <a:pt x="71" y="32"/>
                      <a:pt x="65" y="22"/>
                      <a:pt x="74" y="22"/>
                    </a:cubicBezTo>
                    <a:cubicBezTo>
                      <a:pt x="83" y="22"/>
                      <a:pt x="100" y="31"/>
                      <a:pt x="104" y="32"/>
                    </a:cubicBezTo>
                    <a:cubicBezTo>
                      <a:pt x="108" y="22"/>
                      <a:pt x="113" y="12"/>
                      <a:pt x="126" y="12"/>
                    </a:cubicBezTo>
                    <a:cubicBezTo>
                      <a:pt x="134" y="12"/>
                      <a:pt x="129" y="16"/>
                      <a:pt x="135" y="11"/>
                    </a:cubicBezTo>
                    <a:cubicBezTo>
                      <a:pt x="137" y="7"/>
                      <a:pt x="141" y="6"/>
                      <a:pt x="145" y="6"/>
                    </a:cubicBezTo>
                    <a:cubicBezTo>
                      <a:pt x="168" y="6"/>
                      <a:pt x="173" y="6"/>
                      <a:pt x="196" y="6"/>
                    </a:cubicBezTo>
                    <a:cubicBezTo>
                      <a:pt x="197" y="4"/>
                      <a:pt x="199" y="3"/>
                      <a:pt x="201" y="3"/>
                    </a:cubicBezTo>
                    <a:cubicBezTo>
                      <a:pt x="209" y="3"/>
                      <a:pt x="211" y="8"/>
                      <a:pt x="218" y="8"/>
                    </a:cubicBezTo>
                    <a:cubicBezTo>
                      <a:pt x="224" y="8"/>
                      <a:pt x="226" y="0"/>
                      <a:pt x="232" y="0"/>
                    </a:cubicBezTo>
                    <a:cubicBezTo>
                      <a:pt x="239" y="0"/>
                      <a:pt x="241" y="3"/>
                      <a:pt x="245" y="3"/>
                    </a:cubicBezTo>
                    <a:cubicBezTo>
                      <a:pt x="250" y="3"/>
                      <a:pt x="253" y="3"/>
                      <a:pt x="258" y="3"/>
                    </a:cubicBezTo>
                    <a:cubicBezTo>
                      <a:pt x="268" y="3"/>
                      <a:pt x="306" y="2"/>
                      <a:pt x="315" y="1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64" name="Freeform 88">
                <a:extLst>
                  <a:ext uri="{FF2B5EF4-FFF2-40B4-BE49-F238E27FC236}">
                    <a16:creationId xmlns:a16="http://schemas.microsoft.com/office/drawing/2014/main" id="{8CA8106E-DE93-96CE-822B-D708E5B738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0238" y="960438"/>
                <a:ext cx="1006475" cy="765175"/>
              </a:xfrm>
              <a:custGeom>
                <a:avLst/>
                <a:gdLst/>
                <a:ahLst/>
                <a:cxnLst>
                  <a:cxn ang="0">
                    <a:pos x="280" y="372"/>
                  </a:cxn>
                  <a:cxn ang="0">
                    <a:pos x="267" y="360"/>
                  </a:cxn>
                  <a:cxn ang="0">
                    <a:pos x="228" y="336"/>
                  </a:cxn>
                  <a:cxn ang="0">
                    <a:pos x="215" y="302"/>
                  </a:cxn>
                  <a:cxn ang="0">
                    <a:pos x="109" y="219"/>
                  </a:cxn>
                  <a:cxn ang="0">
                    <a:pos x="73" y="223"/>
                  </a:cxn>
                  <a:cxn ang="0">
                    <a:pos x="43" y="217"/>
                  </a:cxn>
                  <a:cxn ang="0">
                    <a:pos x="19" y="202"/>
                  </a:cxn>
                  <a:cxn ang="0">
                    <a:pos x="51" y="190"/>
                  </a:cxn>
                  <a:cxn ang="0">
                    <a:pos x="64" y="180"/>
                  </a:cxn>
                  <a:cxn ang="0">
                    <a:pos x="0" y="166"/>
                  </a:cxn>
                  <a:cxn ang="0">
                    <a:pos x="84" y="141"/>
                  </a:cxn>
                  <a:cxn ang="0">
                    <a:pos x="72" y="102"/>
                  </a:cxn>
                  <a:cxn ang="0">
                    <a:pos x="144" y="59"/>
                  </a:cxn>
                  <a:cxn ang="0">
                    <a:pos x="237" y="56"/>
                  </a:cxn>
                  <a:cxn ang="0">
                    <a:pos x="260" y="53"/>
                  </a:cxn>
                  <a:cxn ang="0">
                    <a:pos x="274" y="38"/>
                  </a:cxn>
                  <a:cxn ang="0">
                    <a:pos x="309" y="36"/>
                  </a:cxn>
                  <a:cxn ang="0">
                    <a:pos x="355" y="15"/>
                  </a:cxn>
                  <a:cxn ang="0">
                    <a:pos x="391" y="13"/>
                  </a:cxn>
                  <a:cxn ang="0">
                    <a:pos x="534" y="0"/>
                  </a:cxn>
                  <a:cxn ang="0">
                    <a:pos x="594" y="48"/>
                  </a:cxn>
                  <a:cxn ang="0">
                    <a:pos x="570" y="75"/>
                  </a:cxn>
                  <a:cxn ang="0">
                    <a:pos x="603" y="102"/>
                  </a:cxn>
                  <a:cxn ang="0">
                    <a:pos x="684" y="66"/>
                  </a:cxn>
                  <a:cxn ang="0">
                    <a:pos x="730" y="51"/>
                  </a:cxn>
                  <a:cxn ang="0">
                    <a:pos x="702" y="94"/>
                  </a:cxn>
                  <a:cxn ang="0">
                    <a:pos x="691" y="114"/>
                  </a:cxn>
                  <a:cxn ang="0">
                    <a:pos x="654" y="150"/>
                  </a:cxn>
                  <a:cxn ang="0">
                    <a:pos x="677" y="178"/>
                  </a:cxn>
                  <a:cxn ang="0">
                    <a:pos x="657" y="202"/>
                  </a:cxn>
                  <a:cxn ang="0">
                    <a:pos x="669" y="236"/>
                  </a:cxn>
                  <a:cxn ang="0">
                    <a:pos x="673" y="260"/>
                  </a:cxn>
                  <a:cxn ang="0">
                    <a:pos x="633" y="295"/>
                  </a:cxn>
                  <a:cxn ang="0">
                    <a:pos x="637" y="305"/>
                  </a:cxn>
                  <a:cxn ang="0">
                    <a:pos x="601" y="297"/>
                  </a:cxn>
                  <a:cxn ang="0">
                    <a:pos x="633" y="358"/>
                  </a:cxn>
                  <a:cxn ang="0">
                    <a:pos x="596" y="347"/>
                  </a:cxn>
                  <a:cxn ang="0">
                    <a:pos x="616" y="375"/>
                  </a:cxn>
                  <a:cxn ang="0">
                    <a:pos x="518" y="408"/>
                  </a:cxn>
                  <a:cxn ang="0">
                    <a:pos x="483" y="445"/>
                  </a:cxn>
                  <a:cxn ang="0">
                    <a:pos x="443" y="449"/>
                  </a:cxn>
                  <a:cxn ang="0">
                    <a:pos x="402" y="485"/>
                  </a:cxn>
                  <a:cxn ang="0">
                    <a:pos x="384" y="523"/>
                  </a:cxn>
                  <a:cxn ang="0">
                    <a:pos x="362" y="571"/>
                  </a:cxn>
                  <a:cxn ang="0">
                    <a:pos x="313" y="560"/>
                  </a:cxn>
                  <a:cxn ang="0">
                    <a:pos x="270" y="499"/>
                  </a:cxn>
                  <a:cxn ang="0">
                    <a:pos x="256" y="475"/>
                  </a:cxn>
                  <a:cxn ang="0">
                    <a:pos x="237" y="438"/>
                  </a:cxn>
                  <a:cxn ang="0">
                    <a:pos x="255" y="403"/>
                  </a:cxn>
                </a:cxnLst>
                <a:rect l="0" t="0" r="r" b="b"/>
                <a:pathLst>
                  <a:path w="756" h="575">
                    <a:moveTo>
                      <a:pt x="255" y="403"/>
                    </a:moveTo>
                    <a:cubicBezTo>
                      <a:pt x="261" y="400"/>
                      <a:pt x="261" y="400"/>
                      <a:pt x="267" y="402"/>
                    </a:cubicBezTo>
                    <a:cubicBezTo>
                      <a:pt x="270" y="389"/>
                      <a:pt x="276" y="385"/>
                      <a:pt x="280" y="372"/>
                    </a:cubicBezTo>
                    <a:cubicBezTo>
                      <a:pt x="266" y="368"/>
                      <a:pt x="234" y="366"/>
                      <a:pt x="233" y="353"/>
                    </a:cubicBezTo>
                    <a:cubicBezTo>
                      <a:pt x="237" y="352"/>
                      <a:pt x="236" y="353"/>
                      <a:pt x="240" y="353"/>
                    </a:cubicBezTo>
                    <a:cubicBezTo>
                      <a:pt x="250" y="353"/>
                      <a:pt x="256" y="360"/>
                      <a:pt x="267" y="360"/>
                    </a:cubicBezTo>
                    <a:cubicBezTo>
                      <a:pt x="271" y="360"/>
                      <a:pt x="271" y="356"/>
                      <a:pt x="271" y="353"/>
                    </a:cubicBezTo>
                    <a:cubicBezTo>
                      <a:pt x="258" y="349"/>
                      <a:pt x="254" y="328"/>
                      <a:pt x="239" y="328"/>
                    </a:cubicBezTo>
                    <a:cubicBezTo>
                      <a:pt x="235" y="328"/>
                      <a:pt x="234" y="336"/>
                      <a:pt x="228" y="336"/>
                    </a:cubicBezTo>
                    <a:cubicBezTo>
                      <a:pt x="220" y="336"/>
                      <a:pt x="216" y="335"/>
                      <a:pt x="216" y="328"/>
                    </a:cubicBezTo>
                    <a:cubicBezTo>
                      <a:pt x="216" y="318"/>
                      <a:pt x="226" y="319"/>
                      <a:pt x="226" y="309"/>
                    </a:cubicBezTo>
                    <a:cubicBezTo>
                      <a:pt x="226" y="303"/>
                      <a:pt x="219" y="302"/>
                      <a:pt x="215" y="302"/>
                    </a:cubicBezTo>
                    <a:cubicBezTo>
                      <a:pt x="215" y="295"/>
                      <a:pt x="215" y="295"/>
                      <a:pt x="215" y="295"/>
                    </a:cubicBezTo>
                    <a:cubicBezTo>
                      <a:pt x="203" y="257"/>
                      <a:pt x="172" y="219"/>
                      <a:pt x="122" y="219"/>
                    </a:cubicBezTo>
                    <a:cubicBezTo>
                      <a:pt x="115" y="219"/>
                      <a:pt x="113" y="219"/>
                      <a:pt x="109" y="219"/>
                    </a:cubicBezTo>
                    <a:cubicBezTo>
                      <a:pt x="103" y="219"/>
                      <a:pt x="101" y="224"/>
                      <a:pt x="95" y="224"/>
                    </a:cubicBezTo>
                    <a:cubicBezTo>
                      <a:pt x="91" y="224"/>
                      <a:pt x="87" y="221"/>
                      <a:pt x="82" y="221"/>
                    </a:cubicBezTo>
                    <a:cubicBezTo>
                      <a:pt x="77" y="221"/>
                      <a:pt x="75" y="222"/>
                      <a:pt x="73" y="223"/>
                    </a:cubicBezTo>
                    <a:cubicBezTo>
                      <a:pt x="74" y="224"/>
                      <a:pt x="76" y="226"/>
                      <a:pt x="77" y="226"/>
                    </a:cubicBezTo>
                    <a:cubicBezTo>
                      <a:pt x="75" y="229"/>
                      <a:pt x="75" y="228"/>
                      <a:pt x="72" y="228"/>
                    </a:cubicBezTo>
                    <a:cubicBezTo>
                      <a:pt x="62" y="228"/>
                      <a:pt x="48" y="224"/>
                      <a:pt x="43" y="217"/>
                    </a:cubicBezTo>
                    <a:cubicBezTo>
                      <a:pt x="47" y="214"/>
                      <a:pt x="50" y="214"/>
                      <a:pt x="52" y="210"/>
                    </a:cubicBezTo>
                    <a:cubicBezTo>
                      <a:pt x="45" y="207"/>
                      <a:pt x="39" y="202"/>
                      <a:pt x="34" y="202"/>
                    </a:cubicBezTo>
                    <a:cubicBezTo>
                      <a:pt x="24" y="202"/>
                      <a:pt x="27" y="206"/>
                      <a:pt x="19" y="202"/>
                    </a:cubicBezTo>
                    <a:cubicBezTo>
                      <a:pt x="19" y="196"/>
                      <a:pt x="28" y="194"/>
                      <a:pt x="32" y="194"/>
                    </a:cubicBezTo>
                    <a:cubicBezTo>
                      <a:pt x="37" y="194"/>
                      <a:pt x="40" y="194"/>
                      <a:pt x="43" y="194"/>
                    </a:cubicBezTo>
                    <a:cubicBezTo>
                      <a:pt x="47" y="194"/>
                      <a:pt x="49" y="193"/>
                      <a:pt x="51" y="190"/>
                    </a:cubicBezTo>
                    <a:cubicBezTo>
                      <a:pt x="76" y="190"/>
                      <a:pt x="76" y="190"/>
                      <a:pt x="76" y="190"/>
                    </a:cubicBezTo>
                    <a:cubicBezTo>
                      <a:pt x="80" y="187"/>
                      <a:pt x="80" y="185"/>
                      <a:pt x="82" y="180"/>
                    </a:cubicBezTo>
                    <a:cubicBezTo>
                      <a:pt x="64" y="180"/>
                      <a:pt x="64" y="180"/>
                      <a:pt x="64" y="180"/>
                    </a:cubicBezTo>
                    <a:cubicBezTo>
                      <a:pt x="63" y="183"/>
                      <a:pt x="62" y="185"/>
                      <a:pt x="60" y="185"/>
                    </a:cubicBezTo>
                    <a:cubicBezTo>
                      <a:pt x="53" y="185"/>
                      <a:pt x="50" y="185"/>
                      <a:pt x="44" y="185"/>
                    </a:cubicBezTo>
                    <a:cubicBezTo>
                      <a:pt x="42" y="185"/>
                      <a:pt x="0" y="173"/>
                      <a:pt x="0" y="166"/>
                    </a:cubicBezTo>
                    <a:cubicBezTo>
                      <a:pt x="0" y="152"/>
                      <a:pt x="16" y="157"/>
                      <a:pt x="25" y="154"/>
                    </a:cubicBezTo>
                    <a:cubicBezTo>
                      <a:pt x="33" y="151"/>
                      <a:pt x="38" y="146"/>
                      <a:pt x="46" y="144"/>
                    </a:cubicBezTo>
                    <a:cubicBezTo>
                      <a:pt x="58" y="140"/>
                      <a:pt x="74" y="146"/>
                      <a:pt x="84" y="141"/>
                    </a:cubicBezTo>
                    <a:cubicBezTo>
                      <a:pt x="91" y="136"/>
                      <a:pt x="96" y="128"/>
                      <a:pt x="96" y="117"/>
                    </a:cubicBezTo>
                    <a:cubicBezTo>
                      <a:pt x="88" y="116"/>
                      <a:pt x="63" y="117"/>
                      <a:pt x="63" y="109"/>
                    </a:cubicBezTo>
                    <a:cubicBezTo>
                      <a:pt x="63" y="105"/>
                      <a:pt x="69" y="102"/>
                      <a:pt x="72" y="102"/>
                    </a:cubicBezTo>
                    <a:cubicBezTo>
                      <a:pt x="87" y="97"/>
                      <a:pt x="106" y="86"/>
                      <a:pt x="115" y="78"/>
                    </a:cubicBezTo>
                    <a:cubicBezTo>
                      <a:pt x="119" y="80"/>
                      <a:pt x="122" y="81"/>
                      <a:pt x="127" y="81"/>
                    </a:cubicBezTo>
                    <a:cubicBezTo>
                      <a:pt x="142" y="81"/>
                      <a:pt x="130" y="61"/>
                      <a:pt x="144" y="59"/>
                    </a:cubicBezTo>
                    <a:cubicBezTo>
                      <a:pt x="162" y="57"/>
                      <a:pt x="169" y="52"/>
                      <a:pt x="185" y="52"/>
                    </a:cubicBezTo>
                    <a:cubicBezTo>
                      <a:pt x="198" y="49"/>
                      <a:pt x="206" y="42"/>
                      <a:pt x="218" y="42"/>
                    </a:cubicBezTo>
                    <a:cubicBezTo>
                      <a:pt x="226" y="42"/>
                      <a:pt x="229" y="56"/>
                      <a:pt x="237" y="56"/>
                    </a:cubicBezTo>
                    <a:cubicBezTo>
                      <a:pt x="237" y="52"/>
                      <a:pt x="235" y="50"/>
                      <a:pt x="235" y="47"/>
                    </a:cubicBezTo>
                    <a:cubicBezTo>
                      <a:pt x="239" y="42"/>
                      <a:pt x="239" y="42"/>
                      <a:pt x="239" y="42"/>
                    </a:cubicBezTo>
                    <a:cubicBezTo>
                      <a:pt x="244" y="51"/>
                      <a:pt x="252" y="50"/>
                      <a:pt x="260" y="53"/>
                    </a:cubicBezTo>
                    <a:cubicBezTo>
                      <a:pt x="262" y="53"/>
                      <a:pt x="267" y="53"/>
                      <a:pt x="267" y="53"/>
                    </a:cubicBezTo>
                    <a:cubicBezTo>
                      <a:pt x="266" y="50"/>
                      <a:pt x="263" y="47"/>
                      <a:pt x="263" y="44"/>
                    </a:cubicBezTo>
                    <a:cubicBezTo>
                      <a:pt x="263" y="38"/>
                      <a:pt x="270" y="38"/>
                      <a:pt x="274" y="38"/>
                    </a:cubicBezTo>
                    <a:cubicBezTo>
                      <a:pt x="293" y="38"/>
                      <a:pt x="303" y="48"/>
                      <a:pt x="314" y="53"/>
                    </a:cubicBezTo>
                    <a:cubicBezTo>
                      <a:pt x="334" y="53"/>
                      <a:pt x="334" y="53"/>
                      <a:pt x="334" y="53"/>
                    </a:cubicBezTo>
                    <a:cubicBezTo>
                      <a:pt x="327" y="50"/>
                      <a:pt x="309" y="44"/>
                      <a:pt x="309" y="36"/>
                    </a:cubicBezTo>
                    <a:cubicBezTo>
                      <a:pt x="309" y="29"/>
                      <a:pt x="322" y="31"/>
                      <a:pt x="326" y="30"/>
                    </a:cubicBezTo>
                    <a:cubicBezTo>
                      <a:pt x="323" y="27"/>
                      <a:pt x="320" y="27"/>
                      <a:pt x="318" y="24"/>
                    </a:cubicBezTo>
                    <a:cubicBezTo>
                      <a:pt x="330" y="18"/>
                      <a:pt x="341" y="15"/>
                      <a:pt x="355" y="15"/>
                    </a:cubicBezTo>
                    <a:cubicBezTo>
                      <a:pt x="366" y="15"/>
                      <a:pt x="373" y="15"/>
                      <a:pt x="382" y="18"/>
                    </a:cubicBezTo>
                    <a:cubicBezTo>
                      <a:pt x="391" y="18"/>
                      <a:pt x="391" y="18"/>
                      <a:pt x="391" y="18"/>
                    </a:cubicBezTo>
                    <a:cubicBezTo>
                      <a:pt x="391" y="13"/>
                      <a:pt x="391" y="13"/>
                      <a:pt x="391" y="13"/>
                    </a:cubicBezTo>
                    <a:cubicBezTo>
                      <a:pt x="398" y="12"/>
                      <a:pt x="402" y="13"/>
                      <a:pt x="409" y="13"/>
                    </a:cubicBezTo>
                    <a:cubicBezTo>
                      <a:pt x="430" y="13"/>
                      <a:pt x="447" y="0"/>
                      <a:pt x="470" y="0"/>
                    </a:cubicBezTo>
                    <a:cubicBezTo>
                      <a:pt x="495" y="0"/>
                      <a:pt x="512" y="0"/>
                      <a:pt x="534" y="0"/>
                    </a:cubicBezTo>
                    <a:cubicBezTo>
                      <a:pt x="560" y="0"/>
                      <a:pt x="579" y="17"/>
                      <a:pt x="600" y="26"/>
                    </a:cubicBezTo>
                    <a:cubicBezTo>
                      <a:pt x="612" y="31"/>
                      <a:pt x="627" y="28"/>
                      <a:pt x="638" y="30"/>
                    </a:cubicBezTo>
                    <a:cubicBezTo>
                      <a:pt x="636" y="46"/>
                      <a:pt x="606" y="44"/>
                      <a:pt x="594" y="48"/>
                    </a:cubicBezTo>
                    <a:cubicBezTo>
                      <a:pt x="497" y="53"/>
                      <a:pt x="497" y="53"/>
                      <a:pt x="497" y="53"/>
                    </a:cubicBezTo>
                    <a:cubicBezTo>
                      <a:pt x="505" y="59"/>
                      <a:pt x="579" y="50"/>
                      <a:pt x="587" y="53"/>
                    </a:cubicBezTo>
                    <a:cubicBezTo>
                      <a:pt x="586" y="57"/>
                      <a:pt x="567" y="75"/>
                      <a:pt x="570" y="75"/>
                    </a:cubicBezTo>
                    <a:cubicBezTo>
                      <a:pt x="581" y="75"/>
                      <a:pt x="607" y="50"/>
                      <a:pt x="622" y="50"/>
                    </a:cubicBezTo>
                    <a:cubicBezTo>
                      <a:pt x="630" y="50"/>
                      <a:pt x="633" y="57"/>
                      <a:pt x="633" y="64"/>
                    </a:cubicBezTo>
                    <a:cubicBezTo>
                      <a:pt x="633" y="67"/>
                      <a:pt x="605" y="97"/>
                      <a:pt x="603" y="102"/>
                    </a:cubicBezTo>
                    <a:cubicBezTo>
                      <a:pt x="615" y="99"/>
                      <a:pt x="637" y="70"/>
                      <a:pt x="644" y="64"/>
                    </a:cubicBezTo>
                    <a:cubicBezTo>
                      <a:pt x="655" y="64"/>
                      <a:pt x="674" y="64"/>
                      <a:pt x="674" y="64"/>
                    </a:cubicBezTo>
                    <a:cubicBezTo>
                      <a:pt x="674" y="64"/>
                      <a:pt x="682" y="66"/>
                      <a:pt x="684" y="66"/>
                    </a:cubicBezTo>
                    <a:cubicBezTo>
                      <a:pt x="692" y="63"/>
                      <a:pt x="693" y="60"/>
                      <a:pt x="700" y="57"/>
                    </a:cubicBezTo>
                    <a:cubicBezTo>
                      <a:pt x="721" y="57"/>
                      <a:pt x="721" y="57"/>
                      <a:pt x="721" y="57"/>
                    </a:cubicBezTo>
                    <a:cubicBezTo>
                      <a:pt x="723" y="52"/>
                      <a:pt x="726" y="51"/>
                      <a:pt x="730" y="51"/>
                    </a:cubicBezTo>
                    <a:cubicBezTo>
                      <a:pt x="736" y="51"/>
                      <a:pt x="756" y="61"/>
                      <a:pt x="756" y="67"/>
                    </a:cubicBezTo>
                    <a:cubicBezTo>
                      <a:pt x="756" y="72"/>
                      <a:pt x="748" y="76"/>
                      <a:pt x="745" y="77"/>
                    </a:cubicBezTo>
                    <a:cubicBezTo>
                      <a:pt x="731" y="82"/>
                      <a:pt x="722" y="94"/>
                      <a:pt x="702" y="94"/>
                    </a:cubicBezTo>
                    <a:cubicBezTo>
                      <a:pt x="707" y="97"/>
                      <a:pt x="708" y="97"/>
                      <a:pt x="711" y="94"/>
                    </a:cubicBezTo>
                    <a:cubicBezTo>
                      <a:pt x="711" y="107"/>
                      <a:pt x="699" y="107"/>
                      <a:pt x="691" y="109"/>
                    </a:cubicBezTo>
                    <a:cubicBezTo>
                      <a:pt x="694" y="115"/>
                      <a:pt x="691" y="110"/>
                      <a:pt x="691" y="114"/>
                    </a:cubicBezTo>
                    <a:cubicBezTo>
                      <a:pt x="691" y="121"/>
                      <a:pt x="680" y="123"/>
                      <a:pt x="671" y="125"/>
                    </a:cubicBezTo>
                    <a:cubicBezTo>
                      <a:pt x="672" y="130"/>
                      <a:pt x="671" y="130"/>
                      <a:pt x="671" y="132"/>
                    </a:cubicBezTo>
                    <a:cubicBezTo>
                      <a:pt x="671" y="141"/>
                      <a:pt x="662" y="144"/>
                      <a:pt x="654" y="150"/>
                    </a:cubicBezTo>
                    <a:cubicBezTo>
                      <a:pt x="648" y="154"/>
                      <a:pt x="649" y="165"/>
                      <a:pt x="646" y="169"/>
                    </a:cubicBezTo>
                    <a:cubicBezTo>
                      <a:pt x="651" y="172"/>
                      <a:pt x="655" y="169"/>
                      <a:pt x="659" y="169"/>
                    </a:cubicBezTo>
                    <a:cubicBezTo>
                      <a:pt x="667" y="169"/>
                      <a:pt x="673" y="174"/>
                      <a:pt x="677" y="178"/>
                    </a:cubicBezTo>
                    <a:cubicBezTo>
                      <a:pt x="675" y="179"/>
                      <a:pt x="672" y="180"/>
                      <a:pt x="669" y="180"/>
                    </a:cubicBezTo>
                    <a:cubicBezTo>
                      <a:pt x="671" y="187"/>
                      <a:pt x="688" y="185"/>
                      <a:pt x="688" y="196"/>
                    </a:cubicBezTo>
                    <a:cubicBezTo>
                      <a:pt x="688" y="206"/>
                      <a:pt x="665" y="202"/>
                      <a:pt x="657" y="202"/>
                    </a:cubicBezTo>
                    <a:cubicBezTo>
                      <a:pt x="652" y="202"/>
                      <a:pt x="648" y="206"/>
                      <a:pt x="648" y="209"/>
                    </a:cubicBezTo>
                    <a:cubicBezTo>
                      <a:pt x="648" y="217"/>
                      <a:pt x="656" y="217"/>
                      <a:pt x="663" y="217"/>
                    </a:cubicBezTo>
                    <a:cubicBezTo>
                      <a:pt x="663" y="226"/>
                      <a:pt x="669" y="229"/>
                      <a:pt x="669" y="236"/>
                    </a:cubicBezTo>
                    <a:cubicBezTo>
                      <a:pt x="669" y="239"/>
                      <a:pt x="667" y="243"/>
                      <a:pt x="669" y="245"/>
                    </a:cubicBezTo>
                    <a:cubicBezTo>
                      <a:pt x="662" y="245"/>
                      <a:pt x="655" y="245"/>
                      <a:pt x="655" y="251"/>
                    </a:cubicBezTo>
                    <a:cubicBezTo>
                      <a:pt x="655" y="258"/>
                      <a:pt x="667" y="258"/>
                      <a:pt x="673" y="260"/>
                    </a:cubicBezTo>
                    <a:cubicBezTo>
                      <a:pt x="670" y="267"/>
                      <a:pt x="661" y="271"/>
                      <a:pt x="653" y="272"/>
                    </a:cubicBezTo>
                    <a:cubicBezTo>
                      <a:pt x="653" y="275"/>
                      <a:pt x="655" y="277"/>
                      <a:pt x="657" y="278"/>
                    </a:cubicBezTo>
                    <a:cubicBezTo>
                      <a:pt x="654" y="292"/>
                      <a:pt x="637" y="286"/>
                      <a:pt x="633" y="295"/>
                    </a:cubicBezTo>
                    <a:cubicBezTo>
                      <a:pt x="628" y="292"/>
                      <a:pt x="623" y="290"/>
                      <a:pt x="620" y="285"/>
                    </a:cubicBezTo>
                    <a:cubicBezTo>
                      <a:pt x="613" y="285"/>
                      <a:pt x="613" y="285"/>
                      <a:pt x="613" y="285"/>
                    </a:cubicBezTo>
                    <a:cubicBezTo>
                      <a:pt x="618" y="297"/>
                      <a:pt x="637" y="293"/>
                      <a:pt x="637" y="305"/>
                    </a:cubicBezTo>
                    <a:cubicBezTo>
                      <a:pt x="637" y="310"/>
                      <a:pt x="636" y="317"/>
                      <a:pt x="631" y="317"/>
                    </a:cubicBezTo>
                    <a:cubicBezTo>
                      <a:pt x="623" y="317"/>
                      <a:pt x="609" y="306"/>
                      <a:pt x="607" y="297"/>
                    </a:cubicBezTo>
                    <a:cubicBezTo>
                      <a:pt x="603" y="298"/>
                      <a:pt x="602" y="297"/>
                      <a:pt x="601" y="297"/>
                    </a:cubicBezTo>
                    <a:cubicBezTo>
                      <a:pt x="601" y="304"/>
                      <a:pt x="601" y="304"/>
                      <a:pt x="601" y="304"/>
                    </a:cubicBezTo>
                    <a:cubicBezTo>
                      <a:pt x="617" y="320"/>
                      <a:pt x="645" y="327"/>
                      <a:pt x="645" y="352"/>
                    </a:cubicBezTo>
                    <a:cubicBezTo>
                      <a:pt x="645" y="357"/>
                      <a:pt x="638" y="358"/>
                      <a:pt x="633" y="358"/>
                    </a:cubicBezTo>
                    <a:cubicBezTo>
                      <a:pt x="612" y="358"/>
                      <a:pt x="617" y="336"/>
                      <a:pt x="599" y="336"/>
                    </a:cubicBezTo>
                    <a:cubicBezTo>
                      <a:pt x="596" y="336"/>
                      <a:pt x="594" y="337"/>
                      <a:pt x="592" y="336"/>
                    </a:cubicBezTo>
                    <a:cubicBezTo>
                      <a:pt x="592" y="342"/>
                      <a:pt x="596" y="343"/>
                      <a:pt x="596" y="347"/>
                    </a:cubicBezTo>
                    <a:cubicBezTo>
                      <a:pt x="596" y="351"/>
                      <a:pt x="589" y="352"/>
                      <a:pt x="587" y="352"/>
                    </a:cubicBezTo>
                    <a:cubicBezTo>
                      <a:pt x="587" y="366"/>
                      <a:pt x="626" y="364"/>
                      <a:pt x="635" y="367"/>
                    </a:cubicBezTo>
                    <a:cubicBezTo>
                      <a:pt x="629" y="372"/>
                      <a:pt x="624" y="373"/>
                      <a:pt x="616" y="375"/>
                    </a:cubicBezTo>
                    <a:cubicBezTo>
                      <a:pt x="602" y="380"/>
                      <a:pt x="597" y="393"/>
                      <a:pt x="584" y="397"/>
                    </a:cubicBezTo>
                    <a:cubicBezTo>
                      <a:pt x="569" y="402"/>
                      <a:pt x="556" y="400"/>
                      <a:pt x="539" y="408"/>
                    </a:cubicBezTo>
                    <a:cubicBezTo>
                      <a:pt x="518" y="408"/>
                      <a:pt x="518" y="408"/>
                      <a:pt x="518" y="408"/>
                    </a:cubicBezTo>
                    <a:cubicBezTo>
                      <a:pt x="514" y="410"/>
                      <a:pt x="510" y="412"/>
                      <a:pt x="510" y="415"/>
                    </a:cubicBezTo>
                    <a:cubicBezTo>
                      <a:pt x="498" y="423"/>
                      <a:pt x="498" y="423"/>
                      <a:pt x="498" y="423"/>
                    </a:cubicBezTo>
                    <a:cubicBezTo>
                      <a:pt x="490" y="430"/>
                      <a:pt x="490" y="438"/>
                      <a:pt x="483" y="445"/>
                    </a:cubicBezTo>
                    <a:cubicBezTo>
                      <a:pt x="474" y="454"/>
                      <a:pt x="459" y="452"/>
                      <a:pt x="450" y="458"/>
                    </a:cubicBezTo>
                    <a:cubicBezTo>
                      <a:pt x="443" y="458"/>
                      <a:pt x="443" y="458"/>
                      <a:pt x="443" y="458"/>
                    </a:cubicBezTo>
                    <a:cubicBezTo>
                      <a:pt x="443" y="449"/>
                      <a:pt x="443" y="449"/>
                      <a:pt x="443" y="449"/>
                    </a:cubicBezTo>
                    <a:cubicBezTo>
                      <a:pt x="437" y="452"/>
                      <a:pt x="438" y="457"/>
                      <a:pt x="435" y="460"/>
                    </a:cubicBezTo>
                    <a:cubicBezTo>
                      <a:pt x="425" y="470"/>
                      <a:pt x="401" y="466"/>
                      <a:pt x="401" y="480"/>
                    </a:cubicBezTo>
                    <a:cubicBezTo>
                      <a:pt x="401" y="482"/>
                      <a:pt x="402" y="483"/>
                      <a:pt x="402" y="485"/>
                    </a:cubicBezTo>
                    <a:cubicBezTo>
                      <a:pt x="401" y="486"/>
                      <a:pt x="399" y="488"/>
                      <a:pt x="399" y="490"/>
                    </a:cubicBezTo>
                    <a:cubicBezTo>
                      <a:pt x="399" y="493"/>
                      <a:pt x="405" y="495"/>
                      <a:pt x="405" y="500"/>
                    </a:cubicBezTo>
                    <a:cubicBezTo>
                      <a:pt x="405" y="515"/>
                      <a:pt x="384" y="510"/>
                      <a:pt x="384" y="523"/>
                    </a:cubicBezTo>
                    <a:cubicBezTo>
                      <a:pt x="384" y="531"/>
                      <a:pt x="383" y="543"/>
                      <a:pt x="384" y="547"/>
                    </a:cubicBezTo>
                    <a:cubicBezTo>
                      <a:pt x="374" y="552"/>
                      <a:pt x="379" y="575"/>
                      <a:pt x="367" y="575"/>
                    </a:cubicBezTo>
                    <a:cubicBezTo>
                      <a:pt x="364" y="575"/>
                      <a:pt x="363" y="573"/>
                      <a:pt x="362" y="571"/>
                    </a:cubicBezTo>
                    <a:cubicBezTo>
                      <a:pt x="356" y="571"/>
                      <a:pt x="356" y="574"/>
                      <a:pt x="353" y="574"/>
                    </a:cubicBezTo>
                    <a:cubicBezTo>
                      <a:pt x="342" y="574"/>
                      <a:pt x="343" y="554"/>
                      <a:pt x="332" y="554"/>
                    </a:cubicBezTo>
                    <a:cubicBezTo>
                      <a:pt x="326" y="554"/>
                      <a:pt x="319" y="559"/>
                      <a:pt x="313" y="560"/>
                    </a:cubicBezTo>
                    <a:cubicBezTo>
                      <a:pt x="310" y="550"/>
                      <a:pt x="306" y="553"/>
                      <a:pt x="299" y="547"/>
                    </a:cubicBezTo>
                    <a:cubicBezTo>
                      <a:pt x="296" y="546"/>
                      <a:pt x="297" y="539"/>
                      <a:pt x="296" y="539"/>
                    </a:cubicBezTo>
                    <a:cubicBezTo>
                      <a:pt x="287" y="531"/>
                      <a:pt x="270" y="512"/>
                      <a:pt x="270" y="499"/>
                    </a:cubicBezTo>
                    <a:cubicBezTo>
                      <a:pt x="270" y="493"/>
                      <a:pt x="274" y="494"/>
                      <a:pt x="277" y="490"/>
                    </a:cubicBezTo>
                    <a:cubicBezTo>
                      <a:pt x="270" y="482"/>
                      <a:pt x="268" y="493"/>
                      <a:pt x="260" y="489"/>
                    </a:cubicBezTo>
                    <a:cubicBezTo>
                      <a:pt x="259" y="487"/>
                      <a:pt x="257" y="479"/>
                      <a:pt x="256" y="475"/>
                    </a:cubicBezTo>
                    <a:cubicBezTo>
                      <a:pt x="253" y="466"/>
                      <a:pt x="241" y="461"/>
                      <a:pt x="241" y="449"/>
                    </a:cubicBezTo>
                    <a:cubicBezTo>
                      <a:pt x="241" y="445"/>
                      <a:pt x="244" y="443"/>
                      <a:pt x="246" y="438"/>
                    </a:cubicBezTo>
                    <a:cubicBezTo>
                      <a:pt x="243" y="437"/>
                      <a:pt x="240" y="436"/>
                      <a:pt x="237" y="438"/>
                    </a:cubicBezTo>
                    <a:cubicBezTo>
                      <a:pt x="237" y="428"/>
                      <a:pt x="237" y="428"/>
                      <a:pt x="237" y="428"/>
                    </a:cubicBezTo>
                    <a:cubicBezTo>
                      <a:pt x="243" y="420"/>
                      <a:pt x="246" y="411"/>
                      <a:pt x="255" y="404"/>
                    </a:cubicBezTo>
                    <a:lnTo>
                      <a:pt x="255" y="40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65" name="Freeform 89">
                <a:extLst>
                  <a:ext uri="{FF2B5EF4-FFF2-40B4-BE49-F238E27FC236}">
                    <a16:creationId xmlns:a16="http://schemas.microsoft.com/office/drawing/2014/main" id="{567C988C-7E23-F4F4-9905-A5E40DA282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0275" y="1443038"/>
                <a:ext cx="47625" cy="31750"/>
              </a:xfrm>
              <a:custGeom>
                <a:avLst/>
                <a:gdLst/>
                <a:ahLst/>
                <a:cxnLst>
                  <a:cxn ang="0">
                    <a:pos x="9" y="24"/>
                  </a:cxn>
                  <a:cxn ang="0">
                    <a:pos x="0" y="9"/>
                  </a:cxn>
                  <a:cxn ang="0">
                    <a:pos x="10" y="0"/>
                  </a:cxn>
                  <a:cxn ang="0">
                    <a:pos x="36" y="16"/>
                  </a:cxn>
                  <a:cxn ang="0">
                    <a:pos x="19" y="24"/>
                  </a:cxn>
                  <a:cxn ang="0">
                    <a:pos x="9" y="24"/>
                  </a:cxn>
                </a:cxnLst>
                <a:rect l="0" t="0" r="r" b="b"/>
                <a:pathLst>
                  <a:path w="36" h="24">
                    <a:moveTo>
                      <a:pt x="9" y="24"/>
                    </a:moveTo>
                    <a:cubicBezTo>
                      <a:pt x="5" y="24"/>
                      <a:pt x="0" y="14"/>
                      <a:pt x="0" y="9"/>
                    </a:cubicBezTo>
                    <a:cubicBezTo>
                      <a:pt x="0" y="2"/>
                      <a:pt x="6" y="0"/>
                      <a:pt x="10" y="0"/>
                    </a:cubicBezTo>
                    <a:cubicBezTo>
                      <a:pt x="21" y="0"/>
                      <a:pt x="25" y="12"/>
                      <a:pt x="36" y="16"/>
                    </a:cubicBezTo>
                    <a:cubicBezTo>
                      <a:pt x="35" y="23"/>
                      <a:pt x="26" y="24"/>
                      <a:pt x="19" y="24"/>
                    </a:cubicBezTo>
                    <a:lnTo>
                      <a:pt x="9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66" name="Freeform 90">
                <a:extLst>
                  <a:ext uri="{FF2B5EF4-FFF2-40B4-BE49-F238E27FC236}">
                    <a16:creationId xmlns:a16="http://schemas.microsoft.com/office/drawing/2014/main" id="{E74710F8-0B80-F56F-CF81-A4FD2F6003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0350" y="1277938"/>
                <a:ext cx="26988" cy="15875"/>
              </a:xfrm>
              <a:custGeom>
                <a:avLst/>
                <a:gdLst/>
                <a:ahLst/>
                <a:cxnLst>
                  <a:cxn ang="0">
                    <a:pos x="6" y="12"/>
                  </a:cxn>
                  <a:cxn ang="0">
                    <a:pos x="0" y="5"/>
                  </a:cxn>
                  <a:cxn ang="0">
                    <a:pos x="4" y="0"/>
                  </a:cxn>
                  <a:cxn ang="0">
                    <a:pos x="12" y="0"/>
                  </a:cxn>
                  <a:cxn ang="0">
                    <a:pos x="12" y="5"/>
                  </a:cxn>
                  <a:cxn ang="0">
                    <a:pos x="20" y="5"/>
                  </a:cxn>
                  <a:cxn ang="0">
                    <a:pos x="6" y="12"/>
                  </a:cxn>
                </a:cxnLst>
                <a:rect l="0" t="0" r="r" b="b"/>
                <a:pathLst>
                  <a:path w="20" h="12">
                    <a:moveTo>
                      <a:pt x="6" y="12"/>
                    </a:moveTo>
                    <a:cubicBezTo>
                      <a:pt x="2" y="12"/>
                      <a:pt x="0" y="8"/>
                      <a:pt x="0" y="5"/>
                    </a:cubicBezTo>
                    <a:cubicBezTo>
                      <a:pt x="0" y="3"/>
                      <a:pt x="3" y="1"/>
                      <a:pt x="4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3"/>
                      <a:pt x="12" y="4"/>
                      <a:pt x="12" y="5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17" y="7"/>
                      <a:pt x="10" y="12"/>
                      <a:pt x="6" y="1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67" name="Freeform 91">
                <a:extLst>
                  <a:ext uri="{FF2B5EF4-FFF2-40B4-BE49-F238E27FC236}">
                    <a16:creationId xmlns:a16="http://schemas.microsoft.com/office/drawing/2014/main" id="{AD3C7AA9-2722-F1D5-891C-8898E81353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7250" y="1928813"/>
                <a:ext cx="109538" cy="106363"/>
              </a:xfrm>
              <a:custGeom>
                <a:avLst/>
                <a:gdLst/>
                <a:ahLst/>
                <a:cxnLst>
                  <a:cxn ang="0">
                    <a:pos x="4" y="67"/>
                  </a:cxn>
                  <a:cxn ang="0">
                    <a:pos x="0" y="62"/>
                  </a:cxn>
                  <a:cxn ang="0">
                    <a:pos x="8" y="54"/>
                  </a:cxn>
                  <a:cxn ang="0">
                    <a:pos x="8" y="51"/>
                  </a:cxn>
                  <a:cxn ang="0">
                    <a:pos x="4" y="49"/>
                  </a:cxn>
                  <a:cxn ang="0">
                    <a:pos x="28" y="13"/>
                  </a:cxn>
                  <a:cxn ang="0">
                    <a:pos x="41" y="0"/>
                  </a:cxn>
                  <a:cxn ang="0">
                    <a:pos x="44" y="4"/>
                  </a:cxn>
                  <a:cxn ang="0">
                    <a:pos x="32" y="27"/>
                  </a:cxn>
                  <a:cxn ang="0">
                    <a:pos x="32" y="31"/>
                  </a:cxn>
                  <a:cxn ang="0">
                    <a:pos x="39" y="27"/>
                  </a:cxn>
                  <a:cxn ang="0">
                    <a:pos x="46" y="29"/>
                  </a:cxn>
                  <a:cxn ang="0">
                    <a:pos x="44" y="32"/>
                  </a:cxn>
                  <a:cxn ang="0">
                    <a:pos x="44" y="36"/>
                  </a:cxn>
                  <a:cxn ang="0">
                    <a:pos x="52" y="36"/>
                  </a:cxn>
                  <a:cxn ang="0">
                    <a:pos x="52" y="38"/>
                  </a:cxn>
                  <a:cxn ang="0">
                    <a:pos x="57" y="36"/>
                  </a:cxn>
                  <a:cxn ang="0">
                    <a:pos x="70" y="36"/>
                  </a:cxn>
                  <a:cxn ang="0">
                    <a:pos x="69" y="51"/>
                  </a:cxn>
                  <a:cxn ang="0">
                    <a:pos x="74" y="49"/>
                  </a:cxn>
                  <a:cxn ang="0">
                    <a:pos x="70" y="56"/>
                  </a:cxn>
                  <a:cxn ang="0">
                    <a:pos x="73" y="63"/>
                  </a:cxn>
                  <a:cxn ang="0">
                    <a:pos x="79" y="60"/>
                  </a:cxn>
                  <a:cxn ang="0">
                    <a:pos x="82" y="70"/>
                  </a:cxn>
                  <a:cxn ang="0">
                    <a:pos x="75" y="80"/>
                  </a:cxn>
                  <a:cxn ang="0">
                    <a:pos x="71" y="75"/>
                  </a:cxn>
                  <a:cxn ang="0">
                    <a:pos x="67" y="74"/>
                  </a:cxn>
                  <a:cxn ang="0">
                    <a:pos x="63" y="62"/>
                  </a:cxn>
                  <a:cxn ang="0">
                    <a:pos x="50" y="74"/>
                  </a:cxn>
                  <a:cxn ang="0">
                    <a:pos x="47" y="74"/>
                  </a:cxn>
                  <a:cxn ang="0">
                    <a:pos x="52" y="67"/>
                  </a:cxn>
                  <a:cxn ang="0">
                    <a:pos x="40" y="65"/>
                  </a:cxn>
                  <a:cxn ang="0">
                    <a:pos x="31" y="67"/>
                  </a:cxn>
                  <a:cxn ang="0">
                    <a:pos x="18" y="64"/>
                  </a:cxn>
                  <a:cxn ang="0">
                    <a:pos x="4" y="67"/>
                  </a:cxn>
                </a:cxnLst>
                <a:rect l="0" t="0" r="r" b="b"/>
                <a:pathLst>
                  <a:path w="82" h="80">
                    <a:moveTo>
                      <a:pt x="4" y="67"/>
                    </a:moveTo>
                    <a:cubicBezTo>
                      <a:pt x="2" y="67"/>
                      <a:pt x="0" y="64"/>
                      <a:pt x="0" y="62"/>
                    </a:cubicBezTo>
                    <a:cubicBezTo>
                      <a:pt x="0" y="61"/>
                      <a:pt x="8" y="55"/>
                      <a:pt x="8" y="54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6" y="51"/>
                      <a:pt x="5" y="51"/>
                      <a:pt x="4" y="49"/>
                    </a:cubicBezTo>
                    <a:cubicBezTo>
                      <a:pt x="17" y="43"/>
                      <a:pt x="21" y="23"/>
                      <a:pt x="28" y="13"/>
                    </a:cubicBezTo>
                    <a:cubicBezTo>
                      <a:pt x="32" y="7"/>
                      <a:pt x="34" y="0"/>
                      <a:pt x="41" y="0"/>
                    </a:cubicBezTo>
                    <a:cubicBezTo>
                      <a:pt x="43" y="0"/>
                      <a:pt x="44" y="3"/>
                      <a:pt x="44" y="4"/>
                    </a:cubicBezTo>
                    <a:cubicBezTo>
                      <a:pt x="44" y="14"/>
                      <a:pt x="35" y="19"/>
                      <a:pt x="32" y="27"/>
                    </a:cubicBezTo>
                    <a:cubicBezTo>
                      <a:pt x="32" y="31"/>
                      <a:pt x="32" y="31"/>
                      <a:pt x="32" y="31"/>
                    </a:cubicBezTo>
                    <a:cubicBezTo>
                      <a:pt x="36" y="30"/>
                      <a:pt x="36" y="27"/>
                      <a:pt x="39" y="27"/>
                    </a:cubicBezTo>
                    <a:cubicBezTo>
                      <a:pt x="42" y="27"/>
                      <a:pt x="44" y="28"/>
                      <a:pt x="46" y="29"/>
                    </a:cubicBezTo>
                    <a:cubicBezTo>
                      <a:pt x="44" y="32"/>
                      <a:pt x="44" y="32"/>
                      <a:pt x="44" y="32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8"/>
                      <a:pt x="52" y="38"/>
                    </a:cubicBezTo>
                    <a:cubicBezTo>
                      <a:pt x="57" y="36"/>
                      <a:pt x="57" y="36"/>
                      <a:pt x="57" y="36"/>
                    </a:cubicBezTo>
                    <a:cubicBezTo>
                      <a:pt x="62" y="37"/>
                      <a:pt x="68" y="37"/>
                      <a:pt x="70" y="36"/>
                    </a:cubicBezTo>
                    <a:cubicBezTo>
                      <a:pt x="70" y="40"/>
                      <a:pt x="69" y="44"/>
                      <a:pt x="69" y="51"/>
                    </a:cubicBezTo>
                    <a:cubicBezTo>
                      <a:pt x="70" y="50"/>
                      <a:pt x="73" y="49"/>
                      <a:pt x="74" y="49"/>
                    </a:cubicBezTo>
                    <a:cubicBezTo>
                      <a:pt x="74" y="53"/>
                      <a:pt x="70" y="54"/>
                      <a:pt x="70" y="56"/>
                    </a:cubicBezTo>
                    <a:cubicBezTo>
                      <a:pt x="70" y="58"/>
                      <a:pt x="73" y="60"/>
                      <a:pt x="73" y="63"/>
                    </a:cubicBezTo>
                    <a:cubicBezTo>
                      <a:pt x="77" y="63"/>
                      <a:pt x="76" y="62"/>
                      <a:pt x="79" y="60"/>
                    </a:cubicBezTo>
                    <a:cubicBezTo>
                      <a:pt x="79" y="66"/>
                      <a:pt x="82" y="65"/>
                      <a:pt x="82" y="70"/>
                    </a:cubicBezTo>
                    <a:cubicBezTo>
                      <a:pt x="82" y="75"/>
                      <a:pt x="79" y="80"/>
                      <a:pt x="75" y="80"/>
                    </a:cubicBezTo>
                    <a:cubicBezTo>
                      <a:pt x="72" y="80"/>
                      <a:pt x="71" y="77"/>
                      <a:pt x="71" y="75"/>
                    </a:cubicBezTo>
                    <a:cubicBezTo>
                      <a:pt x="69" y="75"/>
                      <a:pt x="69" y="74"/>
                      <a:pt x="67" y="74"/>
                    </a:cubicBezTo>
                    <a:cubicBezTo>
                      <a:pt x="64" y="74"/>
                      <a:pt x="66" y="66"/>
                      <a:pt x="63" y="62"/>
                    </a:cubicBezTo>
                    <a:cubicBezTo>
                      <a:pt x="59" y="67"/>
                      <a:pt x="55" y="74"/>
                      <a:pt x="50" y="74"/>
                    </a:cubicBezTo>
                    <a:cubicBezTo>
                      <a:pt x="49" y="74"/>
                      <a:pt x="47" y="75"/>
                      <a:pt x="47" y="74"/>
                    </a:cubicBezTo>
                    <a:cubicBezTo>
                      <a:pt x="47" y="70"/>
                      <a:pt x="51" y="70"/>
                      <a:pt x="52" y="67"/>
                    </a:cubicBezTo>
                    <a:cubicBezTo>
                      <a:pt x="48" y="67"/>
                      <a:pt x="42" y="70"/>
                      <a:pt x="40" y="65"/>
                    </a:cubicBezTo>
                    <a:cubicBezTo>
                      <a:pt x="37" y="66"/>
                      <a:pt x="34" y="67"/>
                      <a:pt x="31" y="67"/>
                    </a:cubicBezTo>
                    <a:cubicBezTo>
                      <a:pt x="25" y="67"/>
                      <a:pt x="23" y="64"/>
                      <a:pt x="18" y="64"/>
                    </a:cubicBezTo>
                    <a:cubicBezTo>
                      <a:pt x="11" y="64"/>
                      <a:pt x="9" y="67"/>
                      <a:pt x="4" y="6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68" name="Freeform 92">
                <a:extLst>
                  <a:ext uri="{FF2B5EF4-FFF2-40B4-BE49-F238E27FC236}">
                    <a16:creationId xmlns:a16="http://schemas.microsoft.com/office/drawing/2014/main" id="{1E8441BF-BEB5-347A-C40A-B3B825C953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7288" y="2314575"/>
                <a:ext cx="671513" cy="450850"/>
              </a:xfrm>
              <a:custGeom>
                <a:avLst/>
                <a:gdLst/>
                <a:ahLst/>
                <a:cxnLst>
                  <a:cxn ang="0">
                    <a:pos x="250" y="98"/>
                  </a:cxn>
                  <a:cxn ang="0">
                    <a:pos x="246" y="141"/>
                  </a:cxn>
                  <a:cxn ang="0">
                    <a:pos x="251" y="160"/>
                  </a:cxn>
                  <a:cxn ang="0">
                    <a:pos x="281" y="192"/>
                  </a:cxn>
                  <a:cxn ang="0">
                    <a:pos x="312" y="191"/>
                  </a:cxn>
                  <a:cxn ang="0">
                    <a:pos x="327" y="187"/>
                  </a:cxn>
                  <a:cxn ang="0">
                    <a:pos x="363" y="152"/>
                  </a:cxn>
                  <a:cxn ang="0">
                    <a:pos x="382" y="154"/>
                  </a:cxn>
                  <a:cxn ang="0">
                    <a:pos x="374" y="180"/>
                  </a:cxn>
                  <a:cxn ang="0">
                    <a:pos x="369" y="192"/>
                  </a:cxn>
                  <a:cxn ang="0">
                    <a:pos x="365" y="213"/>
                  </a:cxn>
                  <a:cxn ang="0">
                    <a:pos x="357" y="224"/>
                  </a:cxn>
                  <a:cxn ang="0">
                    <a:pos x="405" y="226"/>
                  </a:cxn>
                  <a:cxn ang="0">
                    <a:pos x="426" y="242"/>
                  </a:cxn>
                  <a:cxn ang="0">
                    <a:pos x="423" y="289"/>
                  </a:cxn>
                  <a:cxn ang="0">
                    <a:pos x="451" y="316"/>
                  </a:cxn>
                  <a:cxn ang="0">
                    <a:pos x="504" y="322"/>
                  </a:cxn>
                  <a:cxn ang="0">
                    <a:pos x="488" y="329"/>
                  </a:cxn>
                  <a:cxn ang="0">
                    <a:pos x="480" y="316"/>
                  </a:cxn>
                  <a:cxn ang="0">
                    <a:pos x="468" y="332"/>
                  </a:cxn>
                  <a:cxn ang="0">
                    <a:pos x="446" y="326"/>
                  </a:cxn>
                  <a:cxn ang="0">
                    <a:pos x="431" y="323"/>
                  </a:cxn>
                  <a:cxn ang="0">
                    <a:pos x="406" y="302"/>
                  </a:cxn>
                  <a:cxn ang="0">
                    <a:pos x="402" y="306"/>
                  </a:cxn>
                  <a:cxn ang="0">
                    <a:pos x="391" y="281"/>
                  </a:cxn>
                  <a:cxn ang="0">
                    <a:pos x="372" y="260"/>
                  </a:cxn>
                  <a:cxn ang="0">
                    <a:pos x="345" y="255"/>
                  </a:cxn>
                  <a:cxn ang="0">
                    <a:pos x="294" y="226"/>
                  </a:cxn>
                  <a:cxn ang="0">
                    <a:pos x="282" y="222"/>
                  </a:cxn>
                  <a:cxn ang="0">
                    <a:pos x="256" y="227"/>
                  </a:cxn>
                  <a:cxn ang="0">
                    <a:pos x="221" y="214"/>
                  </a:cxn>
                  <a:cxn ang="0">
                    <a:pos x="195" y="203"/>
                  </a:cxn>
                  <a:cxn ang="0">
                    <a:pos x="175" y="195"/>
                  </a:cxn>
                  <a:cxn ang="0">
                    <a:pos x="148" y="172"/>
                  </a:cxn>
                  <a:cxn ang="0">
                    <a:pos x="148" y="150"/>
                  </a:cxn>
                  <a:cxn ang="0">
                    <a:pos x="102" y="101"/>
                  </a:cxn>
                  <a:cxn ang="0">
                    <a:pos x="82" y="68"/>
                  </a:cxn>
                  <a:cxn ang="0">
                    <a:pos x="62" y="53"/>
                  </a:cxn>
                  <a:cxn ang="0">
                    <a:pos x="49" y="22"/>
                  </a:cxn>
                  <a:cxn ang="0">
                    <a:pos x="28" y="19"/>
                  </a:cxn>
                  <a:cxn ang="0">
                    <a:pos x="49" y="53"/>
                  </a:cxn>
                  <a:cxn ang="0">
                    <a:pos x="73" y="95"/>
                  </a:cxn>
                  <a:cxn ang="0">
                    <a:pos x="96" y="130"/>
                  </a:cxn>
                  <a:cxn ang="0">
                    <a:pos x="86" y="127"/>
                  </a:cxn>
                  <a:cxn ang="0">
                    <a:pos x="65" y="109"/>
                  </a:cxn>
                  <a:cxn ang="0">
                    <a:pos x="52" y="84"/>
                  </a:cxn>
                  <a:cxn ang="0">
                    <a:pos x="40" y="69"/>
                  </a:cxn>
                  <a:cxn ang="0">
                    <a:pos x="11" y="24"/>
                  </a:cxn>
                  <a:cxn ang="0">
                    <a:pos x="0" y="0"/>
                  </a:cxn>
                  <a:cxn ang="0">
                    <a:pos x="76" y="16"/>
                  </a:cxn>
                  <a:cxn ang="0">
                    <a:pos x="113" y="10"/>
                  </a:cxn>
                  <a:cxn ang="0">
                    <a:pos x="152" y="29"/>
                  </a:cxn>
                  <a:cxn ang="0">
                    <a:pos x="188" y="38"/>
                  </a:cxn>
                  <a:cxn ang="0">
                    <a:pos x="249" y="90"/>
                  </a:cxn>
                  <a:cxn ang="0">
                    <a:pos x="247" y="86"/>
                  </a:cxn>
                </a:cxnLst>
                <a:rect l="0" t="0" r="r" b="b"/>
                <a:pathLst>
                  <a:path w="504" h="338">
                    <a:moveTo>
                      <a:pt x="248" y="91"/>
                    </a:moveTo>
                    <a:cubicBezTo>
                      <a:pt x="249" y="94"/>
                      <a:pt x="250" y="96"/>
                      <a:pt x="250" y="98"/>
                    </a:cubicBezTo>
                    <a:cubicBezTo>
                      <a:pt x="250" y="106"/>
                      <a:pt x="247" y="109"/>
                      <a:pt x="246" y="116"/>
                    </a:cubicBezTo>
                    <a:cubicBezTo>
                      <a:pt x="246" y="141"/>
                      <a:pt x="246" y="141"/>
                      <a:pt x="246" y="141"/>
                    </a:cubicBezTo>
                    <a:cubicBezTo>
                      <a:pt x="245" y="144"/>
                      <a:pt x="248" y="148"/>
                      <a:pt x="249" y="150"/>
                    </a:cubicBezTo>
                    <a:cubicBezTo>
                      <a:pt x="251" y="154"/>
                      <a:pt x="249" y="156"/>
                      <a:pt x="251" y="160"/>
                    </a:cubicBezTo>
                    <a:cubicBezTo>
                      <a:pt x="252" y="164"/>
                      <a:pt x="258" y="170"/>
                      <a:pt x="261" y="173"/>
                    </a:cubicBezTo>
                    <a:cubicBezTo>
                      <a:pt x="269" y="181"/>
                      <a:pt x="269" y="188"/>
                      <a:pt x="281" y="192"/>
                    </a:cubicBezTo>
                    <a:cubicBezTo>
                      <a:pt x="285" y="193"/>
                      <a:pt x="285" y="197"/>
                      <a:pt x="288" y="197"/>
                    </a:cubicBezTo>
                    <a:cubicBezTo>
                      <a:pt x="297" y="197"/>
                      <a:pt x="304" y="191"/>
                      <a:pt x="312" y="191"/>
                    </a:cubicBezTo>
                    <a:cubicBezTo>
                      <a:pt x="317" y="191"/>
                      <a:pt x="319" y="194"/>
                      <a:pt x="321" y="194"/>
                    </a:cubicBezTo>
                    <a:cubicBezTo>
                      <a:pt x="324" y="194"/>
                      <a:pt x="327" y="188"/>
                      <a:pt x="327" y="187"/>
                    </a:cubicBezTo>
                    <a:cubicBezTo>
                      <a:pt x="329" y="181"/>
                      <a:pt x="336" y="176"/>
                      <a:pt x="336" y="169"/>
                    </a:cubicBezTo>
                    <a:cubicBezTo>
                      <a:pt x="336" y="156"/>
                      <a:pt x="351" y="152"/>
                      <a:pt x="363" y="152"/>
                    </a:cubicBezTo>
                    <a:cubicBezTo>
                      <a:pt x="367" y="152"/>
                      <a:pt x="370" y="152"/>
                      <a:pt x="372" y="153"/>
                    </a:cubicBezTo>
                    <a:cubicBezTo>
                      <a:pt x="373" y="154"/>
                      <a:pt x="379" y="154"/>
                      <a:pt x="382" y="154"/>
                    </a:cubicBezTo>
                    <a:cubicBezTo>
                      <a:pt x="382" y="155"/>
                      <a:pt x="382" y="157"/>
                      <a:pt x="382" y="158"/>
                    </a:cubicBezTo>
                    <a:cubicBezTo>
                      <a:pt x="382" y="164"/>
                      <a:pt x="374" y="172"/>
                      <a:pt x="374" y="180"/>
                    </a:cubicBezTo>
                    <a:cubicBezTo>
                      <a:pt x="374" y="188"/>
                      <a:pt x="372" y="191"/>
                      <a:pt x="369" y="195"/>
                    </a:cubicBezTo>
                    <a:cubicBezTo>
                      <a:pt x="369" y="194"/>
                      <a:pt x="369" y="193"/>
                      <a:pt x="369" y="192"/>
                    </a:cubicBezTo>
                    <a:cubicBezTo>
                      <a:pt x="368" y="192"/>
                      <a:pt x="367" y="192"/>
                      <a:pt x="365" y="192"/>
                    </a:cubicBezTo>
                    <a:cubicBezTo>
                      <a:pt x="365" y="197"/>
                      <a:pt x="365" y="207"/>
                      <a:pt x="365" y="213"/>
                    </a:cubicBezTo>
                    <a:cubicBezTo>
                      <a:pt x="365" y="217"/>
                      <a:pt x="360" y="219"/>
                      <a:pt x="357" y="222"/>
                    </a:cubicBezTo>
                    <a:cubicBezTo>
                      <a:pt x="357" y="223"/>
                      <a:pt x="357" y="223"/>
                      <a:pt x="357" y="224"/>
                    </a:cubicBezTo>
                    <a:cubicBezTo>
                      <a:pt x="357" y="227"/>
                      <a:pt x="360" y="229"/>
                      <a:pt x="363" y="229"/>
                    </a:cubicBezTo>
                    <a:cubicBezTo>
                      <a:pt x="377" y="229"/>
                      <a:pt x="389" y="226"/>
                      <a:pt x="405" y="226"/>
                    </a:cubicBezTo>
                    <a:cubicBezTo>
                      <a:pt x="415" y="226"/>
                      <a:pt x="418" y="234"/>
                      <a:pt x="426" y="236"/>
                    </a:cubicBezTo>
                    <a:cubicBezTo>
                      <a:pt x="426" y="238"/>
                      <a:pt x="426" y="240"/>
                      <a:pt x="426" y="242"/>
                    </a:cubicBezTo>
                    <a:cubicBezTo>
                      <a:pt x="426" y="246"/>
                      <a:pt x="425" y="257"/>
                      <a:pt x="423" y="262"/>
                    </a:cubicBezTo>
                    <a:cubicBezTo>
                      <a:pt x="423" y="272"/>
                      <a:pt x="423" y="281"/>
                      <a:pt x="423" y="289"/>
                    </a:cubicBezTo>
                    <a:cubicBezTo>
                      <a:pt x="423" y="298"/>
                      <a:pt x="432" y="302"/>
                      <a:pt x="439" y="306"/>
                    </a:cubicBezTo>
                    <a:cubicBezTo>
                      <a:pt x="444" y="308"/>
                      <a:pt x="444" y="316"/>
                      <a:pt x="451" y="316"/>
                    </a:cubicBezTo>
                    <a:cubicBezTo>
                      <a:pt x="463" y="316"/>
                      <a:pt x="469" y="307"/>
                      <a:pt x="479" y="307"/>
                    </a:cubicBezTo>
                    <a:cubicBezTo>
                      <a:pt x="491" y="307"/>
                      <a:pt x="497" y="316"/>
                      <a:pt x="504" y="322"/>
                    </a:cubicBezTo>
                    <a:cubicBezTo>
                      <a:pt x="503" y="323"/>
                      <a:pt x="494" y="333"/>
                      <a:pt x="493" y="332"/>
                    </a:cubicBezTo>
                    <a:cubicBezTo>
                      <a:pt x="492" y="331"/>
                      <a:pt x="488" y="330"/>
                      <a:pt x="488" y="329"/>
                    </a:cubicBezTo>
                    <a:cubicBezTo>
                      <a:pt x="488" y="327"/>
                      <a:pt x="490" y="326"/>
                      <a:pt x="491" y="324"/>
                    </a:cubicBezTo>
                    <a:cubicBezTo>
                      <a:pt x="486" y="322"/>
                      <a:pt x="484" y="316"/>
                      <a:pt x="480" y="316"/>
                    </a:cubicBezTo>
                    <a:cubicBezTo>
                      <a:pt x="476" y="316"/>
                      <a:pt x="464" y="325"/>
                      <a:pt x="464" y="328"/>
                    </a:cubicBezTo>
                    <a:cubicBezTo>
                      <a:pt x="464" y="330"/>
                      <a:pt x="467" y="331"/>
                      <a:pt x="468" y="332"/>
                    </a:cubicBezTo>
                    <a:cubicBezTo>
                      <a:pt x="467" y="336"/>
                      <a:pt x="465" y="338"/>
                      <a:pt x="461" y="338"/>
                    </a:cubicBezTo>
                    <a:cubicBezTo>
                      <a:pt x="454" y="338"/>
                      <a:pt x="450" y="330"/>
                      <a:pt x="446" y="326"/>
                    </a:cubicBezTo>
                    <a:cubicBezTo>
                      <a:pt x="443" y="323"/>
                      <a:pt x="436" y="326"/>
                      <a:pt x="433" y="326"/>
                    </a:cubicBezTo>
                    <a:cubicBezTo>
                      <a:pt x="432" y="326"/>
                      <a:pt x="431" y="324"/>
                      <a:pt x="431" y="323"/>
                    </a:cubicBezTo>
                    <a:cubicBezTo>
                      <a:pt x="424" y="322"/>
                      <a:pt x="424" y="318"/>
                      <a:pt x="423" y="314"/>
                    </a:cubicBezTo>
                    <a:cubicBezTo>
                      <a:pt x="421" y="311"/>
                      <a:pt x="406" y="302"/>
                      <a:pt x="406" y="302"/>
                    </a:cubicBezTo>
                    <a:cubicBezTo>
                      <a:pt x="405" y="304"/>
                      <a:pt x="405" y="305"/>
                      <a:pt x="406" y="306"/>
                    </a:cubicBezTo>
                    <a:cubicBezTo>
                      <a:pt x="402" y="306"/>
                      <a:pt x="402" y="306"/>
                      <a:pt x="402" y="306"/>
                    </a:cubicBezTo>
                    <a:cubicBezTo>
                      <a:pt x="395" y="302"/>
                      <a:pt x="399" y="296"/>
                      <a:pt x="397" y="289"/>
                    </a:cubicBezTo>
                    <a:cubicBezTo>
                      <a:pt x="396" y="285"/>
                      <a:pt x="394" y="284"/>
                      <a:pt x="391" y="281"/>
                    </a:cubicBezTo>
                    <a:cubicBezTo>
                      <a:pt x="384" y="274"/>
                      <a:pt x="377" y="270"/>
                      <a:pt x="374" y="260"/>
                    </a:cubicBezTo>
                    <a:cubicBezTo>
                      <a:pt x="373" y="260"/>
                      <a:pt x="372" y="260"/>
                      <a:pt x="372" y="260"/>
                    </a:cubicBezTo>
                    <a:cubicBezTo>
                      <a:pt x="368" y="260"/>
                      <a:pt x="366" y="262"/>
                      <a:pt x="363" y="262"/>
                    </a:cubicBezTo>
                    <a:cubicBezTo>
                      <a:pt x="355" y="262"/>
                      <a:pt x="350" y="257"/>
                      <a:pt x="345" y="255"/>
                    </a:cubicBezTo>
                    <a:cubicBezTo>
                      <a:pt x="336" y="251"/>
                      <a:pt x="330" y="253"/>
                      <a:pt x="321" y="248"/>
                    </a:cubicBezTo>
                    <a:cubicBezTo>
                      <a:pt x="308" y="242"/>
                      <a:pt x="306" y="232"/>
                      <a:pt x="294" y="226"/>
                    </a:cubicBezTo>
                    <a:cubicBezTo>
                      <a:pt x="291" y="226"/>
                      <a:pt x="291" y="226"/>
                      <a:pt x="291" y="226"/>
                    </a:cubicBezTo>
                    <a:cubicBezTo>
                      <a:pt x="288" y="224"/>
                      <a:pt x="285" y="222"/>
                      <a:pt x="282" y="222"/>
                    </a:cubicBezTo>
                    <a:cubicBezTo>
                      <a:pt x="274" y="222"/>
                      <a:pt x="272" y="231"/>
                      <a:pt x="265" y="231"/>
                    </a:cubicBezTo>
                    <a:cubicBezTo>
                      <a:pt x="261" y="231"/>
                      <a:pt x="258" y="228"/>
                      <a:pt x="256" y="227"/>
                    </a:cubicBezTo>
                    <a:cubicBezTo>
                      <a:pt x="252" y="225"/>
                      <a:pt x="249" y="226"/>
                      <a:pt x="246" y="226"/>
                    </a:cubicBezTo>
                    <a:cubicBezTo>
                      <a:pt x="241" y="226"/>
                      <a:pt x="226" y="216"/>
                      <a:pt x="221" y="214"/>
                    </a:cubicBezTo>
                    <a:cubicBezTo>
                      <a:pt x="216" y="211"/>
                      <a:pt x="213" y="214"/>
                      <a:pt x="208" y="213"/>
                    </a:cubicBezTo>
                    <a:cubicBezTo>
                      <a:pt x="202" y="211"/>
                      <a:pt x="201" y="206"/>
                      <a:pt x="195" y="203"/>
                    </a:cubicBezTo>
                    <a:cubicBezTo>
                      <a:pt x="189" y="200"/>
                      <a:pt x="186" y="201"/>
                      <a:pt x="180" y="198"/>
                    </a:cubicBezTo>
                    <a:cubicBezTo>
                      <a:pt x="177" y="197"/>
                      <a:pt x="177" y="196"/>
                      <a:pt x="175" y="195"/>
                    </a:cubicBezTo>
                    <a:cubicBezTo>
                      <a:pt x="170" y="190"/>
                      <a:pt x="156" y="187"/>
                      <a:pt x="155" y="181"/>
                    </a:cubicBezTo>
                    <a:cubicBezTo>
                      <a:pt x="151" y="181"/>
                      <a:pt x="148" y="176"/>
                      <a:pt x="148" y="172"/>
                    </a:cubicBezTo>
                    <a:cubicBezTo>
                      <a:pt x="148" y="167"/>
                      <a:pt x="153" y="165"/>
                      <a:pt x="153" y="160"/>
                    </a:cubicBezTo>
                    <a:cubicBezTo>
                      <a:pt x="153" y="154"/>
                      <a:pt x="149" y="153"/>
                      <a:pt x="148" y="150"/>
                    </a:cubicBezTo>
                    <a:cubicBezTo>
                      <a:pt x="143" y="134"/>
                      <a:pt x="128" y="121"/>
                      <a:pt x="118" y="111"/>
                    </a:cubicBezTo>
                    <a:cubicBezTo>
                      <a:pt x="114" y="107"/>
                      <a:pt x="107" y="105"/>
                      <a:pt x="102" y="101"/>
                    </a:cubicBezTo>
                    <a:cubicBezTo>
                      <a:pt x="99" y="97"/>
                      <a:pt x="102" y="93"/>
                      <a:pt x="100" y="88"/>
                    </a:cubicBezTo>
                    <a:cubicBezTo>
                      <a:pt x="96" y="80"/>
                      <a:pt x="82" y="79"/>
                      <a:pt x="82" y="68"/>
                    </a:cubicBezTo>
                    <a:cubicBezTo>
                      <a:pt x="78" y="68"/>
                      <a:pt x="79" y="67"/>
                      <a:pt x="77" y="68"/>
                    </a:cubicBezTo>
                    <a:cubicBezTo>
                      <a:pt x="72" y="63"/>
                      <a:pt x="67" y="58"/>
                      <a:pt x="62" y="53"/>
                    </a:cubicBezTo>
                    <a:cubicBezTo>
                      <a:pt x="58" y="49"/>
                      <a:pt x="60" y="42"/>
                      <a:pt x="56" y="38"/>
                    </a:cubicBezTo>
                    <a:cubicBezTo>
                      <a:pt x="52" y="34"/>
                      <a:pt x="53" y="24"/>
                      <a:pt x="49" y="22"/>
                    </a:cubicBezTo>
                    <a:cubicBezTo>
                      <a:pt x="42" y="19"/>
                      <a:pt x="35" y="19"/>
                      <a:pt x="29" y="13"/>
                    </a:cubicBezTo>
                    <a:cubicBezTo>
                      <a:pt x="27" y="15"/>
                      <a:pt x="28" y="18"/>
                      <a:pt x="28" y="19"/>
                    </a:cubicBezTo>
                    <a:cubicBezTo>
                      <a:pt x="28" y="28"/>
                      <a:pt x="32" y="34"/>
                      <a:pt x="36" y="41"/>
                    </a:cubicBezTo>
                    <a:cubicBezTo>
                      <a:pt x="39" y="48"/>
                      <a:pt x="45" y="48"/>
                      <a:pt x="49" y="53"/>
                    </a:cubicBezTo>
                    <a:cubicBezTo>
                      <a:pt x="55" y="59"/>
                      <a:pt x="56" y="63"/>
                      <a:pt x="58" y="71"/>
                    </a:cubicBezTo>
                    <a:cubicBezTo>
                      <a:pt x="61" y="81"/>
                      <a:pt x="70" y="86"/>
                      <a:pt x="73" y="95"/>
                    </a:cubicBezTo>
                    <a:cubicBezTo>
                      <a:pt x="77" y="106"/>
                      <a:pt x="80" y="117"/>
                      <a:pt x="87" y="122"/>
                    </a:cubicBezTo>
                    <a:cubicBezTo>
                      <a:pt x="91" y="119"/>
                      <a:pt x="96" y="126"/>
                      <a:pt x="96" y="130"/>
                    </a:cubicBezTo>
                    <a:cubicBezTo>
                      <a:pt x="96" y="132"/>
                      <a:pt x="95" y="136"/>
                      <a:pt x="93" y="136"/>
                    </a:cubicBezTo>
                    <a:cubicBezTo>
                      <a:pt x="92" y="136"/>
                      <a:pt x="86" y="129"/>
                      <a:pt x="86" y="127"/>
                    </a:cubicBezTo>
                    <a:cubicBezTo>
                      <a:pt x="78" y="127"/>
                      <a:pt x="74" y="117"/>
                      <a:pt x="69" y="113"/>
                    </a:cubicBezTo>
                    <a:cubicBezTo>
                      <a:pt x="66" y="112"/>
                      <a:pt x="66" y="112"/>
                      <a:pt x="65" y="109"/>
                    </a:cubicBezTo>
                    <a:cubicBezTo>
                      <a:pt x="65" y="98"/>
                      <a:pt x="65" y="98"/>
                      <a:pt x="65" y="98"/>
                    </a:cubicBezTo>
                    <a:cubicBezTo>
                      <a:pt x="60" y="93"/>
                      <a:pt x="56" y="88"/>
                      <a:pt x="52" y="84"/>
                    </a:cubicBezTo>
                    <a:cubicBezTo>
                      <a:pt x="46" y="78"/>
                      <a:pt x="36" y="79"/>
                      <a:pt x="31" y="72"/>
                    </a:cubicBezTo>
                    <a:cubicBezTo>
                      <a:pt x="34" y="72"/>
                      <a:pt x="44" y="74"/>
                      <a:pt x="40" y="69"/>
                    </a:cubicBezTo>
                    <a:cubicBezTo>
                      <a:pt x="34" y="59"/>
                      <a:pt x="26" y="50"/>
                      <a:pt x="19" y="45"/>
                    </a:cubicBezTo>
                    <a:cubicBezTo>
                      <a:pt x="14" y="41"/>
                      <a:pt x="14" y="29"/>
                      <a:pt x="11" y="24"/>
                    </a:cubicBezTo>
                    <a:cubicBezTo>
                      <a:pt x="7" y="16"/>
                      <a:pt x="3" y="1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113" y="16"/>
                      <a:pt x="113" y="16"/>
                      <a:pt x="113" y="16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21" y="10"/>
                      <a:pt x="121" y="10"/>
                      <a:pt x="121" y="10"/>
                    </a:cubicBezTo>
                    <a:cubicBezTo>
                      <a:pt x="136" y="14"/>
                      <a:pt x="145" y="16"/>
                      <a:pt x="152" y="29"/>
                    </a:cubicBezTo>
                    <a:cubicBezTo>
                      <a:pt x="156" y="35"/>
                      <a:pt x="163" y="50"/>
                      <a:pt x="172" y="50"/>
                    </a:cubicBezTo>
                    <a:cubicBezTo>
                      <a:pt x="181" y="50"/>
                      <a:pt x="178" y="38"/>
                      <a:pt x="188" y="38"/>
                    </a:cubicBezTo>
                    <a:cubicBezTo>
                      <a:pt x="214" y="38"/>
                      <a:pt x="213" y="70"/>
                      <a:pt x="227" y="84"/>
                    </a:cubicBezTo>
                    <a:cubicBezTo>
                      <a:pt x="231" y="87"/>
                      <a:pt x="242" y="90"/>
                      <a:pt x="249" y="90"/>
                    </a:cubicBezTo>
                    <a:cubicBezTo>
                      <a:pt x="249" y="89"/>
                      <a:pt x="247" y="87"/>
                      <a:pt x="247" y="86"/>
                    </a:cubicBezTo>
                    <a:cubicBezTo>
                      <a:pt x="247" y="86"/>
                      <a:pt x="247" y="86"/>
                      <a:pt x="247" y="86"/>
                    </a:cubicBezTo>
                    <a:lnTo>
                      <a:pt x="248" y="9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69" name="Freeform 93">
                <a:extLst>
                  <a:ext uri="{FF2B5EF4-FFF2-40B4-BE49-F238E27FC236}">
                    <a16:creationId xmlns:a16="http://schemas.microsoft.com/office/drawing/2014/main" id="{7BAD2CD7-D47C-45C3-DD91-D5D22C1DCB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6250" y="1895475"/>
                <a:ext cx="20638" cy="95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7"/>
                  </a:cxn>
                  <a:cxn ang="0">
                    <a:pos x="12" y="7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w="15" h="8">
                    <a:moveTo>
                      <a:pt x="0" y="0"/>
                    </a:moveTo>
                    <a:cubicBezTo>
                      <a:pt x="7" y="0"/>
                      <a:pt x="15" y="1"/>
                      <a:pt x="15" y="7"/>
                    </a:cubicBezTo>
                    <a:cubicBezTo>
                      <a:pt x="15" y="8"/>
                      <a:pt x="13" y="7"/>
                      <a:pt x="12" y="7"/>
                    </a:cubicBezTo>
                    <a:cubicBezTo>
                      <a:pt x="8" y="7"/>
                      <a:pt x="2" y="5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70" name="Freeform 94">
                <a:extLst>
                  <a:ext uri="{FF2B5EF4-FFF2-40B4-BE49-F238E27FC236}">
                    <a16:creationId xmlns:a16="http://schemas.microsoft.com/office/drawing/2014/main" id="{E9FF6C42-6873-C274-7148-1987D5156D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9963" y="1951038"/>
                <a:ext cx="79375" cy="50800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6" y="0"/>
                  </a:cxn>
                  <a:cxn ang="0">
                    <a:pos x="18" y="6"/>
                  </a:cxn>
                  <a:cxn ang="0">
                    <a:pos x="59" y="34"/>
                  </a:cxn>
                  <a:cxn ang="0">
                    <a:pos x="59" y="38"/>
                  </a:cxn>
                  <a:cxn ang="0">
                    <a:pos x="55" y="38"/>
                  </a:cxn>
                  <a:cxn ang="0">
                    <a:pos x="22" y="22"/>
                  </a:cxn>
                  <a:cxn ang="0">
                    <a:pos x="27" y="17"/>
                  </a:cxn>
                  <a:cxn ang="0">
                    <a:pos x="4" y="8"/>
                  </a:cxn>
                  <a:cxn ang="0">
                    <a:pos x="8" y="4"/>
                  </a:cxn>
                  <a:cxn ang="0">
                    <a:pos x="2" y="2"/>
                  </a:cxn>
                  <a:cxn ang="0">
                    <a:pos x="0" y="2"/>
                  </a:cxn>
                </a:cxnLst>
                <a:rect l="0" t="0" r="r" b="b"/>
                <a:pathLst>
                  <a:path w="59" h="38">
                    <a:moveTo>
                      <a:pt x="0" y="2"/>
                    </a:moveTo>
                    <a:cubicBezTo>
                      <a:pt x="2" y="1"/>
                      <a:pt x="4" y="0"/>
                      <a:pt x="6" y="0"/>
                    </a:cubicBezTo>
                    <a:cubicBezTo>
                      <a:pt x="11" y="0"/>
                      <a:pt x="15" y="5"/>
                      <a:pt x="18" y="6"/>
                    </a:cubicBezTo>
                    <a:cubicBezTo>
                      <a:pt x="37" y="12"/>
                      <a:pt x="48" y="23"/>
                      <a:pt x="59" y="34"/>
                    </a:cubicBezTo>
                    <a:cubicBezTo>
                      <a:pt x="59" y="38"/>
                      <a:pt x="59" y="38"/>
                      <a:pt x="59" y="38"/>
                    </a:cubicBezTo>
                    <a:cubicBezTo>
                      <a:pt x="58" y="38"/>
                      <a:pt x="56" y="38"/>
                      <a:pt x="55" y="38"/>
                    </a:cubicBezTo>
                    <a:cubicBezTo>
                      <a:pt x="45" y="38"/>
                      <a:pt x="29" y="26"/>
                      <a:pt x="22" y="22"/>
                    </a:cubicBezTo>
                    <a:cubicBezTo>
                      <a:pt x="23" y="19"/>
                      <a:pt x="25" y="19"/>
                      <a:pt x="27" y="17"/>
                    </a:cubicBezTo>
                    <a:cubicBezTo>
                      <a:pt x="18" y="17"/>
                      <a:pt x="6" y="13"/>
                      <a:pt x="4" y="8"/>
                    </a:cubicBezTo>
                    <a:cubicBezTo>
                      <a:pt x="6" y="7"/>
                      <a:pt x="8" y="5"/>
                      <a:pt x="8" y="4"/>
                    </a:cubicBezTo>
                    <a:cubicBezTo>
                      <a:pt x="6" y="3"/>
                      <a:pt x="2" y="2"/>
                      <a:pt x="2" y="2"/>
                    </a:cubicBezTo>
                    <a:lnTo>
                      <a:pt x="0" y="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71" name="Freeform 95">
                <a:extLst>
                  <a:ext uri="{FF2B5EF4-FFF2-40B4-BE49-F238E27FC236}">
                    <a16:creationId xmlns:a16="http://schemas.microsoft.com/office/drawing/2014/main" id="{44F2F680-69E2-6F6D-4462-C61084EBCF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2175" y="1876425"/>
                <a:ext cx="28575" cy="39688"/>
              </a:xfrm>
              <a:custGeom>
                <a:avLst/>
                <a:gdLst/>
                <a:ahLst/>
                <a:cxnLst>
                  <a:cxn ang="0">
                    <a:pos x="5" y="12"/>
                  </a:cxn>
                  <a:cxn ang="0">
                    <a:pos x="0" y="4"/>
                  </a:cxn>
                  <a:cxn ang="0">
                    <a:pos x="0" y="0"/>
                  </a:cxn>
                  <a:cxn ang="0">
                    <a:pos x="10" y="3"/>
                  </a:cxn>
                  <a:cxn ang="0">
                    <a:pos x="7" y="8"/>
                  </a:cxn>
                  <a:cxn ang="0">
                    <a:pos x="13" y="3"/>
                  </a:cxn>
                  <a:cxn ang="0">
                    <a:pos x="13" y="12"/>
                  </a:cxn>
                  <a:cxn ang="0">
                    <a:pos x="15" y="18"/>
                  </a:cxn>
                  <a:cxn ang="0">
                    <a:pos x="13" y="22"/>
                  </a:cxn>
                  <a:cxn ang="0">
                    <a:pos x="17" y="30"/>
                  </a:cxn>
                  <a:cxn ang="0">
                    <a:pos x="10" y="22"/>
                  </a:cxn>
                  <a:cxn ang="0">
                    <a:pos x="12" y="17"/>
                  </a:cxn>
                  <a:cxn ang="0">
                    <a:pos x="5" y="12"/>
                  </a:cxn>
                </a:cxnLst>
                <a:rect l="0" t="0" r="r" b="b"/>
                <a:pathLst>
                  <a:path w="21" h="30">
                    <a:moveTo>
                      <a:pt x="5" y="12"/>
                    </a:moveTo>
                    <a:cubicBezTo>
                      <a:pt x="3" y="12"/>
                      <a:pt x="2" y="6"/>
                      <a:pt x="0" y="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6" y="3"/>
                      <a:pt x="10" y="3"/>
                    </a:cubicBezTo>
                    <a:cubicBezTo>
                      <a:pt x="10" y="4"/>
                      <a:pt x="5" y="8"/>
                      <a:pt x="7" y="8"/>
                    </a:cubicBezTo>
                    <a:cubicBezTo>
                      <a:pt x="10" y="8"/>
                      <a:pt x="12" y="5"/>
                      <a:pt x="13" y="3"/>
                    </a:cubicBezTo>
                    <a:cubicBezTo>
                      <a:pt x="14" y="5"/>
                      <a:pt x="13" y="8"/>
                      <a:pt x="13" y="12"/>
                    </a:cubicBezTo>
                    <a:cubicBezTo>
                      <a:pt x="13" y="15"/>
                      <a:pt x="15" y="15"/>
                      <a:pt x="15" y="18"/>
                    </a:cubicBezTo>
                    <a:cubicBezTo>
                      <a:pt x="15" y="19"/>
                      <a:pt x="13" y="20"/>
                      <a:pt x="13" y="22"/>
                    </a:cubicBezTo>
                    <a:cubicBezTo>
                      <a:pt x="13" y="24"/>
                      <a:pt x="21" y="30"/>
                      <a:pt x="17" y="30"/>
                    </a:cubicBezTo>
                    <a:cubicBezTo>
                      <a:pt x="13" y="30"/>
                      <a:pt x="10" y="26"/>
                      <a:pt x="10" y="22"/>
                    </a:cubicBezTo>
                    <a:cubicBezTo>
                      <a:pt x="10" y="19"/>
                      <a:pt x="12" y="18"/>
                      <a:pt x="12" y="17"/>
                    </a:cubicBezTo>
                    <a:cubicBezTo>
                      <a:pt x="9" y="16"/>
                      <a:pt x="8" y="12"/>
                      <a:pt x="5" y="1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72" name="Freeform 96">
                <a:extLst>
                  <a:ext uri="{FF2B5EF4-FFF2-40B4-BE49-F238E27FC236}">
                    <a16:creationId xmlns:a16="http://schemas.microsoft.com/office/drawing/2014/main" id="{DCB50E3E-FF2B-81DA-08FA-108F75068D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3400" y="1787525"/>
                <a:ext cx="34925" cy="23813"/>
              </a:xfrm>
              <a:custGeom>
                <a:avLst/>
                <a:gdLst/>
                <a:ahLst/>
                <a:cxnLst>
                  <a:cxn ang="0">
                    <a:pos x="21" y="0"/>
                  </a:cxn>
                  <a:cxn ang="0">
                    <a:pos x="27" y="0"/>
                  </a:cxn>
                  <a:cxn ang="0">
                    <a:pos x="27" y="6"/>
                  </a:cxn>
                  <a:cxn ang="0">
                    <a:pos x="10" y="18"/>
                  </a:cxn>
                  <a:cxn ang="0">
                    <a:pos x="0" y="12"/>
                  </a:cxn>
                  <a:cxn ang="0">
                    <a:pos x="0" y="7"/>
                  </a:cxn>
                  <a:cxn ang="0">
                    <a:pos x="21" y="0"/>
                  </a:cxn>
                </a:cxnLst>
                <a:rect l="0" t="0" r="r" b="b"/>
                <a:pathLst>
                  <a:path w="27" h="18">
                    <a:moveTo>
                      <a:pt x="21" y="0"/>
                    </a:moveTo>
                    <a:cubicBezTo>
                      <a:pt x="25" y="0"/>
                      <a:pt x="25" y="0"/>
                      <a:pt x="27" y="0"/>
                    </a:cubicBezTo>
                    <a:cubicBezTo>
                      <a:pt x="27" y="6"/>
                      <a:pt x="27" y="6"/>
                      <a:pt x="27" y="6"/>
                    </a:cubicBezTo>
                    <a:cubicBezTo>
                      <a:pt x="19" y="10"/>
                      <a:pt x="16" y="13"/>
                      <a:pt x="10" y="18"/>
                    </a:cubicBezTo>
                    <a:cubicBezTo>
                      <a:pt x="6" y="15"/>
                      <a:pt x="3" y="15"/>
                      <a:pt x="0" y="12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8" y="5"/>
                      <a:pt x="14" y="0"/>
                      <a:pt x="2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73" name="Freeform 97">
                <a:extLst>
                  <a:ext uri="{FF2B5EF4-FFF2-40B4-BE49-F238E27FC236}">
                    <a16:creationId xmlns:a16="http://schemas.microsoft.com/office/drawing/2014/main" id="{08C4A6C9-F487-EA39-CDC5-CAC2C743B4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1525" y="1963738"/>
                <a:ext cx="42863" cy="22225"/>
              </a:xfrm>
              <a:custGeom>
                <a:avLst/>
                <a:gdLst/>
                <a:ahLst/>
                <a:cxnLst>
                  <a:cxn ang="0">
                    <a:pos x="26" y="17"/>
                  </a:cxn>
                  <a:cxn ang="0">
                    <a:pos x="32" y="14"/>
                  </a:cxn>
                  <a:cxn ang="0">
                    <a:pos x="0" y="3"/>
                  </a:cxn>
                  <a:cxn ang="0">
                    <a:pos x="26" y="17"/>
                  </a:cxn>
                </a:cxnLst>
                <a:rect l="0" t="0" r="r" b="b"/>
                <a:pathLst>
                  <a:path w="32" h="17">
                    <a:moveTo>
                      <a:pt x="26" y="17"/>
                    </a:moveTo>
                    <a:cubicBezTo>
                      <a:pt x="29" y="17"/>
                      <a:pt x="30" y="16"/>
                      <a:pt x="32" y="14"/>
                    </a:cubicBezTo>
                    <a:cubicBezTo>
                      <a:pt x="22" y="9"/>
                      <a:pt x="14" y="0"/>
                      <a:pt x="0" y="3"/>
                    </a:cubicBezTo>
                    <a:cubicBezTo>
                      <a:pt x="6" y="7"/>
                      <a:pt x="18" y="17"/>
                      <a:pt x="26" y="1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74" name="Freeform 98">
                <a:extLst>
                  <a:ext uri="{FF2B5EF4-FFF2-40B4-BE49-F238E27FC236}">
                    <a16:creationId xmlns:a16="http://schemas.microsoft.com/office/drawing/2014/main" id="{A7690662-FE0F-864D-4EB7-EF249BEEEF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4700" y="2030413"/>
                <a:ext cx="31750" cy="2063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1" y="7"/>
                  </a:cxn>
                  <a:cxn ang="0">
                    <a:pos x="24" y="7"/>
                  </a:cxn>
                  <a:cxn ang="0">
                    <a:pos x="24" y="10"/>
                  </a:cxn>
                  <a:cxn ang="0">
                    <a:pos x="19" y="15"/>
                  </a:cxn>
                  <a:cxn ang="0">
                    <a:pos x="0" y="3"/>
                  </a:cxn>
                  <a:cxn ang="0">
                    <a:pos x="1" y="0"/>
                  </a:cxn>
                </a:cxnLst>
                <a:rect l="0" t="0" r="r" b="b"/>
                <a:pathLst>
                  <a:path w="24" h="15">
                    <a:moveTo>
                      <a:pt x="1" y="0"/>
                    </a:moveTo>
                    <a:cubicBezTo>
                      <a:pt x="4" y="4"/>
                      <a:pt x="7" y="6"/>
                      <a:pt x="11" y="7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4" y="8"/>
                      <a:pt x="24" y="9"/>
                      <a:pt x="24" y="10"/>
                    </a:cubicBezTo>
                    <a:cubicBezTo>
                      <a:pt x="24" y="12"/>
                      <a:pt x="20" y="15"/>
                      <a:pt x="19" y="15"/>
                    </a:cubicBezTo>
                    <a:cubicBezTo>
                      <a:pt x="16" y="15"/>
                      <a:pt x="0" y="6"/>
                      <a:pt x="0" y="3"/>
                    </a:cubicBezTo>
                    <a:cubicBezTo>
                      <a:pt x="0" y="2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75" name="Freeform 99">
                <a:extLst>
                  <a:ext uri="{FF2B5EF4-FFF2-40B4-BE49-F238E27FC236}">
                    <a16:creationId xmlns:a16="http://schemas.microsoft.com/office/drawing/2014/main" id="{4438017F-ED09-F8D0-BB7C-7638250201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2325" y="2030413"/>
                <a:ext cx="22225" cy="26988"/>
              </a:xfrm>
              <a:custGeom>
                <a:avLst/>
                <a:gdLst/>
                <a:ahLst/>
                <a:cxnLst>
                  <a:cxn ang="0">
                    <a:pos x="17" y="12"/>
                  </a:cxn>
                  <a:cxn ang="0">
                    <a:pos x="17" y="15"/>
                  </a:cxn>
                  <a:cxn ang="0">
                    <a:pos x="7" y="20"/>
                  </a:cxn>
                  <a:cxn ang="0">
                    <a:pos x="0" y="15"/>
                  </a:cxn>
                  <a:cxn ang="0">
                    <a:pos x="10" y="0"/>
                  </a:cxn>
                  <a:cxn ang="0">
                    <a:pos x="14" y="5"/>
                  </a:cxn>
                  <a:cxn ang="0">
                    <a:pos x="17" y="12"/>
                  </a:cxn>
                </a:cxnLst>
                <a:rect l="0" t="0" r="r" b="b"/>
                <a:pathLst>
                  <a:path w="17" h="20">
                    <a:moveTo>
                      <a:pt x="17" y="12"/>
                    </a:moveTo>
                    <a:cubicBezTo>
                      <a:pt x="17" y="12"/>
                      <a:pt x="17" y="14"/>
                      <a:pt x="17" y="15"/>
                    </a:cubicBezTo>
                    <a:cubicBezTo>
                      <a:pt x="17" y="18"/>
                      <a:pt x="12" y="20"/>
                      <a:pt x="7" y="20"/>
                    </a:cubicBezTo>
                    <a:cubicBezTo>
                      <a:pt x="3" y="20"/>
                      <a:pt x="0" y="18"/>
                      <a:pt x="0" y="15"/>
                    </a:cubicBezTo>
                    <a:cubicBezTo>
                      <a:pt x="0" y="13"/>
                      <a:pt x="6" y="2"/>
                      <a:pt x="10" y="0"/>
                    </a:cubicBezTo>
                    <a:cubicBezTo>
                      <a:pt x="11" y="2"/>
                      <a:pt x="14" y="3"/>
                      <a:pt x="14" y="5"/>
                    </a:cubicBezTo>
                    <a:cubicBezTo>
                      <a:pt x="14" y="9"/>
                      <a:pt x="7" y="12"/>
                      <a:pt x="17" y="1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276" name="Freeform 100">
                <a:extLst>
                  <a:ext uri="{FF2B5EF4-FFF2-40B4-BE49-F238E27FC236}">
                    <a16:creationId xmlns:a16="http://schemas.microsoft.com/office/drawing/2014/main" id="{F4D31159-B503-58EF-40FC-424A447A65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3850" y="1724025"/>
                <a:ext cx="26988" cy="12700"/>
              </a:xfrm>
              <a:custGeom>
                <a:avLst/>
                <a:gdLst/>
                <a:ahLst/>
                <a:cxnLst>
                  <a:cxn ang="0">
                    <a:pos x="6" y="4"/>
                  </a:cxn>
                  <a:cxn ang="0">
                    <a:pos x="13" y="1"/>
                  </a:cxn>
                  <a:cxn ang="0">
                    <a:pos x="20" y="9"/>
                  </a:cxn>
                  <a:cxn ang="0">
                    <a:pos x="5" y="9"/>
                  </a:cxn>
                  <a:cxn ang="0">
                    <a:pos x="0" y="4"/>
                  </a:cxn>
                  <a:cxn ang="0">
                    <a:pos x="6" y="4"/>
                  </a:cxn>
                </a:cxnLst>
                <a:rect l="0" t="0" r="r" b="b"/>
                <a:pathLst>
                  <a:path w="20" h="9">
                    <a:moveTo>
                      <a:pt x="6" y="4"/>
                    </a:moveTo>
                    <a:cubicBezTo>
                      <a:pt x="8" y="0"/>
                      <a:pt x="10" y="1"/>
                      <a:pt x="13" y="1"/>
                    </a:cubicBezTo>
                    <a:cubicBezTo>
                      <a:pt x="18" y="1"/>
                      <a:pt x="19" y="4"/>
                      <a:pt x="2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3" y="7"/>
                      <a:pt x="1" y="6"/>
                      <a:pt x="0" y="4"/>
                    </a:cubicBezTo>
                    <a:lnTo>
                      <a:pt x="6" y="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46" name="Group 345">
              <a:extLst>
                <a:ext uri="{FF2B5EF4-FFF2-40B4-BE49-F238E27FC236}">
                  <a16:creationId xmlns:a16="http://schemas.microsoft.com/office/drawing/2014/main" id="{C043F66D-8647-D8FF-CB76-CFD8E1F8D9A7}"/>
                </a:ext>
              </a:extLst>
            </p:cNvPr>
            <p:cNvGrpSpPr/>
            <p:nvPr/>
          </p:nvGrpSpPr>
          <p:grpSpPr>
            <a:xfrm>
              <a:off x="7109229" y="1859103"/>
              <a:ext cx="804291" cy="1505090"/>
              <a:chOff x="4219575" y="1089025"/>
              <a:chExt cx="687388" cy="1155701"/>
            </a:xfrm>
            <a:solidFill>
              <a:srgbClr val="121E3B"/>
            </a:solidFill>
          </p:grpSpPr>
          <p:sp>
            <p:nvSpPr>
              <p:cNvPr id="199" name="Freeform 36">
                <a:extLst>
                  <a:ext uri="{FF2B5EF4-FFF2-40B4-BE49-F238E27FC236}">
                    <a16:creationId xmlns:a16="http://schemas.microsoft.com/office/drawing/2014/main" id="{B49E656C-8315-E1EC-AF53-B0B0A3FEBF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8825" y="1816100"/>
                <a:ext cx="26988" cy="39688"/>
              </a:xfrm>
              <a:custGeom>
                <a:avLst/>
                <a:gdLst/>
                <a:ahLst/>
                <a:cxnLst>
                  <a:cxn ang="0">
                    <a:pos x="3" y="27"/>
                  </a:cxn>
                  <a:cxn ang="0">
                    <a:pos x="9" y="21"/>
                  </a:cxn>
                  <a:cxn ang="0">
                    <a:pos x="0" y="14"/>
                  </a:cxn>
                  <a:cxn ang="0">
                    <a:pos x="9" y="0"/>
                  </a:cxn>
                  <a:cxn ang="0">
                    <a:pos x="20" y="12"/>
                  </a:cxn>
                  <a:cxn ang="0">
                    <a:pos x="6" y="30"/>
                  </a:cxn>
                  <a:cxn ang="0">
                    <a:pos x="0" y="27"/>
                  </a:cxn>
                  <a:cxn ang="0">
                    <a:pos x="2" y="25"/>
                  </a:cxn>
                  <a:cxn ang="0">
                    <a:pos x="3" y="27"/>
                  </a:cxn>
                </a:cxnLst>
                <a:rect l="0" t="0" r="r" b="b"/>
                <a:pathLst>
                  <a:path w="20" h="30">
                    <a:moveTo>
                      <a:pt x="3" y="27"/>
                    </a:moveTo>
                    <a:cubicBezTo>
                      <a:pt x="6" y="26"/>
                      <a:pt x="9" y="23"/>
                      <a:pt x="9" y="21"/>
                    </a:cubicBezTo>
                    <a:cubicBezTo>
                      <a:pt x="5" y="20"/>
                      <a:pt x="0" y="16"/>
                      <a:pt x="0" y="14"/>
                    </a:cubicBezTo>
                    <a:cubicBezTo>
                      <a:pt x="0" y="12"/>
                      <a:pt x="5" y="0"/>
                      <a:pt x="9" y="0"/>
                    </a:cubicBezTo>
                    <a:cubicBezTo>
                      <a:pt x="17" y="0"/>
                      <a:pt x="18" y="4"/>
                      <a:pt x="20" y="12"/>
                    </a:cubicBezTo>
                    <a:cubicBezTo>
                      <a:pt x="12" y="14"/>
                      <a:pt x="16" y="30"/>
                      <a:pt x="6" y="30"/>
                    </a:cubicBezTo>
                    <a:cubicBezTo>
                      <a:pt x="3" y="30"/>
                      <a:pt x="1" y="27"/>
                      <a:pt x="0" y="27"/>
                    </a:cubicBezTo>
                    <a:cubicBezTo>
                      <a:pt x="1" y="26"/>
                      <a:pt x="2" y="25"/>
                      <a:pt x="2" y="25"/>
                    </a:cubicBezTo>
                    <a:lnTo>
                      <a:pt x="3" y="27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grpSp>
            <p:nvGrpSpPr>
              <p:cNvPr id="200" name="Group 343">
                <a:extLst>
                  <a:ext uri="{FF2B5EF4-FFF2-40B4-BE49-F238E27FC236}">
                    <a16:creationId xmlns:a16="http://schemas.microsoft.com/office/drawing/2014/main" id="{E3B92E72-E54C-7885-4C29-DD4B026582B4}"/>
                  </a:ext>
                </a:extLst>
              </p:cNvPr>
              <p:cNvGrpSpPr/>
              <p:nvPr/>
            </p:nvGrpSpPr>
            <p:grpSpPr>
              <a:xfrm>
                <a:off x="4219575" y="1089025"/>
                <a:ext cx="687388" cy="1155701"/>
                <a:chOff x="4219575" y="1089025"/>
                <a:chExt cx="687388" cy="1155701"/>
              </a:xfrm>
              <a:grpFill/>
            </p:grpSpPr>
            <p:sp>
              <p:nvSpPr>
                <p:cNvPr id="201" name="Freeform 24">
                  <a:extLst>
                    <a:ext uri="{FF2B5EF4-FFF2-40B4-BE49-F238E27FC236}">
                      <a16:creationId xmlns:a16="http://schemas.microsoft.com/office/drawing/2014/main" id="{61B39994-4464-C775-AF95-27D751D368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30688" y="1782763"/>
                  <a:ext cx="646113" cy="461963"/>
                </a:xfrm>
                <a:custGeom>
                  <a:avLst/>
                  <a:gdLst/>
                  <a:ahLst/>
                  <a:cxnLst>
                    <a:cxn ang="0">
                      <a:pos x="473" y="233"/>
                    </a:cxn>
                    <a:cxn ang="0">
                      <a:pos x="470" y="273"/>
                    </a:cxn>
                    <a:cxn ang="0">
                      <a:pos x="427" y="274"/>
                    </a:cxn>
                    <a:cxn ang="0">
                      <a:pos x="401" y="283"/>
                    </a:cxn>
                    <a:cxn ang="0">
                      <a:pos x="403" y="303"/>
                    </a:cxn>
                    <a:cxn ang="0">
                      <a:pos x="413" y="322"/>
                    </a:cxn>
                    <a:cxn ang="0">
                      <a:pos x="401" y="319"/>
                    </a:cxn>
                    <a:cxn ang="0">
                      <a:pos x="397" y="336"/>
                    </a:cxn>
                    <a:cxn ang="0">
                      <a:pos x="382" y="315"/>
                    </a:cxn>
                    <a:cxn ang="0">
                      <a:pos x="358" y="278"/>
                    </a:cxn>
                    <a:cxn ang="0">
                      <a:pos x="329" y="238"/>
                    </a:cxn>
                    <a:cxn ang="0">
                      <a:pos x="289" y="213"/>
                    </a:cxn>
                    <a:cxn ang="0">
                      <a:pos x="270" y="212"/>
                    </a:cxn>
                    <a:cxn ang="0">
                      <a:pos x="289" y="244"/>
                    </a:cxn>
                    <a:cxn ang="0">
                      <a:pos x="315" y="264"/>
                    </a:cxn>
                    <a:cxn ang="0">
                      <a:pos x="330" y="283"/>
                    </a:cxn>
                    <a:cxn ang="0">
                      <a:pos x="323" y="305"/>
                    </a:cxn>
                    <a:cxn ang="0">
                      <a:pos x="316" y="303"/>
                    </a:cxn>
                    <a:cxn ang="0">
                      <a:pos x="291" y="273"/>
                    </a:cxn>
                    <a:cxn ang="0">
                      <a:pos x="229" y="223"/>
                    </a:cxn>
                    <a:cxn ang="0">
                      <a:pos x="168" y="237"/>
                    </a:cxn>
                    <a:cxn ang="0">
                      <a:pos x="135" y="272"/>
                    </a:cxn>
                    <a:cxn ang="0">
                      <a:pos x="101" y="326"/>
                    </a:cxn>
                    <a:cxn ang="0">
                      <a:pos x="72" y="338"/>
                    </a:cxn>
                    <a:cxn ang="0">
                      <a:pos x="10" y="334"/>
                    </a:cxn>
                    <a:cxn ang="0">
                      <a:pos x="0" y="306"/>
                    </a:cxn>
                    <a:cxn ang="0">
                      <a:pos x="4" y="246"/>
                    </a:cxn>
                    <a:cxn ang="0">
                      <a:pos x="48" y="235"/>
                    </a:cxn>
                    <a:cxn ang="0">
                      <a:pos x="89" y="240"/>
                    </a:cxn>
                    <a:cxn ang="0">
                      <a:pos x="105" y="206"/>
                    </a:cxn>
                    <a:cxn ang="0">
                      <a:pos x="103" y="193"/>
                    </a:cxn>
                    <a:cxn ang="0">
                      <a:pos x="60" y="163"/>
                    </a:cxn>
                    <a:cxn ang="0">
                      <a:pos x="88" y="157"/>
                    </a:cxn>
                    <a:cxn ang="0">
                      <a:pos x="96" y="143"/>
                    </a:cxn>
                    <a:cxn ang="0">
                      <a:pos x="114" y="145"/>
                    </a:cxn>
                    <a:cxn ang="0">
                      <a:pos x="147" y="118"/>
                    </a:cxn>
                    <a:cxn ang="0">
                      <a:pos x="176" y="89"/>
                    </a:cxn>
                    <a:cxn ang="0">
                      <a:pos x="208" y="73"/>
                    </a:cxn>
                    <a:cxn ang="0">
                      <a:pos x="225" y="54"/>
                    </a:cxn>
                    <a:cxn ang="0">
                      <a:pos x="245" y="5"/>
                    </a:cxn>
                    <a:cxn ang="0">
                      <a:pos x="251" y="25"/>
                    </a:cxn>
                    <a:cxn ang="0">
                      <a:pos x="240" y="54"/>
                    </a:cxn>
                    <a:cxn ang="0">
                      <a:pos x="254" y="66"/>
                    </a:cxn>
                    <a:cxn ang="0">
                      <a:pos x="289" y="68"/>
                    </a:cxn>
                    <a:cxn ang="0">
                      <a:pos x="333" y="50"/>
                    </a:cxn>
                    <a:cxn ang="0">
                      <a:pos x="378" y="55"/>
                    </a:cxn>
                    <a:cxn ang="0">
                      <a:pos x="408" y="95"/>
                    </a:cxn>
                    <a:cxn ang="0">
                      <a:pos x="399" y="153"/>
                    </a:cxn>
                    <a:cxn ang="0">
                      <a:pos x="470" y="180"/>
                    </a:cxn>
                    <a:cxn ang="0">
                      <a:pos x="474" y="204"/>
                    </a:cxn>
                    <a:cxn ang="0">
                      <a:pos x="476" y="216"/>
                    </a:cxn>
                  </a:cxnLst>
                  <a:rect l="0" t="0" r="r" b="b"/>
                  <a:pathLst>
                    <a:path w="485" h="347">
                      <a:moveTo>
                        <a:pt x="476" y="216"/>
                      </a:moveTo>
                      <a:cubicBezTo>
                        <a:pt x="474" y="223"/>
                        <a:pt x="475" y="219"/>
                        <a:pt x="473" y="222"/>
                      </a:cubicBezTo>
                      <a:cubicBezTo>
                        <a:pt x="473" y="233"/>
                        <a:pt x="473" y="233"/>
                        <a:pt x="473" y="233"/>
                      </a:cubicBezTo>
                      <a:cubicBezTo>
                        <a:pt x="469" y="238"/>
                        <a:pt x="461" y="246"/>
                        <a:pt x="461" y="253"/>
                      </a:cubicBezTo>
                      <a:cubicBezTo>
                        <a:pt x="461" y="261"/>
                        <a:pt x="473" y="268"/>
                        <a:pt x="476" y="272"/>
                      </a:cubicBezTo>
                      <a:cubicBezTo>
                        <a:pt x="474" y="273"/>
                        <a:pt x="472" y="273"/>
                        <a:pt x="470" y="273"/>
                      </a:cubicBezTo>
                      <a:cubicBezTo>
                        <a:pt x="466" y="275"/>
                        <a:pt x="463" y="273"/>
                        <a:pt x="459" y="275"/>
                      </a:cubicBezTo>
                      <a:cubicBezTo>
                        <a:pt x="453" y="277"/>
                        <a:pt x="452" y="283"/>
                        <a:pt x="446" y="283"/>
                      </a:cubicBezTo>
                      <a:cubicBezTo>
                        <a:pt x="439" y="283"/>
                        <a:pt x="435" y="274"/>
                        <a:pt x="427" y="274"/>
                      </a:cubicBezTo>
                      <a:cubicBezTo>
                        <a:pt x="420" y="274"/>
                        <a:pt x="419" y="278"/>
                        <a:pt x="413" y="280"/>
                      </a:cubicBezTo>
                      <a:cubicBezTo>
                        <a:pt x="414" y="284"/>
                        <a:pt x="414" y="286"/>
                        <a:pt x="413" y="290"/>
                      </a:cubicBezTo>
                      <a:cubicBezTo>
                        <a:pt x="406" y="290"/>
                        <a:pt x="405" y="283"/>
                        <a:pt x="401" y="283"/>
                      </a:cubicBezTo>
                      <a:cubicBezTo>
                        <a:pt x="399" y="283"/>
                        <a:pt x="397" y="286"/>
                        <a:pt x="397" y="288"/>
                      </a:cubicBezTo>
                      <a:cubicBezTo>
                        <a:pt x="405" y="298"/>
                        <a:pt x="405" y="298"/>
                        <a:pt x="405" y="298"/>
                      </a:cubicBezTo>
                      <a:cubicBezTo>
                        <a:pt x="405" y="300"/>
                        <a:pt x="403" y="302"/>
                        <a:pt x="403" y="303"/>
                      </a:cubicBezTo>
                      <a:cubicBezTo>
                        <a:pt x="403" y="304"/>
                        <a:pt x="415" y="315"/>
                        <a:pt x="419" y="315"/>
                      </a:cubicBezTo>
                      <a:cubicBezTo>
                        <a:pt x="419" y="317"/>
                        <a:pt x="420" y="318"/>
                        <a:pt x="420" y="319"/>
                      </a:cubicBezTo>
                      <a:cubicBezTo>
                        <a:pt x="418" y="321"/>
                        <a:pt x="414" y="319"/>
                        <a:pt x="413" y="322"/>
                      </a:cubicBezTo>
                      <a:cubicBezTo>
                        <a:pt x="412" y="322"/>
                        <a:pt x="412" y="322"/>
                        <a:pt x="412" y="322"/>
                      </a:cubicBezTo>
                      <a:cubicBezTo>
                        <a:pt x="407" y="321"/>
                        <a:pt x="403" y="317"/>
                        <a:pt x="401" y="315"/>
                      </a:cubicBezTo>
                      <a:cubicBezTo>
                        <a:pt x="401" y="319"/>
                        <a:pt x="401" y="319"/>
                        <a:pt x="401" y="319"/>
                      </a:cubicBezTo>
                      <a:cubicBezTo>
                        <a:pt x="402" y="321"/>
                        <a:pt x="403" y="323"/>
                        <a:pt x="403" y="326"/>
                      </a:cubicBezTo>
                      <a:cubicBezTo>
                        <a:pt x="403" y="329"/>
                        <a:pt x="399" y="334"/>
                        <a:pt x="403" y="336"/>
                      </a:cubicBezTo>
                      <a:cubicBezTo>
                        <a:pt x="401" y="336"/>
                        <a:pt x="397" y="336"/>
                        <a:pt x="397" y="336"/>
                      </a:cubicBezTo>
                      <a:cubicBezTo>
                        <a:pt x="390" y="336"/>
                        <a:pt x="384" y="329"/>
                        <a:pt x="384" y="322"/>
                      </a:cubicBezTo>
                      <a:cubicBezTo>
                        <a:pt x="384" y="319"/>
                        <a:pt x="388" y="317"/>
                        <a:pt x="390" y="315"/>
                      </a:cubicBezTo>
                      <a:cubicBezTo>
                        <a:pt x="387" y="315"/>
                        <a:pt x="385" y="315"/>
                        <a:pt x="382" y="315"/>
                      </a:cubicBezTo>
                      <a:cubicBezTo>
                        <a:pt x="380" y="315"/>
                        <a:pt x="379" y="311"/>
                        <a:pt x="379" y="310"/>
                      </a:cubicBezTo>
                      <a:cubicBezTo>
                        <a:pt x="378" y="304"/>
                        <a:pt x="374" y="300"/>
                        <a:pt x="370" y="296"/>
                      </a:cubicBezTo>
                      <a:cubicBezTo>
                        <a:pt x="365" y="291"/>
                        <a:pt x="358" y="287"/>
                        <a:pt x="358" y="278"/>
                      </a:cubicBezTo>
                      <a:cubicBezTo>
                        <a:pt x="358" y="272"/>
                        <a:pt x="358" y="270"/>
                        <a:pt x="358" y="266"/>
                      </a:cubicBezTo>
                      <a:cubicBezTo>
                        <a:pt x="358" y="260"/>
                        <a:pt x="348" y="251"/>
                        <a:pt x="342" y="248"/>
                      </a:cubicBezTo>
                      <a:cubicBezTo>
                        <a:pt x="336" y="245"/>
                        <a:pt x="329" y="244"/>
                        <a:pt x="329" y="238"/>
                      </a:cubicBezTo>
                      <a:cubicBezTo>
                        <a:pt x="326" y="238"/>
                        <a:pt x="325" y="238"/>
                        <a:pt x="323" y="238"/>
                      </a:cubicBezTo>
                      <a:cubicBezTo>
                        <a:pt x="313" y="238"/>
                        <a:pt x="302" y="223"/>
                        <a:pt x="302" y="213"/>
                      </a:cubicBezTo>
                      <a:cubicBezTo>
                        <a:pt x="297" y="213"/>
                        <a:pt x="293" y="213"/>
                        <a:pt x="289" y="213"/>
                      </a:cubicBezTo>
                      <a:cubicBezTo>
                        <a:pt x="283" y="213"/>
                        <a:pt x="285" y="204"/>
                        <a:pt x="283" y="201"/>
                      </a:cubicBezTo>
                      <a:cubicBezTo>
                        <a:pt x="278" y="204"/>
                        <a:pt x="268" y="204"/>
                        <a:pt x="268" y="209"/>
                      </a:cubicBezTo>
                      <a:cubicBezTo>
                        <a:pt x="268" y="210"/>
                        <a:pt x="270" y="212"/>
                        <a:pt x="270" y="212"/>
                      </a:cubicBezTo>
                      <a:cubicBezTo>
                        <a:pt x="270" y="214"/>
                        <a:pt x="269" y="217"/>
                        <a:pt x="269" y="220"/>
                      </a:cubicBezTo>
                      <a:cubicBezTo>
                        <a:pt x="269" y="226"/>
                        <a:pt x="273" y="229"/>
                        <a:pt x="278" y="231"/>
                      </a:cubicBezTo>
                      <a:cubicBezTo>
                        <a:pt x="285" y="233"/>
                        <a:pt x="288" y="240"/>
                        <a:pt x="289" y="244"/>
                      </a:cubicBezTo>
                      <a:cubicBezTo>
                        <a:pt x="291" y="250"/>
                        <a:pt x="294" y="257"/>
                        <a:pt x="298" y="259"/>
                      </a:cubicBezTo>
                      <a:cubicBezTo>
                        <a:pt x="304" y="262"/>
                        <a:pt x="309" y="260"/>
                        <a:pt x="315" y="260"/>
                      </a:cubicBezTo>
                      <a:cubicBezTo>
                        <a:pt x="315" y="261"/>
                        <a:pt x="315" y="263"/>
                        <a:pt x="315" y="264"/>
                      </a:cubicBezTo>
                      <a:cubicBezTo>
                        <a:pt x="313" y="269"/>
                        <a:pt x="323" y="271"/>
                        <a:pt x="326" y="272"/>
                      </a:cubicBezTo>
                      <a:cubicBezTo>
                        <a:pt x="335" y="277"/>
                        <a:pt x="345" y="280"/>
                        <a:pt x="344" y="290"/>
                      </a:cubicBezTo>
                      <a:cubicBezTo>
                        <a:pt x="340" y="289"/>
                        <a:pt x="337" y="283"/>
                        <a:pt x="330" y="283"/>
                      </a:cubicBezTo>
                      <a:cubicBezTo>
                        <a:pt x="325" y="283"/>
                        <a:pt x="320" y="286"/>
                        <a:pt x="320" y="290"/>
                      </a:cubicBezTo>
                      <a:cubicBezTo>
                        <a:pt x="320" y="296"/>
                        <a:pt x="328" y="297"/>
                        <a:pt x="328" y="303"/>
                      </a:cubicBezTo>
                      <a:cubicBezTo>
                        <a:pt x="328" y="305"/>
                        <a:pt x="323" y="305"/>
                        <a:pt x="323" y="305"/>
                      </a:cubicBezTo>
                      <a:cubicBezTo>
                        <a:pt x="319" y="309"/>
                        <a:pt x="319" y="318"/>
                        <a:pt x="313" y="318"/>
                      </a:cubicBezTo>
                      <a:cubicBezTo>
                        <a:pt x="310" y="318"/>
                        <a:pt x="308" y="317"/>
                        <a:pt x="308" y="315"/>
                      </a:cubicBezTo>
                      <a:cubicBezTo>
                        <a:pt x="314" y="315"/>
                        <a:pt x="316" y="309"/>
                        <a:pt x="316" y="303"/>
                      </a:cubicBezTo>
                      <a:cubicBezTo>
                        <a:pt x="316" y="297"/>
                        <a:pt x="312" y="295"/>
                        <a:pt x="311" y="291"/>
                      </a:cubicBezTo>
                      <a:cubicBezTo>
                        <a:pt x="310" y="291"/>
                        <a:pt x="300" y="281"/>
                        <a:pt x="299" y="278"/>
                      </a:cubicBezTo>
                      <a:cubicBezTo>
                        <a:pt x="297" y="278"/>
                        <a:pt x="291" y="276"/>
                        <a:pt x="291" y="273"/>
                      </a:cubicBezTo>
                      <a:cubicBezTo>
                        <a:pt x="277" y="270"/>
                        <a:pt x="274" y="266"/>
                        <a:pt x="266" y="259"/>
                      </a:cubicBezTo>
                      <a:cubicBezTo>
                        <a:pt x="263" y="256"/>
                        <a:pt x="257" y="254"/>
                        <a:pt x="256" y="251"/>
                      </a:cubicBezTo>
                      <a:cubicBezTo>
                        <a:pt x="248" y="241"/>
                        <a:pt x="245" y="223"/>
                        <a:pt x="229" y="223"/>
                      </a:cubicBezTo>
                      <a:cubicBezTo>
                        <a:pt x="221" y="223"/>
                        <a:pt x="220" y="228"/>
                        <a:pt x="216" y="230"/>
                      </a:cubicBezTo>
                      <a:cubicBezTo>
                        <a:pt x="208" y="234"/>
                        <a:pt x="202" y="242"/>
                        <a:pt x="192" y="242"/>
                      </a:cubicBezTo>
                      <a:cubicBezTo>
                        <a:pt x="183" y="242"/>
                        <a:pt x="177" y="237"/>
                        <a:pt x="168" y="237"/>
                      </a:cubicBezTo>
                      <a:cubicBezTo>
                        <a:pt x="161" y="237"/>
                        <a:pt x="154" y="242"/>
                        <a:pt x="154" y="248"/>
                      </a:cubicBezTo>
                      <a:cubicBezTo>
                        <a:pt x="157" y="258"/>
                        <a:pt x="157" y="258"/>
                        <a:pt x="157" y="258"/>
                      </a:cubicBezTo>
                      <a:cubicBezTo>
                        <a:pt x="154" y="267"/>
                        <a:pt x="144" y="270"/>
                        <a:pt x="135" y="272"/>
                      </a:cubicBezTo>
                      <a:cubicBezTo>
                        <a:pt x="127" y="274"/>
                        <a:pt x="114" y="292"/>
                        <a:pt x="114" y="302"/>
                      </a:cubicBezTo>
                      <a:cubicBezTo>
                        <a:pt x="114" y="305"/>
                        <a:pt x="117" y="306"/>
                        <a:pt x="119" y="307"/>
                      </a:cubicBezTo>
                      <a:cubicBezTo>
                        <a:pt x="113" y="316"/>
                        <a:pt x="110" y="321"/>
                        <a:pt x="101" y="326"/>
                      </a:cubicBezTo>
                      <a:cubicBezTo>
                        <a:pt x="96" y="328"/>
                        <a:pt x="95" y="340"/>
                        <a:pt x="86" y="337"/>
                      </a:cubicBezTo>
                      <a:cubicBezTo>
                        <a:pt x="86" y="337"/>
                        <a:pt x="86" y="337"/>
                        <a:pt x="86" y="337"/>
                      </a:cubicBezTo>
                      <a:cubicBezTo>
                        <a:pt x="82" y="336"/>
                        <a:pt x="75" y="338"/>
                        <a:pt x="72" y="338"/>
                      </a:cubicBezTo>
                      <a:cubicBezTo>
                        <a:pt x="62" y="338"/>
                        <a:pt x="56" y="347"/>
                        <a:pt x="46" y="347"/>
                      </a:cubicBezTo>
                      <a:cubicBezTo>
                        <a:pt x="40" y="347"/>
                        <a:pt x="39" y="331"/>
                        <a:pt x="29" y="331"/>
                      </a:cubicBezTo>
                      <a:cubicBezTo>
                        <a:pt x="22" y="331"/>
                        <a:pt x="17" y="334"/>
                        <a:pt x="10" y="334"/>
                      </a:cubicBezTo>
                      <a:cubicBezTo>
                        <a:pt x="8" y="334"/>
                        <a:pt x="7" y="332"/>
                        <a:pt x="7" y="330"/>
                      </a:cubicBezTo>
                      <a:cubicBezTo>
                        <a:pt x="7" y="321"/>
                        <a:pt x="7" y="318"/>
                        <a:pt x="7" y="313"/>
                      </a:cubicBezTo>
                      <a:cubicBezTo>
                        <a:pt x="3" y="313"/>
                        <a:pt x="0" y="310"/>
                        <a:pt x="0" y="306"/>
                      </a:cubicBezTo>
                      <a:cubicBezTo>
                        <a:pt x="0" y="301"/>
                        <a:pt x="4" y="299"/>
                        <a:pt x="4" y="296"/>
                      </a:cubicBezTo>
                      <a:cubicBezTo>
                        <a:pt x="4" y="285"/>
                        <a:pt x="8" y="274"/>
                        <a:pt x="8" y="262"/>
                      </a:cubicBezTo>
                      <a:cubicBezTo>
                        <a:pt x="8" y="256"/>
                        <a:pt x="4" y="250"/>
                        <a:pt x="4" y="246"/>
                      </a:cubicBezTo>
                      <a:cubicBezTo>
                        <a:pt x="4" y="243"/>
                        <a:pt x="19" y="234"/>
                        <a:pt x="21" y="234"/>
                      </a:cubicBezTo>
                      <a:cubicBezTo>
                        <a:pt x="23" y="234"/>
                        <a:pt x="25" y="236"/>
                        <a:pt x="28" y="235"/>
                      </a:cubicBezTo>
                      <a:cubicBezTo>
                        <a:pt x="48" y="235"/>
                        <a:pt x="48" y="235"/>
                        <a:pt x="48" y="235"/>
                      </a:cubicBezTo>
                      <a:cubicBezTo>
                        <a:pt x="49" y="237"/>
                        <a:pt x="53" y="238"/>
                        <a:pt x="55" y="238"/>
                      </a:cubicBezTo>
                      <a:cubicBezTo>
                        <a:pt x="76" y="238"/>
                        <a:pt x="76" y="238"/>
                        <a:pt x="76" y="238"/>
                      </a:cubicBezTo>
                      <a:cubicBezTo>
                        <a:pt x="82" y="237"/>
                        <a:pt x="84" y="240"/>
                        <a:pt x="89" y="240"/>
                      </a:cubicBezTo>
                      <a:cubicBezTo>
                        <a:pt x="92" y="240"/>
                        <a:pt x="98" y="238"/>
                        <a:pt x="100" y="238"/>
                      </a:cubicBezTo>
                      <a:cubicBezTo>
                        <a:pt x="100" y="229"/>
                        <a:pt x="105" y="226"/>
                        <a:pt x="105" y="218"/>
                      </a:cubicBezTo>
                      <a:cubicBezTo>
                        <a:pt x="105" y="216"/>
                        <a:pt x="105" y="208"/>
                        <a:pt x="105" y="206"/>
                      </a:cubicBezTo>
                      <a:cubicBezTo>
                        <a:pt x="104" y="206"/>
                        <a:pt x="104" y="206"/>
                        <a:pt x="104" y="206"/>
                      </a:cubicBezTo>
                      <a:cubicBezTo>
                        <a:pt x="105" y="205"/>
                        <a:pt x="106" y="201"/>
                        <a:pt x="106" y="200"/>
                      </a:cubicBezTo>
                      <a:cubicBezTo>
                        <a:pt x="106" y="196"/>
                        <a:pt x="103" y="197"/>
                        <a:pt x="103" y="193"/>
                      </a:cubicBezTo>
                      <a:cubicBezTo>
                        <a:pt x="94" y="193"/>
                        <a:pt x="92" y="185"/>
                        <a:pt x="92" y="178"/>
                      </a:cubicBezTo>
                      <a:cubicBezTo>
                        <a:pt x="89" y="178"/>
                        <a:pt x="89" y="175"/>
                        <a:pt x="87" y="175"/>
                      </a:cubicBezTo>
                      <a:cubicBezTo>
                        <a:pt x="79" y="173"/>
                        <a:pt x="60" y="169"/>
                        <a:pt x="60" y="163"/>
                      </a:cubicBezTo>
                      <a:cubicBezTo>
                        <a:pt x="60" y="163"/>
                        <a:pt x="60" y="161"/>
                        <a:pt x="60" y="161"/>
                      </a:cubicBezTo>
                      <a:cubicBezTo>
                        <a:pt x="60" y="157"/>
                        <a:pt x="72" y="154"/>
                        <a:pt x="76" y="153"/>
                      </a:cubicBezTo>
                      <a:cubicBezTo>
                        <a:pt x="78" y="156"/>
                        <a:pt x="85" y="157"/>
                        <a:pt x="88" y="157"/>
                      </a:cubicBezTo>
                      <a:cubicBezTo>
                        <a:pt x="92" y="157"/>
                        <a:pt x="97" y="156"/>
                        <a:pt x="98" y="155"/>
                      </a:cubicBezTo>
                      <a:cubicBezTo>
                        <a:pt x="98" y="152"/>
                        <a:pt x="98" y="152"/>
                        <a:pt x="98" y="152"/>
                      </a:cubicBezTo>
                      <a:cubicBezTo>
                        <a:pt x="95" y="151"/>
                        <a:pt x="97" y="145"/>
                        <a:pt x="96" y="143"/>
                      </a:cubicBezTo>
                      <a:cubicBezTo>
                        <a:pt x="96" y="140"/>
                        <a:pt x="96" y="140"/>
                        <a:pt x="96" y="140"/>
                      </a:cubicBezTo>
                      <a:cubicBezTo>
                        <a:pt x="101" y="140"/>
                        <a:pt x="101" y="140"/>
                        <a:pt x="101" y="140"/>
                      </a:cubicBezTo>
                      <a:cubicBezTo>
                        <a:pt x="104" y="143"/>
                        <a:pt x="109" y="145"/>
                        <a:pt x="114" y="145"/>
                      </a:cubicBezTo>
                      <a:cubicBezTo>
                        <a:pt x="117" y="145"/>
                        <a:pt x="120" y="142"/>
                        <a:pt x="121" y="139"/>
                      </a:cubicBezTo>
                      <a:cubicBezTo>
                        <a:pt x="135" y="139"/>
                        <a:pt x="138" y="129"/>
                        <a:pt x="141" y="119"/>
                      </a:cubicBezTo>
                      <a:cubicBezTo>
                        <a:pt x="143" y="119"/>
                        <a:pt x="145" y="118"/>
                        <a:pt x="147" y="118"/>
                      </a:cubicBezTo>
                      <a:cubicBezTo>
                        <a:pt x="150" y="117"/>
                        <a:pt x="167" y="110"/>
                        <a:pt x="169" y="108"/>
                      </a:cubicBezTo>
                      <a:cubicBezTo>
                        <a:pt x="173" y="104"/>
                        <a:pt x="171" y="99"/>
                        <a:pt x="171" y="94"/>
                      </a:cubicBezTo>
                      <a:cubicBezTo>
                        <a:pt x="171" y="92"/>
                        <a:pt x="175" y="89"/>
                        <a:pt x="176" y="89"/>
                      </a:cubicBezTo>
                      <a:cubicBezTo>
                        <a:pt x="182" y="83"/>
                        <a:pt x="188" y="76"/>
                        <a:pt x="198" y="76"/>
                      </a:cubicBezTo>
                      <a:cubicBezTo>
                        <a:pt x="204" y="76"/>
                        <a:pt x="201" y="77"/>
                        <a:pt x="204" y="76"/>
                      </a:cubicBezTo>
                      <a:cubicBezTo>
                        <a:pt x="206" y="77"/>
                        <a:pt x="207" y="74"/>
                        <a:pt x="208" y="73"/>
                      </a:cubicBezTo>
                      <a:cubicBezTo>
                        <a:pt x="211" y="70"/>
                        <a:pt x="215" y="72"/>
                        <a:pt x="219" y="72"/>
                      </a:cubicBezTo>
                      <a:cubicBezTo>
                        <a:pt x="221" y="72"/>
                        <a:pt x="229" y="68"/>
                        <a:pt x="229" y="65"/>
                      </a:cubicBezTo>
                      <a:cubicBezTo>
                        <a:pt x="229" y="63"/>
                        <a:pt x="225" y="54"/>
                        <a:pt x="225" y="54"/>
                      </a:cubicBezTo>
                      <a:cubicBezTo>
                        <a:pt x="224" y="42"/>
                        <a:pt x="217" y="38"/>
                        <a:pt x="217" y="28"/>
                      </a:cubicBezTo>
                      <a:cubicBezTo>
                        <a:pt x="217" y="9"/>
                        <a:pt x="234" y="8"/>
                        <a:pt x="245" y="0"/>
                      </a:cubicBezTo>
                      <a:cubicBezTo>
                        <a:pt x="245" y="5"/>
                        <a:pt x="245" y="5"/>
                        <a:pt x="245" y="5"/>
                      </a:cubicBezTo>
                      <a:cubicBezTo>
                        <a:pt x="243" y="10"/>
                        <a:pt x="242" y="12"/>
                        <a:pt x="242" y="17"/>
                      </a:cubicBezTo>
                      <a:cubicBezTo>
                        <a:pt x="242" y="21"/>
                        <a:pt x="247" y="22"/>
                        <a:pt x="251" y="22"/>
                      </a:cubicBezTo>
                      <a:cubicBezTo>
                        <a:pt x="251" y="23"/>
                        <a:pt x="251" y="24"/>
                        <a:pt x="251" y="25"/>
                      </a:cubicBezTo>
                      <a:cubicBezTo>
                        <a:pt x="251" y="27"/>
                        <a:pt x="247" y="28"/>
                        <a:pt x="245" y="29"/>
                      </a:cubicBezTo>
                      <a:cubicBezTo>
                        <a:pt x="241" y="34"/>
                        <a:pt x="236" y="38"/>
                        <a:pt x="236" y="46"/>
                      </a:cubicBezTo>
                      <a:cubicBezTo>
                        <a:pt x="236" y="50"/>
                        <a:pt x="238" y="53"/>
                        <a:pt x="240" y="54"/>
                      </a:cubicBezTo>
                      <a:cubicBezTo>
                        <a:pt x="240" y="56"/>
                        <a:pt x="241" y="57"/>
                        <a:pt x="240" y="59"/>
                      </a:cubicBezTo>
                      <a:cubicBezTo>
                        <a:pt x="245" y="59"/>
                        <a:pt x="247" y="60"/>
                        <a:pt x="251" y="60"/>
                      </a:cubicBezTo>
                      <a:cubicBezTo>
                        <a:pt x="252" y="63"/>
                        <a:pt x="253" y="66"/>
                        <a:pt x="254" y="66"/>
                      </a:cubicBezTo>
                      <a:cubicBezTo>
                        <a:pt x="266" y="66"/>
                        <a:pt x="274" y="56"/>
                        <a:pt x="285" y="57"/>
                      </a:cubicBezTo>
                      <a:cubicBezTo>
                        <a:pt x="284" y="59"/>
                        <a:pt x="282" y="60"/>
                        <a:pt x="282" y="62"/>
                      </a:cubicBezTo>
                      <a:cubicBezTo>
                        <a:pt x="282" y="63"/>
                        <a:pt x="289" y="68"/>
                        <a:pt x="289" y="68"/>
                      </a:cubicBezTo>
                      <a:cubicBezTo>
                        <a:pt x="294" y="68"/>
                        <a:pt x="295" y="65"/>
                        <a:pt x="297" y="64"/>
                      </a:cubicBezTo>
                      <a:cubicBezTo>
                        <a:pt x="304" y="60"/>
                        <a:pt x="310" y="62"/>
                        <a:pt x="317" y="59"/>
                      </a:cubicBezTo>
                      <a:cubicBezTo>
                        <a:pt x="321" y="57"/>
                        <a:pt x="328" y="50"/>
                        <a:pt x="333" y="50"/>
                      </a:cubicBezTo>
                      <a:cubicBezTo>
                        <a:pt x="339" y="50"/>
                        <a:pt x="345" y="51"/>
                        <a:pt x="348" y="52"/>
                      </a:cubicBezTo>
                      <a:cubicBezTo>
                        <a:pt x="347" y="54"/>
                        <a:pt x="346" y="56"/>
                        <a:pt x="346" y="57"/>
                      </a:cubicBezTo>
                      <a:cubicBezTo>
                        <a:pt x="358" y="57"/>
                        <a:pt x="370" y="55"/>
                        <a:pt x="378" y="55"/>
                      </a:cubicBezTo>
                      <a:cubicBezTo>
                        <a:pt x="386" y="55"/>
                        <a:pt x="392" y="54"/>
                        <a:pt x="401" y="54"/>
                      </a:cubicBezTo>
                      <a:cubicBezTo>
                        <a:pt x="410" y="54"/>
                        <a:pt x="414" y="70"/>
                        <a:pt x="414" y="80"/>
                      </a:cubicBezTo>
                      <a:cubicBezTo>
                        <a:pt x="414" y="86"/>
                        <a:pt x="408" y="89"/>
                        <a:pt x="408" y="95"/>
                      </a:cubicBezTo>
                      <a:cubicBezTo>
                        <a:pt x="408" y="104"/>
                        <a:pt x="416" y="110"/>
                        <a:pt x="416" y="118"/>
                      </a:cubicBezTo>
                      <a:cubicBezTo>
                        <a:pt x="416" y="123"/>
                        <a:pt x="408" y="125"/>
                        <a:pt x="406" y="128"/>
                      </a:cubicBezTo>
                      <a:cubicBezTo>
                        <a:pt x="401" y="136"/>
                        <a:pt x="399" y="143"/>
                        <a:pt x="399" y="153"/>
                      </a:cubicBezTo>
                      <a:cubicBezTo>
                        <a:pt x="399" y="166"/>
                        <a:pt x="408" y="163"/>
                        <a:pt x="418" y="163"/>
                      </a:cubicBezTo>
                      <a:cubicBezTo>
                        <a:pt x="432" y="163"/>
                        <a:pt x="439" y="157"/>
                        <a:pt x="450" y="157"/>
                      </a:cubicBezTo>
                      <a:cubicBezTo>
                        <a:pt x="461" y="157"/>
                        <a:pt x="459" y="180"/>
                        <a:pt x="470" y="180"/>
                      </a:cubicBezTo>
                      <a:cubicBezTo>
                        <a:pt x="470" y="198"/>
                        <a:pt x="470" y="198"/>
                        <a:pt x="470" y="198"/>
                      </a:cubicBezTo>
                      <a:cubicBezTo>
                        <a:pt x="470" y="200"/>
                        <a:pt x="471" y="201"/>
                        <a:pt x="472" y="201"/>
                      </a:cubicBezTo>
                      <a:cubicBezTo>
                        <a:pt x="474" y="204"/>
                        <a:pt x="474" y="204"/>
                        <a:pt x="474" y="204"/>
                      </a:cubicBezTo>
                      <a:cubicBezTo>
                        <a:pt x="476" y="204"/>
                        <a:pt x="482" y="202"/>
                        <a:pt x="485" y="201"/>
                      </a:cubicBezTo>
                      <a:cubicBezTo>
                        <a:pt x="485" y="204"/>
                        <a:pt x="485" y="206"/>
                        <a:pt x="485" y="208"/>
                      </a:cubicBezTo>
                      <a:cubicBezTo>
                        <a:pt x="481" y="209"/>
                        <a:pt x="476" y="211"/>
                        <a:pt x="476" y="21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lIns="148590" tIns="74296" rIns="148590" bIns="74296"/>
                <a:lstStyle/>
                <a:p>
                  <a:pPr marL="0" marR="0" lvl="0" indent="0" algn="l" defTabSz="1828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2" name="Freeform 25">
                  <a:extLst>
                    <a:ext uri="{FF2B5EF4-FFF2-40B4-BE49-F238E27FC236}">
                      <a16:creationId xmlns:a16="http://schemas.microsoft.com/office/drawing/2014/main" id="{F2722531-11B5-CAA4-51EA-FF45EB9074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70400" y="1416050"/>
                  <a:ext cx="436563" cy="423863"/>
                </a:xfrm>
                <a:custGeom>
                  <a:avLst/>
                  <a:gdLst/>
                  <a:ahLst/>
                  <a:cxnLst>
                    <a:cxn ang="0">
                      <a:pos x="66" y="236"/>
                    </a:cxn>
                    <a:cxn ang="0">
                      <a:pos x="4" y="254"/>
                    </a:cxn>
                    <a:cxn ang="0">
                      <a:pos x="12" y="241"/>
                    </a:cxn>
                    <a:cxn ang="0">
                      <a:pos x="8" y="231"/>
                    </a:cxn>
                    <a:cxn ang="0">
                      <a:pos x="10" y="190"/>
                    </a:cxn>
                    <a:cxn ang="0">
                      <a:pos x="55" y="163"/>
                    </a:cxn>
                    <a:cxn ang="0">
                      <a:pos x="85" y="129"/>
                    </a:cxn>
                    <a:cxn ang="0">
                      <a:pos x="97" y="102"/>
                    </a:cxn>
                    <a:cxn ang="0">
                      <a:pos x="142" y="55"/>
                    </a:cxn>
                    <a:cxn ang="0">
                      <a:pos x="124" y="57"/>
                    </a:cxn>
                    <a:cxn ang="0">
                      <a:pos x="124" y="49"/>
                    </a:cxn>
                    <a:cxn ang="0">
                      <a:pos x="132" y="44"/>
                    </a:cxn>
                    <a:cxn ang="0">
                      <a:pos x="148" y="57"/>
                    </a:cxn>
                    <a:cxn ang="0">
                      <a:pos x="149" y="45"/>
                    </a:cxn>
                    <a:cxn ang="0">
                      <a:pos x="168" y="37"/>
                    </a:cxn>
                    <a:cxn ang="0">
                      <a:pos x="183" y="28"/>
                    </a:cxn>
                    <a:cxn ang="0">
                      <a:pos x="199" y="21"/>
                    </a:cxn>
                    <a:cxn ang="0">
                      <a:pos x="221" y="17"/>
                    </a:cxn>
                    <a:cxn ang="0">
                      <a:pos x="223" y="5"/>
                    </a:cxn>
                    <a:cxn ang="0">
                      <a:pos x="256" y="6"/>
                    </a:cxn>
                    <a:cxn ang="0">
                      <a:pos x="266" y="7"/>
                    </a:cxn>
                    <a:cxn ang="0">
                      <a:pos x="285" y="2"/>
                    </a:cxn>
                    <a:cxn ang="0">
                      <a:pos x="296" y="6"/>
                    </a:cxn>
                    <a:cxn ang="0">
                      <a:pos x="293" y="24"/>
                    </a:cxn>
                    <a:cxn ang="0">
                      <a:pos x="315" y="32"/>
                    </a:cxn>
                    <a:cxn ang="0">
                      <a:pos x="309" y="72"/>
                    </a:cxn>
                    <a:cxn ang="0">
                      <a:pos x="310" y="113"/>
                    </a:cxn>
                    <a:cxn ang="0">
                      <a:pos x="318" y="148"/>
                    </a:cxn>
                    <a:cxn ang="0">
                      <a:pos x="327" y="172"/>
                    </a:cxn>
                    <a:cxn ang="0">
                      <a:pos x="255" y="224"/>
                    </a:cxn>
                    <a:cxn ang="0">
                      <a:pos x="218" y="225"/>
                    </a:cxn>
                    <a:cxn ang="0">
                      <a:pos x="206" y="200"/>
                    </a:cxn>
                    <a:cxn ang="0">
                      <a:pos x="197" y="174"/>
                    </a:cxn>
                    <a:cxn ang="0">
                      <a:pos x="254" y="130"/>
                    </a:cxn>
                    <a:cxn ang="0">
                      <a:pos x="202" y="135"/>
                    </a:cxn>
                    <a:cxn ang="0">
                      <a:pos x="172" y="169"/>
                    </a:cxn>
                    <a:cxn ang="0">
                      <a:pos x="146" y="201"/>
                    </a:cxn>
                    <a:cxn ang="0">
                      <a:pos x="150" y="218"/>
                    </a:cxn>
                    <a:cxn ang="0">
                      <a:pos x="152" y="253"/>
                    </a:cxn>
                    <a:cxn ang="0">
                      <a:pos x="146" y="283"/>
                    </a:cxn>
                    <a:cxn ang="0">
                      <a:pos x="121" y="304"/>
                    </a:cxn>
                    <a:cxn ang="0">
                      <a:pos x="90" y="297"/>
                    </a:cxn>
                    <a:cxn ang="0">
                      <a:pos x="82" y="269"/>
                    </a:cxn>
                    <a:cxn ang="0">
                      <a:pos x="76" y="245"/>
                    </a:cxn>
                  </a:cxnLst>
                  <a:rect l="0" t="0" r="r" b="b"/>
                  <a:pathLst>
                    <a:path w="327" h="318">
                      <a:moveTo>
                        <a:pt x="76" y="247"/>
                      </a:moveTo>
                      <a:cubicBezTo>
                        <a:pt x="70" y="245"/>
                        <a:pt x="69" y="241"/>
                        <a:pt x="66" y="236"/>
                      </a:cubicBezTo>
                      <a:cubicBezTo>
                        <a:pt x="57" y="249"/>
                        <a:pt x="43" y="266"/>
                        <a:pt x="24" y="266"/>
                      </a:cubicBezTo>
                      <a:cubicBezTo>
                        <a:pt x="22" y="266"/>
                        <a:pt x="4" y="256"/>
                        <a:pt x="4" y="254"/>
                      </a:cubicBezTo>
                      <a:cubicBezTo>
                        <a:pt x="4" y="250"/>
                        <a:pt x="10" y="248"/>
                        <a:pt x="12" y="247"/>
                      </a:cubicBezTo>
                      <a:cubicBezTo>
                        <a:pt x="12" y="241"/>
                        <a:pt x="12" y="241"/>
                        <a:pt x="12" y="241"/>
                      </a:cubicBezTo>
                      <a:cubicBezTo>
                        <a:pt x="6" y="241"/>
                        <a:pt x="6" y="241"/>
                        <a:pt x="0" y="243"/>
                      </a:cubicBezTo>
                      <a:cubicBezTo>
                        <a:pt x="0" y="240"/>
                        <a:pt x="5" y="234"/>
                        <a:pt x="8" y="231"/>
                      </a:cubicBezTo>
                      <a:cubicBezTo>
                        <a:pt x="1" y="223"/>
                        <a:pt x="0" y="212"/>
                        <a:pt x="0" y="200"/>
                      </a:cubicBezTo>
                      <a:cubicBezTo>
                        <a:pt x="0" y="193"/>
                        <a:pt x="7" y="194"/>
                        <a:pt x="10" y="190"/>
                      </a:cubicBezTo>
                      <a:cubicBezTo>
                        <a:pt x="15" y="182"/>
                        <a:pt x="20" y="177"/>
                        <a:pt x="30" y="174"/>
                      </a:cubicBezTo>
                      <a:cubicBezTo>
                        <a:pt x="38" y="172"/>
                        <a:pt x="39" y="162"/>
                        <a:pt x="55" y="163"/>
                      </a:cubicBezTo>
                      <a:cubicBezTo>
                        <a:pt x="50" y="162"/>
                        <a:pt x="49" y="161"/>
                        <a:pt x="45" y="160"/>
                      </a:cubicBezTo>
                      <a:cubicBezTo>
                        <a:pt x="64" y="155"/>
                        <a:pt x="71" y="140"/>
                        <a:pt x="85" y="129"/>
                      </a:cubicBezTo>
                      <a:cubicBezTo>
                        <a:pt x="90" y="126"/>
                        <a:pt x="89" y="112"/>
                        <a:pt x="93" y="112"/>
                      </a:cubicBezTo>
                      <a:cubicBezTo>
                        <a:pt x="93" y="112"/>
                        <a:pt x="97" y="102"/>
                        <a:pt x="97" y="102"/>
                      </a:cubicBezTo>
                      <a:cubicBezTo>
                        <a:pt x="102" y="93"/>
                        <a:pt x="109" y="87"/>
                        <a:pt x="118" y="83"/>
                      </a:cubicBezTo>
                      <a:cubicBezTo>
                        <a:pt x="127" y="80"/>
                        <a:pt x="139" y="65"/>
                        <a:pt x="142" y="55"/>
                      </a:cubicBezTo>
                      <a:cubicBezTo>
                        <a:pt x="131" y="58"/>
                        <a:pt x="126" y="63"/>
                        <a:pt x="116" y="63"/>
                      </a:cubicBezTo>
                      <a:cubicBezTo>
                        <a:pt x="118" y="60"/>
                        <a:pt x="123" y="58"/>
                        <a:pt x="124" y="57"/>
                      </a:cubicBezTo>
                      <a:cubicBezTo>
                        <a:pt x="122" y="57"/>
                        <a:pt x="118" y="56"/>
                        <a:pt x="118" y="56"/>
                      </a:cubicBezTo>
                      <a:cubicBezTo>
                        <a:pt x="119" y="51"/>
                        <a:pt x="121" y="49"/>
                        <a:pt x="124" y="49"/>
                      </a:cubicBezTo>
                      <a:cubicBezTo>
                        <a:pt x="126" y="49"/>
                        <a:pt x="127" y="50"/>
                        <a:pt x="128" y="50"/>
                      </a:cubicBezTo>
                      <a:cubicBezTo>
                        <a:pt x="129" y="47"/>
                        <a:pt x="131" y="46"/>
                        <a:pt x="132" y="44"/>
                      </a:cubicBezTo>
                      <a:cubicBezTo>
                        <a:pt x="134" y="47"/>
                        <a:pt x="135" y="49"/>
                        <a:pt x="133" y="52"/>
                      </a:cubicBezTo>
                      <a:cubicBezTo>
                        <a:pt x="140" y="52"/>
                        <a:pt x="142" y="57"/>
                        <a:pt x="148" y="57"/>
                      </a:cubicBezTo>
                      <a:cubicBezTo>
                        <a:pt x="150" y="57"/>
                        <a:pt x="155" y="46"/>
                        <a:pt x="156" y="46"/>
                      </a:cubicBezTo>
                      <a:cubicBezTo>
                        <a:pt x="153" y="45"/>
                        <a:pt x="153" y="44"/>
                        <a:pt x="149" y="45"/>
                      </a:cubicBezTo>
                      <a:cubicBezTo>
                        <a:pt x="151" y="41"/>
                        <a:pt x="154" y="38"/>
                        <a:pt x="159" y="38"/>
                      </a:cubicBezTo>
                      <a:cubicBezTo>
                        <a:pt x="162" y="38"/>
                        <a:pt x="165" y="39"/>
                        <a:pt x="168" y="37"/>
                      </a:cubicBezTo>
                      <a:cubicBezTo>
                        <a:pt x="165" y="35"/>
                        <a:pt x="166" y="35"/>
                        <a:pt x="164" y="33"/>
                      </a:cubicBezTo>
                      <a:cubicBezTo>
                        <a:pt x="169" y="29"/>
                        <a:pt x="176" y="29"/>
                        <a:pt x="183" y="28"/>
                      </a:cubicBezTo>
                      <a:cubicBezTo>
                        <a:pt x="183" y="33"/>
                        <a:pt x="183" y="33"/>
                        <a:pt x="183" y="33"/>
                      </a:cubicBezTo>
                      <a:cubicBezTo>
                        <a:pt x="189" y="32"/>
                        <a:pt x="190" y="22"/>
                        <a:pt x="199" y="21"/>
                      </a:cubicBezTo>
                      <a:cubicBezTo>
                        <a:pt x="199" y="29"/>
                        <a:pt x="199" y="29"/>
                        <a:pt x="199" y="29"/>
                      </a:cubicBezTo>
                      <a:cubicBezTo>
                        <a:pt x="205" y="18"/>
                        <a:pt x="213" y="21"/>
                        <a:pt x="221" y="17"/>
                      </a:cubicBezTo>
                      <a:cubicBezTo>
                        <a:pt x="217" y="15"/>
                        <a:pt x="214" y="14"/>
                        <a:pt x="214" y="11"/>
                      </a:cubicBezTo>
                      <a:cubicBezTo>
                        <a:pt x="214" y="9"/>
                        <a:pt x="222" y="7"/>
                        <a:pt x="223" y="5"/>
                      </a:cubicBezTo>
                      <a:cubicBezTo>
                        <a:pt x="226" y="8"/>
                        <a:pt x="228" y="11"/>
                        <a:pt x="232" y="11"/>
                      </a:cubicBezTo>
                      <a:cubicBezTo>
                        <a:pt x="239" y="11"/>
                        <a:pt x="256" y="0"/>
                        <a:pt x="256" y="6"/>
                      </a:cubicBezTo>
                      <a:cubicBezTo>
                        <a:pt x="256" y="12"/>
                        <a:pt x="248" y="14"/>
                        <a:pt x="247" y="20"/>
                      </a:cubicBezTo>
                      <a:cubicBezTo>
                        <a:pt x="255" y="21"/>
                        <a:pt x="258" y="11"/>
                        <a:pt x="266" y="7"/>
                      </a:cubicBezTo>
                      <a:cubicBezTo>
                        <a:pt x="267" y="10"/>
                        <a:pt x="267" y="12"/>
                        <a:pt x="268" y="15"/>
                      </a:cubicBezTo>
                      <a:cubicBezTo>
                        <a:pt x="274" y="9"/>
                        <a:pt x="277" y="7"/>
                        <a:pt x="285" y="2"/>
                      </a:cubicBezTo>
                      <a:cubicBezTo>
                        <a:pt x="285" y="8"/>
                        <a:pt x="284" y="12"/>
                        <a:pt x="289" y="13"/>
                      </a:cubicBezTo>
                      <a:cubicBezTo>
                        <a:pt x="290" y="9"/>
                        <a:pt x="292" y="6"/>
                        <a:pt x="296" y="6"/>
                      </a:cubicBezTo>
                      <a:cubicBezTo>
                        <a:pt x="298" y="6"/>
                        <a:pt x="307" y="11"/>
                        <a:pt x="311" y="13"/>
                      </a:cubicBezTo>
                      <a:cubicBezTo>
                        <a:pt x="307" y="24"/>
                        <a:pt x="303" y="20"/>
                        <a:pt x="293" y="24"/>
                      </a:cubicBezTo>
                      <a:cubicBezTo>
                        <a:pt x="298" y="27"/>
                        <a:pt x="301" y="28"/>
                        <a:pt x="301" y="30"/>
                      </a:cubicBezTo>
                      <a:cubicBezTo>
                        <a:pt x="305" y="31"/>
                        <a:pt x="314" y="32"/>
                        <a:pt x="315" y="32"/>
                      </a:cubicBezTo>
                      <a:cubicBezTo>
                        <a:pt x="309" y="36"/>
                        <a:pt x="293" y="44"/>
                        <a:pt x="293" y="55"/>
                      </a:cubicBezTo>
                      <a:cubicBezTo>
                        <a:pt x="293" y="63"/>
                        <a:pt x="309" y="62"/>
                        <a:pt x="309" y="72"/>
                      </a:cubicBezTo>
                      <a:cubicBezTo>
                        <a:pt x="309" y="80"/>
                        <a:pt x="301" y="83"/>
                        <a:pt x="301" y="91"/>
                      </a:cubicBezTo>
                      <a:cubicBezTo>
                        <a:pt x="301" y="99"/>
                        <a:pt x="310" y="104"/>
                        <a:pt x="310" y="113"/>
                      </a:cubicBezTo>
                      <a:cubicBezTo>
                        <a:pt x="310" y="118"/>
                        <a:pt x="305" y="121"/>
                        <a:pt x="305" y="126"/>
                      </a:cubicBezTo>
                      <a:cubicBezTo>
                        <a:pt x="305" y="136"/>
                        <a:pt x="318" y="138"/>
                        <a:pt x="318" y="148"/>
                      </a:cubicBezTo>
                      <a:cubicBezTo>
                        <a:pt x="318" y="151"/>
                        <a:pt x="314" y="153"/>
                        <a:pt x="313" y="154"/>
                      </a:cubicBezTo>
                      <a:cubicBezTo>
                        <a:pt x="317" y="161"/>
                        <a:pt x="327" y="163"/>
                        <a:pt x="327" y="172"/>
                      </a:cubicBezTo>
                      <a:cubicBezTo>
                        <a:pt x="327" y="187"/>
                        <a:pt x="297" y="203"/>
                        <a:pt x="288" y="215"/>
                      </a:cubicBezTo>
                      <a:cubicBezTo>
                        <a:pt x="283" y="224"/>
                        <a:pt x="263" y="226"/>
                        <a:pt x="255" y="224"/>
                      </a:cubicBezTo>
                      <a:cubicBezTo>
                        <a:pt x="246" y="227"/>
                        <a:pt x="236" y="231"/>
                        <a:pt x="228" y="231"/>
                      </a:cubicBezTo>
                      <a:cubicBezTo>
                        <a:pt x="222" y="231"/>
                        <a:pt x="218" y="230"/>
                        <a:pt x="218" y="225"/>
                      </a:cubicBezTo>
                      <a:cubicBezTo>
                        <a:pt x="209" y="225"/>
                        <a:pt x="199" y="219"/>
                        <a:pt x="199" y="210"/>
                      </a:cubicBezTo>
                      <a:cubicBezTo>
                        <a:pt x="199" y="205"/>
                        <a:pt x="204" y="202"/>
                        <a:pt x="206" y="200"/>
                      </a:cubicBezTo>
                      <a:cubicBezTo>
                        <a:pt x="201" y="198"/>
                        <a:pt x="197" y="188"/>
                        <a:pt x="197" y="183"/>
                      </a:cubicBezTo>
                      <a:cubicBezTo>
                        <a:pt x="197" y="180"/>
                        <a:pt x="198" y="178"/>
                        <a:pt x="197" y="174"/>
                      </a:cubicBezTo>
                      <a:cubicBezTo>
                        <a:pt x="216" y="174"/>
                        <a:pt x="225" y="150"/>
                        <a:pt x="237" y="144"/>
                      </a:cubicBezTo>
                      <a:cubicBezTo>
                        <a:pt x="243" y="140"/>
                        <a:pt x="254" y="138"/>
                        <a:pt x="254" y="130"/>
                      </a:cubicBezTo>
                      <a:cubicBezTo>
                        <a:pt x="254" y="119"/>
                        <a:pt x="239" y="117"/>
                        <a:pt x="228" y="117"/>
                      </a:cubicBezTo>
                      <a:cubicBezTo>
                        <a:pt x="213" y="117"/>
                        <a:pt x="202" y="122"/>
                        <a:pt x="202" y="135"/>
                      </a:cubicBezTo>
                      <a:cubicBezTo>
                        <a:pt x="202" y="140"/>
                        <a:pt x="203" y="142"/>
                        <a:pt x="202" y="145"/>
                      </a:cubicBezTo>
                      <a:cubicBezTo>
                        <a:pt x="202" y="155"/>
                        <a:pt x="181" y="164"/>
                        <a:pt x="172" y="169"/>
                      </a:cubicBezTo>
                      <a:cubicBezTo>
                        <a:pt x="165" y="174"/>
                        <a:pt x="157" y="175"/>
                        <a:pt x="152" y="183"/>
                      </a:cubicBezTo>
                      <a:cubicBezTo>
                        <a:pt x="149" y="189"/>
                        <a:pt x="153" y="198"/>
                        <a:pt x="146" y="201"/>
                      </a:cubicBezTo>
                      <a:cubicBezTo>
                        <a:pt x="146" y="210"/>
                        <a:pt x="146" y="210"/>
                        <a:pt x="146" y="210"/>
                      </a:cubicBezTo>
                      <a:cubicBezTo>
                        <a:pt x="149" y="212"/>
                        <a:pt x="150" y="215"/>
                        <a:pt x="150" y="218"/>
                      </a:cubicBezTo>
                      <a:cubicBezTo>
                        <a:pt x="158" y="219"/>
                        <a:pt x="170" y="227"/>
                        <a:pt x="170" y="235"/>
                      </a:cubicBezTo>
                      <a:cubicBezTo>
                        <a:pt x="170" y="242"/>
                        <a:pt x="157" y="253"/>
                        <a:pt x="152" y="253"/>
                      </a:cubicBezTo>
                      <a:cubicBezTo>
                        <a:pt x="143" y="253"/>
                        <a:pt x="140" y="266"/>
                        <a:pt x="140" y="275"/>
                      </a:cubicBezTo>
                      <a:cubicBezTo>
                        <a:pt x="140" y="280"/>
                        <a:pt x="144" y="282"/>
                        <a:pt x="146" y="283"/>
                      </a:cubicBezTo>
                      <a:cubicBezTo>
                        <a:pt x="145" y="294"/>
                        <a:pt x="135" y="295"/>
                        <a:pt x="133" y="304"/>
                      </a:cubicBezTo>
                      <a:cubicBezTo>
                        <a:pt x="127" y="304"/>
                        <a:pt x="125" y="304"/>
                        <a:pt x="121" y="304"/>
                      </a:cubicBezTo>
                      <a:cubicBezTo>
                        <a:pt x="114" y="304"/>
                        <a:pt x="111" y="318"/>
                        <a:pt x="100" y="318"/>
                      </a:cubicBezTo>
                      <a:cubicBezTo>
                        <a:pt x="97" y="318"/>
                        <a:pt x="90" y="299"/>
                        <a:pt x="90" y="297"/>
                      </a:cubicBezTo>
                      <a:cubicBezTo>
                        <a:pt x="90" y="296"/>
                        <a:pt x="91" y="294"/>
                        <a:pt x="91" y="293"/>
                      </a:cubicBezTo>
                      <a:cubicBezTo>
                        <a:pt x="84" y="285"/>
                        <a:pt x="85" y="279"/>
                        <a:pt x="82" y="269"/>
                      </a:cubicBezTo>
                      <a:cubicBezTo>
                        <a:pt x="79" y="263"/>
                        <a:pt x="73" y="261"/>
                        <a:pt x="73" y="253"/>
                      </a:cubicBezTo>
                      <a:cubicBezTo>
                        <a:pt x="73" y="250"/>
                        <a:pt x="75" y="246"/>
                        <a:pt x="76" y="245"/>
                      </a:cubicBezTo>
                      <a:lnTo>
                        <a:pt x="76" y="247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lIns="148590" tIns="74296" rIns="148590" bIns="74296"/>
                <a:lstStyle/>
                <a:p>
                  <a:pPr marL="0" marR="0" lvl="0" indent="0" algn="l" defTabSz="1828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3" name="Freeform 26">
                  <a:extLst>
                    <a:ext uri="{FF2B5EF4-FFF2-40B4-BE49-F238E27FC236}">
                      <a16:creationId xmlns:a16="http://schemas.microsoft.com/office/drawing/2014/main" id="{04A910A9-62E1-360B-EA3D-2A26EBCCAD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59300" y="1109663"/>
                  <a:ext cx="234950" cy="128588"/>
                </a:xfrm>
                <a:custGeom>
                  <a:avLst/>
                  <a:gdLst/>
                  <a:ahLst/>
                  <a:cxnLst>
                    <a:cxn ang="0">
                      <a:pos x="148" y="79"/>
                    </a:cxn>
                    <a:cxn ang="0">
                      <a:pos x="148" y="71"/>
                    </a:cxn>
                    <a:cxn ang="0">
                      <a:pos x="128" y="71"/>
                    </a:cxn>
                    <a:cxn ang="0">
                      <a:pos x="135" y="58"/>
                    </a:cxn>
                    <a:cxn ang="0">
                      <a:pos x="126" y="46"/>
                    </a:cxn>
                    <a:cxn ang="0">
                      <a:pos x="132" y="45"/>
                    </a:cxn>
                    <a:cxn ang="0">
                      <a:pos x="121" y="38"/>
                    </a:cxn>
                    <a:cxn ang="0">
                      <a:pos x="97" y="69"/>
                    </a:cxn>
                    <a:cxn ang="0">
                      <a:pos x="90" y="73"/>
                    </a:cxn>
                    <a:cxn ang="0">
                      <a:pos x="78" y="97"/>
                    </a:cxn>
                    <a:cxn ang="0">
                      <a:pos x="43" y="69"/>
                    </a:cxn>
                    <a:cxn ang="0">
                      <a:pos x="60" y="70"/>
                    </a:cxn>
                    <a:cxn ang="0">
                      <a:pos x="74" y="66"/>
                    </a:cxn>
                    <a:cxn ang="0">
                      <a:pos x="54" y="64"/>
                    </a:cxn>
                    <a:cxn ang="0">
                      <a:pos x="38" y="58"/>
                    </a:cxn>
                    <a:cxn ang="0">
                      <a:pos x="50" y="54"/>
                    </a:cxn>
                    <a:cxn ang="0">
                      <a:pos x="72" y="43"/>
                    </a:cxn>
                    <a:cxn ang="0">
                      <a:pos x="61" y="43"/>
                    </a:cxn>
                    <a:cxn ang="0">
                      <a:pos x="54" y="39"/>
                    </a:cxn>
                    <a:cxn ang="0">
                      <a:pos x="51" y="39"/>
                    </a:cxn>
                    <a:cxn ang="0">
                      <a:pos x="38" y="51"/>
                    </a:cxn>
                    <a:cxn ang="0">
                      <a:pos x="23" y="44"/>
                    </a:cxn>
                    <a:cxn ang="0">
                      <a:pos x="27" y="43"/>
                    </a:cxn>
                    <a:cxn ang="0">
                      <a:pos x="15" y="28"/>
                    </a:cxn>
                    <a:cxn ang="0">
                      <a:pos x="11" y="26"/>
                    </a:cxn>
                    <a:cxn ang="0">
                      <a:pos x="0" y="16"/>
                    </a:cxn>
                    <a:cxn ang="0">
                      <a:pos x="16" y="5"/>
                    </a:cxn>
                    <a:cxn ang="0">
                      <a:pos x="38" y="7"/>
                    </a:cxn>
                    <a:cxn ang="0">
                      <a:pos x="32" y="13"/>
                    </a:cxn>
                    <a:cxn ang="0">
                      <a:pos x="44" y="20"/>
                    </a:cxn>
                    <a:cxn ang="0">
                      <a:pos x="41" y="14"/>
                    </a:cxn>
                    <a:cxn ang="0">
                      <a:pos x="49" y="7"/>
                    </a:cxn>
                    <a:cxn ang="0">
                      <a:pos x="68" y="26"/>
                    </a:cxn>
                    <a:cxn ang="0">
                      <a:pos x="63" y="7"/>
                    </a:cxn>
                    <a:cxn ang="0">
                      <a:pos x="72" y="0"/>
                    </a:cxn>
                    <a:cxn ang="0">
                      <a:pos x="90" y="9"/>
                    </a:cxn>
                    <a:cxn ang="0">
                      <a:pos x="88" y="18"/>
                    </a:cxn>
                    <a:cxn ang="0">
                      <a:pos x="96" y="12"/>
                    </a:cxn>
                    <a:cxn ang="0">
                      <a:pos x="102" y="23"/>
                    </a:cxn>
                    <a:cxn ang="0">
                      <a:pos x="106" y="23"/>
                    </a:cxn>
                    <a:cxn ang="0">
                      <a:pos x="141" y="41"/>
                    </a:cxn>
                    <a:cxn ang="0">
                      <a:pos x="137" y="42"/>
                    </a:cxn>
                    <a:cxn ang="0">
                      <a:pos x="145" y="42"/>
                    </a:cxn>
                    <a:cxn ang="0">
                      <a:pos x="145" y="49"/>
                    </a:cxn>
                    <a:cxn ang="0">
                      <a:pos x="159" y="49"/>
                    </a:cxn>
                    <a:cxn ang="0">
                      <a:pos x="176" y="64"/>
                    </a:cxn>
                    <a:cxn ang="0">
                      <a:pos x="148" y="79"/>
                    </a:cxn>
                  </a:cxnLst>
                  <a:rect l="0" t="0" r="r" b="b"/>
                  <a:pathLst>
                    <a:path w="176" h="97">
                      <a:moveTo>
                        <a:pt x="148" y="79"/>
                      </a:moveTo>
                      <a:cubicBezTo>
                        <a:pt x="147" y="76"/>
                        <a:pt x="147" y="74"/>
                        <a:pt x="148" y="71"/>
                      </a:cubicBezTo>
                      <a:cubicBezTo>
                        <a:pt x="143" y="71"/>
                        <a:pt x="134" y="71"/>
                        <a:pt x="128" y="71"/>
                      </a:cubicBezTo>
                      <a:cubicBezTo>
                        <a:pt x="129" y="63"/>
                        <a:pt x="134" y="65"/>
                        <a:pt x="135" y="58"/>
                      </a:cubicBezTo>
                      <a:cubicBezTo>
                        <a:pt x="132" y="57"/>
                        <a:pt x="128" y="49"/>
                        <a:pt x="126" y="46"/>
                      </a:cubicBezTo>
                      <a:cubicBezTo>
                        <a:pt x="128" y="45"/>
                        <a:pt x="130" y="45"/>
                        <a:pt x="132" y="45"/>
                      </a:cubicBezTo>
                      <a:cubicBezTo>
                        <a:pt x="125" y="44"/>
                        <a:pt x="121" y="38"/>
                        <a:pt x="121" y="38"/>
                      </a:cubicBezTo>
                      <a:cubicBezTo>
                        <a:pt x="106" y="38"/>
                        <a:pt x="102" y="58"/>
                        <a:pt x="97" y="69"/>
                      </a:cubicBezTo>
                      <a:cubicBezTo>
                        <a:pt x="96" y="72"/>
                        <a:pt x="93" y="71"/>
                        <a:pt x="90" y="73"/>
                      </a:cubicBezTo>
                      <a:cubicBezTo>
                        <a:pt x="83" y="79"/>
                        <a:pt x="84" y="91"/>
                        <a:pt x="78" y="97"/>
                      </a:cubicBezTo>
                      <a:cubicBezTo>
                        <a:pt x="67" y="90"/>
                        <a:pt x="43" y="84"/>
                        <a:pt x="43" y="69"/>
                      </a:cubicBezTo>
                      <a:cubicBezTo>
                        <a:pt x="49" y="68"/>
                        <a:pt x="60" y="70"/>
                        <a:pt x="60" y="70"/>
                      </a:cubicBezTo>
                      <a:cubicBezTo>
                        <a:pt x="64" y="66"/>
                        <a:pt x="69" y="67"/>
                        <a:pt x="74" y="66"/>
                      </a:cubicBezTo>
                      <a:cubicBezTo>
                        <a:pt x="72" y="64"/>
                        <a:pt x="57" y="64"/>
                        <a:pt x="54" y="64"/>
                      </a:cubicBezTo>
                      <a:cubicBezTo>
                        <a:pt x="49" y="64"/>
                        <a:pt x="38" y="69"/>
                        <a:pt x="38" y="58"/>
                      </a:cubicBezTo>
                      <a:cubicBezTo>
                        <a:pt x="38" y="54"/>
                        <a:pt x="48" y="54"/>
                        <a:pt x="50" y="54"/>
                      </a:cubicBezTo>
                      <a:cubicBezTo>
                        <a:pt x="56" y="52"/>
                        <a:pt x="68" y="47"/>
                        <a:pt x="72" y="43"/>
                      </a:cubicBezTo>
                      <a:cubicBezTo>
                        <a:pt x="66" y="43"/>
                        <a:pt x="63" y="43"/>
                        <a:pt x="61" y="43"/>
                      </a:cubicBezTo>
                      <a:cubicBezTo>
                        <a:pt x="60" y="43"/>
                        <a:pt x="56" y="40"/>
                        <a:pt x="54" y="39"/>
                      </a:cubicBezTo>
                      <a:cubicBezTo>
                        <a:pt x="53" y="39"/>
                        <a:pt x="52" y="39"/>
                        <a:pt x="51" y="39"/>
                      </a:cubicBezTo>
                      <a:cubicBezTo>
                        <a:pt x="47" y="41"/>
                        <a:pt x="47" y="51"/>
                        <a:pt x="38" y="51"/>
                      </a:cubicBezTo>
                      <a:cubicBezTo>
                        <a:pt x="31" y="51"/>
                        <a:pt x="26" y="48"/>
                        <a:pt x="23" y="44"/>
                      </a:cubicBezTo>
                      <a:cubicBezTo>
                        <a:pt x="25" y="43"/>
                        <a:pt x="26" y="43"/>
                        <a:pt x="27" y="43"/>
                      </a:cubicBezTo>
                      <a:cubicBezTo>
                        <a:pt x="19" y="39"/>
                        <a:pt x="13" y="35"/>
                        <a:pt x="15" y="28"/>
                      </a:cubicBezTo>
                      <a:cubicBezTo>
                        <a:pt x="13" y="28"/>
                        <a:pt x="12" y="26"/>
                        <a:pt x="11" y="26"/>
                      </a:cubicBezTo>
                      <a:cubicBezTo>
                        <a:pt x="8" y="26"/>
                        <a:pt x="3" y="19"/>
                        <a:pt x="0" y="16"/>
                      </a:cubicBezTo>
                      <a:cubicBezTo>
                        <a:pt x="2" y="14"/>
                        <a:pt x="11" y="5"/>
                        <a:pt x="16" y="5"/>
                      </a:cubicBezTo>
                      <a:cubicBezTo>
                        <a:pt x="23" y="5"/>
                        <a:pt x="27" y="5"/>
                        <a:pt x="38" y="7"/>
                      </a:cubicBezTo>
                      <a:cubicBezTo>
                        <a:pt x="35" y="10"/>
                        <a:pt x="34" y="11"/>
                        <a:pt x="32" y="13"/>
                      </a:cubicBezTo>
                      <a:cubicBezTo>
                        <a:pt x="37" y="17"/>
                        <a:pt x="41" y="17"/>
                        <a:pt x="44" y="20"/>
                      </a:cubicBezTo>
                      <a:cubicBezTo>
                        <a:pt x="42" y="19"/>
                        <a:pt x="41" y="17"/>
                        <a:pt x="41" y="14"/>
                      </a:cubicBezTo>
                      <a:cubicBezTo>
                        <a:pt x="41" y="10"/>
                        <a:pt x="45" y="7"/>
                        <a:pt x="49" y="7"/>
                      </a:cubicBezTo>
                      <a:cubicBezTo>
                        <a:pt x="60" y="7"/>
                        <a:pt x="57" y="22"/>
                        <a:pt x="68" y="26"/>
                      </a:cubicBezTo>
                      <a:cubicBezTo>
                        <a:pt x="66" y="19"/>
                        <a:pt x="63" y="15"/>
                        <a:pt x="63" y="7"/>
                      </a:cubicBezTo>
                      <a:cubicBezTo>
                        <a:pt x="63" y="0"/>
                        <a:pt x="66" y="0"/>
                        <a:pt x="72" y="0"/>
                      </a:cubicBezTo>
                      <a:cubicBezTo>
                        <a:pt x="78" y="0"/>
                        <a:pt x="90" y="4"/>
                        <a:pt x="90" y="9"/>
                      </a:cubicBezTo>
                      <a:cubicBezTo>
                        <a:pt x="90" y="12"/>
                        <a:pt x="88" y="15"/>
                        <a:pt x="88" y="18"/>
                      </a:cubicBezTo>
                      <a:cubicBezTo>
                        <a:pt x="92" y="16"/>
                        <a:pt x="93" y="12"/>
                        <a:pt x="96" y="12"/>
                      </a:cubicBezTo>
                      <a:cubicBezTo>
                        <a:pt x="103" y="12"/>
                        <a:pt x="102" y="19"/>
                        <a:pt x="102" y="23"/>
                      </a:cubicBezTo>
                      <a:cubicBezTo>
                        <a:pt x="103" y="23"/>
                        <a:pt x="105" y="23"/>
                        <a:pt x="106" y="23"/>
                      </a:cubicBezTo>
                      <a:cubicBezTo>
                        <a:pt x="113" y="23"/>
                        <a:pt x="137" y="36"/>
                        <a:pt x="141" y="41"/>
                      </a:cubicBezTo>
                      <a:cubicBezTo>
                        <a:pt x="140" y="42"/>
                        <a:pt x="138" y="42"/>
                        <a:pt x="137" y="42"/>
                      </a:cubicBezTo>
                      <a:cubicBezTo>
                        <a:pt x="140" y="43"/>
                        <a:pt x="142" y="42"/>
                        <a:pt x="145" y="42"/>
                      </a:cubicBezTo>
                      <a:cubicBezTo>
                        <a:pt x="146" y="44"/>
                        <a:pt x="146" y="47"/>
                        <a:pt x="145" y="49"/>
                      </a:cubicBezTo>
                      <a:cubicBezTo>
                        <a:pt x="151" y="49"/>
                        <a:pt x="154" y="49"/>
                        <a:pt x="159" y="49"/>
                      </a:cubicBezTo>
                      <a:cubicBezTo>
                        <a:pt x="159" y="62"/>
                        <a:pt x="172" y="59"/>
                        <a:pt x="176" y="64"/>
                      </a:cubicBezTo>
                      <a:cubicBezTo>
                        <a:pt x="164" y="68"/>
                        <a:pt x="159" y="76"/>
                        <a:pt x="148" y="79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lIns="148590" tIns="74296" rIns="148590" bIns="74296"/>
                <a:lstStyle/>
                <a:p>
                  <a:pPr marL="0" marR="0" lvl="0" indent="0" algn="l" defTabSz="1828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4" name="Freeform 27">
                  <a:extLst>
                    <a:ext uri="{FF2B5EF4-FFF2-40B4-BE49-F238E27FC236}">
                      <a16:creationId xmlns:a16="http://schemas.microsoft.com/office/drawing/2014/main" id="{49414E82-A523-94DC-59F8-6D61FBF921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3125" y="1089025"/>
                  <a:ext cx="150813" cy="55563"/>
                </a:xfrm>
                <a:custGeom>
                  <a:avLst/>
                  <a:gdLst/>
                  <a:ahLst/>
                  <a:cxnLst>
                    <a:cxn ang="0">
                      <a:pos x="114" y="19"/>
                    </a:cxn>
                    <a:cxn ang="0">
                      <a:pos x="69" y="41"/>
                    </a:cxn>
                    <a:cxn ang="0">
                      <a:pos x="54" y="34"/>
                    </a:cxn>
                    <a:cxn ang="0">
                      <a:pos x="28" y="34"/>
                    </a:cxn>
                    <a:cxn ang="0">
                      <a:pos x="23" y="26"/>
                    </a:cxn>
                    <a:cxn ang="0">
                      <a:pos x="32" y="26"/>
                    </a:cxn>
                    <a:cxn ang="0">
                      <a:pos x="43" y="24"/>
                    </a:cxn>
                    <a:cxn ang="0">
                      <a:pos x="22" y="23"/>
                    </a:cxn>
                    <a:cxn ang="0">
                      <a:pos x="6" y="18"/>
                    </a:cxn>
                    <a:cxn ang="0">
                      <a:pos x="0" y="7"/>
                    </a:cxn>
                    <a:cxn ang="0">
                      <a:pos x="6" y="7"/>
                    </a:cxn>
                    <a:cxn ang="0">
                      <a:pos x="15" y="8"/>
                    </a:cxn>
                    <a:cxn ang="0">
                      <a:pos x="15" y="6"/>
                    </a:cxn>
                    <a:cxn ang="0">
                      <a:pos x="23" y="6"/>
                    </a:cxn>
                    <a:cxn ang="0">
                      <a:pos x="21" y="2"/>
                    </a:cxn>
                    <a:cxn ang="0">
                      <a:pos x="33" y="2"/>
                    </a:cxn>
                    <a:cxn ang="0">
                      <a:pos x="51" y="11"/>
                    </a:cxn>
                    <a:cxn ang="0">
                      <a:pos x="62" y="0"/>
                    </a:cxn>
                    <a:cxn ang="0">
                      <a:pos x="67" y="0"/>
                    </a:cxn>
                    <a:cxn ang="0">
                      <a:pos x="67" y="12"/>
                    </a:cxn>
                    <a:cxn ang="0">
                      <a:pos x="80" y="7"/>
                    </a:cxn>
                    <a:cxn ang="0">
                      <a:pos x="95" y="7"/>
                    </a:cxn>
                    <a:cxn ang="0">
                      <a:pos x="114" y="19"/>
                    </a:cxn>
                  </a:cxnLst>
                  <a:rect l="0" t="0" r="r" b="b"/>
                  <a:pathLst>
                    <a:path w="114" h="41">
                      <a:moveTo>
                        <a:pt x="114" y="19"/>
                      </a:moveTo>
                      <a:cubicBezTo>
                        <a:pt x="104" y="26"/>
                        <a:pt x="82" y="41"/>
                        <a:pt x="69" y="41"/>
                      </a:cubicBezTo>
                      <a:cubicBezTo>
                        <a:pt x="61" y="41"/>
                        <a:pt x="57" y="39"/>
                        <a:pt x="54" y="34"/>
                      </a:cubicBezTo>
                      <a:cubicBezTo>
                        <a:pt x="28" y="34"/>
                        <a:pt x="28" y="34"/>
                        <a:pt x="28" y="34"/>
                      </a:cubicBezTo>
                      <a:cubicBezTo>
                        <a:pt x="25" y="32"/>
                        <a:pt x="23" y="30"/>
                        <a:pt x="23" y="26"/>
                      </a:cubicBezTo>
                      <a:cubicBezTo>
                        <a:pt x="26" y="26"/>
                        <a:pt x="31" y="26"/>
                        <a:pt x="32" y="26"/>
                      </a:cubicBezTo>
                      <a:cubicBezTo>
                        <a:pt x="36" y="25"/>
                        <a:pt x="40" y="25"/>
                        <a:pt x="43" y="24"/>
                      </a:cubicBezTo>
                      <a:cubicBezTo>
                        <a:pt x="41" y="24"/>
                        <a:pt x="23" y="23"/>
                        <a:pt x="22" y="23"/>
                      </a:cubicBezTo>
                      <a:cubicBezTo>
                        <a:pt x="14" y="23"/>
                        <a:pt x="6" y="28"/>
                        <a:pt x="6" y="18"/>
                      </a:cubicBezTo>
                      <a:cubicBezTo>
                        <a:pt x="3" y="15"/>
                        <a:pt x="0" y="12"/>
                        <a:pt x="0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9" y="9"/>
                        <a:pt x="13" y="10"/>
                        <a:pt x="15" y="8"/>
                      </a:cubicBezTo>
                      <a:cubicBezTo>
                        <a:pt x="15" y="6"/>
                        <a:pt x="15" y="6"/>
                        <a:pt x="15" y="6"/>
                      </a:cubicBezTo>
                      <a:cubicBezTo>
                        <a:pt x="23" y="6"/>
                        <a:pt x="23" y="6"/>
                        <a:pt x="23" y="6"/>
                      </a:cubicBezTo>
                      <a:cubicBezTo>
                        <a:pt x="21" y="2"/>
                        <a:pt x="21" y="2"/>
                        <a:pt x="21" y="2"/>
                      </a:cubicBezTo>
                      <a:cubicBezTo>
                        <a:pt x="33" y="2"/>
                        <a:pt x="33" y="2"/>
                        <a:pt x="33" y="2"/>
                      </a:cubicBezTo>
                      <a:cubicBezTo>
                        <a:pt x="36" y="4"/>
                        <a:pt x="48" y="11"/>
                        <a:pt x="51" y="11"/>
                      </a:cubicBezTo>
                      <a:cubicBezTo>
                        <a:pt x="56" y="11"/>
                        <a:pt x="59" y="2"/>
                        <a:pt x="62" y="0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67" y="6"/>
                        <a:pt x="66" y="8"/>
                        <a:pt x="67" y="12"/>
                      </a:cubicBezTo>
                      <a:cubicBezTo>
                        <a:pt x="71" y="12"/>
                        <a:pt x="73" y="7"/>
                        <a:pt x="80" y="7"/>
                      </a:cubicBezTo>
                      <a:cubicBezTo>
                        <a:pt x="91" y="7"/>
                        <a:pt x="88" y="7"/>
                        <a:pt x="95" y="7"/>
                      </a:cubicBezTo>
                      <a:cubicBezTo>
                        <a:pt x="103" y="7"/>
                        <a:pt x="112" y="14"/>
                        <a:pt x="114" y="19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lIns="148590" tIns="74296" rIns="148590" bIns="74296"/>
                <a:lstStyle/>
                <a:p>
                  <a:pPr marL="0" marR="0" lvl="0" indent="0" algn="l" defTabSz="1828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5" name="Freeform 28">
                  <a:extLst>
                    <a:ext uri="{FF2B5EF4-FFF2-40B4-BE49-F238E27FC236}">
                      <a16:creationId xmlns:a16="http://schemas.microsoft.com/office/drawing/2014/main" id="{415BFAD5-373D-E8FA-5308-4BE91B6FE9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19575" y="1841500"/>
                  <a:ext cx="73025" cy="87313"/>
                </a:xfrm>
                <a:custGeom>
                  <a:avLst/>
                  <a:gdLst/>
                  <a:ahLst/>
                  <a:cxnLst>
                    <a:cxn ang="0">
                      <a:pos x="9" y="19"/>
                    </a:cxn>
                    <a:cxn ang="0">
                      <a:pos x="22" y="14"/>
                    </a:cxn>
                    <a:cxn ang="0">
                      <a:pos x="19" y="8"/>
                    </a:cxn>
                    <a:cxn ang="0">
                      <a:pos x="32" y="0"/>
                    </a:cxn>
                    <a:cxn ang="0">
                      <a:pos x="40" y="0"/>
                    </a:cxn>
                    <a:cxn ang="0">
                      <a:pos x="55" y="18"/>
                    </a:cxn>
                    <a:cxn ang="0">
                      <a:pos x="47" y="24"/>
                    </a:cxn>
                    <a:cxn ang="0">
                      <a:pos x="47" y="39"/>
                    </a:cxn>
                    <a:cxn ang="0">
                      <a:pos x="47" y="52"/>
                    </a:cxn>
                    <a:cxn ang="0">
                      <a:pos x="35" y="54"/>
                    </a:cxn>
                    <a:cxn ang="0">
                      <a:pos x="19" y="64"/>
                    </a:cxn>
                    <a:cxn ang="0">
                      <a:pos x="11" y="65"/>
                    </a:cxn>
                    <a:cxn ang="0">
                      <a:pos x="0" y="55"/>
                    </a:cxn>
                    <a:cxn ang="0">
                      <a:pos x="13" y="33"/>
                    </a:cxn>
                    <a:cxn ang="0">
                      <a:pos x="4" y="23"/>
                    </a:cxn>
                    <a:cxn ang="0">
                      <a:pos x="9" y="19"/>
                    </a:cxn>
                  </a:cxnLst>
                  <a:rect l="0" t="0" r="r" b="b"/>
                  <a:pathLst>
                    <a:path w="55" h="65">
                      <a:moveTo>
                        <a:pt x="9" y="19"/>
                      </a:moveTo>
                      <a:cubicBezTo>
                        <a:pt x="12" y="19"/>
                        <a:pt x="19" y="16"/>
                        <a:pt x="22" y="14"/>
                      </a:cubicBezTo>
                      <a:cubicBezTo>
                        <a:pt x="20" y="11"/>
                        <a:pt x="19" y="10"/>
                        <a:pt x="19" y="8"/>
                      </a:cubicBezTo>
                      <a:cubicBezTo>
                        <a:pt x="19" y="5"/>
                        <a:pt x="28" y="0"/>
                        <a:pt x="32" y="0"/>
                      </a:cubicBezTo>
                      <a:cubicBezTo>
                        <a:pt x="35" y="0"/>
                        <a:pt x="37" y="0"/>
                        <a:pt x="40" y="0"/>
                      </a:cubicBezTo>
                      <a:cubicBezTo>
                        <a:pt x="50" y="0"/>
                        <a:pt x="55" y="10"/>
                        <a:pt x="55" y="18"/>
                      </a:cubicBezTo>
                      <a:cubicBezTo>
                        <a:pt x="55" y="21"/>
                        <a:pt x="47" y="21"/>
                        <a:pt x="47" y="24"/>
                      </a:cubicBezTo>
                      <a:cubicBezTo>
                        <a:pt x="47" y="27"/>
                        <a:pt x="47" y="39"/>
                        <a:pt x="47" y="39"/>
                      </a:cubicBezTo>
                      <a:cubicBezTo>
                        <a:pt x="47" y="43"/>
                        <a:pt x="50" y="48"/>
                        <a:pt x="47" y="52"/>
                      </a:cubicBezTo>
                      <a:cubicBezTo>
                        <a:pt x="44" y="54"/>
                        <a:pt x="40" y="54"/>
                        <a:pt x="35" y="54"/>
                      </a:cubicBezTo>
                      <a:cubicBezTo>
                        <a:pt x="28" y="54"/>
                        <a:pt x="23" y="61"/>
                        <a:pt x="19" y="64"/>
                      </a:cubicBezTo>
                      <a:cubicBezTo>
                        <a:pt x="17" y="65"/>
                        <a:pt x="13" y="65"/>
                        <a:pt x="11" y="65"/>
                      </a:cubicBezTo>
                      <a:cubicBezTo>
                        <a:pt x="6" y="65"/>
                        <a:pt x="0" y="60"/>
                        <a:pt x="0" y="55"/>
                      </a:cubicBezTo>
                      <a:cubicBezTo>
                        <a:pt x="0" y="44"/>
                        <a:pt x="11" y="43"/>
                        <a:pt x="13" y="33"/>
                      </a:cubicBezTo>
                      <a:cubicBezTo>
                        <a:pt x="8" y="30"/>
                        <a:pt x="4" y="28"/>
                        <a:pt x="4" y="23"/>
                      </a:cubicBezTo>
                      <a:cubicBezTo>
                        <a:pt x="4" y="18"/>
                        <a:pt x="8" y="19"/>
                        <a:pt x="9" y="19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lIns="148590" tIns="74296" rIns="148590" bIns="74296"/>
                <a:lstStyle/>
                <a:p>
                  <a:pPr marL="0" marR="0" lvl="0" indent="0" algn="l" defTabSz="1828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6" name="Freeform 29">
                  <a:extLst>
                    <a:ext uri="{FF2B5EF4-FFF2-40B4-BE49-F238E27FC236}">
                      <a16:creationId xmlns:a16="http://schemas.microsoft.com/office/drawing/2014/main" id="{68D59EE5-56C5-F041-A128-F5E1E91C51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76725" y="1758950"/>
                  <a:ext cx="139700" cy="203200"/>
                </a:xfrm>
                <a:custGeom>
                  <a:avLst/>
                  <a:gdLst/>
                  <a:ahLst/>
                  <a:cxnLst>
                    <a:cxn ang="0">
                      <a:pos x="96" y="102"/>
                    </a:cxn>
                    <a:cxn ang="0">
                      <a:pos x="91" y="128"/>
                    </a:cxn>
                    <a:cxn ang="0">
                      <a:pos x="100" y="133"/>
                    </a:cxn>
                    <a:cxn ang="0">
                      <a:pos x="70" y="139"/>
                    </a:cxn>
                    <a:cxn ang="0">
                      <a:pos x="39" y="141"/>
                    </a:cxn>
                    <a:cxn ang="0">
                      <a:pos x="26" y="148"/>
                    </a:cxn>
                    <a:cxn ang="0">
                      <a:pos x="16" y="152"/>
                    </a:cxn>
                    <a:cxn ang="0">
                      <a:pos x="32" y="133"/>
                    </a:cxn>
                    <a:cxn ang="0">
                      <a:pos x="46" y="124"/>
                    </a:cxn>
                    <a:cxn ang="0">
                      <a:pos x="26" y="123"/>
                    </a:cxn>
                    <a:cxn ang="0">
                      <a:pos x="19" y="123"/>
                    </a:cxn>
                    <a:cxn ang="0">
                      <a:pos x="28" y="96"/>
                    </a:cxn>
                    <a:cxn ang="0">
                      <a:pos x="48" y="81"/>
                    </a:cxn>
                    <a:cxn ang="0">
                      <a:pos x="40" y="70"/>
                    </a:cxn>
                    <a:cxn ang="0">
                      <a:pos x="26" y="72"/>
                    </a:cxn>
                    <a:cxn ang="0">
                      <a:pos x="23" y="59"/>
                    </a:cxn>
                    <a:cxn ang="0">
                      <a:pos x="16" y="49"/>
                    </a:cxn>
                    <a:cxn ang="0">
                      <a:pos x="12" y="55"/>
                    </a:cxn>
                    <a:cxn ang="0">
                      <a:pos x="14" y="45"/>
                    </a:cxn>
                    <a:cxn ang="0">
                      <a:pos x="8" y="38"/>
                    </a:cxn>
                    <a:cxn ang="0">
                      <a:pos x="11" y="29"/>
                    </a:cxn>
                    <a:cxn ang="0">
                      <a:pos x="8" y="20"/>
                    </a:cxn>
                    <a:cxn ang="0">
                      <a:pos x="12" y="21"/>
                    </a:cxn>
                    <a:cxn ang="0">
                      <a:pos x="16" y="14"/>
                    </a:cxn>
                    <a:cxn ang="0">
                      <a:pos x="25" y="0"/>
                    </a:cxn>
                    <a:cxn ang="0">
                      <a:pos x="42" y="4"/>
                    </a:cxn>
                    <a:cxn ang="0">
                      <a:pos x="33" y="19"/>
                    </a:cxn>
                    <a:cxn ang="0">
                      <a:pos x="47" y="46"/>
                    </a:cxn>
                    <a:cxn ang="0">
                      <a:pos x="53" y="50"/>
                    </a:cxn>
                    <a:cxn ang="0">
                      <a:pos x="84" y="89"/>
                    </a:cxn>
                    <a:cxn ang="0">
                      <a:pos x="87" y="102"/>
                    </a:cxn>
                    <a:cxn ang="0">
                      <a:pos x="92" y="102"/>
                    </a:cxn>
                  </a:cxnLst>
                  <a:rect l="0" t="0" r="r" b="b"/>
                  <a:pathLst>
                    <a:path w="105" h="152">
                      <a:moveTo>
                        <a:pt x="90" y="103"/>
                      </a:moveTo>
                      <a:cubicBezTo>
                        <a:pt x="93" y="101"/>
                        <a:pt x="92" y="102"/>
                        <a:pt x="96" y="102"/>
                      </a:cubicBezTo>
                      <a:cubicBezTo>
                        <a:pt x="101" y="102"/>
                        <a:pt x="105" y="106"/>
                        <a:pt x="105" y="110"/>
                      </a:cubicBezTo>
                      <a:cubicBezTo>
                        <a:pt x="105" y="118"/>
                        <a:pt x="94" y="122"/>
                        <a:pt x="91" y="128"/>
                      </a:cubicBezTo>
                      <a:cubicBezTo>
                        <a:pt x="95" y="129"/>
                        <a:pt x="97" y="130"/>
                        <a:pt x="100" y="130"/>
                      </a:cubicBezTo>
                      <a:cubicBezTo>
                        <a:pt x="100" y="133"/>
                        <a:pt x="100" y="133"/>
                        <a:pt x="100" y="133"/>
                      </a:cubicBezTo>
                      <a:cubicBezTo>
                        <a:pt x="96" y="137"/>
                        <a:pt x="93" y="139"/>
                        <a:pt x="87" y="139"/>
                      </a:cubicBezTo>
                      <a:cubicBezTo>
                        <a:pt x="82" y="139"/>
                        <a:pt x="72" y="139"/>
                        <a:pt x="70" y="139"/>
                      </a:cubicBezTo>
                      <a:cubicBezTo>
                        <a:pt x="65" y="139"/>
                        <a:pt x="53" y="143"/>
                        <a:pt x="47" y="143"/>
                      </a:cubicBezTo>
                      <a:cubicBezTo>
                        <a:pt x="44" y="143"/>
                        <a:pt x="42" y="141"/>
                        <a:pt x="39" y="141"/>
                      </a:cubicBezTo>
                      <a:cubicBezTo>
                        <a:pt x="34" y="141"/>
                        <a:pt x="32" y="144"/>
                        <a:pt x="32" y="148"/>
                      </a:cubicBezTo>
                      <a:cubicBezTo>
                        <a:pt x="26" y="148"/>
                        <a:pt x="26" y="148"/>
                        <a:pt x="26" y="148"/>
                      </a:cubicBezTo>
                      <a:cubicBezTo>
                        <a:pt x="23" y="148"/>
                        <a:pt x="21" y="150"/>
                        <a:pt x="19" y="152"/>
                      </a:cubicBezTo>
                      <a:cubicBezTo>
                        <a:pt x="16" y="152"/>
                        <a:pt x="16" y="152"/>
                        <a:pt x="16" y="152"/>
                      </a:cubicBezTo>
                      <a:cubicBezTo>
                        <a:pt x="16" y="149"/>
                        <a:pt x="16" y="149"/>
                        <a:pt x="16" y="149"/>
                      </a:cubicBezTo>
                      <a:cubicBezTo>
                        <a:pt x="17" y="147"/>
                        <a:pt x="30" y="133"/>
                        <a:pt x="32" y="133"/>
                      </a:cubicBezTo>
                      <a:cubicBezTo>
                        <a:pt x="38" y="131"/>
                        <a:pt x="47" y="133"/>
                        <a:pt x="47" y="127"/>
                      </a:cubicBezTo>
                      <a:cubicBezTo>
                        <a:pt x="47" y="126"/>
                        <a:pt x="46" y="125"/>
                        <a:pt x="46" y="124"/>
                      </a:cubicBezTo>
                      <a:cubicBezTo>
                        <a:pt x="44" y="126"/>
                        <a:pt x="41" y="128"/>
                        <a:pt x="38" y="128"/>
                      </a:cubicBezTo>
                      <a:cubicBezTo>
                        <a:pt x="32" y="128"/>
                        <a:pt x="30" y="123"/>
                        <a:pt x="26" y="123"/>
                      </a:cubicBezTo>
                      <a:cubicBezTo>
                        <a:pt x="23" y="123"/>
                        <a:pt x="23" y="125"/>
                        <a:pt x="21" y="125"/>
                      </a:cubicBezTo>
                      <a:cubicBezTo>
                        <a:pt x="20" y="125"/>
                        <a:pt x="19" y="124"/>
                        <a:pt x="19" y="123"/>
                      </a:cubicBezTo>
                      <a:cubicBezTo>
                        <a:pt x="19" y="116"/>
                        <a:pt x="31" y="116"/>
                        <a:pt x="31" y="109"/>
                      </a:cubicBezTo>
                      <a:cubicBezTo>
                        <a:pt x="31" y="103"/>
                        <a:pt x="28" y="101"/>
                        <a:pt x="28" y="96"/>
                      </a:cubicBezTo>
                      <a:cubicBezTo>
                        <a:pt x="36" y="96"/>
                        <a:pt x="45" y="92"/>
                        <a:pt x="48" y="88"/>
                      </a:cubicBezTo>
                      <a:cubicBezTo>
                        <a:pt x="48" y="81"/>
                        <a:pt x="48" y="81"/>
                        <a:pt x="48" y="81"/>
                      </a:cubicBezTo>
                      <a:cubicBezTo>
                        <a:pt x="43" y="82"/>
                        <a:pt x="37" y="81"/>
                        <a:pt x="37" y="77"/>
                      </a:cubicBezTo>
                      <a:cubicBezTo>
                        <a:pt x="37" y="73"/>
                        <a:pt x="39" y="72"/>
                        <a:pt x="40" y="70"/>
                      </a:cubicBezTo>
                      <a:cubicBezTo>
                        <a:pt x="39" y="70"/>
                        <a:pt x="38" y="70"/>
                        <a:pt x="36" y="70"/>
                      </a:cubicBezTo>
                      <a:cubicBezTo>
                        <a:pt x="32" y="70"/>
                        <a:pt x="30" y="72"/>
                        <a:pt x="26" y="72"/>
                      </a:cubicBezTo>
                      <a:cubicBezTo>
                        <a:pt x="22" y="72"/>
                        <a:pt x="19" y="72"/>
                        <a:pt x="19" y="69"/>
                      </a:cubicBezTo>
                      <a:cubicBezTo>
                        <a:pt x="19" y="65"/>
                        <a:pt x="23" y="63"/>
                        <a:pt x="23" y="59"/>
                      </a:cubicBezTo>
                      <a:cubicBezTo>
                        <a:pt x="23" y="55"/>
                        <a:pt x="22" y="55"/>
                        <a:pt x="23" y="51"/>
                      </a:cubicBezTo>
                      <a:cubicBezTo>
                        <a:pt x="20" y="51"/>
                        <a:pt x="17" y="50"/>
                        <a:pt x="16" y="49"/>
                      </a:cubicBezTo>
                      <a:cubicBezTo>
                        <a:pt x="14" y="52"/>
                        <a:pt x="15" y="54"/>
                        <a:pt x="16" y="55"/>
                      </a:cubicBezTo>
                      <a:cubicBezTo>
                        <a:pt x="12" y="55"/>
                        <a:pt x="12" y="55"/>
                        <a:pt x="12" y="55"/>
                      </a:cubicBezTo>
                      <a:cubicBezTo>
                        <a:pt x="12" y="52"/>
                        <a:pt x="12" y="51"/>
                        <a:pt x="12" y="48"/>
                      </a:cubicBezTo>
                      <a:cubicBezTo>
                        <a:pt x="12" y="47"/>
                        <a:pt x="13" y="46"/>
                        <a:pt x="14" y="45"/>
                      </a:cubicBezTo>
                      <a:cubicBezTo>
                        <a:pt x="14" y="41"/>
                        <a:pt x="14" y="41"/>
                        <a:pt x="14" y="41"/>
                      </a:cubicBezTo>
                      <a:cubicBezTo>
                        <a:pt x="12" y="41"/>
                        <a:pt x="8" y="40"/>
                        <a:pt x="8" y="38"/>
                      </a:cubicBezTo>
                      <a:cubicBezTo>
                        <a:pt x="8" y="36"/>
                        <a:pt x="11" y="32"/>
                        <a:pt x="11" y="32"/>
                      </a:cubicBezTo>
                      <a:cubicBezTo>
                        <a:pt x="11" y="29"/>
                        <a:pt x="11" y="29"/>
                        <a:pt x="11" y="29"/>
                      </a:cubicBezTo>
                      <a:cubicBezTo>
                        <a:pt x="4" y="27"/>
                        <a:pt x="0" y="26"/>
                        <a:pt x="0" y="20"/>
                      </a:cubicBezTo>
                      <a:cubicBezTo>
                        <a:pt x="8" y="20"/>
                        <a:pt x="8" y="20"/>
                        <a:pt x="8" y="20"/>
                      </a:cubicBezTo>
                      <a:cubicBezTo>
                        <a:pt x="8" y="23"/>
                        <a:pt x="10" y="24"/>
                        <a:pt x="11" y="24"/>
                      </a:cubicBezTo>
                      <a:cubicBezTo>
                        <a:pt x="12" y="24"/>
                        <a:pt x="12" y="22"/>
                        <a:pt x="12" y="21"/>
                      </a:cubicBezTo>
                      <a:cubicBezTo>
                        <a:pt x="12" y="21"/>
                        <a:pt x="10" y="20"/>
                        <a:pt x="10" y="19"/>
                      </a:cubicBezTo>
                      <a:cubicBezTo>
                        <a:pt x="10" y="15"/>
                        <a:pt x="13" y="14"/>
                        <a:pt x="16" y="14"/>
                      </a:cubicBezTo>
                      <a:cubicBezTo>
                        <a:pt x="16" y="10"/>
                        <a:pt x="18" y="8"/>
                        <a:pt x="18" y="6"/>
                      </a:cubicBezTo>
                      <a:cubicBezTo>
                        <a:pt x="18" y="4"/>
                        <a:pt x="23" y="0"/>
                        <a:pt x="25" y="0"/>
                      </a:cubicBezTo>
                      <a:cubicBezTo>
                        <a:pt x="30" y="0"/>
                        <a:pt x="35" y="0"/>
                        <a:pt x="38" y="0"/>
                      </a:cubicBezTo>
                      <a:cubicBezTo>
                        <a:pt x="40" y="0"/>
                        <a:pt x="42" y="3"/>
                        <a:pt x="42" y="4"/>
                      </a:cubicBezTo>
                      <a:cubicBezTo>
                        <a:pt x="42" y="10"/>
                        <a:pt x="33" y="10"/>
                        <a:pt x="31" y="16"/>
                      </a:cubicBezTo>
                      <a:cubicBezTo>
                        <a:pt x="31" y="17"/>
                        <a:pt x="32" y="18"/>
                        <a:pt x="33" y="19"/>
                      </a:cubicBezTo>
                      <a:cubicBezTo>
                        <a:pt x="59" y="19"/>
                        <a:pt x="59" y="19"/>
                        <a:pt x="59" y="19"/>
                      </a:cubicBezTo>
                      <a:cubicBezTo>
                        <a:pt x="60" y="32"/>
                        <a:pt x="47" y="37"/>
                        <a:pt x="47" y="46"/>
                      </a:cubicBezTo>
                      <a:cubicBezTo>
                        <a:pt x="45" y="47"/>
                        <a:pt x="44" y="48"/>
                        <a:pt x="43" y="50"/>
                      </a:cubicBezTo>
                      <a:cubicBezTo>
                        <a:pt x="48" y="51"/>
                        <a:pt x="50" y="49"/>
                        <a:pt x="53" y="50"/>
                      </a:cubicBezTo>
                      <a:cubicBezTo>
                        <a:pt x="62" y="53"/>
                        <a:pt x="60" y="63"/>
                        <a:pt x="66" y="69"/>
                      </a:cubicBezTo>
                      <a:cubicBezTo>
                        <a:pt x="73" y="76"/>
                        <a:pt x="84" y="79"/>
                        <a:pt x="84" y="89"/>
                      </a:cubicBezTo>
                      <a:cubicBezTo>
                        <a:pt x="84" y="93"/>
                        <a:pt x="89" y="95"/>
                        <a:pt x="89" y="99"/>
                      </a:cubicBezTo>
                      <a:cubicBezTo>
                        <a:pt x="89" y="100"/>
                        <a:pt x="88" y="101"/>
                        <a:pt x="87" y="102"/>
                      </a:cubicBezTo>
                      <a:cubicBezTo>
                        <a:pt x="87" y="105"/>
                        <a:pt x="87" y="105"/>
                        <a:pt x="87" y="105"/>
                      </a:cubicBezTo>
                      <a:cubicBezTo>
                        <a:pt x="90" y="104"/>
                        <a:pt x="90" y="103"/>
                        <a:pt x="92" y="102"/>
                      </a:cubicBezTo>
                      <a:lnTo>
                        <a:pt x="90" y="103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lIns="148590" tIns="74296" rIns="148590" bIns="74296"/>
                <a:lstStyle/>
                <a:p>
                  <a:pPr marL="0" marR="0" lvl="0" indent="0" algn="l" defTabSz="1828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7" name="Freeform 31">
                  <a:extLst>
                    <a:ext uri="{FF2B5EF4-FFF2-40B4-BE49-F238E27FC236}">
                      <a16:creationId xmlns:a16="http://schemas.microsoft.com/office/drawing/2014/main" id="{D6098A16-C835-394A-B012-22B752495E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92638" y="2203450"/>
                  <a:ext cx="46038" cy="30163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0" y="8"/>
                    </a:cxn>
                    <a:cxn ang="0">
                      <a:pos x="7" y="10"/>
                    </a:cxn>
                    <a:cxn ang="0">
                      <a:pos x="27" y="21"/>
                    </a:cxn>
                    <a:cxn ang="0">
                      <a:pos x="30" y="23"/>
                    </a:cxn>
                    <a:cxn ang="0">
                      <a:pos x="33" y="20"/>
                    </a:cxn>
                    <a:cxn ang="0">
                      <a:pos x="31" y="13"/>
                    </a:cxn>
                    <a:cxn ang="0">
                      <a:pos x="33" y="8"/>
                    </a:cxn>
                    <a:cxn ang="0">
                      <a:pos x="35" y="3"/>
                    </a:cxn>
                    <a:cxn ang="0">
                      <a:pos x="20" y="6"/>
                    </a:cxn>
                    <a:cxn ang="0">
                      <a:pos x="0" y="5"/>
                    </a:cxn>
                  </a:cxnLst>
                  <a:rect l="0" t="0" r="r" b="b"/>
                  <a:pathLst>
                    <a:path w="35" h="23">
                      <a:moveTo>
                        <a:pt x="0" y="5"/>
                      </a:move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2" y="10"/>
                        <a:pt x="5" y="10"/>
                        <a:pt x="7" y="10"/>
                      </a:cubicBezTo>
                      <a:cubicBezTo>
                        <a:pt x="14" y="12"/>
                        <a:pt x="19" y="20"/>
                        <a:pt x="27" y="21"/>
                      </a:cubicBezTo>
                      <a:cubicBezTo>
                        <a:pt x="27" y="23"/>
                        <a:pt x="29" y="23"/>
                        <a:pt x="30" y="23"/>
                      </a:cubicBezTo>
                      <a:cubicBezTo>
                        <a:pt x="32" y="23"/>
                        <a:pt x="33" y="21"/>
                        <a:pt x="33" y="20"/>
                      </a:cubicBezTo>
                      <a:cubicBezTo>
                        <a:pt x="33" y="17"/>
                        <a:pt x="31" y="16"/>
                        <a:pt x="31" y="13"/>
                      </a:cubicBezTo>
                      <a:cubicBezTo>
                        <a:pt x="31" y="11"/>
                        <a:pt x="33" y="8"/>
                        <a:pt x="33" y="8"/>
                      </a:cubicBezTo>
                      <a:cubicBezTo>
                        <a:pt x="35" y="3"/>
                        <a:pt x="35" y="3"/>
                        <a:pt x="35" y="3"/>
                      </a:cubicBezTo>
                      <a:cubicBezTo>
                        <a:pt x="28" y="2"/>
                        <a:pt x="25" y="6"/>
                        <a:pt x="20" y="6"/>
                      </a:cubicBezTo>
                      <a:cubicBezTo>
                        <a:pt x="14" y="6"/>
                        <a:pt x="10" y="0"/>
                        <a:pt x="0" y="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lIns="148590" tIns="74296" rIns="148590" bIns="74296"/>
                <a:lstStyle/>
                <a:p>
                  <a:pPr marL="0" marR="0" lvl="0" indent="0" algn="l" defTabSz="1828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8" name="Freeform 32">
                  <a:extLst>
                    <a:ext uri="{FF2B5EF4-FFF2-40B4-BE49-F238E27FC236}">
                      <a16:creationId xmlns:a16="http://schemas.microsoft.com/office/drawing/2014/main" id="{4EC10754-702C-EA5B-FD56-B9533DF597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27550" y="2111375"/>
                  <a:ext cx="15875" cy="30163"/>
                </a:xfrm>
                <a:custGeom>
                  <a:avLst/>
                  <a:gdLst/>
                  <a:ahLst/>
                  <a:cxnLst>
                    <a:cxn ang="0">
                      <a:pos x="3" y="5"/>
                    </a:cxn>
                    <a:cxn ang="0">
                      <a:pos x="10" y="0"/>
                    </a:cxn>
                    <a:cxn ang="0">
                      <a:pos x="12" y="5"/>
                    </a:cxn>
                    <a:cxn ang="0">
                      <a:pos x="8" y="23"/>
                    </a:cxn>
                    <a:cxn ang="0">
                      <a:pos x="0" y="6"/>
                    </a:cxn>
                    <a:cxn ang="0">
                      <a:pos x="3" y="5"/>
                    </a:cxn>
                  </a:cxnLst>
                  <a:rect l="0" t="0" r="r" b="b"/>
                  <a:pathLst>
                    <a:path w="12" h="23">
                      <a:moveTo>
                        <a:pt x="3" y="5"/>
                      </a:moveTo>
                      <a:cubicBezTo>
                        <a:pt x="6" y="5"/>
                        <a:pt x="8" y="1"/>
                        <a:pt x="10" y="0"/>
                      </a:cubicBezTo>
                      <a:cubicBezTo>
                        <a:pt x="10" y="3"/>
                        <a:pt x="11" y="5"/>
                        <a:pt x="12" y="5"/>
                      </a:cubicBezTo>
                      <a:cubicBezTo>
                        <a:pt x="11" y="11"/>
                        <a:pt x="10" y="20"/>
                        <a:pt x="8" y="23"/>
                      </a:cubicBezTo>
                      <a:cubicBezTo>
                        <a:pt x="4" y="22"/>
                        <a:pt x="2" y="9"/>
                        <a:pt x="0" y="6"/>
                      </a:cubicBezTo>
                      <a:cubicBezTo>
                        <a:pt x="1" y="6"/>
                        <a:pt x="2" y="5"/>
                        <a:pt x="3" y="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lIns="148590" tIns="74296" rIns="148590" bIns="74296"/>
                <a:lstStyle/>
                <a:p>
                  <a:pPr marL="0" marR="0" lvl="0" indent="0" algn="l" defTabSz="1828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9" name="Freeform 33">
                  <a:extLst>
                    <a:ext uri="{FF2B5EF4-FFF2-40B4-BE49-F238E27FC236}">
                      <a16:creationId xmlns:a16="http://schemas.microsoft.com/office/drawing/2014/main" id="{3B1AFDA1-52A0-F0F4-088C-DD966CE88B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24375" y="2144713"/>
                  <a:ext cx="25400" cy="44450"/>
                </a:xfrm>
                <a:custGeom>
                  <a:avLst/>
                  <a:gdLst/>
                  <a:ahLst/>
                  <a:cxnLst>
                    <a:cxn ang="0">
                      <a:pos x="5" y="15"/>
                    </a:cxn>
                    <a:cxn ang="0">
                      <a:pos x="0" y="6"/>
                    </a:cxn>
                    <a:cxn ang="0">
                      <a:pos x="9" y="0"/>
                    </a:cxn>
                    <a:cxn ang="0">
                      <a:pos x="15" y="3"/>
                    </a:cxn>
                    <a:cxn ang="0">
                      <a:pos x="18" y="21"/>
                    </a:cxn>
                    <a:cxn ang="0">
                      <a:pos x="6" y="33"/>
                    </a:cxn>
                    <a:cxn ang="0">
                      <a:pos x="2" y="24"/>
                    </a:cxn>
                    <a:cxn ang="0">
                      <a:pos x="5" y="15"/>
                    </a:cxn>
                  </a:cxnLst>
                  <a:rect l="0" t="0" r="r" b="b"/>
                  <a:pathLst>
                    <a:path w="19" h="33">
                      <a:moveTo>
                        <a:pt x="5" y="15"/>
                      </a:moveTo>
                      <a:cubicBezTo>
                        <a:pt x="5" y="12"/>
                        <a:pt x="1" y="9"/>
                        <a:pt x="0" y="6"/>
                      </a:cubicBezTo>
                      <a:cubicBezTo>
                        <a:pt x="5" y="4"/>
                        <a:pt x="5" y="0"/>
                        <a:pt x="9" y="0"/>
                      </a:cubicBezTo>
                      <a:cubicBezTo>
                        <a:pt x="13" y="0"/>
                        <a:pt x="14" y="3"/>
                        <a:pt x="15" y="3"/>
                      </a:cubicBezTo>
                      <a:cubicBezTo>
                        <a:pt x="19" y="10"/>
                        <a:pt x="18" y="14"/>
                        <a:pt x="18" y="21"/>
                      </a:cubicBezTo>
                      <a:cubicBezTo>
                        <a:pt x="18" y="27"/>
                        <a:pt x="10" y="33"/>
                        <a:pt x="6" y="33"/>
                      </a:cubicBezTo>
                      <a:cubicBezTo>
                        <a:pt x="2" y="33"/>
                        <a:pt x="2" y="27"/>
                        <a:pt x="2" y="24"/>
                      </a:cubicBezTo>
                      <a:cubicBezTo>
                        <a:pt x="2" y="20"/>
                        <a:pt x="5" y="18"/>
                        <a:pt x="5" y="1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lIns="148590" tIns="74296" rIns="148590" bIns="74296"/>
                <a:lstStyle/>
                <a:p>
                  <a:pPr marL="0" marR="0" lvl="0" indent="0" algn="l" defTabSz="1828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10" name="Freeform 34">
                  <a:extLst>
                    <a:ext uri="{FF2B5EF4-FFF2-40B4-BE49-F238E27FC236}">
                      <a16:creationId xmlns:a16="http://schemas.microsoft.com/office/drawing/2014/main" id="{18D6F8C9-4B1A-D6BF-AD04-5ADAA0AB42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29125" y="2171700"/>
                  <a:ext cx="12700" cy="9525"/>
                </a:xfrm>
                <a:custGeom>
                  <a:avLst/>
                  <a:gdLst/>
                  <a:ahLst/>
                  <a:cxnLst>
                    <a:cxn ang="0">
                      <a:pos x="9" y="5"/>
                    </a:cxn>
                    <a:cxn ang="0">
                      <a:pos x="6" y="7"/>
                    </a:cxn>
                    <a:cxn ang="0">
                      <a:pos x="0" y="3"/>
                    </a:cxn>
                    <a:cxn ang="0">
                      <a:pos x="7" y="0"/>
                    </a:cxn>
                    <a:cxn ang="0">
                      <a:pos x="9" y="5"/>
                    </a:cxn>
                  </a:cxnLst>
                  <a:rect l="0" t="0" r="r" b="b"/>
                  <a:pathLst>
                    <a:path w="9" h="7">
                      <a:moveTo>
                        <a:pt x="9" y="5"/>
                      </a:moveTo>
                      <a:cubicBezTo>
                        <a:pt x="9" y="6"/>
                        <a:pt x="7" y="7"/>
                        <a:pt x="6" y="7"/>
                      </a:cubicBezTo>
                      <a:cubicBezTo>
                        <a:pt x="4" y="7"/>
                        <a:pt x="1" y="3"/>
                        <a:pt x="0" y="3"/>
                      </a:cubicBezTo>
                      <a:cubicBezTo>
                        <a:pt x="3" y="2"/>
                        <a:pt x="5" y="0"/>
                        <a:pt x="7" y="0"/>
                      </a:cubicBezTo>
                      <a:cubicBezTo>
                        <a:pt x="7" y="1"/>
                        <a:pt x="9" y="3"/>
                        <a:pt x="9" y="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lIns="148590" tIns="74296" rIns="148590" bIns="74296"/>
                <a:lstStyle/>
                <a:p>
                  <a:pPr marL="0" marR="0" lvl="0" indent="0" algn="l" defTabSz="1828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11" name="Freeform 35">
                  <a:extLst>
                    <a:ext uri="{FF2B5EF4-FFF2-40B4-BE49-F238E27FC236}">
                      <a16:creationId xmlns:a16="http://schemas.microsoft.com/office/drawing/2014/main" id="{CD4BABEE-2E34-08C2-9B9A-D55362EBF9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51363" y="1833563"/>
                  <a:ext cx="15875" cy="19050"/>
                </a:xfrm>
                <a:custGeom>
                  <a:avLst/>
                  <a:gdLst/>
                  <a:ahLst/>
                  <a:cxnLst>
                    <a:cxn ang="0">
                      <a:pos x="11" y="10"/>
                    </a:cxn>
                    <a:cxn ang="0">
                      <a:pos x="0" y="5"/>
                    </a:cxn>
                    <a:cxn ang="0">
                      <a:pos x="0" y="0"/>
                    </a:cxn>
                    <a:cxn ang="0">
                      <a:pos x="9" y="0"/>
                    </a:cxn>
                    <a:cxn ang="0">
                      <a:pos x="12" y="9"/>
                    </a:cxn>
                    <a:cxn ang="0">
                      <a:pos x="11" y="14"/>
                    </a:cxn>
                    <a:cxn ang="0">
                      <a:pos x="11" y="10"/>
                    </a:cxn>
                  </a:cxnLst>
                  <a:rect l="0" t="0" r="r" b="b"/>
                  <a:pathLst>
                    <a:path w="12" h="14">
                      <a:moveTo>
                        <a:pt x="11" y="10"/>
                      </a:moveTo>
                      <a:cubicBezTo>
                        <a:pt x="5" y="10"/>
                        <a:pt x="0" y="9"/>
                        <a:pt x="0" y="5"/>
                      </a:cubicBezTo>
                      <a:cubicBezTo>
                        <a:pt x="0" y="3"/>
                        <a:pt x="0" y="2"/>
                        <a:pt x="0" y="0"/>
                      </a:cubicBez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9" y="6"/>
                        <a:pt x="12" y="5"/>
                        <a:pt x="12" y="9"/>
                      </a:cubicBezTo>
                      <a:cubicBezTo>
                        <a:pt x="12" y="13"/>
                        <a:pt x="11" y="12"/>
                        <a:pt x="11" y="14"/>
                      </a:cubicBezTo>
                      <a:cubicBezTo>
                        <a:pt x="11" y="13"/>
                        <a:pt x="11" y="12"/>
                        <a:pt x="11" y="1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lIns="148590" tIns="74296" rIns="148590" bIns="74296"/>
                <a:lstStyle/>
                <a:p>
                  <a:pPr marL="0" marR="0" lvl="0" indent="0" algn="l" defTabSz="1828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12" name="Freeform 37">
                  <a:extLst>
                    <a:ext uri="{FF2B5EF4-FFF2-40B4-BE49-F238E27FC236}">
                      <a16:creationId xmlns:a16="http://schemas.microsoft.com/office/drawing/2014/main" id="{6EFD8CED-00AE-FAAC-6A4E-36388CB8A4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4713" y="1773238"/>
                  <a:ext cx="15875" cy="23813"/>
                </a:xfrm>
                <a:custGeom>
                  <a:avLst/>
                  <a:gdLst/>
                  <a:ahLst/>
                  <a:cxnLst>
                    <a:cxn ang="0">
                      <a:pos x="8" y="6"/>
                    </a:cxn>
                    <a:cxn ang="0">
                      <a:pos x="1" y="17"/>
                    </a:cxn>
                    <a:cxn ang="0">
                      <a:pos x="1" y="11"/>
                    </a:cxn>
                    <a:cxn ang="0">
                      <a:pos x="11" y="0"/>
                    </a:cxn>
                    <a:cxn ang="0">
                      <a:pos x="8" y="6"/>
                    </a:cxn>
                  </a:cxnLst>
                  <a:rect l="0" t="0" r="r" b="b"/>
                  <a:pathLst>
                    <a:path w="11" h="17">
                      <a:moveTo>
                        <a:pt x="8" y="6"/>
                      </a:moveTo>
                      <a:cubicBezTo>
                        <a:pt x="8" y="11"/>
                        <a:pt x="4" y="13"/>
                        <a:pt x="1" y="17"/>
                      </a:cubicBezTo>
                      <a:cubicBezTo>
                        <a:pt x="0" y="15"/>
                        <a:pt x="1" y="14"/>
                        <a:pt x="1" y="11"/>
                      </a:cubicBezTo>
                      <a:cubicBezTo>
                        <a:pt x="1" y="9"/>
                        <a:pt x="3" y="1"/>
                        <a:pt x="11" y="0"/>
                      </a:cubicBezTo>
                      <a:cubicBezTo>
                        <a:pt x="10" y="2"/>
                        <a:pt x="8" y="4"/>
                        <a:pt x="8" y="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lIns="148590" tIns="74296" rIns="148590" bIns="74296"/>
                <a:lstStyle/>
                <a:p>
                  <a:pPr marL="0" marR="0" lvl="0" indent="0" algn="l" defTabSz="1828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13" name="Freeform 38">
                  <a:extLst>
                    <a:ext uri="{FF2B5EF4-FFF2-40B4-BE49-F238E27FC236}">
                      <a16:creationId xmlns:a16="http://schemas.microsoft.com/office/drawing/2014/main" id="{EC5A4E18-A7B8-16EE-F707-4459C145CB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46625" y="1744663"/>
                  <a:ext cx="20638" cy="26988"/>
                </a:xfrm>
                <a:custGeom>
                  <a:avLst/>
                  <a:gdLst/>
                  <a:ahLst/>
                  <a:cxnLst>
                    <a:cxn ang="0">
                      <a:pos x="12" y="10"/>
                    </a:cxn>
                    <a:cxn ang="0">
                      <a:pos x="12" y="16"/>
                    </a:cxn>
                    <a:cxn ang="0">
                      <a:pos x="5" y="20"/>
                    </a:cxn>
                    <a:cxn ang="0">
                      <a:pos x="0" y="13"/>
                    </a:cxn>
                    <a:cxn ang="0">
                      <a:pos x="10" y="10"/>
                    </a:cxn>
                    <a:cxn ang="0">
                      <a:pos x="7" y="5"/>
                    </a:cxn>
                    <a:cxn ang="0">
                      <a:pos x="11" y="0"/>
                    </a:cxn>
                    <a:cxn ang="0">
                      <a:pos x="16" y="5"/>
                    </a:cxn>
                    <a:cxn ang="0">
                      <a:pos x="12" y="10"/>
                    </a:cxn>
                  </a:cxnLst>
                  <a:rect l="0" t="0" r="r" b="b"/>
                  <a:pathLst>
                    <a:path w="16" h="20">
                      <a:moveTo>
                        <a:pt x="12" y="10"/>
                      </a:moveTo>
                      <a:cubicBezTo>
                        <a:pt x="12" y="12"/>
                        <a:pt x="12" y="14"/>
                        <a:pt x="12" y="16"/>
                      </a:cubicBezTo>
                      <a:cubicBezTo>
                        <a:pt x="12" y="17"/>
                        <a:pt x="6" y="20"/>
                        <a:pt x="5" y="20"/>
                      </a:cubicBezTo>
                      <a:cubicBezTo>
                        <a:pt x="1" y="20"/>
                        <a:pt x="0" y="16"/>
                        <a:pt x="0" y="13"/>
                      </a:cubicBezTo>
                      <a:cubicBezTo>
                        <a:pt x="4" y="13"/>
                        <a:pt x="6" y="10"/>
                        <a:pt x="10" y="10"/>
                      </a:cubicBezTo>
                      <a:cubicBezTo>
                        <a:pt x="9" y="8"/>
                        <a:pt x="7" y="7"/>
                        <a:pt x="7" y="5"/>
                      </a:cubicBezTo>
                      <a:cubicBezTo>
                        <a:pt x="7" y="2"/>
                        <a:pt x="11" y="0"/>
                        <a:pt x="11" y="0"/>
                      </a:cubicBezTo>
                      <a:cubicBezTo>
                        <a:pt x="13" y="3"/>
                        <a:pt x="14" y="4"/>
                        <a:pt x="16" y="5"/>
                      </a:cubicBezTo>
                      <a:cubicBezTo>
                        <a:pt x="15" y="7"/>
                        <a:pt x="13" y="10"/>
                        <a:pt x="12" y="1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lIns="148590" tIns="74296" rIns="148590" bIns="74296"/>
                <a:lstStyle/>
                <a:p>
                  <a:pPr marL="0" marR="0" lvl="0" indent="0" algn="l" defTabSz="1828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47" name="Group 363">
              <a:extLst>
                <a:ext uri="{FF2B5EF4-FFF2-40B4-BE49-F238E27FC236}">
                  <a16:creationId xmlns:a16="http://schemas.microsoft.com/office/drawing/2014/main" id="{53A5436A-229A-CD65-1677-F7116BE3E9F3}"/>
                </a:ext>
              </a:extLst>
            </p:cNvPr>
            <p:cNvGrpSpPr/>
            <p:nvPr/>
          </p:nvGrpSpPr>
          <p:grpSpPr>
            <a:xfrm>
              <a:off x="9514673" y="4191161"/>
              <a:ext cx="1131208" cy="1099873"/>
              <a:chOff x="6275388" y="2879725"/>
              <a:chExt cx="966788" cy="844551"/>
            </a:xfrm>
            <a:solidFill>
              <a:srgbClr val="121E3B"/>
            </a:solidFill>
          </p:grpSpPr>
          <p:sp>
            <p:nvSpPr>
              <p:cNvPr id="181" name="Freeform 9">
                <a:extLst>
                  <a:ext uri="{FF2B5EF4-FFF2-40B4-BE49-F238E27FC236}">
                    <a16:creationId xmlns:a16="http://schemas.microsoft.com/office/drawing/2014/main" id="{F4FDA83F-CE13-02BD-CC5A-317636EB41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67488" y="2879725"/>
                <a:ext cx="339725" cy="176213"/>
              </a:xfrm>
              <a:custGeom>
                <a:avLst/>
                <a:gdLst/>
                <a:ahLst/>
                <a:cxnLst>
                  <a:cxn ang="0">
                    <a:pos x="128" y="28"/>
                  </a:cxn>
                  <a:cxn ang="0">
                    <a:pos x="160" y="39"/>
                  </a:cxn>
                  <a:cxn ang="0">
                    <a:pos x="173" y="45"/>
                  </a:cxn>
                  <a:cxn ang="0">
                    <a:pos x="179" y="49"/>
                  </a:cxn>
                  <a:cxn ang="0">
                    <a:pos x="203" y="71"/>
                  </a:cxn>
                  <a:cxn ang="0">
                    <a:pos x="217" y="78"/>
                  </a:cxn>
                  <a:cxn ang="0">
                    <a:pos x="208" y="85"/>
                  </a:cxn>
                  <a:cxn ang="0">
                    <a:pos x="217" y="96"/>
                  </a:cxn>
                  <a:cxn ang="0">
                    <a:pos x="224" y="108"/>
                  </a:cxn>
                  <a:cxn ang="0">
                    <a:pos x="233" y="113"/>
                  </a:cxn>
                  <a:cxn ang="0">
                    <a:pos x="237" y="118"/>
                  </a:cxn>
                  <a:cxn ang="0">
                    <a:pos x="242" y="119"/>
                  </a:cxn>
                  <a:cxn ang="0">
                    <a:pos x="247" y="124"/>
                  </a:cxn>
                  <a:cxn ang="0">
                    <a:pos x="255" y="126"/>
                  </a:cxn>
                  <a:cxn ang="0">
                    <a:pos x="250" y="133"/>
                  </a:cxn>
                  <a:cxn ang="0">
                    <a:pos x="247" y="133"/>
                  </a:cxn>
                  <a:cxn ang="0">
                    <a:pos x="239" y="127"/>
                  </a:cxn>
                  <a:cxn ang="0">
                    <a:pos x="227" y="127"/>
                  </a:cxn>
                  <a:cxn ang="0">
                    <a:pos x="210" y="116"/>
                  </a:cxn>
                  <a:cxn ang="0">
                    <a:pos x="206" y="113"/>
                  </a:cxn>
                  <a:cxn ang="0">
                    <a:pos x="175" y="92"/>
                  </a:cxn>
                  <a:cxn ang="0">
                    <a:pos x="158" y="103"/>
                  </a:cxn>
                  <a:cxn ang="0">
                    <a:pos x="156" y="113"/>
                  </a:cxn>
                  <a:cxn ang="0">
                    <a:pos x="139" y="113"/>
                  </a:cxn>
                  <a:cxn ang="0">
                    <a:pos x="113" y="100"/>
                  </a:cxn>
                  <a:cxn ang="0">
                    <a:pos x="107" y="102"/>
                  </a:cxn>
                  <a:cxn ang="0">
                    <a:pos x="98" y="102"/>
                  </a:cxn>
                  <a:cxn ang="0">
                    <a:pos x="90" y="99"/>
                  </a:cxn>
                  <a:cxn ang="0">
                    <a:pos x="101" y="90"/>
                  </a:cxn>
                  <a:cxn ang="0">
                    <a:pos x="96" y="71"/>
                  </a:cxn>
                  <a:cxn ang="0">
                    <a:pos x="77" y="59"/>
                  </a:cxn>
                  <a:cxn ang="0">
                    <a:pos x="53" y="54"/>
                  </a:cxn>
                  <a:cxn ang="0">
                    <a:pos x="37" y="45"/>
                  </a:cxn>
                  <a:cxn ang="0">
                    <a:pos x="37" y="41"/>
                  </a:cxn>
                  <a:cxn ang="0">
                    <a:pos x="30" y="49"/>
                  </a:cxn>
                  <a:cxn ang="0">
                    <a:pos x="26" y="48"/>
                  </a:cxn>
                  <a:cxn ang="0">
                    <a:pos x="24" y="38"/>
                  </a:cxn>
                  <a:cxn ang="0">
                    <a:pos x="16" y="33"/>
                  </a:cxn>
                  <a:cxn ang="0">
                    <a:pos x="38" y="25"/>
                  </a:cxn>
                  <a:cxn ang="0">
                    <a:pos x="35" y="25"/>
                  </a:cxn>
                  <a:cxn ang="0">
                    <a:pos x="23" y="27"/>
                  </a:cxn>
                  <a:cxn ang="0">
                    <a:pos x="16" y="26"/>
                  </a:cxn>
                  <a:cxn ang="0">
                    <a:pos x="14" y="22"/>
                  </a:cxn>
                  <a:cxn ang="0">
                    <a:pos x="0" y="12"/>
                  </a:cxn>
                  <a:cxn ang="0">
                    <a:pos x="6" y="8"/>
                  </a:cxn>
                  <a:cxn ang="0">
                    <a:pos x="23" y="0"/>
                  </a:cxn>
                  <a:cxn ang="0">
                    <a:pos x="44" y="9"/>
                  </a:cxn>
                  <a:cxn ang="0">
                    <a:pos x="44" y="25"/>
                  </a:cxn>
                  <a:cxn ang="0">
                    <a:pos x="50" y="29"/>
                  </a:cxn>
                  <a:cxn ang="0">
                    <a:pos x="59" y="38"/>
                  </a:cxn>
                  <a:cxn ang="0">
                    <a:pos x="67" y="30"/>
                  </a:cxn>
                  <a:cxn ang="0">
                    <a:pos x="78" y="25"/>
                  </a:cxn>
                  <a:cxn ang="0">
                    <a:pos x="92" y="14"/>
                  </a:cxn>
                  <a:cxn ang="0">
                    <a:pos x="98" y="17"/>
                  </a:cxn>
                  <a:cxn ang="0">
                    <a:pos x="109" y="25"/>
                  </a:cxn>
                  <a:cxn ang="0">
                    <a:pos x="121" y="25"/>
                  </a:cxn>
                  <a:cxn ang="0">
                    <a:pos x="130" y="29"/>
                  </a:cxn>
                  <a:cxn ang="0">
                    <a:pos x="130" y="30"/>
                  </a:cxn>
                  <a:cxn ang="0">
                    <a:pos x="128" y="28"/>
                  </a:cxn>
                </a:cxnLst>
                <a:rect l="0" t="0" r="r" b="b"/>
                <a:pathLst>
                  <a:path w="255" h="133">
                    <a:moveTo>
                      <a:pt x="128" y="28"/>
                    </a:moveTo>
                    <a:cubicBezTo>
                      <a:pt x="133" y="33"/>
                      <a:pt x="149" y="39"/>
                      <a:pt x="160" y="39"/>
                    </a:cubicBezTo>
                    <a:cubicBezTo>
                      <a:pt x="165" y="39"/>
                      <a:pt x="168" y="45"/>
                      <a:pt x="173" y="45"/>
                    </a:cubicBezTo>
                    <a:cubicBezTo>
                      <a:pt x="173" y="48"/>
                      <a:pt x="176" y="49"/>
                      <a:pt x="179" y="49"/>
                    </a:cubicBezTo>
                    <a:cubicBezTo>
                      <a:pt x="193" y="54"/>
                      <a:pt x="192" y="66"/>
                      <a:pt x="203" y="71"/>
                    </a:cubicBezTo>
                    <a:cubicBezTo>
                      <a:pt x="207" y="73"/>
                      <a:pt x="217" y="68"/>
                      <a:pt x="217" y="78"/>
                    </a:cubicBezTo>
                    <a:cubicBezTo>
                      <a:pt x="217" y="83"/>
                      <a:pt x="208" y="81"/>
                      <a:pt x="208" y="85"/>
                    </a:cubicBezTo>
                    <a:cubicBezTo>
                      <a:pt x="208" y="87"/>
                      <a:pt x="216" y="95"/>
                      <a:pt x="217" y="96"/>
                    </a:cubicBezTo>
                    <a:cubicBezTo>
                      <a:pt x="221" y="100"/>
                      <a:pt x="220" y="103"/>
                      <a:pt x="224" y="108"/>
                    </a:cubicBezTo>
                    <a:cubicBezTo>
                      <a:pt x="225" y="111"/>
                      <a:pt x="230" y="113"/>
                      <a:pt x="233" y="113"/>
                    </a:cubicBezTo>
                    <a:cubicBezTo>
                      <a:pt x="235" y="113"/>
                      <a:pt x="236" y="116"/>
                      <a:pt x="237" y="118"/>
                    </a:cubicBezTo>
                    <a:cubicBezTo>
                      <a:pt x="238" y="120"/>
                      <a:pt x="240" y="118"/>
                      <a:pt x="242" y="119"/>
                    </a:cubicBezTo>
                    <a:cubicBezTo>
                      <a:pt x="245" y="119"/>
                      <a:pt x="246" y="122"/>
                      <a:pt x="247" y="124"/>
                    </a:cubicBezTo>
                    <a:cubicBezTo>
                      <a:pt x="247" y="126"/>
                      <a:pt x="254" y="125"/>
                      <a:pt x="255" y="126"/>
                    </a:cubicBezTo>
                    <a:cubicBezTo>
                      <a:pt x="253" y="127"/>
                      <a:pt x="250" y="130"/>
                      <a:pt x="250" y="133"/>
                    </a:cubicBezTo>
                    <a:cubicBezTo>
                      <a:pt x="249" y="133"/>
                      <a:pt x="248" y="133"/>
                      <a:pt x="247" y="133"/>
                    </a:cubicBezTo>
                    <a:cubicBezTo>
                      <a:pt x="246" y="133"/>
                      <a:pt x="240" y="128"/>
                      <a:pt x="239" y="127"/>
                    </a:cubicBezTo>
                    <a:cubicBezTo>
                      <a:pt x="227" y="127"/>
                      <a:pt x="227" y="127"/>
                      <a:pt x="227" y="127"/>
                    </a:cubicBezTo>
                    <a:cubicBezTo>
                      <a:pt x="221" y="126"/>
                      <a:pt x="210" y="121"/>
                      <a:pt x="210" y="116"/>
                    </a:cubicBezTo>
                    <a:cubicBezTo>
                      <a:pt x="210" y="115"/>
                      <a:pt x="207" y="114"/>
                      <a:pt x="206" y="113"/>
                    </a:cubicBezTo>
                    <a:cubicBezTo>
                      <a:pt x="197" y="104"/>
                      <a:pt x="189" y="92"/>
                      <a:pt x="175" y="92"/>
                    </a:cubicBezTo>
                    <a:cubicBezTo>
                      <a:pt x="164" y="92"/>
                      <a:pt x="165" y="100"/>
                      <a:pt x="158" y="103"/>
                    </a:cubicBezTo>
                    <a:cubicBezTo>
                      <a:pt x="160" y="108"/>
                      <a:pt x="156" y="110"/>
                      <a:pt x="156" y="113"/>
                    </a:cubicBezTo>
                    <a:cubicBezTo>
                      <a:pt x="146" y="113"/>
                      <a:pt x="144" y="113"/>
                      <a:pt x="139" y="113"/>
                    </a:cubicBezTo>
                    <a:cubicBezTo>
                      <a:pt x="128" y="113"/>
                      <a:pt x="125" y="100"/>
                      <a:pt x="113" y="100"/>
                    </a:cubicBezTo>
                    <a:cubicBezTo>
                      <a:pt x="112" y="100"/>
                      <a:pt x="107" y="100"/>
                      <a:pt x="107" y="102"/>
                    </a:cubicBezTo>
                    <a:cubicBezTo>
                      <a:pt x="98" y="102"/>
                      <a:pt x="98" y="102"/>
                      <a:pt x="98" y="102"/>
                    </a:cubicBezTo>
                    <a:cubicBezTo>
                      <a:pt x="94" y="102"/>
                      <a:pt x="90" y="102"/>
                      <a:pt x="90" y="99"/>
                    </a:cubicBezTo>
                    <a:cubicBezTo>
                      <a:pt x="90" y="93"/>
                      <a:pt x="99" y="91"/>
                      <a:pt x="101" y="90"/>
                    </a:cubicBezTo>
                    <a:cubicBezTo>
                      <a:pt x="95" y="84"/>
                      <a:pt x="98" y="78"/>
                      <a:pt x="96" y="71"/>
                    </a:cubicBezTo>
                    <a:cubicBezTo>
                      <a:pt x="94" y="66"/>
                      <a:pt x="82" y="61"/>
                      <a:pt x="77" y="59"/>
                    </a:cubicBezTo>
                    <a:cubicBezTo>
                      <a:pt x="72" y="56"/>
                      <a:pt x="60" y="54"/>
                      <a:pt x="53" y="54"/>
                    </a:cubicBezTo>
                    <a:cubicBezTo>
                      <a:pt x="47" y="54"/>
                      <a:pt x="44" y="43"/>
                      <a:pt x="37" y="45"/>
                    </a:cubicBezTo>
                    <a:cubicBezTo>
                      <a:pt x="37" y="41"/>
                      <a:pt x="37" y="41"/>
                      <a:pt x="37" y="41"/>
                    </a:cubicBezTo>
                    <a:cubicBezTo>
                      <a:pt x="36" y="44"/>
                      <a:pt x="34" y="49"/>
                      <a:pt x="30" y="49"/>
                    </a:cubicBezTo>
                    <a:cubicBezTo>
                      <a:pt x="29" y="49"/>
                      <a:pt x="26" y="49"/>
                      <a:pt x="26" y="48"/>
                    </a:cubicBezTo>
                    <a:cubicBezTo>
                      <a:pt x="24" y="43"/>
                      <a:pt x="26" y="41"/>
                      <a:pt x="24" y="38"/>
                    </a:cubicBezTo>
                    <a:cubicBezTo>
                      <a:pt x="22" y="34"/>
                      <a:pt x="17" y="36"/>
                      <a:pt x="16" y="33"/>
                    </a:cubicBezTo>
                    <a:cubicBezTo>
                      <a:pt x="22" y="29"/>
                      <a:pt x="35" y="30"/>
                      <a:pt x="38" y="25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0" y="26"/>
                      <a:pt x="27" y="27"/>
                      <a:pt x="23" y="27"/>
                    </a:cubicBezTo>
                    <a:cubicBezTo>
                      <a:pt x="20" y="27"/>
                      <a:pt x="19" y="26"/>
                      <a:pt x="16" y="26"/>
                    </a:cubicBezTo>
                    <a:cubicBezTo>
                      <a:pt x="15" y="25"/>
                      <a:pt x="14" y="23"/>
                      <a:pt x="14" y="22"/>
                    </a:cubicBezTo>
                    <a:cubicBezTo>
                      <a:pt x="11" y="15"/>
                      <a:pt x="0" y="18"/>
                      <a:pt x="0" y="12"/>
                    </a:cubicBezTo>
                    <a:cubicBezTo>
                      <a:pt x="0" y="9"/>
                      <a:pt x="4" y="8"/>
                      <a:pt x="6" y="8"/>
                    </a:cubicBezTo>
                    <a:cubicBezTo>
                      <a:pt x="12" y="8"/>
                      <a:pt x="15" y="0"/>
                      <a:pt x="23" y="0"/>
                    </a:cubicBezTo>
                    <a:cubicBezTo>
                      <a:pt x="30" y="0"/>
                      <a:pt x="36" y="7"/>
                      <a:pt x="44" y="9"/>
                    </a:cubicBezTo>
                    <a:cubicBezTo>
                      <a:pt x="44" y="15"/>
                      <a:pt x="44" y="22"/>
                      <a:pt x="44" y="25"/>
                    </a:cubicBezTo>
                    <a:cubicBezTo>
                      <a:pt x="44" y="27"/>
                      <a:pt x="46" y="29"/>
                      <a:pt x="50" y="29"/>
                    </a:cubicBezTo>
                    <a:cubicBezTo>
                      <a:pt x="50" y="31"/>
                      <a:pt x="56" y="38"/>
                      <a:pt x="59" y="38"/>
                    </a:cubicBezTo>
                    <a:cubicBezTo>
                      <a:pt x="62" y="38"/>
                      <a:pt x="66" y="31"/>
                      <a:pt x="67" y="30"/>
                    </a:cubicBezTo>
                    <a:cubicBezTo>
                      <a:pt x="71" y="27"/>
                      <a:pt x="71" y="26"/>
                      <a:pt x="78" y="25"/>
                    </a:cubicBezTo>
                    <a:cubicBezTo>
                      <a:pt x="82" y="23"/>
                      <a:pt x="87" y="15"/>
                      <a:pt x="92" y="14"/>
                    </a:cubicBezTo>
                    <a:cubicBezTo>
                      <a:pt x="93" y="17"/>
                      <a:pt x="96" y="16"/>
                      <a:pt x="98" y="17"/>
                    </a:cubicBezTo>
                    <a:cubicBezTo>
                      <a:pt x="103" y="18"/>
                      <a:pt x="106" y="24"/>
                      <a:pt x="109" y="25"/>
                    </a:cubicBezTo>
                    <a:cubicBezTo>
                      <a:pt x="121" y="25"/>
                      <a:pt x="121" y="25"/>
                      <a:pt x="121" y="25"/>
                    </a:cubicBezTo>
                    <a:cubicBezTo>
                      <a:pt x="123" y="27"/>
                      <a:pt x="128" y="29"/>
                      <a:pt x="130" y="29"/>
                    </a:cubicBezTo>
                    <a:cubicBezTo>
                      <a:pt x="130" y="30"/>
                      <a:pt x="130" y="30"/>
                      <a:pt x="130" y="30"/>
                    </a:cubicBezTo>
                    <a:lnTo>
                      <a:pt x="128" y="28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grpSp>
            <p:nvGrpSpPr>
              <p:cNvPr id="182" name="Group 361">
                <a:extLst>
                  <a:ext uri="{FF2B5EF4-FFF2-40B4-BE49-F238E27FC236}">
                    <a16:creationId xmlns:a16="http://schemas.microsoft.com/office/drawing/2014/main" id="{721BF1C2-46B4-853B-587C-108B04B0D3EA}"/>
                  </a:ext>
                </a:extLst>
              </p:cNvPr>
              <p:cNvGrpSpPr/>
              <p:nvPr/>
            </p:nvGrpSpPr>
            <p:grpSpPr>
              <a:xfrm>
                <a:off x="6275388" y="2917825"/>
                <a:ext cx="966788" cy="806451"/>
                <a:chOff x="6275388" y="2917825"/>
                <a:chExt cx="966788" cy="806451"/>
              </a:xfrm>
              <a:grpFill/>
            </p:grpSpPr>
            <p:sp>
              <p:nvSpPr>
                <p:cNvPr id="183" name="Freeform 7">
                  <a:extLst>
                    <a:ext uri="{FF2B5EF4-FFF2-40B4-BE49-F238E27FC236}">
                      <a16:creationId xmlns:a16="http://schemas.microsoft.com/office/drawing/2014/main" id="{2C9C1822-511A-6803-CECE-E9B3B5E480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23050" y="2968625"/>
                  <a:ext cx="11113" cy="25400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8" y="5"/>
                    </a:cxn>
                    <a:cxn ang="0">
                      <a:pos x="5" y="9"/>
                    </a:cxn>
                    <a:cxn ang="0">
                      <a:pos x="2" y="19"/>
                    </a:cxn>
                    <a:cxn ang="0">
                      <a:pos x="0" y="15"/>
                    </a:cxn>
                    <a:cxn ang="0">
                      <a:pos x="4" y="8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8" h="19">
                      <a:moveTo>
                        <a:pt x="7" y="0"/>
                      </a:moveTo>
                      <a:cubicBezTo>
                        <a:pt x="7" y="4"/>
                        <a:pt x="8" y="2"/>
                        <a:pt x="8" y="5"/>
                      </a:cubicBezTo>
                      <a:cubicBezTo>
                        <a:pt x="8" y="8"/>
                        <a:pt x="7" y="9"/>
                        <a:pt x="5" y="9"/>
                      </a:cubicBezTo>
                      <a:cubicBezTo>
                        <a:pt x="5" y="14"/>
                        <a:pt x="6" y="19"/>
                        <a:pt x="2" y="19"/>
                      </a:cubicBezTo>
                      <a:cubicBezTo>
                        <a:pt x="1" y="19"/>
                        <a:pt x="0" y="16"/>
                        <a:pt x="0" y="15"/>
                      </a:cubicBezTo>
                      <a:cubicBezTo>
                        <a:pt x="0" y="11"/>
                        <a:pt x="4" y="10"/>
                        <a:pt x="4" y="8"/>
                      </a:cubicBezTo>
                      <a:cubicBezTo>
                        <a:pt x="4" y="4"/>
                        <a:pt x="3" y="0"/>
                        <a:pt x="7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lIns="148590" tIns="74296" rIns="148590" bIns="74296"/>
                <a:lstStyle/>
                <a:p>
                  <a:pPr marL="0" marR="0" lvl="0" indent="0" algn="l" defTabSz="1828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4" name="Freeform 8">
                  <a:extLst>
                    <a:ext uri="{FF2B5EF4-FFF2-40B4-BE49-F238E27FC236}">
                      <a16:creationId xmlns:a16="http://schemas.microsoft.com/office/drawing/2014/main" id="{D1026577-14F4-5FA1-55FE-548F92DFF6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67525" y="2944813"/>
                  <a:ext cx="65088" cy="38100"/>
                </a:xfrm>
                <a:custGeom>
                  <a:avLst/>
                  <a:gdLst/>
                  <a:ahLst/>
                  <a:cxnLst>
                    <a:cxn ang="0">
                      <a:pos x="13" y="27"/>
                    </a:cxn>
                    <a:cxn ang="0">
                      <a:pos x="0" y="18"/>
                    </a:cxn>
                    <a:cxn ang="0">
                      <a:pos x="13" y="18"/>
                    </a:cxn>
                    <a:cxn ang="0">
                      <a:pos x="18" y="17"/>
                    </a:cxn>
                    <a:cxn ang="0">
                      <a:pos x="35" y="13"/>
                    </a:cxn>
                    <a:cxn ang="0">
                      <a:pos x="45" y="0"/>
                    </a:cxn>
                    <a:cxn ang="0">
                      <a:pos x="49" y="7"/>
                    </a:cxn>
                    <a:cxn ang="0">
                      <a:pos x="40" y="22"/>
                    </a:cxn>
                    <a:cxn ang="0">
                      <a:pos x="19" y="29"/>
                    </a:cxn>
                    <a:cxn ang="0">
                      <a:pos x="11" y="25"/>
                    </a:cxn>
                    <a:cxn ang="0">
                      <a:pos x="13" y="27"/>
                    </a:cxn>
                  </a:cxnLst>
                  <a:rect l="0" t="0" r="r" b="b"/>
                  <a:pathLst>
                    <a:path w="49" h="29">
                      <a:moveTo>
                        <a:pt x="13" y="27"/>
                      </a:moveTo>
                      <a:cubicBezTo>
                        <a:pt x="9" y="22"/>
                        <a:pt x="1" y="24"/>
                        <a:pt x="0" y="18"/>
                      </a:cubicBezTo>
                      <a:cubicBezTo>
                        <a:pt x="13" y="18"/>
                        <a:pt x="13" y="18"/>
                        <a:pt x="13" y="18"/>
                      </a:cubicBezTo>
                      <a:cubicBezTo>
                        <a:pt x="14" y="18"/>
                        <a:pt x="18" y="17"/>
                        <a:pt x="18" y="17"/>
                      </a:cubicBezTo>
                      <a:cubicBezTo>
                        <a:pt x="25" y="14"/>
                        <a:pt x="31" y="15"/>
                        <a:pt x="35" y="13"/>
                      </a:cubicBezTo>
                      <a:cubicBezTo>
                        <a:pt x="41" y="10"/>
                        <a:pt x="39" y="0"/>
                        <a:pt x="45" y="0"/>
                      </a:cubicBezTo>
                      <a:cubicBezTo>
                        <a:pt x="48" y="0"/>
                        <a:pt x="49" y="4"/>
                        <a:pt x="49" y="7"/>
                      </a:cubicBezTo>
                      <a:cubicBezTo>
                        <a:pt x="49" y="16"/>
                        <a:pt x="40" y="14"/>
                        <a:pt x="40" y="22"/>
                      </a:cubicBezTo>
                      <a:cubicBezTo>
                        <a:pt x="32" y="24"/>
                        <a:pt x="28" y="29"/>
                        <a:pt x="19" y="29"/>
                      </a:cubicBezTo>
                      <a:cubicBezTo>
                        <a:pt x="17" y="29"/>
                        <a:pt x="11" y="26"/>
                        <a:pt x="11" y="25"/>
                      </a:cubicBezTo>
                      <a:lnTo>
                        <a:pt x="13" y="27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lIns="148590" tIns="74296" rIns="148590" bIns="74296"/>
                <a:lstStyle/>
                <a:p>
                  <a:pPr marL="0" marR="0" lvl="0" indent="0" algn="l" defTabSz="1828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5" name="Freeform 10">
                  <a:extLst>
                    <a:ext uri="{FF2B5EF4-FFF2-40B4-BE49-F238E27FC236}">
                      <a16:creationId xmlns:a16="http://schemas.microsoft.com/office/drawing/2014/main" id="{59EE8F7C-CA87-3019-52C7-80693735C1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11975" y="2917825"/>
                  <a:ext cx="34925" cy="34925"/>
                </a:xfrm>
                <a:custGeom>
                  <a:avLst/>
                  <a:gdLst/>
                  <a:ahLst/>
                  <a:cxnLst>
                    <a:cxn ang="0">
                      <a:pos x="23" y="25"/>
                    </a:cxn>
                    <a:cxn ang="0">
                      <a:pos x="19" y="17"/>
                    </a:cxn>
                    <a:cxn ang="0">
                      <a:pos x="8" y="6"/>
                    </a:cxn>
                    <a:cxn ang="0">
                      <a:pos x="0" y="0"/>
                    </a:cxn>
                    <a:cxn ang="0">
                      <a:pos x="18" y="13"/>
                    </a:cxn>
                    <a:cxn ang="0">
                      <a:pos x="26" y="22"/>
                    </a:cxn>
                    <a:cxn ang="0">
                      <a:pos x="26" y="25"/>
                    </a:cxn>
                    <a:cxn ang="0">
                      <a:pos x="23" y="25"/>
                    </a:cxn>
                  </a:cxnLst>
                  <a:rect l="0" t="0" r="r" b="b"/>
                  <a:pathLst>
                    <a:path w="26" h="26">
                      <a:moveTo>
                        <a:pt x="23" y="25"/>
                      </a:moveTo>
                      <a:cubicBezTo>
                        <a:pt x="18" y="24"/>
                        <a:pt x="18" y="21"/>
                        <a:pt x="19" y="17"/>
                      </a:cubicBezTo>
                      <a:cubicBezTo>
                        <a:pt x="13" y="14"/>
                        <a:pt x="14" y="9"/>
                        <a:pt x="8" y="6"/>
                      </a:cubicBezTo>
                      <a:cubicBezTo>
                        <a:pt x="5" y="4"/>
                        <a:pt x="2" y="4"/>
                        <a:pt x="0" y="0"/>
                      </a:cubicBezTo>
                      <a:cubicBezTo>
                        <a:pt x="9" y="3"/>
                        <a:pt x="13" y="8"/>
                        <a:pt x="18" y="13"/>
                      </a:cubicBezTo>
                      <a:cubicBezTo>
                        <a:pt x="21" y="17"/>
                        <a:pt x="26" y="16"/>
                        <a:pt x="26" y="22"/>
                      </a:cubicBezTo>
                      <a:cubicBezTo>
                        <a:pt x="26" y="23"/>
                        <a:pt x="26" y="24"/>
                        <a:pt x="26" y="25"/>
                      </a:cubicBezTo>
                      <a:cubicBezTo>
                        <a:pt x="25" y="25"/>
                        <a:pt x="24" y="26"/>
                        <a:pt x="23" y="2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lIns="148590" tIns="74296" rIns="148590" bIns="74296"/>
                <a:lstStyle/>
                <a:p>
                  <a:pPr marL="0" marR="0" lvl="0" indent="0" algn="l" defTabSz="1828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6" name="Freeform 11">
                  <a:extLst>
                    <a:ext uri="{FF2B5EF4-FFF2-40B4-BE49-F238E27FC236}">
                      <a16:creationId xmlns:a16="http://schemas.microsoft.com/office/drawing/2014/main" id="{5C257CC4-812D-8928-A1E3-918BFB81EA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72300" y="2967038"/>
                  <a:ext cx="17463" cy="20638"/>
                </a:xfrm>
                <a:custGeom>
                  <a:avLst/>
                  <a:gdLst/>
                  <a:ahLst/>
                  <a:cxnLst>
                    <a:cxn ang="0">
                      <a:pos x="7" y="9"/>
                    </a:cxn>
                    <a:cxn ang="0">
                      <a:pos x="1" y="0"/>
                    </a:cxn>
                    <a:cxn ang="0">
                      <a:pos x="13" y="12"/>
                    </a:cxn>
                    <a:cxn ang="0">
                      <a:pos x="10" y="16"/>
                    </a:cxn>
                    <a:cxn ang="0">
                      <a:pos x="7" y="13"/>
                    </a:cxn>
                    <a:cxn ang="0">
                      <a:pos x="7" y="9"/>
                    </a:cxn>
                  </a:cxnLst>
                  <a:rect l="0" t="0" r="r" b="b"/>
                  <a:pathLst>
                    <a:path w="13" h="16">
                      <a:moveTo>
                        <a:pt x="7" y="9"/>
                      </a:moveTo>
                      <a:cubicBezTo>
                        <a:pt x="2" y="9"/>
                        <a:pt x="0" y="4"/>
                        <a:pt x="1" y="0"/>
                      </a:cubicBezTo>
                      <a:cubicBezTo>
                        <a:pt x="4" y="1"/>
                        <a:pt x="13" y="11"/>
                        <a:pt x="13" y="12"/>
                      </a:cubicBezTo>
                      <a:cubicBezTo>
                        <a:pt x="13" y="14"/>
                        <a:pt x="11" y="16"/>
                        <a:pt x="10" y="16"/>
                      </a:cubicBezTo>
                      <a:cubicBezTo>
                        <a:pt x="9" y="16"/>
                        <a:pt x="7" y="14"/>
                        <a:pt x="7" y="13"/>
                      </a:cubicBezTo>
                      <a:cubicBezTo>
                        <a:pt x="7" y="12"/>
                        <a:pt x="7" y="11"/>
                        <a:pt x="7" y="9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lIns="148590" tIns="74296" rIns="148590" bIns="74296"/>
                <a:lstStyle/>
                <a:p>
                  <a:pPr marL="0" marR="0" lvl="0" indent="0" algn="l" defTabSz="1828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7" name="Freeform 12">
                  <a:extLst>
                    <a:ext uri="{FF2B5EF4-FFF2-40B4-BE49-F238E27FC236}">
                      <a16:creationId xmlns:a16="http://schemas.microsoft.com/office/drawing/2014/main" id="{41624C54-3128-1109-15DD-A4EED41D99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86600" y="3046413"/>
                  <a:ext cx="9525" cy="11113"/>
                </a:xfrm>
                <a:custGeom>
                  <a:avLst/>
                  <a:gdLst/>
                  <a:ahLst/>
                  <a:cxnLst>
                    <a:cxn ang="0">
                      <a:pos x="7" y="6"/>
                    </a:cxn>
                    <a:cxn ang="0">
                      <a:pos x="7" y="9"/>
                    </a:cxn>
                    <a:cxn ang="0">
                      <a:pos x="0" y="0"/>
                    </a:cxn>
                    <a:cxn ang="0">
                      <a:pos x="7" y="6"/>
                    </a:cxn>
                  </a:cxnLst>
                  <a:rect l="0" t="0" r="r" b="b"/>
                  <a:pathLst>
                    <a:path w="7" h="9">
                      <a:moveTo>
                        <a:pt x="7" y="6"/>
                      </a:moveTo>
                      <a:cubicBezTo>
                        <a:pt x="7" y="7"/>
                        <a:pt x="7" y="8"/>
                        <a:pt x="7" y="9"/>
                      </a:cubicBezTo>
                      <a:cubicBezTo>
                        <a:pt x="3" y="9"/>
                        <a:pt x="0" y="2"/>
                        <a:pt x="0" y="0"/>
                      </a:cubicBezTo>
                      <a:cubicBezTo>
                        <a:pt x="4" y="2"/>
                        <a:pt x="7" y="3"/>
                        <a:pt x="7" y="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lIns="148590" tIns="74296" rIns="148590" bIns="74296"/>
                <a:lstStyle/>
                <a:p>
                  <a:pPr marL="0" marR="0" lvl="0" indent="0" algn="l" defTabSz="1828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8" name="Freeform 13">
                  <a:extLst>
                    <a:ext uri="{FF2B5EF4-FFF2-40B4-BE49-F238E27FC236}">
                      <a16:creationId xmlns:a16="http://schemas.microsoft.com/office/drawing/2014/main" id="{A0BC660B-29AE-2426-B5C9-8F22539BB2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61200" y="3036888"/>
                  <a:ext cx="20638" cy="9525"/>
                </a:xfrm>
                <a:custGeom>
                  <a:avLst/>
                  <a:gdLst/>
                  <a:ahLst/>
                  <a:cxnLst>
                    <a:cxn ang="0">
                      <a:pos x="15" y="6"/>
                    </a:cxn>
                    <a:cxn ang="0">
                      <a:pos x="12" y="7"/>
                    </a:cxn>
                    <a:cxn ang="0">
                      <a:pos x="0" y="0"/>
                    </a:cxn>
                    <a:cxn ang="0">
                      <a:pos x="15" y="6"/>
                    </a:cxn>
                  </a:cxnLst>
                  <a:rect l="0" t="0" r="r" b="b"/>
                  <a:pathLst>
                    <a:path w="15" h="7">
                      <a:moveTo>
                        <a:pt x="15" y="6"/>
                      </a:moveTo>
                      <a:cubicBezTo>
                        <a:pt x="14" y="6"/>
                        <a:pt x="13" y="7"/>
                        <a:pt x="12" y="7"/>
                      </a:cubicBezTo>
                      <a:cubicBezTo>
                        <a:pt x="7" y="7"/>
                        <a:pt x="0" y="5"/>
                        <a:pt x="0" y="0"/>
                      </a:cubicBezTo>
                      <a:cubicBezTo>
                        <a:pt x="7" y="0"/>
                        <a:pt x="11" y="1"/>
                        <a:pt x="15" y="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lIns="148590" tIns="74296" rIns="148590" bIns="74296"/>
                <a:lstStyle/>
                <a:p>
                  <a:pPr marL="0" marR="0" lvl="0" indent="0" algn="l" defTabSz="1828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9" name="Freeform 14">
                  <a:extLst>
                    <a:ext uri="{FF2B5EF4-FFF2-40B4-BE49-F238E27FC236}">
                      <a16:creationId xmlns:a16="http://schemas.microsoft.com/office/drawing/2014/main" id="{75CCE1B5-FC88-1D12-F0EE-454EFE2DA7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64375" y="3013075"/>
                  <a:ext cx="17463" cy="19050"/>
                </a:xfrm>
                <a:custGeom>
                  <a:avLst/>
                  <a:gdLst/>
                  <a:ahLst/>
                  <a:cxnLst>
                    <a:cxn ang="0">
                      <a:pos x="13" y="14"/>
                    </a:cxn>
                    <a:cxn ang="0">
                      <a:pos x="0" y="0"/>
                    </a:cxn>
                    <a:cxn ang="0">
                      <a:pos x="13" y="14"/>
                    </a:cxn>
                  </a:cxnLst>
                  <a:rect l="0" t="0" r="r" b="b"/>
                  <a:pathLst>
                    <a:path w="13" h="14">
                      <a:moveTo>
                        <a:pt x="13" y="14"/>
                      </a:moveTo>
                      <a:cubicBezTo>
                        <a:pt x="9" y="14"/>
                        <a:pt x="1" y="3"/>
                        <a:pt x="0" y="0"/>
                      </a:cubicBezTo>
                      <a:cubicBezTo>
                        <a:pt x="6" y="3"/>
                        <a:pt x="11" y="7"/>
                        <a:pt x="13" y="14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lIns="148590" tIns="74296" rIns="148590" bIns="74296"/>
                <a:lstStyle/>
                <a:p>
                  <a:pPr marL="0" marR="0" lvl="0" indent="0" algn="l" defTabSz="1828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0" name="Freeform 15">
                  <a:extLst>
                    <a:ext uri="{FF2B5EF4-FFF2-40B4-BE49-F238E27FC236}">
                      <a16:creationId xmlns:a16="http://schemas.microsoft.com/office/drawing/2014/main" id="{6A98C4D1-0778-C6B1-D930-3FC5AEF66E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27863" y="2998788"/>
                  <a:ext cx="23813" cy="14288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17" y="9"/>
                    </a:cxn>
                    <a:cxn ang="0">
                      <a:pos x="14" y="10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17" h="10">
                      <a:moveTo>
                        <a:pt x="2" y="0"/>
                      </a:moveTo>
                      <a:cubicBezTo>
                        <a:pt x="6" y="2"/>
                        <a:pt x="15" y="5"/>
                        <a:pt x="17" y="9"/>
                      </a:cubicBezTo>
                      <a:cubicBezTo>
                        <a:pt x="17" y="9"/>
                        <a:pt x="15" y="10"/>
                        <a:pt x="14" y="10"/>
                      </a:cubicBezTo>
                      <a:cubicBezTo>
                        <a:pt x="10" y="10"/>
                        <a:pt x="0" y="6"/>
                        <a:pt x="0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lIns="148590" tIns="74296" rIns="148590" bIns="74296"/>
                <a:lstStyle/>
                <a:p>
                  <a:pPr marL="0" marR="0" lvl="0" indent="0" algn="l" defTabSz="1828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1" name="Freeform 16">
                  <a:extLst>
                    <a:ext uri="{FF2B5EF4-FFF2-40B4-BE49-F238E27FC236}">
                      <a16:creationId xmlns:a16="http://schemas.microsoft.com/office/drawing/2014/main" id="{E269116E-2260-671B-D3A9-960EBF2A9F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02463" y="2984500"/>
                  <a:ext cx="14288" cy="793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1" y="6"/>
                    </a:cxn>
                    <a:cxn ang="0">
                      <a:pos x="7" y="6"/>
                    </a:cxn>
                    <a:cxn ang="0">
                      <a:pos x="0" y="2"/>
                    </a:cxn>
                    <a:cxn ang="0">
                      <a:pos x="3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1" h="6">
                      <a:moveTo>
                        <a:pt x="0" y="0"/>
                      </a:moveTo>
                      <a:cubicBezTo>
                        <a:pt x="5" y="3"/>
                        <a:pt x="8" y="2"/>
                        <a:pt x="11" y="6"/>
                      </a:cubicBezTo>
                      <a:cubicBezTo>
                        <a:pt x="7" y="6"/>
                        <a:pt x="7" y="6"/>
                        <a:pt x="7" y="6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2"/>
                        <a:pt x="3" y="2"/>
                        <a:pt x="3" y="1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lIns="148590" tIns="74296" rIns="148590" bIns="74296"/>
                <a:lstStyle/>
                <a:p>
                  <a:pPr marL="0" marR="0" lvl="0" indent="0" algn="l" defTabSz="1828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2" name="Freeform 17">
                  <a:extLst>
                    <a:ext uri="{FF2B5EF4-FFF2-40B4-BE49-F238E27FC236}">
                      <a16:creationId xmlns:a16="http://schemas.microsoft.com/office/drawing/2014/main" id="{0E8B2452-557B-06D3-1A3B-8D69B847A4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00850" y="3594100"/>
                  <a:ext cx="63500" cy="65088"/>
                </a:xfrm>
                <a:custGeom>
                  <a:avLst/>
                  <a:gdLst/>
                  <a:ahLst/>
                  <a:cxnLst>
                    <a:cxn ang="0">
                      <a:pos x="24" y="7"/>
                    </a:cxn>
                    <a:cxn ang="0">
                      <a:pos x="43" y="3"/>
                    </a:cxn>
                    <a:cxn ang="0">
                      <a:pos x="48" y="16"/>
                    </a:cxn>
                    <a:cxn ang="0">
                      <a:pos x="27" y="49"/>
                    </a:cxn>
                    <a:cxn ang="0">
                      <a:pos x="0" y="7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48" h="49">
                      <a:moveTo>
                        <a:pt x="24" y="7"/>
                      </a:moveTo>
                      <a:cubicBezTo>
                        <a:pt x="30" y="7"/>
                        <a:pt x="37" y="5"/>
                        <a:pt x="43" y="3"/>
                      </a:cubicBezTo>
                      <a:cubicBezTo>
                        <a:pt x="45" y="8"/>
                        <a:pt x="48" y="11"/>
                        <a:pt x="48" y="16"/>
                      </a:cubicBezTo>
                      <a:cubicBezTo>
                        <a:pt x="48" y="26"/>
                        <a:pt x="36" y="49"/>
                        <a:pt x="27" y="49"/>
                      </a:cubicBezTo>
                      <a:cubicBezTo>
                        <a:pt x="14" y="49"/>
                        <a:pt x="0" y="16"/>
                        <a:pt x="0" y="7"/>
                      </a:cubicBezTo>
                      <a:cubicBezTo>
                        <a:pt x="0" y="0"/>
                        <a:pt x="24" y="7"/>
                        <a:pt x="24" y="7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lIns="148590" tIns="74296" rIns="148590" bIns="74296"/>
                <a:lstStyle/>
                <a:p>
                  <a:pPr marL="0" marR="0" lvl="0" indent="0" algn="l" defTabSz="1828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3" name="Freeform 18">
                  <a:extLst>
                    <a:ext uri="{FF2B5EF4-FFF2-40B4-BE49-F238E27FC236}">
                      <a16:creationId xmlns:a16="http://schemas.microsoft.com/office/drawing/2014/main" id="{17B36D41-65DA-D4DB-F7E4-662BA73F0A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75388" y="3057525"/>
                  <a:ext cx="676275" cy="509588"/>
                </a:xfrm>
                <a:custGeom>
                  <a:avLst/>
                  <a:gdLst/>
                  <a:ahLst/>
                  <a:cxnLst>
                    <a:cxn ang="0">
                      <a:pos x="508" y="232"/>
                    </a:cxn>
                    <a:cxn ang="0">
                      <a:pos x="501" y="272"/>
                    </a:cxn>
                    <a:cxn ang="0">
                      <a:pos x="478" y="312"/>
                    </a:cxn>
                    <a:cxn ang="0">
                      <a:pos x="465" y="351"/>
                    </a:cxn>
                    <a:cxn ang="0">
                      <a:pos x="398" y="370"/>
                    </a:cxn>
                    <a:cxn ang="0">
                      <a:pos x="335" y="350"/>
                    </a:cxn>
                    <a:cxn ang="0">
                      <a:pos x="329" y="330"/>
                    </a:cxn>
                    <a:cxn ang="0">
                      <a:pos x="314" y="333"/>
                    </a:cxn>
                    <a:cxn ang="0">
                      <a:pos x="313" y="315"/>
                    </a:cxn>
                    <a:cxn ang="0">
                      <a:pos x="301" y="329"/>
                    </a:cxn>
                    <a:cxn ang="0">
                      <a:pos x="310" y="292"/>
                    </a:cxn>
                    <a:cxn ang="0">
                      <a:pos x="278" y="315"/>
                    </a:cxn>
                    <a:cxn ang="0">
                      <a:pos x="214" y="276"/>
                    </a:cxn>
                    <a:cxn ang="0">
                      <a:pos x="131" y="308"/>
                    </a:cxn>
                    <a:cxn ang="0">
                      <a:pos x="93" y="311"/>
                    </a:cxn>
                    <a:cxn ang="0">
                      <a:pos x="22" y="310"/>
                    </a:cxn>
                    <a:cxn ang="0">
                      <a:pos x="23" y="262"/>
                    </a:cxn>
                    <a:cxn ang="0">
                      <a:pos x="2" y="204"/>
                    </a:cxn>
                    <a:cxn ang="0">
                      <a:pos x="9" y="204"/>
                    </a:cxn>
                    <a:cxn ang="0">
                      <a:pos x="3" y="176"/>
                    </a:cxn>
                    <a:cxn ang="0">
                      <a:pos x="8" y="145"/>
                    </a:cxn>
                    <a:cxn ang="0">
                      <a:pos x="32" y="132"/>
                    </a:cxn>
                    <a:cxn ang="0">
                      <a:pos x="114" y="95"/>
                    </a:cxn>
                    <a:cxn ang="0">
                      <a:pos x="119" y="76"/>
                    </a:cxn>
                    <a:cxn ang="0">
                      <a:pos x="131" y="71"/>
                    </a:cxn>
                    <a:cxn ang="0">
                      <a:pos x="150" y="50"/>
                    </a:cxn>
                    <a:cxn ang="0">
                      <a:pos x="187" y="58"/>
                    </a:cxn>
                    <a:cxn ang="0">
                      <a:pos x="203" y="56"/>
                    </a:cxn>
                    <a:cxn ang="0">
                      <a:pos x="211" y="30"/>
                    </a:cxn>
                    <a:cxn ang="0">
                      <a:pos x="244" y="17"/>
                    </a:cxn>
                    <a:cxn ang="0">
                      <a:pos x="276" y="19"/>
                    </a:cxn>
                    <a:cxn ang="0">
                      <a:pos x="297" y="23"/>
                    </a:cxn>
                    <a:cxn ang="0">
                      <a:pos x="281" y="54"/>
                    </a:cxn>
                    <a:cxn ang="0">
                      <a:pos x="295" y="68"/>
                    </a:cxn>
                    <a:cxn ang="0">
                      <a:pos x="341" y="90"/>
                    </a:cxn>
                    <a:cxn ang="0">
                      <a:pos x="359" y="15"/>
                    </a:cxn>
                    <a:cxn ang="0">
                      <a:pos x="381" y="28"/>
                    </a:cxn>
                    <a:cxn ang="0">
                      <a:pos x="400" y="50"/>
                    </a:cxn>
                    <a:cxn ang="0">
                      <a:pos x="419" y="104"/>
                    </a:cxn>
                    <a:cxn ang="0">
                      <a:pos x="457" y="146"/>
                    </a:cxn>
                    <a:cxn ang="0">
                      <a:pos x="497" y="185"/>
                    </a:cxn>
                  </a:cxnLst>
                  <a:rect l="0" t="0" r="r" b="b"/>
                  <a:pathLst>
                    <a:path w="508" h="383">
                      <a:moveTo>
                        <a:pt x="496" y="186"/>
                      </a:moveTo>
                      <a:cubicBezTo>
                        <a:pt x="503" y="195"/>
                        <a:pt x="508" y="219"/>
                        <a:pt x="508" y="232"/>
                      </a:cubicBezTo>
                      <a:cubicBezTo>
                        <a:pt x="508" y="242"/>
                        <a:pt x="505" y="256"/>
                        <a:pt x="501" y="260"/>
                      </a:cubicBezTo>
                      <a:cubicBezTo>
                        <a:pt x="501" y="272"/>
                        <a:pt x="501" y="272"/>
                        <a:pt x="501" y="272"/>
                      </a:cubicBezTo>
                      <a:cubicBezTo>
                        <a:pt x="499" y="276"/>
                        <a:pt x="500" y="277"/>
                        <a:pt x="498" y="281"/>
                      </a:cubicBezTo>
                      <a:cubicBezTo>
                        <a:pt x="490" y="293"/>
                        <a:pt x="482" y="298"/>
                        <a:pt x="478" y="312"/>
                      </a:cubicBezTo>
                      <a:cubicBezTo>
                        <a:pt x="474" y="322"/>
                        <a:pt x="465" y="336"/>
                        <a:pt x="465" y="352"/>
                      </a:cubicBezTo>
                      <a:cubicBezTo>
                        <a:pt x="465" y="351"/>
                        <a:pt x="465" y="351"/>
                        <a:pt x="465" y="351"/>
                      </a:cubicBezTo>
                      <a:cubicBezTo>
                        <a:pt x="460" y="371"/>
                        <a:pt x="424" y="362"/>
                        <a:pt x="420" y="383"/>
                      </a:cubicBezTo>
                      <a:cubicBezTo>
                        <a:pt x="417" y="382"/>
                        <a:pt x="399" y="372"/>
                        <a:pt x="398" y="370"/>
                      </a:cubicBezTo>
                      <a:cubicBezTo>
                        <a:pt x="388" y="371"/>
                        <a:pt x="392" y="379"/>
                        <a:pt x="381" y="379"/>
                      </a:cubicBezTo>
                      <a:cubicBezTo>
                        <a:pt x="363" y="379"/>
                        <a:pt x="335" y="368"/>
                        <a:pt x="335" y="350"/>
                      </a:cubicBezTo>
                      <a:cubicBezTo>
                        <a:pt x="335" y="343"/>
                        <a:pt x="329" y="338"/>
                        <a:pt x="329" y="332"/>
                      </a:cubicBezTo>
                      <a:cubicBezTo>
                        <a:pt x="329" y="332"/>
                        <a:pt x="329" y="330"/>
                        <a:pt x="329" y="330"/>
                      </a:cubicBezTo>
                      <a:cubicBezTo>
                        <a:pt x="325" y="332"/>
                        <a:pt x="323" y="332"/>
                        <a:pt x="320" y="333"/>
                      </a:cubicBezTo>
                      <a:cubicBezTo>
                        <a:pt x="314" y="333"/>
                        <a:pt x="314" y="333"/>
                        <a:pt x="314" y="333"/>
                      </a:cubicBezTo>
                      <a:cubicBezTo>
                        <a:pt x="316" y="330"/>
                        <a:pt x="318" y="328"/>
                        <a:pt x="318" y="323"/>
                      </a:cubicBezTo>
                      <a:cubicBezTo>
                        <a:pt x="318" y="318"/>
                        <a:pt x="315" y="316"/>
                        <a:pt x="313" y="315"/>
                      </a:cubicBezTo>
                      <a:cubicBezTo>
                        <a:pt x="313" y="316"/>
                        <a:pt x="312" y="318"/>
                        <a:pt x="312" y="319"/>
                      </a:cubicBezTo>
                      <a:cubicBezTo>
                        <a:pt x="308" y="321"/>
                        <a:pt x="308" y="329"/>
                        <a:pt x="301" y="329"/>
                      </a:cubicBezTo>
                      <a:cubicBezTo>
                        <a:pt x="299" y="329"/>
                        <a:pt x="297" y="326"/>
                        <a:pt x="297" y="324"/>
                      </a:cubicBezTo>
                      <a:cubicBezTo>
                        <a:pt x="308" y="322"/>
                        <a:pt x="310" y="299"/>
                        <a:pt x="310" y="292"/>
                      </a:cubicBezTo>
                      <a:cubicBezTo>
                        <a:pt x="302" y="300"/>
                        <a:pt x="291" y="323"/>
                        <a:pt x="281" y="323"/>
                      </a:cubicBezTo>
                      <a:cubicBezTo>
                        <a:pt x="276" y="323"/>
                        <a:pt x="278" y="315"/>
                        <a:pt x="278" y="315"/>
                      </a:cubicBezTo>
                      <a:cubicBezTo>
                        <a:pt x="275" y="315"/>
                        <a:pt x="265" y="294"/>
                        <a:pt x="262" y="289"/>
                      </a:cubicBezTo>
                      <a:cubicBezTo>
                        <a:pt x="254" y="280"/>
                        <a:pt x="228" y="276"/>
                        <a:pt x="214" y="276"/>
                      </a:cubicBezTo>
                      <a:cubicBezTo>
                        <a:pt x="198" y="276"/>
                        <a:pt x="195" y="283"/>
                        <a:pt x="185" y="286"/>
                      </a:cubicBezTo>
                      <a:cubicBezTo>
                        <a:pt x="163" y="293"/>
                        <a:pt x="135" y="285"/>
                        <a:pt x="131" y="308"/>
                      </a:cubicBezTo>
                      <a:cubicBezTo>
                        <a:pt x="122" y="309"/>
                        <a:pt x="115" y="311"/>
                        <a:pt x="105" y="311"/>
                      </a:cubicBezTo>
                      <a:cubicBezTo>
                        <a:pt x="98" y="307"/>
                        <a:pt x="98" y="311"/>
                        <a:pt x="93" y="311"/>
                      </a:cubicBezTo>
                      <a:cubicBezTo>
                        <a:pt x="77" y="311"/>
                        <a:pt x="71" y="326"/>
                        <a:pt x="51" y="326"/>
                      </a:cubicBezTo>
                      <a:cubicBezTo>
                        <a:pt x="43" y="326"/>
                        <a:pt x="22" y="316"/>
                        <a:pt x="22" y="310"/>
                      </a:cubicBezTo>
                      <a:cubicBezTo>
                        <a:pt x="22" y="303"/>
                        <a:pt x="32" y="300"/>
                        <a:pt x="32" y="290"/>
                      </a:cubicBezTo>
                      <a:cubicBezTo>
                        <a:pt x="32" y="277"/>
                        <a:pt x="26" y="270"/>
                        <a:pt x="23" y="262"/>
                      </a:cubicBezTo>
                      <a:cubicBezTo>
                        <a:pt x="18" y="243"/>
                        <a:pt x="17" y="237"/>
                        <a:pt x="11" y="220"/>
                      </a:cubicBezTo>
                      <a:cubicBezTo>
                        <a:pt x="9" y="213"/>
                        <a:pt x="0" y="211"/>
                        <a:pt x="2" y="204"/>
                      </a:cubicBezTo>
                      <a:cubicBezTo>
                        <a:pt x="3" y="202"/>
                        <a:pt x="3" y="201"/>
                        <a:pt x="5" y="198"/>
                      </a:cubicBezTo>
                      <a:cubicBezTo>
                        <a:pt x="6" y="201"/>
                        <a:pt x="7" y="203"/>
                        <a:pt x="9" y="204"/>
                      </a:cubicBezTo>
                      <a:cubicBezTo>
                        <a:pt x="10" y="202"/>
                        <a:pt x="9" y="201"/>
                        <a:pt x="9" y="198"/>
                      </a:cubicBezTo>
                      <a:cubicBezTo>
                        <a:pt x="9" y="192"/>
                        <a:pt x="3" y="187"/>
                        <a:pt x="3" y="176"/>
                      </a:cubicBezTo>
                      <a:cubicBezTo>
                        <a:pt x="3" y="162"/>
                        <a:pt x="3" y="161"/>
                        <a:pt x="3" y="150"/>
                      </a:cubicBezTo>
                      <a:cubicBezTo>
                        <a:pt x="3" y="146"/>
                        <a:pt x="7" y="146"/>
                        <a:pt x="8" y="145"/>
                      </a:cubicBezTo>
                      <a:cubicBezTo>
                        <a:pt x="9" y="146"/>
                        <a:pt x="9" y="148"/>
                        <a:pt x="9" y="149"/>
                      </a:cubicBezTo>
                      <a:cubicBezTo>
                        <a:pt x="17" y="148"/>
                        <a:pt x="27" y="137"/>
                        <a:pt x="32" y="132"/>
                      </a:cubicBezTo>
                      <a:cubicBezTo>
                        <a:pt x="37" y="127"/>
                        <a:pt x="53" y="126"/>
                        <a:pt x="62" y="125"/>
                      </a:cubicBezTo>
                      <a:cubicBezTo>
                        <a:pt x="78" y="122"/>
                        <a:pt x="114" y="110"/>
                        <a:pt x="114" y="95"/>
                      </a:cubicBezTo>
                      <a:cubicBezTo>
                        <a:pt x="114" y="92"/>
                        <a:pt x="114" y="90"/>
                        <a:pt x="114" y="87"/>
                      </a:cubicBezTo>
                      <a:cubicBezTo>
                        <a:pt x="114" y="83"/>
                        <a:pt x="115" y="79"/>
                        <a:pt x="119" y="76"/>
                      </a:cubicBezTo>
                      <a:cubicBezTo>
                        <a:pt x="122" y="80"/>
                        <a:pt x="124" y="82"/>
                        <a:pt x="126" y="85"/>
                      </a:cubicBezTo>
                      <a:cubicBezTo>
                        <a:pt x="131" y="82"/>
                        <a:pt x="129" y="75"/>
                        <a:pt x="131" y="71"/>
                      </a:cubicBezTo>
                      <a:cubicBezTo>
                        <a:pt x="134" y="72"/>
                        <a:pt x="137" y="74"/>
                        <a:pt x="140" y="74"/>
                      </a:cubicBezTo>
                      <a:cubicBezTo>
                        <a:pt x="140" y="62"/>
                        <a:pt x="149" y="60"/>
                        <a:pt x="150" y="50"/>
                      </a:cubicBezTo>
                      <a:cubicBezTo>
                        <a:pt x="162" y="50"/>
                        <a:pt x="164" y="41"/>
                        <a:pt x="173" y="41"/>
                      </a:cubicBezTo>
                      <a:cubicBezTo>
                        <a:pt x="181" y="41"/>
                        <a:pt x="186" y="50"/>
                        <a:pt x="187" y="58"/>
                      </a:cubicBezTo>
                      <a:cubicBezTo>
                        <a:pt x="189" y="55"/>
                        <a:pt x="192" y="53"/>
                        <a:pt x="196" y="53"/>
                      </a:cubicBezTo>
                      <a:cubicBezTo>
                        <a:pt x="198" y="53"/>
                        <a:pt x="202" y="56"/>
                        <a:pt x="203" y="56"/>
                      </a:cubicBezTo>
                      <a:cubicBezTo>
                        <a:pt x="205" y="52"/>
                        <a:pt x="204" y="49"/>
                        <a:pt x="204" y="45"/>
                      </a:cubicBezTo>
                      <a:cubicBezTo>
                        <a:pt x="204" y="39"/>
                        <a:pt x="211" y="36"/>
                        <a:pt x="211" y="30"/>
                      </a:cubicBezTo>
                      <a:cubicBezTo>
                        <a:pt x="211" y="24"/>
                        <a:pt x="228" y="20"/>
                        <a:pt x="236" y="20"/>
                      </a:cubicBezTo>
                      <a:cubicBezTo>
                        <a:pt x="239" y="20"/>
                        <a:pt x="243" y="17"/>
                        <a:pt x="244" y="17"/>
                      </a:cubicBezTo>
                      <a:cubicBezTo>
                        <a:pt x="241" y="13"/>
                        <a:pt x="237" y="11"/>
                        <a:pt x="236" y="7"/>
                      </a:cubicBezTo>
                      <a:cubicBezTo>
                        <a:pt x="251" y="13"/>
                        <a:pt x="260" y="19"/>
                        <a:pt x="276" y="19"/>
                      </a:cubicBezTo>
                      <a:cubicBezTo>
                        <a:pt x="281" y="19"/>
                        <a:pt x="283" y="15"/>
                        <a:pt x="288" y="15"/>
                      </a:cubicBezTo>
                      <a:cubicBezTo>
                        <a:pt x="291" y="15"/>
                        <a:pt x="297" y="20"/>
                        <a:pt x="297" y="23"/>
                      </a:cubicBezTo>
                      <a:cubicBezTo>
                        <a:pt x="297" y="29"/>
                        <a:pt x="290" y="30"/>
                        <a:pt x="287" y="32"/>
                      </a:cubicBezTo>
                      <a:cubicBezTo>
                        <a:pt x="281" y="54"/>
                        <a:pt x="281" y="54"/>
                        <a:pt x="281" y="54"/>
                      </a:cubicBezTo>
                      <a:cubicBezTo>
                        <a:pt x="281" y="58"/>
                        <a:pt x="288" y="57"/>
                        <a:pt x="290" y="59"/>
                      </a:cubicBezTo>
                      <a:cubicBezTo>
                        <a:pt x="293" y="60"/>
                        <a:pt x="293" y="67"/>
                        <a:pt x="295" y="68"/>
                      </a:cubicBezTo>
                      <a:cubicBezTo>
                        <a:pt x="306" y="72"/>
                        <a:pt x="313" y="74"/>
                        <a:pt x="324" y="79"/>
                      </a:cubicBezTo>
                      <a:cubicBezTo>
                        <a:pt x="330" y="81"/>
                        <a:pt x="333" y="90"/>
                        <a:pt x="341" y="90"/>
                      </a:cubicBezTo>
                      <a:cubicBezTo>
                        <a:pt x="355" y="90"/>
                        <a:pt x="357" y="64"/>
                        <a:pt x="359" y="54"/>
                      </a:cubicBezTo>
                      <a:cubicBezTo>
                        <a:pt x="359" y="15"/>
                        <a:pt x="359" y="15"/>
                        <a:pt x="359" y="15"/>
                      </a:cubicBezTo>
                      <a:cubicBezTo>
                        <a:pt x="366" y="9"/>
                        <a:pt x="364" y="4"/>
                        <a:pt x="372" y="0"/>
                      </a:cubicBezTo>
                      <a:cubicBezTo>
                        <a:pt x="373" y="11"/>
                        <a:pt x="379" y="19"/>
                        <a:pt x="381" y="28"/>
                      </a:cubicBezTo>
                      <a:cubicBezTo>
                        <a:pt x="383" y="34"/>
                        <a:pt x="381" y="42"/>
                        <a:pt x="386" y="45"/>
                      </a:cubicBezTo>
                      <a:cubicBezTo>
                        <a:pt x="390" y="47"/>
                        <a:pt x="399" y="49"/>
                        <a:pt x="400" y="50"/>
                      </a:cubicBezTo>
                      <a:cubicBezTo>
                        <a:pt x="406" y="54"/>
                        <a:pt x="406" y="68"/>
                        <a:pt x="408" y="75"/>
                      </a:cubicBezTo>
                      <a:cubicBezTo>
                        <a:pt x="412" y="87"/>
                        <a:pt x="415" y="93"/>
                        <a:pt x="419" y="104"/>
                      </a:cubicBezTo>
                      <a:cubicBezTo>
                        <a:pt x="422" y="114"/>
                        <a:pt x="441" y="118"/>
                        <a:pt x="449" y="126"/>
                      </a:cubicBezTo>
                      <a:cubicBezTo>
                        <a:pt x="454" y="131"/>
                        <a:pt x="455" y="139"/>
                        <a:pt x="457" y="146"/>
                      </a:cubicBezTo>
                      <a:cubicBezTo>
                        <a:pt x="459" y="151"/>
                        <a:pt x="466" y="151"/>
                        <a:pt x="471" y="151"/>
                      </a:cubicBezTo>
                      <a:cubicBezTo>
                        <a:pt x="471" y="169"/>
                        <a:pt x="488" y="176"/>
                        <a:pt x="497" y="185"/>
                      </a:cubicBezTo>
                      <a:lnTo>
                        <a:pt x="496" y="18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lIns="148590" tIns="74296" rIns="148590" bIns="74296"/>
                <a:lstStyle/>
                <a:p>
                  <a:pPr marL="0" marR="0" lvl="0" indent="0" algn="l" defTabSz="1828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4" name="Freeform 19">
                  <a:extLst>
                    <a:ext uri="{FF2B5EF4-FFF2-40B4-BE49-F238E27FC236}">
                      <a16:creationId xmlns:a16="http://schemas.microsoft.com/office/drawing/2014/main" id="{7DB91350-846F-58B9-84FD-EBE44BF98A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43738" y="3598863"/>
                  <a:ext cx="127000" cy="125413"/>
                </a:xfrm>
                <a:custGeom>
                  <a:avLst/>
                  <a:gdLst/>
                  <a:ahLst/>
                  <a:cxnLst>
                    <a:cxn ang="0">
                      <a:pos x="58" y="26"/>
                    </a:cxn>
                    <a:cxn ang="0">
                      <a:pos x="59" y="22"/>
                    </a:cxn>
                    <a:cxn ang="0">
                      <a:pos x="67" y="17"/>
                    </a:cxn>
                    <a:cxn ang="0">
                      <a:pos x="67" y="14"/>
                    </a:cxn>
                    <a:cxn ang="0">
                      <a:pos x="78" y="0"/>
                    </a:cxn>
                    <a:cxn ang="0">
                      <a:pos x="81" y="4"/>
                    </a:cxn>
                    <a:cxn ang="0">
                      <a:pos x="83" y="10"/>
                    </a:cxn>
                    <a:cxn ang="0">
                      <a:pos x="90" y="6"/>
                    </a:cxn>
                    <a:cxn ang="0">
                      <a:pos x="94" y="8"/>
                    </a:cxn>
                    <a:cxn ang="0">
                      <a:pos x="96" y="15"/>
                    </a:cxn>
                    <a:cxn ang="0">
                      <a:pos x="79" y="37"/>
                    </a:cxn>
                    <a:cxn ang="0">
                      <a:pos x="79" y="50"/>
                    </a:cxn>
                    <a:cxn ang="0">
                      <a:pos x="63" y="53"/>
                    </a:cxn>
                    <a:cxn ang="0">
                      <a:pos x="49" y="84"/>
                    </a:cxn>
                    <a:cxn ang="0">
                      <a:pos x="32" y="94"/>
                    </a:cxn>
                    <a:cxn ang="0">
                      <a:pos x="23" y="92"/>
                    </a:cxn>
                    <a:cxn ang="0">
                      <a:pos x="3" y="83"/>
                    </a:cxn>
                    <a:cxn ang="0">
                      <a:pos x="0" y="81"/>
                    </a:cxn>
                    <a:cxn ang="0">
                      <a:pos x="18" y="57"/>
                    </a:cxn>
                    <a:cxn ang="0">
                      <a:pos x="25" y="51"/>
                    </a:cxn>
                    <a:cxn ang="0">
                      <a:pos x="50" y="37"/>
                    </a:cxn>
                    <a:cxn ang="0">
                      <a:pos x="58" y="26"/>
                    </a:cxn>
                  </a:cxnLst>
                  <a:rect l="0" t="0" r="r" b="b"/>
                  <a:pathLst>
                    <a:path w="96" h="94">
                      <a:moveTo>
                        <a:pt x="58" y="26"/>
                      </a:moveTo>
                      <a:cubicBezTo>
                        <a:pt x="58" y="26"/>
                        <a:pt x="58" y="23"/>
                        <a:pt x="59" y="22"/>
                      </a:cubicBezTo>
                      <a:cubicBezTo>
                        <a:pt x="60" y="18"/>
                        <a:pt x="63" y="17"/>
                        <a:pt x="67" y="17"/>
                      </a:cubicBezTo>
                      <a:cubicBezTo>
                        <a:pt x="67" y="16"/>
                        <a:pt x="67" y="15"/>
                        <a:pt x="67" y="14"/>
                      </a:cubicBezTo>
                      <a:cubicBezTo>
                        <a:pt x="67" y="8"/>
                        <a:pt x="74" y="2"/>
                        <a:pt x="78" y="0"/>
                      </a:cubicBezTo>
                      <a:cubicBezTo>
                        <a:pt x="78" y="3"/>
                        <a:pt x="79" y="4"/>
                        <a:pt x="81" y="4"/>
                      </a:cubicBezTo>
                      <a:cubicBezTo>
                        <a:pt x="81" y="7"/>
                        <a:pt x="80" y="10"/>
                        <a:pt x="83" y="10"/>
                      </a:cubicBezTo>
                      <a:cubicBezTo>
                        <a:pt x="86" y="10"/>
                        <a:pt x="88" y="7"/>
                        <a:pt x="90" y="6"/>
                      </a:cubicBezTo>
                      <a:cubicBezTo>
                        <a:pt x="91" y="8"/>
                        <a:pt x="92" y="8"/>
                        <a:pt x="94" y="8"/>
                      </a:cubicBezTo>
                      <a:cubicBezTo>
                        <a:pt x="94" y="12"/>
                        <a:pt x="94" y="14"/>
                        <a:pt x="96" y="15"/>
                      </a:cubicBezTo>
                      <a:cubicBezTo>
                        <a:pt x="95" y="21"/>
                        <a:pt x="86" y="37"/>
                        <a:pt x="79" y="37"/>
                      </a:cubicBezTo>
                      <a:cubicBezTo>
                        <a:pt x="78" y="43"/>
                        <a:pt x="80" y="45"/>
                        <a:pt x="79" y="50"/>
                      </a:cubicBezTo>
                      <a:cubicBezTo>
                        <a:pt x="77" y="50"/>
                        <a:pt x="66" y="53"/>
                        <a:pt x="63" y="53"/>
                      </a:cubicBezTo>
                      <a:cubicBezTo>
                        <a:pt x="61" y="58"/>
                        <a:pt x="49" y="84"/>
                        <a:pt x="49" y="84"/>
                      </a:cubicBezTo>
                      <a:cubicBezTo>
                        <a:pt x="45" y="88"/>
                        <a:pt x="37" y="94"/>
                        <a:pt x="32" y="94"/>
                      </a:cubicBezTo>
                      <a:cubicBezTo>
                        <a:pt x="30" y="94"/>
                        <a:pt x="25" y="92"/>
                        <a:pt x="23" y="92"/>
                      </a:cubicBezTo>
                      <a:cubicBezTo>
                        <a:pt x="20" y="92"/>
                        <a:pt x="3" y="85"/>
                        <a:pt x="3" y="83"/>
                      </a:cubicBezTo>
                      <a:cubicBezTo>
                        <a:pt x="2" y="83"/>
                        <a:pt x="0" y="82"/>
                        <a:pt x="0" y="81"/>
                      </a:cubicBezTo>
                      <a:cubicBezTo>
                        <a:pt x="0" y="70"/>
                        <a:pt x="14" y="64"/>
                        <a:pt x="18" y="57"/>
                      </a:cubicBezTo>
                      <a:cubicBezTo>
                        <a:pt x="20" y="54"/>
                        <a:pt x="22" y="51"/>
                        <a:pt x="25" y="51"/>
                      </a:cubicBezTo>
                      <a:cubicBezTo>
                        <a:pt x="36" y="51"/>
                        <a:pt x="42" y="40"/>
                        <a:pt x="50" y="37"/>
                      </a:cubicBezTo>
                      <a:cubicBezTo>
                        <a:pt x="52" y="36"/>
                        <a:pt x="58" y="26"/>
                        <a:pt x="58" y="2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lIns="148590" tIns="74296" rIns="148590" bIns="74296"/>
                <a:lstStyle/>
                <a:p>
                  <a:pPr marL="0" marR="0" lvl="0" indent="0" algn="l" defTabSz="1828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5" name="Freeform 20">
                  <a:extLst>
                    <a:ext uri="{FF2B5EF4-FFF2-40B4-BE49-F238E27FC236}">
                      <a16:creationId xmlns:a16="http://schemas.microsoft.com/office/drawing/2014/main" id="{1B17F0EC-A3E8-3BDF-97D2-95C205C460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48513" y="3476625"/>
                  <a:ext cx="93663" cy="139700"/>
                </a:xfrm>
                <a:custGeom>
                  <a:avLst/>
                  <a:gdLst/>
                  <a:ahLst/>
                  <a:cxnLst>
                    <a:cxn ang="0">
                      <a:pos x="22" y="40"/>
                    </a:cxn>
                    <a:cxn ang="0">
                      <a:pos x="17" y="31"/>
                    </a:cxn>
                    <a:cxn ang="0">
                      <a:pos x="19" y="27"/>
                    </a:cxn>
                    <a:cxn ang="0">
                      <a:pos x="0" y="0"/>
                    </a:cxn>
                    <a:cxn ang="0">
                      <a:pos x="16" y="12"/>
                    </a:cxn>
                    <a:cxn ang="0">
                      <a:pos x="22" y="19"/>
                    </a:cxn>
                    <a:cxn ang="0">
                      <a:pos x="20" y="22"/>
                    </a:cxn>
                    <a:cxn ang="0">
                      <a:pos x="27" y="37"/>
                    </a:cxn>
                    <a:cxn ang="0">
                      <a:pos x="30" y="37"/>
                    </a:cxn>
                    <a:cxn ang="0">
                      <a:pos x="34" y="32"/>
                    </a:cxn>
                    <a:cxn ang="0">
                      <a:pos x="37" y="32"/>
                    </a:cxn>
                    <a:cxn ang="0">
                      <a:pos x="53" y="50"/>
                    </a:cxn>
                    <a:cxn ang="0">
                      <a:pos x="68" y="46"/>
                    </a:cxn>
                    <a:cxn ang="0">
                      <a:pos x="71" y="48"/>
                    </a:cxn>
                    <a:cxn ang="0">
                      <a:pos x="63" y="71"/>
                    </a:cxn>
                    <a:cxn ang="0">
                      <a:pos x="61" y="68"/>
                    </a:cxn>
                    <a:cxn ang="0">
                      <a:pos x="60" y="70"/>
                    </a:cxn>
                    <a:cxn ang="0">
                      <a:pos x="51" y="75"/>
                    </a:cxn>
                    <a:cxn ang="0">
                      <a:pos x="52" y="80"/>
                    </a:cxn>
                    <a:cxn ang="0">
                      <a:pos x="46" y="89"/>
                    </a:cxn>
                    <a:cxn ang="0">
                      <a:pos x="30" y="104"/>
                    </a:cxn>
                    <a:cxn ang="0">
                      <a:pos x="23" y="98"/>
                    </a:cxn>
                    <a:cxn ang="0">
                      <a:pos x="29" y="86"/>
                    </a:cxn>
                    <a:cxn ang="0">
                      <a:pos x="12" y="72"/>
                    </a:cxn>
                    <a:cxn ang="0">
                      <a:pos x="19" y="65"/>
                    </a:cxn>
                    <a:cxn ang="0">
                      <a:pos x="24" y="48"/>
                    </a:cxn>
                    <a:cxn ang="0">
                      <a:pos x="22" y="38"/>
                    </a:cxn>
                    <a:cxn ang="0">
                      <a:pos x="22" y="38"/>
                    </a:cxn>
                    <a:cxn ang="0">
                      <a:pos x="22" y="40"/>
                    </a:cxn>
                  </a:cxnLst>
                  <a:rect l="0" t="0" r="r" b="b"/>
                  <a:pathLst>
                    <a:path w="71" h="104">
                      <a:moveTo>
                        <a:pt x="22" y="40"/>
                      </a:moveTo>
                      <a:cubicBezTo>
                        <a:pt x="21" y="36"/>
                        <a:pt x="17" y="35"/>
                        <a:pt x="17" y="31"/>
                      </a:cubicBezTo>
                      <a:cubicBezTo>
                        <a:pt x="17" y="30"/>
                        <a:pt x="18" y="28"/>
                        <a:pt x="19" y="27"/>
                      </a:cubicBezTo>
                      <a:cubicBezTo>
                        <a:pt x="8" y="25"/>
                        <a:pt x="2" y="11"/>
                        <a:pt x="0" y="0"/>
                      </a:cubicBezTo>
                      <a:cubicBezTo>
                        <a:pt x="4" y="7"/>
                        <a:pt x="12" y="8"/>
                        <a:pt x="16" y="12"/>
                      </a:cubicBezTo>
                      <a:cubicBezTo>
                        <a:pt x="19" y="15"/>
                        <a:pt x="19" y="18"/>
                        <a:pt x="22" y="19"/>
                      </a:cubicBezTo>
                      <a:cubicBezTo>
                        <a:pt x="21" y="21"/>
                        <a:pt x="20" y="21"/>
                        <a:pt x="20" y="22"/>
                      </a:cubicBezTo>
                      <a:cubicBezTo>
                        <a:pt x="20" y="25"/>
                        <a:pt x="25" y="34"/>
                        <a:pt x="27" y="37"/>
                      </a:cubicBezTo>
                      <a:cubicBezTo>
                        <a:pt x="30" y="37"/>
                        <a:pt x="30" y="37"/>
                        <a:pt x="30" y="37"/>
                      </a:cubicBezTo>
                      <a:cubicBezTo>
                        <a:pt x="30" y="34"/>
                        <a:pt x="32" y="32"/>
                        <a:pt x="34" y="32"/>
                      </a:cubicBezTo>
                      <a:cubicBezTo>
                        <a:pt x="35" y="32"/>
                        <a:pt x="36" y="32"/>
                        <a:pt x="37" y="32"/>
                      </a:cubicBezTo>
                      <a:cubicBezTo>
                        <a:pt x="37" y="44"/>
                        <a:pt x="42" y="50"/>
                        <a:pt x="53" y="50"/>
                      </a:cubicBezTo>
                      <a:cubicBezTo>
                        <a:pt x="61" y="50"/>
                        <a:pt x="61" y="46"/>
                        <a:pt x="68" y="46"/>
                      </a:cubicBezTo>
                      <a:cubicBezTo>
                        <a:pt x="69" y="46"/>
                        <a:pt x="71" y="47"/>
                        <a:pt x="71" y="48"/>
                      </a:cubicBezTo>
                      <a:cubicBezTo>
                        <a:pt x="65" y="55"/>
                        <a:pt x="67" y="64"/>
                        <a:pt x="63" y="71"/>
                      </a:cubicBezTo>
                      <a:cubicBezTo>
                        <a:pt x="61" y="68"/>
                        <a:pt x="61" y="68"/>
                        <a:pt x="61" y="68"/>
                      </a:cubicBezTo>
                      <a:cubicBezTo>
                        <a:pt x="60" y="68"/>
                        <a:pt x="60" y="70"/>
                        <a:pt x="60" y="70"/>
                      </a:cubicBezTo>
                      <a:cubicBezTo>
                        <a:pt x="55" y="71"/>
                        <a:pt x="51" y="72"/>
                        <a:pt x="51" y="75"/>
                      </a:cubicBezTo>
                      <a:cubicBezTo>
                        <a:pt x="51" y="77"/>
                        <a:pt x="52" y="78"/>
                        <a:pt x="52" y="80"/>
                      </a:cubicBezTo>
                      <a:cubicBezTo>
                        <a:pt x="52" y="83"/>
                        <a:pt x="47" y="87"/>
                        <a:pt x="46" y="89"/>
                      </a:cubicBezTo>
                      <a:cubicBezTo>
                        <a:pt x="42" y="95"/>
                        <a:pt x="39" y="104"/>
                        <a:pt x="30" y="104"/>
                      </a:cubicBezTo>
                      <a:cubicBezTo>
                        <a:pt x="26" y="104"/>
                        <a:pt x="23" y="102"/>
                        <a:pt x="23" y="98"/>
                      </a:cubicBezTo>
                      <a:cubicBezTo>
                        <a:pt x="23" y="93"/>
                        <a:pt x="29" y="91"/>
                        <a:pt x="29" y="86"/>
                      </a:cubicBezTo>
                      <a:cubicBezTo>
                        <a:pt x="29" y="77"/>
                        <a:pt x="12" y="80"/>
                        <a:pt x="12" y="72"/>
                      </a:cubicBezTo>
                      <a:cubicBezTo>
                        <a:pt x="12" y="68"/>
                        <a:pt x="16" y="67"/>
                        <a:pt x="19" y="65"/>
                      </a:cubicBezTo>
                      <a:cubicBezTo>
                        <a:pt x="23" y="61"/>
                        <a:pt x="24" y="55"/>
                        <a:pt x="24" y="48"/>
                      </a:cubicBezTo>
                      <a:cubicBezTo>
                        <a:pt x="24" y="44"/>
                        <a:pt x="22" y="40"/>
                        <a:pt x="22" y="38"/>
                      </a:cubicBezTo>
                      <a:cubicBezTo>
                        <a:pt x="22" y="38"/>
                        <a:pt x="22" y="38"/>
                        <a:pt x="22" y="38"/>
                      </a:cubicBezTo>
                      <a:lnTo>
                        <a:pt x="22" y="4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lIns="148590" tIns="74296" rIns="148590" bIns="74296"/>
                <a:lstStyle/>
                <a:p>
                  <a:pPr marL="0" marR="0" lvl="0" indent="0" algn="l" defTabSz="1828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6" name="Freeform 116">
                  <a:extLst>
                    <a:ext uri="{FF2B5EF4-FFF2-40B4-BE49-F238E27FC236}">
                      <a16:creationId xmlns:a16="http://schemas.microsoft.com/office/drawing/2014/main" id="{5DFBAA48-A7F5-DA8E-93A3-D4435B980D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56413" y="3582988"/>
                  <a:ext cx="6350" cy="9525"/>
                </a:xfrm>
                <a:custGeom>
                  <a:avLst/>
                  <a:gdLst/>
                  <a:ahLst/>
                  <a:cxnLst>
                    <a:cxn ang="0">
                      <a:pos x="5" y="0"/>
                    </a:cxn>
                    <a:cxn ang="0">
                      <a:pos x="4" y="7"/>
                    </a:cxn>
                    <a:cxn ang="0">
                      <a:pos x="0" y="0"/>
                    </a:cxn>
                    <a:cxn ang="0">
                      <a:pos x="5" y="0"/>
                    </a:cxn>
                  </a:cxnLst>
                  <a:rect l="0" t="0" r="r" b="b"/>
                  <a:pathLst>
                    <a:path w="5" h="7">
                      <a:moveTo>
                        <a:pt x="5" y="0"/>
                      </a:moveTo>
                      <a:cubicBezTo>
                        <a:pt x="5" y="4"/>
                        <a:pt x="4" y="5"/>
                        <a:pt x="4" y="7"/>
                      </a:cubicBezTo>
                      <a:cubicBezTo>
                        <a:pt x="0" y="6"/>
                        <a:pt x="0" y="3"/>
                        <a:pt x="0" y="0"/>
                      </a:cubicBezTo>
                      <a:cubicBezTo>
                        <a:pt x="2" y="0"/>
                        <a:pt x="4" y="0"/>
                        <a:pt x="5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lIns="148590" tIns="74296" rIns="148590" bIns="74296"/>
                <a:lstStyle/>
                <a:p>
                  <a:pPr marL="0" marR="0" lvl="0" indent="0" algn="l" defTabSz="1828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7" name="Freeform 117">
                  <a:extLst>
                    <a:ext uri="{FF2B5EF4-FFF2-40B4-BE49-F238E27FC236}">
                      <a16:creationId xmlns:a16="http://schemas.microsoft.com/office/drawing/2014/main" id="{84BC7A48-615E-FAEA-2204-154D7A2442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64325" y="3500438"/>
                  <a:ext cx="22225" cy="11113"/>
                </a:xfrm>
                <a:custGeom>
                  <a:avLst/>
                  <a:gdLst/>
                  <a:ahLst/>
                  <a:cxnLst>
                    <a:cxn ang="0">
                      <a:pos x="16" y="4"/>
                    </a:cxn>
                    <a:cxn ang="0">
                      <a:pos x="0" y="4"/>
                    </a:cxn>
                    <a:cxn ang="0">
                      <a:pos x="16" y="4"/>
                    </a:cxn>
                  </a:cxnLst>
                  <a:rect l="0" t="0" r="r" b="b"/>
                  <a:pathLst>
                    <a:path w="16" h="8">
                      <a:moveTo>
                        <a:pt x="16" y="4"/>
                      </a:moveTo>
                      <a:cubicBezTo>
                        <a:pt x="11" y="7"/>
                        <a:pt x="4" y="8"/>
                        <a:pt x="0" y="4"/>
                      </a:cubicBezTo>
                      <a:cubicBezTo>
                        <a:pt x="9" y="0"/>
                        <a:pt x="10" y="0"/>
                        <a:pt x="16" y="4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lIns="148590" tIns="74296" rIns="148590" bIns="74296"/>
                <a:lstStyle/>
                <a:p>
                  <a:pPr marL="0" marR="0" lvl="0" indent="0" algn="l" defTabSz="1828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8" name="Freeform 118">
                  <a:extLst>
                    <a:ext uri="{FF2B5EF4-FFF2-40B4-BE49-F238E27FC236}">
                      <a16:creationId xmlns:a16="http://schemas.microsoft.com/office/drawing/2014/main" id="{84AFF86F-7F1E-8339-070C-DC0D10ABED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56375" y="3065463"/>
                  <a:ext cx="22225" cy="9525"/>
                </a:xfrm>
                <a:custGeom>
                  <a:avLst/>
                  <a:gdLst/>
                  <a:ahLst/>
                  <a:cxnLst>
                    <a:cxn ang="0">
                      <a:pos x="17" y="1"/>
                    </a:cxn>
                    <a:cxn ang="0">
                      <a:pos x="17" y="7"/>
                    </a:cxn>
                    <a:cxn ang="0">
                      <a:pos x="13" y="7"/>
                    </a:cxn>
                    <a:cxn ang="0">
                      <a:pos x="0" y="3"/>
                    </a:cxn>
                    <a:cxn ang="0">
                      <a:pos x="17" y="1"/>
                    </a:cxn>
                  </a:cxnLst>
                  <a:rect l="0" t="0" r="r" b="b"/>
                  <a:pathLst>
                    <a:path w="17" h="7">
                      <a:moveTo>
                        <a:pt x="17" y="1"/>
                      </a:moveTo>
                      <a:cubicBezTo>
                        <a:pt x="17" y="7"/>
                        <a:pt x="17" y="7"/>
                        <a:pt x="17" y="7"/>
                      </a:cubicBezTo>
                      <a:cubicBezTo>
                        <a:pt x="16" y="7"/>
                        <a:pt x="14" y="7"/>
                        <a:pt x="13" y="7"/>
                      </a:cubicBezTo>
                      <a:cubicBezTo>
                        <a:pt x="8" y="7"/>
                        <a:pt x="2" y="5"/>
                        <a:pt x="0" y="3"/>
                      </a:cubicBezTo>
                      <a:cubicBezTo>
                        <a:pt x="8" y="1"/>
                        <a:pt x="11" y="0"/>
                        <a:pt x="17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lIns="148590" tIns="74296" rIns="148590" bIns="74296"/>
                <a:lstStyle/>
                <a:p>
                  <a:pPr marL="0" marR="0" lvl="0" indent="0" algn="l" defTabSz="1828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F3F3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48" name="Group 383">
              <a:extLst>
                <a:ext uri="{FF2B5EF4-FFF2-40B4-BE49-F238E27FC236}">
                  <a16:creationId xmlns:a16="http://schemas.microsoft.com/office/drawing/2014/main" id="{F0591988-870B-C4EC-1F8F-3DDFA421A2BC}"/>
                </a:ext>
              </a:extLst>
            </p:cNvPr>
            <p:cNvGrpSpPr/>
            <p:nvPr/>
          </p:nvGrpSpPr>
          <p:grpSpPr>
            <a:xfrm>
              <a:off x="7686910" y="1792943"/>
              <a:ext cx="3332326" cy="2621498"/>
              <a:chOff x="4713288" y="1038225"/>
              <a:chExt cx="2847975" cy="2012950"/>
            </a:xfrm>
            <a:solidFill>
              <a:srgbClr val="121E3B"/>
            </a:solidFill>
          </p:grpSpPr>
          <p:sp>
            <p:nvSpPr>
              <p:cNvPr id="114" name="Freeform 101">
                <a:extLst>
                  <a:ext uri="{FF2B5EF4-FFF2-40B4-BE49-F238E27FC236}">
                    <a16:creationId xmlns:a16="http://schemas.microsoft.com/office/drawing/2014/main" id="{1BCC13E9-6686-8E9E-055E-249BC4A769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8063" y="2127250"/>
                <a:ext cx="622300" cy="538163"/>
              </a:xfrm>
              <a:custGeom>
                <a:avLst/>
                <a:gdLst/>
                <a:ahLst/>
                <a:cxnLst>
                  <a:cxn ang="0">
                    <a:pos x="102" y="154"/>
                  </a:cxn>
                  <a:cxn ang="0">
                    <a:pos x="113" y="126"/>
                  </a:cxn>
                  <a:cxn ang="0">
                    <a:pos x="122" y="86"/>
                  </a:cxn>
                  <a:cxn ang="0">
                    <a:pos x="125" y="77"/>
                  </a:cxn>
                  <a:cxn ang="0">
                    <a:pos x="108" y="77"/>
                  </a:cxn>
                  <a:cxn ang="0">
                    <a:pos x="64" y="77"/>
                  </a:cxn>
                  <a:cxn ang="0">
                    <a:pos x="27" y="79"/>
                  </a:cxn>
                  <a:cxn ang="0">
                    <a:pos x="26" y="77"/>
                  </a:cxn>
                  <a:cxn ang="0">
                    <a:pos x="0" y="55"/>
                  </a:cxn>
                  <a:cxn ang="0">
                    <a:pos x="9" y="37"/>
                  </a:cxn>
                  <a:cxn ang="0">
                    <a:pos x="41" y="20"/>
                  </a:cxn>
                  <a:cxn ang="0">
                    <a:pos x="48" y="13"/>
                  </a:cxn>
                  <a:cxn ang="0">
                    <a:pos x="80" y="4"/>
                  </a:cxn>
                  <a:cxn ang="0">
                    <a:pos x="127" y="7"/>
                  </a:cxn>
                  <a:cxn ang="0">
                    <a:pos x="174" y="15"/>
                  </a:cxn>
                  <a:cxn ang="0">
                    <a:pos x="223" y="21"/>
                  </a:cxn>
                  <a:cxn ang="0">
                    <a:pos x="256" y="44"/>
                  </a:cxn>
                  <a:cxn ang="0">
                    <a:pos x="278" y="33"/>
                  </a:cxn>
                  <a:cxn ang="0">
                    <a:pos x="281" y="43"/>
                  </a:cxn>
                  <a:cxn ang="0">
                    <a:pos x="289" y="65"/>
                  </a:cxn>
                  <a:cxn ang="0">
                    <a:pos x="309" y="76"/>
                  </a:cxn>
                  <a:cxn ang="0">
                    <a:pos x="350" y="76"/>
                  </a:cxn>
                  <a:cxn ang="0">
                    <a:pos x="359" y="63"/>
                  </a:cxn>
                  <a:cxn ang="0">
                    <a:pos x="387" y="51"/>
                  </a:cxn>
                  <a:cxn ang="0">
                    <a:pos x="439" y="74"/>
                  </a:cxn>
                  <a:cxn ang="0">
                    <a:pos x="445" y="96"/>
                  </a:cxn>
                  <a:cxn ang="0">
                    <a:pos x="435" y="119"/>
                  </a:cxn>
                  <a:cxn ang="0">
                    <a:pos x="436" y="138"/>
                  </a:cxn>
                  <a:cxn ang="0">
                    <a:pos x="449" y="156"/>
                  </a:cxn>
                  <a:cxn ang="0">
                    <a:pos x="445" y="179"/>
                  </a:cxn>
                  <a:cxn ang="0">
                    <a:pos x="448" y="232"/>
                  </a:cxn>
                  <a:cxn ang="0">
                    <a:pos x="448" y="240"/>
                  </a:cxn>
                  <a:cxn ang="0">
                    <a:pos x="393" y="231"/>
                  </a:cxn>
                  <a:cxn ang="0">
                    <a:pos x="370" y="220"/>
                  </a:cxn>
                  <a:cxn ang="0">
                    <a:pos x="333" y="207"/>
                  </a:cxn>
                  <a:cxn ang="0">
                    <a:pos x="313" y="192"/>
                  </a:cxn>
                  <a:cxn ang="0">
                    <a:pos x="278" y="183"/>
                  </a:cxn>
                  <a:cxn ang="0">
                    <a:pos x="304" y="224"/>
                  </a:cxn>
                  <a:cxn ang="0">
                    <a:pos x="315" y="227"/>
                  </a:cxn>
                  <a:cxn ang="0">
                    <a:pos x="313" y="246"/>
                  </a:cxn>
                  <a:cxn ang="0">
                    <a:pos x="379" y="225"/>
                  </a:cxn>
                  <a:cxn ang="0">
                    <a:pos x="406" y="260"/>
                  </a:cxn>
                  <a:cxn ang="0">
                    <a:pos x="414" y="270"/>
                  </a:cxn>
                  <a:cxn ang="0">
                    <a:pos x="410" y="302"/>
                  </a:cxn>
                  <a:cxn ang="0">
                    <a:pos x="390" y="321"/>
                  </a:cxn>
                  <a:cxn ang="0">
                    <a:pos x="365" y="347"/>
                  </a:cxn>
                  <a:cxn ang="0">
                    <a:pos x="328" y="368"/>
                  </a:cxn>
                  <a:cxn ang="0">
                    <a:pos x="265" y="395"/>
                  </a:cxn>
                  <a:cxn ang="0">
                    <a:pos x="234" y="404"/>
                  </a:cxn>
                  <a:cxn ang="0">
                    <a:pos x="217" y="399"/>
                  </a:cxn>
                  <a:cxn ang="0">
                    <a:pos x="209" y="372"/>
                  </a:cxn>
                  <a:cxn ang="0">
                    <a:pos x="198" y="340"/>
                  </a:cxn>
                  <a:cxn ang="0">
                    <a:pos x="162" y="280"/>
                  </a:cxn>
                  <a:cxn ang="0">
                    <a:pos x="154" y="259"/>
                  </a:cxn>
                  <a:cxn ang="0">
                    <a:pos x="140" y="251"/>
                  </a:cxn>
                  <a:cxn ang="0">
                    <a:pos x="131" y="229"/>
                  </a:cxn>
                  <a:cxn ang="0">
                    <a:pos x="109" y="196"/>
                  </a:cxn>
                  <a:cxn ang="0">
                    <a:pos x="112" y="177"/>
                  </a:cxn>
                </a:cxnLst>
                <a:rect l="0" t="0" r="r" b="b"/>
                <a:pathLst>
                  <a:path w="467" h="405">
                    <a:moveTo>
                      <a:pt x="112" y="177"/>
                    </a:moveTo>
                    <a:cubicBezTo>
                      <a:pt x="102" y="154"/>
                      <a:pt x="102" y="154"/>
                      <a:pt x="102" y="154"/>
                    </a:cubicBezTo>
                    <a:cubicBezTo>
                      <a:pt x="102" y="151"/>
                      <a:pt x="105" y="151"/>
                      <a:pt x="106" y="149"/>
                    </a:cubicBezTo>
                    <a:cubicBezTo>
                      <a:pt x="109" y="139"/>
                      <a:pt x="110" y="134"/>
                      <a:pt x="113" y="126"/>
                    </a:cubicBezTo>
                    <a:cubicBezTo>
                      <a:pt x="115" y="117"/>
                      <a:pt x="124" y="115"/>
                      <a:pt x="124" y="104"/>
                    </a:cubicBezTo>
                    <a:cubicBezTo>
                      <a:pt x="124" y="97"/>
                      <a:pt x="122" y="91"/>
                      <a:pt x="122" y="86"/>
                    </a:cubicBezTo>
                    <a:cubicBezTo>
                      <a:pt x="122" y="83"/>
                      <a:pt x="124" y="82"/>
                      <a:pt x="125" y="81"/>
                    </a:cubicBezTo>
                    <a:cubicBezTo>
                      <a:pt x="125" y="77"/>
                      <a:pt x="125" y="77"/>
                      <a:pt x="125" y="77"/>
                    </a:cubicBezTo>
                    <a:cubicBezTo>
                      <a:pt x="121" y="78"/>
                      <a:pt x="120" y="81"/>
                      <a:pt x="117" y="81"/>
                    </a:cubicBezTo>
                    <a:cubicBezTo>
                      <a:pt x="112" y="81"/>
                      <a:pt x="110" y="79"/>
                      <a:pt x="108" y="77"/>
                    </a:cubicBezTo>
                    <a:cubicBezTo>
                      <a:pt x="101" y="82"/>
                      <a:pt x="98" y="88"/>
                      <a:pt x="86" y="88"/>
                    </a:cubicBezTo>
                    <a:cubicBezTo>
                      <a:pt x="76" y="88"/>
                      <a:pt x="73" y="77"/>
                      <a:pt x="64" y="77"/>
                    </a:cubicBezTo>
                    <a:cubicBezTo>
                      <a:pt x="54" y="77"/>
                      <a:pt x="56" y="87"/>
                      <a:pt x="48" y="87"/>
                    </a:cubicBezTo>
                    <a:cubicBezTo>
                      <a:pt x="40" y="87"/>
                      <a:pt x="35" y="75"/>
                      <a:pt x="27" y="79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4" y="79"/>
                      <a:pt x="25" y="78"/>
                      <a:pt x="26" y="77"/>
                    </a:cubicBezTo>
                    <a:cubicBezTo>
                      <a:pt x="23" y="74"/>
                      <a:pt x="10" y="67"/>
                      <a:pt x="15" y="63"/>
                    </a:cubicBezTo>
                    <a:cubicBezTo>
                      <a:pt x="11" y="57"/>
                      <a:pt x="6" y="58"/>
                      <a:pt x="0" y="55"/>
                    </a:cubicBezTo>
                    <a:cubicBezTo>
                      <a:pt x="4" y="50"/>
                      <a:pt x="9" y="51"/>
                      <a:pt x="9" y="43"/>
                    </a:cubicBezTo>
                    <a:cubicBezTo>
                      <a:pt x="9" y="40"/>
                      <a:pt x="8" y="40"/>
                      <a:pt x="9" y="37"/>
                    </a:cubicBezTo>
                    <a:cubicBezTo>
                      <a:pt x="6" y="37"/>
                      <a:pt x="1" y="38"/>
                      <a:pt x="1" y="35"/>
                    </a:cubicBezTo>
                    <a:cubicBezTo>
                      <a:pt x="1" y="22"/>
                      <a:pt x="33" y="24"/>
                      <a:pt x="41" y="20"/>
                    </a:cubicBezTo>
                    <a:cubicBezTo>
                      <a:pt x="40" y="17"/>
                      <a:pt x="38" y="18"/>
                      <a:pt x="38" y="15"/>
                    </a:cubicBezTo>
                    <a:cubicBezTo>
                      <a:pt x="38" y="11"/>
                      <a:pt x="46" y="13"/>
                      <a:pt x="48" y="13"/>
                    </a:cubicBezTo>
                    <a:cubicBezTo>
                      <a:pt x="53" y="13"/>
                      <a:pt x="62" y="13"/>
                      <a:pt x="62" y="13"/>
                    </a:cubicBezTo>
                    <a:cubicBezTo>
                      <a:pt x="67" y="13"/>
                      <a:pt x="75" y="7"/>
                      <a:pt x="80" y="4"/>
                    </a:cubicBezTo>
                    <a:cubicBezTo>
                      <a:pt x="86" y="0"/>
                      <a:pt x="98" y="0"/>
                      <a:pt x="106" y="0"/>
                    </a:cubicBezTo>
                    <a:cubicBezTo>
                      <a:pt x="117" y="0"/>
                      <a:pt x="117" y="7"/>
                      <a:pt x="127" y="7"/>
                    </a:cubicBezTo>
                    <a:cubicBezTo>
                      <a:pt x="127" y="12"/>
                      <a:pt x="144" y="15"/>
                      <a:pt x="149" y="15"/>
                    </a:cubicBezTo>
                    <a:cubicBezTo>
                      <a:pt x="162" y="15"/>
                      <a:pt x="170" y="15"/>
                      <a:pt x="174" y="15"/>
                    </a:cubicBezTo>
                    <a:cubicBezTo>
                      <a:pt x="186" y="15"/>
                      <a:pt x="192" y="3"/>
                      <a:pt x="205" y="3"/>
                    </a:cubicBezTo>
                    <a:cubicBezTo>
                      <a:pt x="219" y="3"/>
                      <a:pt x="218" y="12"/>
                      <a:pt x="223" y="21"/>
                    </a:cubicBezTo>
                    <a:cubicBezTo>
                      <a:pt x="224" y="23"/>
                      <a:pt x="233" y="28"/>
                      <a:pt x="233" y="28"/>
                    </a:cubicBezTo>
                    <a:cubicBezTo>
                      <a:pt x="241" y="31"/>
                      <a:pt x="243" y="44"/>
                      <a:pt x="256" y="44"/>
                    </a:cubicBezTo>
                    <a:cubicBezTo>
                      <a:pt x="265" y="44"/>
                      <a:pt x="265" y="36"/>
                      <a:pt x="271" y="34"/>
                    </a:cubicBezTo>
                    <a:cubicBezTo>
                      <a:pt x="275" y="33"/>
                      <a:pt x="274" y="33"/>
                      <a:pt x="278" y="33"/>
                    </a:cubicBezTo>
                    <a:cubicBezTo>
                      <a:pt x="279" y="35"/>
                      <a:pt x="279" y="39"/>
                      <a:pt x="281" y="41"/>
                    </a:cubicBezTo>
                    <a:cubicBezTo>
                      <a:pt x="280" y="41"/>
                      <a:pt x="281" y="42"/>
                      <a:pt x="281" y="43"/>
                    </a:cubicBezTo>
                    <a:cubicBezTo>
                      <a:pt x="281" y="48"/>
                      <a:pt x="284" y="47"/>
                      <a:pt x="286" y="51"/>
                    </a:cubicBezTo>
                    <a:cubicBezTo>
                      <a:pt x="290" y="56"/>
                      <a:pt x="286" y="59"/>
                      <a:pt x="289" y="65"/>
                    </a:cubicBezTo>
                    <a:cubicBezTo>
                      <a:pt x="291" y="70"/>
                      <a:pt x="297" y="67"/>
                      <a:pt x="301" y="68"/>
                    </a:cubicBezTo>
                    <a:cubicBezTo>
                      <a:pt x="305" y="69"/>
                      <a:pt x="306" y="73"/>
                      <a:pt x="309" y="76"/>
                    </a:cubicBezTo>
                    <a:cubicBezTo>
                      <a:pt x="312" y="79"/>
                      <a:pt x="323" y="78"/>
                      <a:pt x="329" y="78"/>
                    </a:cubicBezTo>
                    <a:cubicBezTo>
                      <a:pt x="337" y="78"/>
                      <a:pt x="345" y="77"/>
                      <a:pt x="350" y="76"/>
                    </a:cubicBezTo>
                    <a:cubicBezTo>
                      <a:pt x="350" y="72"/>
                      <a:pt x="350" y="71"/>
                      <a:pt x="350" y="68"/>
                    </a:cubicBezTo>
                    <a:cubicBezTo>
                      <a:pt x="350" y="64"/>
                      <a:pt x="355" y="64"/>
                      <a:pt x="359" y="63"/>
                    </a:cubicBezTo>
                    <a:cubicBezTo>
                      <a:pt x="364" y="61"/>
                      <a:pt x="363" y="59"/>
                      <a:pt x="368" y="57"/>
                    </a:cubicBezTo>
                    <a:cubicBezTo>
                      <a:pt x="376" y="54"/>
                      <a:pt x="381" y="56"/>
                      <a:pt x="387" y="51"/>
                    </a:cubicBezTo>
                    <a:cubicBezTo>
                      <a:pt x="397" y="57"/>
                      <a:pt x="403" y="57"/>
                      <a:pt x="412" y="60"/>
                    </a:cubicBezTo>
                    <a:cubicBezTo>
                      <a:pt x="423" y="64"/>
                      <a:pt x="426" y="74"/>
                      <a:pt x="439" y="74"/>
                    </a:cubicBezTo>
                    <a:cubicBezTo>
                      <a:pt x="439" y="76"/>
                      <a:pt x="442" y="77"/>
                      <a:pt x="443" y="79"/>
                    </a:cubicBezTo>
                    <a:cubicBezTo>
                      <a:pt x="445" y="86"/>
                      <a:pt x="442" y="92"/>
                      <a:pt x="445" y="96"/>
                    </a:cubicBezTo>
                    <a:cubicBezTo>
                      <a:pt x="442" y="98"/>
                      <a:pt x="435" y="114"/>
                      <a:pt x="435" y="115"/>
                    </a:cubicBezTo>
                    <a:cubicBezTo>
                      <a:pt x="435" y="116"/>
                      <a:pt x="436" y="118"/>
                      <a:pt x="435" y="119"/>
                    </a:cubicBezTo>
                    <a:cubicBezTo>
                      <a:pt x="436" y="121"/>
                      <a:pt x="435" y="122"/>
                      <a:pt x="436" y="124"/>
                    </a:cubicBezTo>
                    <a:cubicBezTo>
                      <a:pt x="436" y="138"/>
                      <a:pt x="436" y="138"/>
                      <a:pt x="436" y="138"/>
                    </a:cubicBezTo>
                    <a:cubicBezTo>
                      <a:pt x="438" y="142"/>
                      <a:pt x="437" y="145"/>
                      <a:pt x="439" y="149"/>
                    </a:cubicBezTo>
                    <a:cubicBezTo>
                      <a:pt x="440" y="153"/>
                      <a:pt x="449" y="149"/>
                      <a:pt x="449" y="156"/>
                    </a:cubicBezTo>
                    <a:cubicBezTo>
                      <a:pt x="449" y="165"/>
                      <a:pt x="439" y="164"/>
                      <a:pt x="439" y="171"/>
                    </a:cubicBezTo>
                    <a:cubicBezTo>
                      <a:pt x="439" y="177"/>
                      <a:pt x="443" y="177"/>
                      <a:pt x="445" y="179"/>
                    </a:cubicBezTo>
                    <a:cubicBezTo>
                      <a:pt x="452" y="194"/>
                      <a:pt x="467" y="196"/>
                      <a:pt x="467" y="215"/>
                    </a:cubicBezTo>
                    <a:cubicBezTo>
                      <a:pt x="456" y="218"/>
                      <a:pt x="448" y="220"/>
                      <a:pt x="448" y="232"/>
                    </a:cubicBezTo>
                    <a:cubicBezTo>
                      <a:pt x="448" y="235"/>
                      <a:pt x="450" y="238"/>
                      <a:pt x="450" y="240"/>
                    </a:cubicBezTo>
                    <a:cubicBezTo>
                      <a:pt x="450" y="240"/>
                      <a:pt x="448" y="240"/>
                      <a:pt x="448" y="240"/>
                    </a:cubicBezTo>
                    <a:cubicBezTo>
                      <a:pt x="439" y="240"/>
                      <a:pt x="420" y="235"/>
                      <a:pt x="408" y="235"/>
                    </a:cubicBezTo>
                    <a:cubicBezTo>
                      <a:pt x="406" y="235"/>
                      <a:pt x="393" y="231"/>
                      <a:pt x="393" y="231"/>
                    </a:cubicBezTo>
                    <a:cubicBezTo>
                      <a:pt x="388" y="226"/>
                      <a:pt x="388" y="213"/>
                      <a:pt x="379" y="213"/>
                    </a:cubicBezTo>
                    <a:cubicBezTo>
                      <a:pt x="374" y="213"/>
                      <a:pt x="372" y="217"/>
                      <a:pt x="370" y="220"/>
                    </a:cubicBezTo>
                    <a:cubicBezTo>
                      <a:pt x="348" y="220"/>
                      <a:pt x="348" y="220"/>
                      <a:pt x="348" y="220"/>
                    </a:cubicBezTo>
                    <a:cubicBezTo>
                      <a:pt x="341" y="217"/>
                      <a:pt x="337" y="212"/>
                      <a:pt x="333" y="207"/>
                    </a:cubicBezTo>
                    <a:cubicBezTo>
                      <a:pt x="327" y="202"/>
                      <a:pt x="320" y="205"/>
                      <a:pt x="315" y="200"/>
                    </a:cubicBezTo>
                    <a:cubicBezTo>
                      <a:pt x="313" y="197"/>
                      <a:pt x="314" y="194"/>
                      <a:pt x="313" y="192"/>
                    </a:cubicBezTo>
                    <a:cubicBezTo>
                      <a:pt x="308" y="182"/>
                      <a:pt x="299" y="168"/>
                      <a:pt x="286" y="168"/>
                    </a:cubicBezTo>
                    <a:cubicBezTo>
                      <a:pt x="280" y="168"/>
                      <a:pt x="278" y="176"/>
                      <a:pt x="278" y="183"/>
                    </a:cubicBezTo>
                    <a:cubicBezTo>
                      <a:pt x="278" y="187"/>
                      <a:pt x="278" y="189"/>
                      <a:pt x="278" y="193"/>
                    </a:cubicBezTo>
                    <a:cubicBezTo>
                      <a:pt x="281" y="203"/>
                      <a:pt x="293" y="222"/>
                      <a:pt x="304" y="224"/>
                    </a:cubicBezTo>
                    <a:cubicBezTo>
                      <a:pt x="304" y="229"/>
                      <a:pt x="306" y="231"/>
                      <a:pt x="307" y="235"/>
                    </a:cubicBezTo>
                    <a:cubicBezTo>
                      <a:pt x="312" y="233"/>
                      <a:pt x="311" y="228"/>
                      <a:pt x="315" y="227"/>
                    </a:cubicBezTo>
                    <a:cubicBezTo>
                      <a:pt x="316" y="228"/>
                      <a:pt x="316" y="230"/>
                      <a:pt x="316" y="231"/>
                    </a:cubicBezTo>
                    <a:cubicBezTo>
                      <a:pt x="316" y="237"/>
                      <a:pt x="313" y="240"/>
                      <a:pt x="313" y="246"/>
                    </a:cubicBezTo>
                    <a:cubicBezTo>
                      <a:pt x="313" y="252"/>
                      <a:pt x="324" y="255"/>
                      <a:pt x="331" y="255"/>
                    </a:cubicBezTo>
                    <a:cubicBezTo>
                      <a:pt x="360" y="255"/>
                      <a:pt x="363" y="237"/>
                      <a:pt x="379" y="225"/>
                    </a:cubicBezTo>
                    <a:cubicBezTo>
                      <a:pt x="379" y="241"/>
                      <a:pt x="379" y="241"/>
                      <a:pt x="379" y="241"/>
                    </a:cubicBezTo>
                    <a:cubicBezTo>
                      <a:pt x="385" y="254"/>
                      <a:pt x="393" y="256"/>
                      <a:pt x="406" y="260"/>
                    </a:cubicBezTo>
                    <a:cubicBezTo>
                      <a:pt x="411" y="261"/>
                      <a:pt x="411" y="269"/>
                      <a:pt x="414" y="271"/>
                    </a:cubicBezTo>
                    <a:cubicBezTo>
                      <a:pt x="414" y="270"/>
                      <a:pt x="414" y="270"/>
                      <a:pt x="414" y="270"/>
                    </a:cubicBezTo>
                    <a:cubicBezTo>
                      <a:pt x="416" y="274"/>
                      <a:pt x="423" y="273"/>
                      <a:pt x="423" y="277"/>
                    </a:cubicBezTo>
                    <a:cubicBezTo>
                      <a:pt x="423" y="288"/>
                      <a:pt x="410" y="291"/>
                      <a:pt x="410" y="302"/>
                    </a:cubicBezTo>
                    <a:cubicBezTo>
                      <a:pt x="403" y="302"/>
                      <a:pt x="399" y="303"/>
                      <a:pt x="397" y="309"/>
                    </a:cubicBezTo>
                    <a:cubicBezTo>
                      <a:pt x="395" y="314"/>
                      <a:pt x="396" y="321"/>
                      <a:pt x="390" y="321"/>
                    </a:cubicBezTo>
                    <a:cubicBezTo>
                      <a:pt x="384" y="321"/>
                      <a:pt x="384" y="334"/>
                      <a:pt x="378" y="334"/>
                    </a:cubicBezTo>
                    <a:cubicBezTo>
                      <a:pt x="374" y="334"/>
                      <a:pt x="365" y="342"/>
                      <a:pt x="365" y="347"/>
                    </a:cubicBezTo>
                    <a:cubicBezTo>
                      <a:pt x="353" y="349"/>
                      <a:pt x="327" y="354"/>
                      <a:pt x="327" y="364"/>
                    </a:cubicBezTo>
                    <a:cubicBezTo>
                      <a:pt x="327" y="365"/>
                      <a:pt x="327" y="367"/>
                      <a:pt x="328" y="368"/>
                    </a:cubicBezTo>
                    <a:cubicBezTo>
                      <a:pt x="318" y="373"/>
                      <a:pt x="304" y="376"/>
                      <a:pt x="294" y="378"/>
                    </a:cubicBezTo>
                    <a:cubicBezTo>
                      <a:pt x="289" y="380"/>
                      <a:pt x="271" y="392"/>
                      <a:pt x="265" y="395"/>
                    </a:cubicBezTo>
                    <a:cubicBezTo>
                      <a:pt x="252" y="395"/>
                      <a:pt x="252" y="395"/>
                      <a:pt x="252" y="395"/>
                    </a:cubicBezTo>
                    <a:cubicBezTo>
                      <a:pt x="244" y="400"/>
                      <a:pt x="243" y="404"/>
                      <a:pt x="234" y="404"/>
                    </a:cubicBezTo>
                    <a:cubicBezTo>
                      <a:pt x="231" y="405"/>
                      <a:pt x="231" y="405"/>
                      <a:pt x="231" y="405"/>
                    </a:cubicBezTo>
                    <a:cubicBezTo>
                      <a:pt x="229" y="405"/>
                      <a:pt x="218" y="400"/>
                      <a:pt x="217" y="399"/>
                    </a:cubicBezTo>
                    <a:cubicBezTo>
                      <a:pt x="216" y="399"/>
                      <a:pt x="219" y="399"/>
                      <a:pt x="217" y="394"/>
                    </a:cubicBezTo>
                    <a:cubicBezTo>
                      <a:pt x="212" y="387"/>
                      <a:pt x="209" y="380"/>
                      <a:pt x="209" y="372"/>
                    </a:cubicBezTo>
                    <a:cubicBezTo>
                      <a:pt x="204" y="371"/>
                      <a:pt x="207" y="363"/>
                      <a:pt x="208" y="359"/>
                    </a:cubicBezTo>
                    <a:cubicBezTo>
                      <a:pt x="210" y="349"/>
                      <a:pt x="203" y="345"/>
                      <a:pt x="198" y="340"/>
                    </a:cubicBezTo>
                    <a:cubicBezTo>
                      <a:pt x="193" y="335"/>
                      <a:pt x="181" y="320"/>
                      <a:pt x="181" y="309"/>
                    </a:cubicBezTo>
                    <a:cubicBezTo>
                      <a:pt x="165" y="306"/>
                      <a:pt x="162" y="297"/>
                      <a:pt x="162" y="280"/>
                    </a:cubicBezTo>
                    <a:cubicBezTo>
                      <a:pt x="162" y="270"/>
                      <a:pt x="156" y="268"/>
                      <a:pt x="154" y="259"/>
                    </a:cubicBezTo>
                    <a:cubicBezTo>
                      <a:pt x="154" y="259"/>
                      <a:pt x="154" y="259"/>
                      <a:pt x="154" y="259"/>
                    </a:cubicBezTo>
                    <a:cubicBezTo>
                      <a:pt x="152" y="258"/>
                      <a:pt x="150" y="255"/>
                      <a:pt x="148" y="254"/>
                    </a:cubicBezTo>
                    <a:cubicBezTo>
                      <a:pt x="147" y="252"/>
                      <a:pt x="141" y="253"/>
                      <a:pt x="140" y="251"/>
                    </a:cubicBezTo>
                    <a:cubicBezTo>
                      <a:pt x="137" y="249"/>
                      <a:pt x="138" y="242"/>
                      <a:pt x="137" y="239"/>
                    </a:cubicBezTo>
                    <a:cubicBezTo>
                      <a:pt x="136" y="235"/>
                      <a:pt x="132" y="231"/>
                      <a:pt x="131" y="229"/>
                    </a:cubicBezTo>
                    <a:cubicBezTo>
                      <a:pt x="125" y="221"/>
                      <a:pt x="121" y="214"/>
                      <a:pt x="116" y="207"/>
                    </a:cubicBezTo>
                    <a:cubicBezTo>
                      <a:pt x="115" y="205"/>
                      <a:pt x="109" y="198"/>
                      <a:pt x="109" y="196"/>
                    </a:cubicBezTo>
                    <a:cubicBezTo>
                      <a:pt x="109" y="192"/>
                      <a:pt x="112" y="182"/>
                      <a:pt x="112" y="175"/>
                    </a:cubicBezTo>
                    <a:lnTo>
                      <a:pt x="112" y="177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Freeform 102">
                <a:extLst>
                  <a:ext uri="{FF2B5EF4-FFF2-40B4-BE49-F238E27FC236}">
                    <a16:creationId xmlns:a16="http://schemas.microsoft.com/office/drawing/2014/main" id="{6E6A19B7-8E55-9E1D-6CDE-651C474EAD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3413" y="2714625"/>
                <a:ext cx="33338" cy="63500"/>
              </a:xfrm>
              <a:custGeom>
                <a:avLst/>
                <a:gdLst/>
                <a:ahLst/>
                <a:cxnLst>
                  <a:cxn ang="0">
                    <a:pos x="25" y="30"/>
                  </a:cxn>
                  <a:cxn ang="0">
                    <a:pos x="11" y="48"/>
                  </a:cxn>
                  <a:cxn ang="0">
                    <a:pos x="0" y="35"/>
                  </a:cxn>
                  <a:cxn ang="0">
                    <a:pos x="6" y="0"/>
                  </a:cxn>
                  <a:cxn ang="0">
                    <a:pos x="25" y="30"/>
                  </a:cxn>
                </a:cxnLst>
                <a:rect l="0" t="0" r="r" b="b"/>
                <a:pathLst>
                  <a:path w="25" h="48">
                    <a:moveTo>
                      <a:pt x="25" y="30"/>
                    </a:moveTo>
                    <a:cubicBezTo>
                      <a:pt x="25" y="37"/>
                      <a:pt x="20" y="48"/>
                      <a:pt x="11" y="48"/>
                    </a:cubicBezTo>
                    <a:cubicBezTo>
                      <a:pt x="5" y="48"/>
                      <a:pt x="0" y="41"/>
                      <a:pt x="0" y="35"/>
                    </a:cubicBezTo>
                    <a:cubicBezTo>
                      <a:pt x="0" y="22"/>
                      <a:pt x="6" y="13"/>
                      <a:pt x="6" y="0"/>
                    </a:cubicBezTo>
                    <a:cubicBezTo>
                      <a:pt x="13" y="10"/>
                      <a:pt x="25" y="15"/>
                      <a:pt x="25" y="3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16" name="Freeform 103">
                <a:extLst>
                  <a:ext uri="{FF2B5EF4-FFF2-40B4-BE49-F238E27FC236}">
                    <a16:creationId xmlns:a16="http://schemas.microsoft.com/office/drawing/2014/main" id="{60364756-E49F-5A9D-8379-81E63AC1D2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97500" y="2195513"/>
                <a:ext cx="677863" cy="544513"/>
              </a:xfrm>
              <a:custGeom>
                <a:avLst/>
                <a:gdLst/>
                <a:ahLst/>
                <a:cxnLst>
                  <a:cxn ang="0">
                    <a:pos x="148" y="270"/>
                  </a:cxn>
                  <a:cxn ang="0">
                    <a:pos x="174" y="340"/>
                  </a:cxn>
                  <a:cxn ang="0">
                    <a:pos x="200" y="401"/>
                  </a:cxn>
                  <a:cxn ang="0">
                    <a:pos x="216" y="401"/>
                  </a:cxn>
                  <a:cxn ang="0">
                    <a:pos x="237" y="379"/>
                  </a:cxn>
                  <a:cxn ang="0">
                    <a:pos x="243" y="341"/>
                  </a:cxn>
                  <a:cxn ang="0">
                    <a:pos x="268" y="298"/>
                  </a:cxn>
                  <a:cxn ang="0">
                    <a:pos x="326" y="240"/>
                  </a:cxn>
                  <a:cxn ang="0">
                    <a:pos x="374" y="218"/>
                  </a:cxn>
                  <a:cxn ang="0">
                    <a:pos x="409" y="259"/>
                  </a:cxn>
                  <a:cxn ang="0">
                    <a:pos x="423" y="302"/>
                  </a:cxn>
                  <a:cxn ang="0">
                    <a:pos x="457" y="300"/>
                  </a:cxn>
                  <a:cxn ang="0">
                    <a:pos x="476" y="367"/>
                  </a:cxn>
                  <a:cxn ang="0">
                    <a:pos x="489" y="358"/>
                  </a:cxn>
                  <a:cxn ang="0">
                    <a:pos x="472" y="316"/>
                  </a:cxn>
                  <a:cxn ang="0">
                    <a:pos x="473" y="288"/>
                  </a:cxn>
                  <a:cxn ang="0">
                    <a:pos x="483" y="254"/>
                  </a:cxn>
                  <a:cxn ang="0">
                    <a:pos x="487" y="213"/>
                  </a:cxn>
                  <a:cxn ang="0">
                    <a:pos x="467" y="197"/>
                  </a:cxn>
                  <a:cxn ang="0">
                    <a:pos x="445" y="125"/>
                  </a:cxn>
                  <a:cxn ang="0">
                    <a:pos x="423" y="130"/>
                  </a:cxn>
                  <a:cxn ang="0">
                    <a:pos x="373" y="144"/>
                  </a:cxn>
                  <a:cxn ang="0">
                    <a:pos x="341" y="147"/>
                  </a:cxn>
                  <a:cxn ang="0">
                    <a:pos x="295" y="136"/>
                  </a:cxn>
                  <a:cxn ang="0">
                    <a:pos x="254" y="116"/>
                  </a:cxn>
                  <a:cxn ang="0">
                    <a:pos x="226" y="89"/>
                  </a:cxn>
                  <a:cxn ang="0">
                    <a:pos x="229" y="69"/>
                  </a:cxn>
                  <a:cxn ang="0">
                    <a:pos x="213" y="43"/>
                  </a:cxn>
                  <a:cxn ang="0">
                    <a:pos x="178" y="16"/>
                  </a:cxn>
                  <a:cxn ang="0">
                    <a:pos x="131" y="0"/>
                  </a:cxn>
                  <a:cxn ang="0">
                    <a:pos x="94" y="21"/>
                  </a:cxn>
                  <a:cxn ang="0">
                    <a:pos x="65" y="13"/>
                  </a:cxn>
                  <a:cxn ang="0">
                    <a:pos x="23" y="46"/>
                  </a:cxn>
                  <a:cxn ang="0">
                    <a:pos x="0" y="64"/>
                  </a:cxn>
                  <a:cxn ang="0">
                    <a:pos x="1" y="87"/>
                  </a:cxn>
                  <a:cxn ang="0">
                    <a:pos x="4" y="120"/>
                  </a:cxn>
                  <a:cxn ang="0">
                    <a:pos x="13" y="181"/>
                  </a:cxn>
                  <a:cxn ang="0">
                    <a:pos x="34" y="185"/>
                  </a:cxn>
                  <a:cxn ang="0">
                    <a:pos x="70" y="185"/>
                  </a:cxn>
                  <a:cxn ang="0">
                    <a:pos x="118" y="219"/>
                  </a:cxn>
                  <a:cxn ang="0">
                    <a:pos x="127" y="248"/>
                  </a:cxn>
                  <a:cxn ang="0">
                    <a:pos x="145" y="233"/>
                  </a:cxn>
                  <a:cxn ang="0">
                    <a:pos x="149" y="265"/>
                  </a:cxn>
                </a:cxnLst>
                <a:rect l="0" t="0" r="r" b="b"/>
                <a:pathLst>
                  <a:path w="509" h="410">
                    <a:moveTo>
                      <a:pt x="149" y="265"/>
                    </a:moveTo>
                    <a:cubicBezTo>
                      <a:pt x="147" y="263"/>
                      <a:pt x="147" y="263"/>
                      <a:pt x="147" y="263"/>
                    </a:cubicBezTo>
                    <a:cubicBezTo>
                      <a:pt x="147" y="265"/>
                      <a:pt x="148" y="268"/>
                      <a:pt x="148" y="270"/>
                    </a:cubicBezTo>
                    <a:cubicBezTo>
                      <a:pt x="148" y="278"/>
                      <a:pt x="153" y="286"/>
                      <a:pt x="155" y="295"/>
                    </a:cubicBezTo>
                    <a:cubicBezTo>
                      <a:pt x="158" y="305"/>
                      <a:pt x="166" y="319"/>
                      <a:pt x="168" y="326"/>
                    </a:cubicBezTo>
                    <a:cubicBezTo>
                      <a:pt x="170" y="332"/>
                      <a:pt x="170" y="334"/>
                      <a:pt x="174" y="340"/>
                    </a:cubicBezTo>
                    <a:cubicBezTo>
                      <a:pt x="177" y="345"/>
                      <a:pt x="175" y="351"/>
                      <a:pt x="179" y="358"/>
                    </a:cubicBezTo>
                    <a:cubicBezTo>
                      <a:pt x="180" y="362"/>
                      <a:pt x="187" y="366"/>
                      <a:pt x="188" y="372"/>
                    </a:cubicBezTo>
                    <a:cubicBezTo>
                      <a:pt x="191" y="382"/>
                      <a:pt x="196" y="390"/>
                      <a:pt x="200" y="401"/>
                    </a:cubicBezTo>
                    <a:cubicBezTo>
                      <a:pt x="200" y="402"/>
                      <a:pt x="202" y="405"/>
                      <a:pt x="204" y="405"/>
                    </a:cubicBezTo>
                    <a:cubicBezTo>
                      <a:pt x="204" y="409"/>
                      <a:pt x="207" y="410"/>
                      <a:pt x="210" y="410"/>
                    </a:cubicBezTo>
                    <a:cubicBezTo>
                      <a:pt x="214" y="410"/>
                      <a:pt x="214" y="405"/>
                      <a:pt x="216" y="401"/>
                    </a:cubicBezTo>
                    <a:cubicBezTo>
                      <a:pt x="218" y="397"/>
                      <a:pt x="219" y="398"/>
                      <a:pt x="224" y="396"/>
                    </a:cubicBezTo>
                    <a:cubicBezTo>
                      <a:pt x="228" y="394"/>
                      <a:pt x="227" y="382"/>
                      <a:pt x="233" y="381"/>
                    </a:cubicBezTo>
                    <a:cubicBezTo>
                      <a:pt x="234" y="380"/>
                      <a:pt x="237" y="380"/>
                      <a:pt x="237" y="379"/>
                    </a:cubicBezTo>
                    <a:cubicBezTo>
                      <a:pt x="240" y="379"/>
                      <a:pt x="240" y="379"/>
                      <a:pt x="240" y="379"/>
                    </a:cubicBezTo>
                    <a:cubicBezTo>
                      <a:pt x="237" y="367"/>
                      <a:pt x="237" y="367"/>
                      <a:pt x="237" y="367"/>
                    </a:cubicBezTo>
                    <a:cubicBezTo>
                      <a:pt x="237" y="359"/>
                      <a:pt x="243" y="352"/>
                      <a:pt x="243" y="341"/>
                    </a:cubicBezTo>
                    <a:cubicBezTo>
                      <a:pt x="243" y="334"/>
                      <a:pt x="240" y="329"/>
                      <a:pt x="240" y="321"/>
                    </a:cubicBezTo>
                    <a:cubicBezTo>
                      <a:pt x="240" y="312"/>
                      <a:pt x="249" y="311"/>
                      <a:pt x="257" y="308"/>
                    </a:cubicBezTo>
                    <a:cubicBezTo>
                      <a:pt x="260" y="307"/>
                      <a:pt x="265" y="302"/>
                      <a:pt x="268" y="298"/>
                    </a:cubicBezTo>
                    <a:cubicBezTo>
                      <a:pt x="277" y="290"/>
                      <a:pt x="284" y="281"/>
                      <a:pt x="293" y="272"/>
                    </a:cubicBezTo>
                    <a:cubicBezTo>
                      <a:pt x="300" y="265"/>
                      <a:pt x="313" y="263"/>
                      <a:pt x="321" y="255"/>
                    </a:cubicBezTo>
                    <a:cubicBezTo>
                      <a:pt x="325" y="251"/>
                      <a:pt x="325" y="246"/>
                      <a:pt x="326" y="240"/>
                    </a:cubicBezTo>
                    <a:cubicBezTo>
                      <a:pt x="328" y="236"/>
                      <a:pt x="337" y="236"/>
                      <a:pt x="340" y="229"/>
                    </a:cubicBezTo>
                    <a:cubicBezTo>
                      <a:pt x="344" y="231"/>
                      <a:pt x="344" y="233"/>
                      <a:pt x="351" y="233"/>
                    </a:cubicBezTo>
                    <a:cubicBezTo>
                      <a:pt x="362" y="233"/>
                      <a:pt x="374" y="231"/>
                      <a:pt x="374" y="218"/>
                    </a:cubicBezTo>
                    <a:cubicBezTo>
                      <a:pt x="381" y="219"/>
                      <a:pt x="389" y="222"/>
                      <a:pt x="390" y="228"/>
                    </a:cubicBezTo>
                    <a:cubicBezTo>
                      <a:pt x="392" y="233"/>
                      <a:pt x="391" y="240"/>
                      <a:pt x="395" y="245"/>
                    </a:cubicBezTo>
                    <a:cubicBezTo>
                      <a:pt x="398" y="251"/>
                      <a:pt x="403" y="255"/>
                      <a:pt x="409" y="259"/>
                    </a:cubicBezTo>
                    <a:cubicBezTo>
                      <a:pt x="414" y="267"/>
                      <a:pt x="419" y="274"/>
                      <a:pt x="422" y="283"/>
                    </a:cubicBezTo>
                    <a:cubicBezTo>
                      <a:pt x="423" y="285"/>
                      <a:pt x="425" y="286"/>
                      <a:pt x="425" y="289"/>
                    </a:cubicBezTo>
                    <a:cubicBezTo>
                      <a:pt x="425" y="293"/>
                      <a:pt x="423" y="296"/>
                      <a:pt x="423" y="302"/>
                    </a:cubicBezTo>
                    <a:cubicBezTo>
                      <a:pt x="423" y="307"/>
                      <a:pt x="423" y="313"/>
                      <a:pt x="430" y="313"/>
                    </a:cubicBezTo>
                    <a:cubicBezTo>
                      <a:pt x="442" y="313"/>
                      <a:pt x="445" y="300"/>
                      <a:pt x="453" y="293"/>
                    </a:cubicBezTo>
                    <a:cubicBezTo>
                      <a:pt x="455" y="295"/>
                      <a:pt x="454" y="297"/>
                      <a:pt x="457" y="300"/>
                    </a:cubicBezTo>
                    <a:cubicBezTo>
                      <a:pt x="457" y="300"/>
                      <a:pt x="461" y="300"/>
                      <a:pt x="462" y="302"/>
                    </a:cubicBezTo>
                    <a:cubicBezTo>
                      <a:pt x="467" y="308"/>
                      <a:pt x="459" y="322"/>
                      <a:pt x="465" y="322"/>
                    </a:cubicBezTo>
                    <a:cubicBezTo>
                      <a:pt x="465" y="336"/>
                      <a:pt x="476" y="347"/>
                      <a:pt x="476" y="367"/>
                    </a:cubicBezTo>
                    <a:cubicBezTo>
                      <a:pt x="476" y="371"/>
                      <a:pt x="473" y="382"/>
                      <a:pt x="476" y="383"/>
                    </a:cubicBezTo>
                    <a:cubicBezTo>
                      <a:pt x="480" y="376"/>
                      <a:pt x="481" y="371"/>
                      <a:pt x="485" y="363"/>
                    </a:cubicBezTo>
                    <a:cubicBezTo>
                      <a:pt x="486" y="361"/>
                      <a:pt x="489" y="360"/>
                      <a:pt x="489" y="358"/>
                    </a:cubicBezTo>
                    <a:cubicBezTo>
                      <a:pt x="489" y="354"/>
                      <a:pt x="483" y="334"/>
                      <a:pt x="479" y="330"/>
                    </a:cubicBezTo>
                    <a:cubicBezTo>
                      <a:pt x="476" y="327"/>
                      <a:pt x="472" y="325"/>
                      <a:pt x="472" y="320"/>
                    </a:cubicBezTo>
                    <a:cubicBezTo>
                      <a:pt x="472" y="319"/>
                      <a:pt x="472" y="318"/>
                      <a:pt x="472" y="316"/>
                    </a:cubicBezTo>
                    <a:cubicBezTo>
                      <a:pt x="472" y="317"/>
                      <a:pt x="472" y="317"/>
                      <a:pt x="472" y="317"/>
                    </a:cubicBezTo>
                    <a:cubicBezTo>
                      <a:pt x="473" y="316"/>
                      <a:pt x="476" y="311"/>
                      <a:pt x="476" y="307"/>
                    </a:cubicBezTo>
                    <a:cubicBezTo>
                      <a:pt x="476" y="302"/>
                      <a:pt x="476" y="293"/>
                      <a:pt x="473" y="288"/>
                    </a:cubicBezTo>
                    <a:cubicBezTo>
                      <a:pt x="470" y="284"/>
                      <a:pt x="464" y="284"/>
                      <a:pt x="464" y="276"/>
                    </a:cubicBezTo>
                    <a:cubicBezTo>
                      <a:pt x="464" y="268"/>
                      <a:pt x="467" y="262"/>
                      <a:pt x="472" y="258"/>
                    </a:cubicBezTo>
                    <a:cubicBezTo>
                      <a:pt x="474" y="255"/>
                      <a:pt x="479" y="256"/>
                      <a:pt x="483" y="254"/>
                    </a:cubicBezTo>
                    <a:cubicBezTo>
                      <a:pt x="493" y="247"/>
                      <a:pt x="500" y="244"/>
                      <a:pt x="509" y="230"/>
                    </a:cubicBezTo>
                    <a:cubicBezTo>
                      <a:pt x="506" y="230"/>
                      <a:pt x="505" y="231"/>
                      <a:pt x="501" y="231"/>
                    </a:cubicBezTo>
                    <a:cubicBezTo>
                      <a:pt x="493" y="231"/>
                      <a:pt x="487" y="222"/>
                      <a:pt x="487" y="213"/>
                    </a:cubicBezTo>
                    <a:cubicBezTo>
                      <a:pt x="483" y="212"/>
                      <a:pt x="482" y="199"/>
                      <a:pt x="478" y="199"/>
                    </a:cubicBezTo>
                    <a:cubicBezTo>
                      <a:pt x="475" y="199"/>
                      <a:pt x="472" y="202"/>
                      <a:pt x="469" y="202"/>
                    </a:cubicBezTo>
                    <a:cubicBezTo>
                      <a:pt x="468" y="202"/>
                      <a:pt x="467" y="199"/>
                      <a:pt x="467" y="197"/>
                    </a:cubicBezTo>
                    <a:cubicBezTo>
                      <a:pt x="467" y="181"/>
                      <a:pt x="479" y="180"/>
                      <a:pt x="479" y="163"/>
                    </a:cubicBezTo>
                    <a:cubicBezTo>
                      <a:pt x="479" y="154"/>
                      <a:pt x="472" y="151"/>
                      <a:pt x="468" y="144"/>
                    </a:cubicBezTo>
                    <a:cubicBezTo>
                      <a:pt x="457" y="139"/>
                      <a:pt x="448" y="140"/>
                      <a:pt x="445" y="125"/>
                    </a:cubicBezTo>
                    <a:cubicBezTo>
                      <a:pt x="442" y="125"/>
                      <a:pt x="442" y="125"/>
                      <a:pt x="442" y="125"/>
                    </a:cubicBezTo>
                    <a:cubicBezTo>
                      <a:pt x="438" y="129"/>
                      <a:pt x="438" y="129"/>
                      <a:pt x="438" y="129"/>
                    </a:cubicBezTo>
                    <a:cubicBezTo>
                      <a:pt x="433" y="131"/>
                      <a:pt x="427" y="126"/>
                      <a:pt x="423" y="130"/>
                    </a:cubicBezTo>
                    <a:cubicBezTo>
                      <a:pt x="422" y="132"/>
                      <a:pt x="421" y="133"/>
                      <a:pt x="418" y="135"/>
                    </a:cubicBezTo>
                    <a:cubicBezTo>
                      <a:pt x="415" y="137"/>
                      <a:pt x="401" y="149"/>
                      <a:pt x="394" y="149"/>
                    </a:cubicBezTo>
                    <a:cubicBezTo>
                      <a:pt x="387" y="149"/>
                      <a:pt x="382" y="144"/>
                      <a:pt x="373" y="144"/>
                    </a:cubicBezTo>
                    <a:cubicBezTo>
                      <a:pt x="362" y="144"/>
                      <a:pt x="360" y="152"/>
                      <a:pt x="354" y="155"/>
                    </a:cubicBezTo>
                    <a:cubicBezTo>
                      <a:pt x="353" y="152"/>
                      <a:pt x="352" y="145"/>
                      <a:pt x="349" y="145"/>
                    </a:cubicBezTo>
                    <a:cubicBezTo>
                      <a:pt x="347" y="145"/>
                      <a:pt x="345" y="147"/>
                      <a:pt x="341" y="147"/>
                    </a:cubicBezTo>
                    <a:cubicBezTo>
                      <a:pt x="335" y="147"/>
                      <a:pt x="329" y="147"/>
                      <a:pt x="323" y="147"/>
                    </a:cubicBezTo>
                    <a:cubicBezTo>
                      <a:pt x="313" y="147"/>
                      <a:pt x="309" y="141"/>
                      <a:pt x="302" y="136"/>
                    </a:cubicBezTo>
                    <a:cubicBezTo>
                      <a:pt x="300" y="135"/>
                      <a:pt x="296" y="139"/>
                      <a:pt x="295" y="136"/>
                    </a:cubicBezTo>
                    <a:cubicBezTo>
                      <a:pt x="293" y="132"/>
                      <a:pt x="293" y="129"/>
                      <a:pt x="290" y="127"/>
                    </a:cubicBezTo>
                    <a:cubicBezTo>
                      <a:pt x="283" y="124"/>
                      <a:pt x="279" y="126"/>
                      <a:pt x="273" y="120"/>
                    </a:cubicBezTo>
                    <a:cubicBezTo>
                      <a:pt x="268" y="115"/>
                      <a:pt x="263" y="118"/>
                      <a:pt x="254" y="116"/>
                    </a:cubicBezTo>
                    <a:cubicBezTo>
                      <a:pt x="246" y="114"/>
                      <a:pt x="243" y="108"/>
                      <a:pt x="236" y="106"/>
                    </a:cubicBezTo>
                    <a:cubicBezTo>
                      <a:pt x="234" y="105"/>
                      <a:pt x="229" y="106"/>
                      <a:pt x="228" y="103"/>
                    </a:cubicBezTo>
                    <a:cubicBezTo>
                      <a:pt x="227" y="98"/>
                      <a:pt x="227" y="94"/>
                      <a:pt x="226" y="89"/>
                    </a:cubicBezTo>
                    <a:cubicBezTo>
                      <a:pt x="226" y="85"/>
                      <a:pt x="226" y="85"/>
                      <a:pt x="226" y="85"/>
                    </a:cubicBezTo>
                    <a:cubicBezTo>
                      <a:pt x="231" y="85"/>
                      <a:pt x="236" y="86"/>
                      <a:pt x="236" y="80"/>
                    </a:cubicBezTo>
                    <a:cubicBezTo>
                      <a:pt x="236" y="75"/>
                      <a:pt x="229" y="74"/>
                      <a:pt x="229" y="69"/>
                    </a:cubicBezTo>
                    <a:cubicBezTo>
                      <a:pt x="229" y="57"/>
                      <a:pt x="246" y="59"/>
                      <a:pt x="246" y="47"/>
                    </a:cubicBezTo>
                    <a:cubicBezTo>
                      <a:pt x="246" y="43"/>
                      <a:pt x="236" y="35"/>
                      <a:pt x="232" y="35"/>
                    </a:cubicBezTo>
                    <a:cubicBezTo>
                      <a:pt x="224" y="35"/>
                      <a:pt x="221" y="42"/>
                      <a:pt x="213" y="43"/>
                    </a:cubicBezTo>
                    <a:cubicBezTo>
                      <a:pt x="205" y="40"/>
                      <a:pt x="200" y="40"/>
                      <a:pt x="194" y="34"/>
                    </a:cubicBezTo>
                    <a:cubicBezTo>
                      <a:pt x="191" y="31"/>
                      <a:pt x="193" y="25"/>
                      <a:pt x="188" y="24"/>
                    </a:cubicBezTo>
                    <a:cubicBezTo>
                      <a:pt x="182" y="22"/>
                      <a:pt x="178" y="24"/>
                      <a:pt x="178" y="16"/>
                    </a:cubicBezTo>
                    <a:cubicBezTo>
                      <a:pt x="172" y="15"/>
                      <a:pt x="168" y="15"/>
                      <a:pt x="163" y="15"/>
                    </a:cubicBezTo>
                    <a:cubicBezTo>
                      <a:pt x="154" y="15"/>
                      <a:pt x="150" y="23"/>
                      <a:pt x="140" y="23"/>
                    </a:cubicBezTo>
                    <a:cubicBezTo>
                      <a:pt x="130" y="23"/>
                      <a:pt x="140" y="0"/>
                      <a:pt x="131" y="0"/>
                    </a:cubicBezTo>
                    <a:cubicBezTo>
                      <a:pt x="122" y="0"/>
                      <a:pt x="120" y="10"/>
                      <a:pt x="116" y="10"/>
                    </a:cubicBezTo>
                    <a:cubicBezTo>
                      <a:pt x="115" y="10"/>
                      <a:pt x="114" y="11"/>
                      <a:pt x="113" y="10"/>
                    </a:cubicBezTo>
                    <a:cubicBezTo>
                      <a:pt x="110" y="16"/>
                      <a:pt x="103" y="21"/>
                      <a:pt x="94" y="21"/>
                    </a:cubicBezTo>
                    <a:cubicBezTo>
                      <a:pt x="91" y="21"/>
                      <a:pt x="90" y="16"/>
                      <a:pt x="86" y="16"/>
                    </a:cubicBezTo>
                    <a:cubicBezTo>
                      <a:pt x="83" y="16"/>
                      <a:pt x="73" y="20"/>
                      <a:pt x="72" y="15"/>
                    </a:cubicBezTo>
                    <a:cubicBezTo>
                      <a:pt x="68" y="15"/>
                      <a:pt x="69" y="13"/>
                      <a:pt x="65" y="13"/>
                    </a:cubicBezTo>
                    <a:cubicBezTo>
                      <a:pt x="54" y="13"/>
                      <a:pt x="53" y="24"/>
                      <a:pt x="45" y="32"/>
                    </a:cubicBezTo>
                    <a:cubicBezTo>
                      <a:pt x="42" y="35"/>
                      <a:pt x="37" y="35"/>
                      <a:pt x="33" y="39"/>
                    </a:cubicBezTo>
                    <a:cubicBezTo>
                      <a:pt x="30" y="42"/>
                      <a:pt x="28" y="46"/>
                      <a:pt x="23" y="46"/>
                    </a:cubicBezTo>
                    <a:cubicBezTo>
                      <a:pt x="19" y="46"/>
                      <a:pt x="16" y="42"/>
                      <a:pt x="12" y="42"/>
                    </a:cubicBezTo>
                    <a:cubicBezTo>
                      <a:pt x="11" y="42"/>
                      <a:pt x="11" y="45"/>
                      <a:pt x="10" y="45"/>
                    </a:cubicBezTo>
                    <a:cubicBezTo>
                      <a:pt x="7" y="47"/>
                      <a:pt x="0" y="63"/>
                      <a:pt x="0" y="64"/>
                    </a:cubicBezTo>
                    <a:cubicBezTo>
                      <a:pt x="0" y="65"/>
                      <a:pt x="1" y="67"/>
                      <a:pt x="0" y="68"/>
                    </a:cubicBezTo>
                    <a:cubicBezTo>
                      <a:pt x="1" y="70"/>
                      <a:pt x="0" y="71"/>
                      <a:pt x="1" y="73"/>
                    </a:cubicBezTo>
                    <a:cubicBezTo>
                      <a:pt x="1" y="87"/>
                      <a:pt x="1" y="87"/>
                      <a:pt x="1" y="87"/>
                    </a:cubicBezTo>
                    <a:cubicBezTo>
                      <a:pt x="3" y="91"/>
                      <a:pt x="2" y="94"/>
                      <a:pt x="4" y="98"/>
                    </a:cubicBezTo>
                    <a:cubicBezTo>
                      <a:pt x="5" y="102"/>
                      <a:pt x="14" y="98"/>
                      <a:pt x="14" y="105"/>
                    </a:cubicBezTo>
                    <a:cubicBezTo>
                      <a:pt x="14" y="114"/>
                      <a:pt x="4" y="113"/>
                      <a:pt x="4" y="120"/>
                    </a:cubicBezTo>
                    <a:cubicBezTo>
                      <a:pt x="4" y="126"/>
                      <a:pt x="8" y="126"/>
                      <a:pt x="10" y="128"/>
                    </a:cubicBezTo>
                    <a:cubicBezTo>
                      <a:pt x="17" y="143"/>
                      <a:pt x="32" y="145"/>
                      <a:pt x="32" y="164"/>
                    </a:cubicBezTo>
                    <a:cubicBezTo>
                      <a:pt x="21" y="167"/>
                      <a:pt x="13" y="169"/>
                      <a:pt x="13" y="181"/>
                    </a:cubicBezTo>
                    <a:cubicBezTo>
                      <a:pt x="13" y="184"/>
                      <a:pt x="15" y="187"/>
                      <a:pt x="15" y="189"/>
                    </a:cubicBezTo>
                    <a:cubicBezTo>
                      <a:pt x="30" y="188"/>
                      <a:pt x="30" y="188"/>
                      <a:pt x="30" y="188"/>
                    </a:cubicBezTo>
                    <a:cubicBezTo>
                      <a:pt x="31" y="187"/>
                      <a:pt x="33" y="186"/>
                      <a:pt x="34" y="185"/>
                    </a:cubicBezTo>
                    <a:cubicBezTo>
                      <a:pt x="46" y="188"/>
                      <a:pt x="46" y="188"/>
                      <a:pt x="46" y="188"/>
                    </a:cubicBezTo>
                    <a:cubicBezTo>
                      <a:pt x="50" y="188"/>
                      <a:pt x="52" y="184"/>
                      <a:pt x="57" y="184"/>
                    </a:cubicBezTo>
                    <a:cubicBezTo>
                      <a:pt x="62" y="184"/>
                      <a:pt x="65" y="184"/>
                      <a:pt x="70" y="185"/>
                    </a:cubicBezTo>
                    <a:cubicBezTo>
                      <a:pt x="75" y="187"/>
                      <a:pt x="78" y="197"/>
                      <a:pt x="82" y="203"/>
                    </a:cubicBezTo>
                    <a:cubicBezTo>
                      <a:pt x="86" y="209"/>
                      <a:pt x="99" y="218"/>
                      <a:pt x="108" y="218"/>
                    </a:cubicBezTo>
                    <a:cubicBezTo>
                      <a:pt x="111" y="218"/>
                      <a:pt x="114" y="218"/>
                      <a:pt x="118" y="219"/>
                    </a:cubicBezTo>
                    <a:cubicBezTo>
                      <a:pt x="116" y="221"/>
                      <a:pt x="116" y="225"/>
                      <a:pt x="112" y="225"/>
                    </a:cubicBezTo>
                    <a:cubicBezTo>
                      <a:pt x="108" y="227"/>
                      <a:pt x="105" y="225"/>
                      <a:pt x="101" y="227"/>
                    </a:cubicBezTo>
                    <a:cubicBezTo>
                      <a:pt x="108" y="234"/>
                      <a:pt x="113" y="248"/>
                      <a:pt x="127" y="248"/>
                    </a:cubicBezTo>
                    <a:cubicBezTo>
                      <a:pt x="138" y="248"/>
                      <a:pt x="139" y="233"/>
                      <a:pt x="144" y="227"/>
                    </a:cubicBezTo>
                    <a:cubicBezTo>
                      <a:pt x="148" y="227"/>
                      <a:pt x="148" y="227"/>
                      <a:pt x="148" y="227"/>
                    </a:cubicBezTo>
                    <a:cubicBezTo>
                      <a:pt x="148" y="229"/>
                      <a:pt x="145" y="232"/>
                      <a:pt x="145" y="233"/>
                    </a:cubicBezTo>
                    <a:cubicBezTo>
                      <a:pt x="145" y="239"/>
                      <a:pt x="150" y="244"/>
                      <a:pt x="150" y="251"/>
                    </a:cubicBezTo>
                    <a:cubicBezTo>
                      <a:pt x="150" y="257"/>
                      <a:pt x="147" y="258"/>
                      <a:pt x="147" y="264"/>
                    </a:cubicBezTo>
                    <a:lnTo>
                      <a:pt x="149" y="265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17" name="Freeform 104">
                <a:extLst>
                  <a:ext uri="{FF2B5EF4-FFF2-40B4-BE49-F238E27FC236}">
                    <a16:creationId xmlns:a16="http://schemas.microsoft.com/office/drawing/2014/main" id="{A37832A8-CCFE-ED0E-00FD-67D12F37C0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5350" y="2781300"/>
                <a:ext cx="177800" cy="192088"/>
              </a:xfrm>
              <a:custGeom>
                <a:avLst/>
                <a:gdLst/>
                <a:ahLst/>
                <a:cxnLst>
                  <a:cxn ang="0">
                    <a:pos x="59" y="74"/>
                  </a:cxn>
                  <a:cxn ang="0">
                    <a:pos x="58" y="70"/>
                  </a:cxn>
                  <a:cxn ang="0">
                    <a:pos x="51" y="68"/>
                  </a:cxn>
                  <a:cxn ang="0">
                    <a:pos x="45" y="53"/>
                  </a:cxn>
                  <a:cxn ang="0">
                    <a:pos x="28" y="38"/>
                  </a:cxn>
                  <a:cxn ang="0">
                    <a:pos x="22" y="25"/>
                  </a:cxn>
                  <a:cxn ang="0">
                    <a:pos x="11" y="21"/>
                  </a:cxn>
                  <a:cxn ang="0">
                    <a:pos x="0" y="3"/>
                  </a:cxn>
                  <a:cxn ang="0">
                    <a:pos x="0" y="0"/>
                  </a:cxn>
                  <a:cxn ang="0">
                    <a:pos x="2" y="0"/>
                  </a:cxn>
                  <a:cxn ang="0">
                    <a:pos x="11" y="4"/>
                  </a:cxn>
                  <a:cxn ang="0">
                    <a:pos x="26" y="4"/>
                  </a:cxn>
                  <a:cxn ang="0">
                    <a:pos x="42" y="20"/>
                  </a:cxn>
                  <a:cxn ang="0">
                    <a:pos x="47" y="23"/>
                  </a:cxn>
                  <a:cxn ang="0">
                    <a:pos x="61" y="35"/>
                  </a:cxn>
                  <a:cxn ang="0">
                    <a:pos x="86" y="53"/>
                  </a:cxn>
                  <a:cxn ang="0">
                    <a:pos x="101" y="64"/>
                  </a:cxn>
                  <a:cxn ang="0">
                    <a:pos x="100" y="66"/>
                  </a:cxn>
                  <a:cxn ang="0">
                    <a:pos x="103" y="66"/>
                  </a:cxn>
                  <a:cxn ang="0">
                    <a:pos x="107" y="70"/>
                  </a:cxn>
                  <a:cxn ang="0">
                    <a:pos x="105" y="74"/>
                  </a:cxn>
                  <a:cxn ang="0">
                    <a:pos x="114" y="81"/>
                  </a:cxn>
                  <a:cxn ang="0">
                    <a:pos x="124" y="98"/>
                  </a:cxn>
                  <a:cxn ang="0">
                    <a:pos x="133" y="106"/>
                  </a:cxn>
                  <a:cxn ang="0">
                    <a:pos x="133" y="125"/>
                  </a:cxn>
                  <a:cxn ang="0">
                    <a:pos x="131" y="138"/>
                  </a:cxn>
                  <a:cxn ang="0">
                    <a:pos x="119" y="144"/>
                  </a:cxn>
                  <a:cxn ang="0">
                    <a:pos x="108" y="132"/>
                  </a:cxn>
                  <a:cxn ang="0">
                    <a:pos x="84" y="112"/>
                  </a:cxn>
                  <a:cxn ang="0">
                    <a:pos x="67" y="85"/>
                  </a:cxn>
                  <a:cxn ang="0">
                    <a:pos x="59" y="74"/>
                  </a:cxn>
                </a:cxnLst>
                <a:rect l="0" t="0" r="r" b="b"/>
                <a:pathLst>
                  <a:path w="133" h="144">
                    <a:moveTo>
                      <a:pt x="59" y="74"/>
                    </a:moveTo>
                    <a:cubicBezTo>
                      <a:pt x="58" y="74"/>
                      <a:pt x="59" y="72"/>
                      <a:pt x="58" y="70"/>
                    </a:cubicBezTo>
                    <a:cubicBezTo>
                      <a:pt x="57" y="69"/>
                      <a:pt x="52" y="69"/>
                      <a:pt x="51" y="68"/>
                    </a:cubicBezTo>
                    <a:cubicBezTo>
                      <a:pt x="49" y="67"/>
                      <a:pt x="45" y="56"/>
                      <a:pt x="45" y="53"/>
                    </a:cubicBezTo>
                    <a:cubicBezTo>
                      <a:pt x="41" y="43"/>
                      <a:pt x="31" y="44"/>
                      <a:pt x="28" y="38"/>
                    </a:cubicBezTo>
                    <a:cubicBezTo>
                      <a:pt x="26" y="33"/>
                      <a:pt x="24" y="30"/>
                      <a:pt x="22" y="25"/>
                    </a:cubicBezTo>
                    <a:cubicBezTo>
                      <a:pt x="20" y="21"/>
                      <a:pt x="15" y="22"/>
                      <a:pt x="11" y="21"/>
                    </a:cubicBezTo>
                    <a:cubicBezTo>
                      <a:pt x="8" y="20"/>
                      <a:pt x="1" y="8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7" y="0"/>
                      <a:pt x="8" y="2"/>
                      <a:pt x="11" y="4"/>
                    </a:cubicBezTo>
                    <a:cubicBezTo>
                      <a:pt x="26" y="4"/>
                      <a:pt x="26" y="4"/>
                      <a:pt x="26" y="4"/>
                    </a:cubicBezTo>
                    <a:cubicBezTo>
                      <a:pt x="35" y="7"/>
                      <a:pt x="38" y="13"/>
                      <a:pt x="42" y="20"/>
                    </a:cubicBezTo>
                    <a:cubicBezTo>
                      <a:pt x="43" y="23"/>
                      <a:pt x="45" y="22"/>
                      <a:pt x="47" y="23"/>
                    </a:cubicBezTo>
                    <a:cubicBezTo>
                      <a:pt x="53" y="25"/>
                      <a:pt x="56" y="30"/>
                      <a:pt x="61" y="35"/>
                    </a:cubicBezTo>
                    <a:cubicBezTo>
                      <a:pt x="69" y="43"/>
                      <a:pt x="74" y="49"/>
                      <a:pt x="86" y="53"/>
                    </a:cubicBezTo>
                    <a:cubicBezTo>
                      <a:pt x="93" y="55"/>
                      <a:pt x="101" y="57"/>
                      <a:pt x="101" y="64"/>
                    </a:cubicBezTo>
                    <a:cubicBezTo>
                      <a:pt x="101" y="64"/>
                      <a:pt x="100" y="65"/>
                      <a:pt x="100" y="66"/>
                    </a:cubicBezTo>
                    <a:cubicBezTo>
                      <a:pt x="101" y="66"/>
                      <a:pt x="102" y="66"/>
                      <a:pt x="103" y="66"/>
                    </a:cubicBezTo>
                    <a:cubicBezTo>
                      <a:pt x="105" y="66"/>
                      <a:pt x="106" y="68"/>
                      <a:pt x="107" y="70"/>
                    </a:cubicBezTo>
                    <a:cubicBezTo>
                      <a:pt x="105" y="74"/>
                      <a:pt x="105" y="74"/>
                      <a:pt x="105" y="74"/>
                    </a:cubicBezTo>
                    <a:cubicBezTo>
                      <a:pt x="105" y="80"/>
                      <a:pt x="109" y="81"/>
                      <a:pt x="114" y="81"/>
                    </a:cubicBezTo>
                    <a:cubicBezTo>
                      <a:pt x="114" y="91"/>
                      <a:pt x="119" y="93"/>
                      <a:pt x="124" y="98"/>
                    </a:cubicBezTo>
                    <a:cubicBezTo>
                      <a:pt x="127" y="101"/>
                      <a:pt x="133" y="102"/>
                      <a:pt x="133" y="106"/>
                    </a:cubicBezTo>
                    <a:cubicBezTo>
                      <a:pt x="133" y="112"/>
                      <a:pt x="133" y="116"/>
                      <a:pt x="133" y="125"/>
                    </a:cubicBezTo>
                    <a:cubicBezTo>
                      <a:pt x="128" y="127"/>
                      <a:pt x="131" y="133"/>
                      <a:pt x="131" y="138"/>
                    </a:cubicBezTo>
                    <a:cubicBezTo>
                      <a:pt x="131" y="143"/>
                      <a:pt x="122" y="144"/>
                      <a:pt x="119" y="144"/>
                    </a:cubicBezTo>
                    <a:cubicBezTo>
                      <a:pt x="116" y="144"/>
                      <a:pt x="109" y="132"/>
                      <a:pt x="108" y="132"/>
                    </a:cubicBezTo>
                    <a:cubicBezTo>
                      <a:pt x="100" y="124"/>
                      <a:pt x="92" y="120"/>
                      <a:pt x="84" y="112"/>
                    </a:cubicBezTo>
                    <a:cubicBezTo>
                      <a:pt x="75" y="103"/>
                      <a:pt x="71" y="95"/>
                      <a:pt x="67" y="85"/>
                    </a:cubicBezTo>
                    <a:cubicBezTo>
                      <a:pt x="66" y="83"/>
                      <a:pt x="60" y="74"/>
                      <a:pt x="59" y="7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18" name="Freeform 105">
                <a:extLst>
                  <a:ext uri="{FF2B5EF4-FFF2-40B4-BE49-F238E27FC236}">
                    <a16:creationId xmlns:a16="http://schemas.microsoft.com/office/drawing/2014/main" id="{135BCF7B-873E-9FAF-E4F7-C9B95A8718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03950" y="2757488"/>
                <a:ext cx="169863" cy="188913"/>
              </a:xfrm>
              <a:custGeom>
                <a:avLst/>
                <a:gdLst/>
                <a:ahLst/>
                <a:cxnLst>
                  <a:cxn ang="0">
                    <a:pos x="37" y="130"/>
                  </a:cxn>
                  <a:cxn ang="0">
                    <a:pos x="36" y="124"/>
                  </a:cxn>
                  <a:cxn ang="0">
                    <a:pos x="27" y="126"/>
                  </a:cxn>
                  <a:cxn ang="0">
                    <a:pos x="11" y="102"/>
                  </a:cxn>
                  <a:cxn ang="0">
                    <a:pos x="12" y="99"/>
                  </a:cxn>
                  <a:cxn ang="0">
                    <a:pos x="6" y="97"/>
                  </a:cxn>
                  <a:cxn ang="0">
                    <a:pos x="0" y="78"/>
                  </a:cxn>
                  <a:cxn ang="0">
                    <a:pos x="15" y="74"/>
                  </a:cxn>
                  <a:cxn ang="0">
                    <a:pos x="33" y="54"/>
                  </a:cxn>
                  <a:cxn ang="0">
                    <a:pos x="45" y="50"/>
                  </a:cxn>
                  <a:cxn ang="0">
                    <a:pos x="56" y="41"/>
                  </a:cxn>
                  <a:cxn ang="0">
                    <a:pos x="59" y="35"/>
                  </a:cxn>
                  <a:cxn ang="0">
                    <a:pos x="63" y="32"/>
                  </a:cxn>
                  <a:cxn ang="0">
                    <a:pos x="66" y="29"/>
                  </a:cxn>
                  <a:cxn ang="0">
                    <a:pos x="82" y="23"/>
                  </a:cxn>
                  <a:cxn ang="0">
                    <a:pos x="102" y="0"/>
                  </a:cxn>
                  <a:cxn ang="0">
                    <a:pos x="109" y="11"/>
                  </a:cxn>
                  <a:cxn ang="0">
                    <a:pos x="127" y="23"/>
                  </a:cxn>
                  <a:cxn ang="0">
                    <a:pos x="117" y="29"/>
                  </a:cxn>
                  <a:cxn ang="0">
                    <a:pos x="119" y="31"/>
                  </a:cxn>
                  <a:cxn ang="0">
                    <a:pos x="106" y="37"/>
                  </a:cxn>
                  <a:cxn ang="0">
                    <a:pos x="108" y="41"/>
                  </a:cxn>
                  <a:cxn ang="0">
                    <a:pos x="105" y="44"/>
                  </a:cxn>
                  <a:cxn ang="0">
                    <a:pos x="125" y="73"/>
                  </a:cxn>
                  <a:cxn ang="0">
                    <a:pos x="115" y="77"/>
                  </a:cxn>
                  <a:cxn ang="0">
                    <a:pos x="111" y="78"/>
                  </a:cxn>
                  <a:cxn ang="0">
                    <a:pos x="109" y="83"/>
                  </a:cxn>
                  <a:cxn ang="0">
                    <a:pos x="103" y="102"/>
                  </a:cxn>
                  <a:cxn ang="0">
                    <a:pos x="93" y="113"/>
                  </a:cxn>
                  <a:cxn ang="0">
                    <a:pos x="95" y="119"/>
                  </a:cxn>
                  <a:cxn ang="0">
                    <a:pos x="90" y="134"/>
                  </a:cxn>
                  <a:cxn ang="0">
                    <a:pos x="76" y="141"/>
                  </a:cxn>
                  <a:cxn ang="0">
                    <a:pos x="71" y="135"/>
                  </a:cxn>
                  <a:cxn ang="0">
                    <a:pos x="51" y="128"/>
                  </a:cxn>
                  <a:cxn ang="0">
                    <a:pos x="40" y="132"/>
                  </a:cxn>
                  <a:cxn ang="0">
                    <a:pos x="37" y="130"/>
                  </a:cxn>
                </a:cxnLst>
                <a:rect l="0" t="0" r="r" b="b"/>
                <a:pathLst>
                  <a:path w="127" h="141">
                    <a:moveTo>
                      <a:pt x="37" y="130"/>
                    </a:moveTo>
                    <a:cubicBezTo>
                      <a:pt x="36" y="130"/>
                      <a:pt x="36" y="125"/>
                      <a:pt x="36" y="124"/>
                    </a:cubicBezTo>
                    <a:cubicBezTo>
                      <a:pt x="32" y="123"/>
                      <a:pt x="30" y="126"/>
                      <a:pt x="27" y="126"/>
                    </a:cubicBezTo>
                    <a:cubicBezTo>
                      <a:pt x="10" y="126"/>
                      <a:pt x="17" y="110"/>
                      <a:pt x="11" y="102"/>
                    </a:cubicBezTo>
                    <a:cubicBezTo>
                      <a:pt x="11" y="101"/>
                      <a:pt x="12" y="100"/>
                      <a:pt x="12" y="99"/>
                    </a:cubicBezTo>
                    <a:cubicBezTo>
                      <a:pt x="11" y="97"/>
                      <a:pt x="8" y="97"/>
                      <a:pt x="6" y="97"/>
                    </a:cubicBezTo>
                    <a:cubicBezTo>
                      <a:pt x="4" y="96"/>
                      <a:pt x="0" y="80"/>
                      <a:pt x="0" y="78"/>
                    </a:cubicBezTo>
                    <a:cubicBezTo>
                      <a:pt x="0" y="71"/>
                      <a:pt x="9" y="74"/>
                      <a:pt x="15" y="74"/>
                    </a:cubicBezTo>
                    <a:cubicBezTo>
                      <a:pt x="29" y="74"/>
                      <a:pt x="27" y="60"/>
                      <a:pt x="33" y="54"/>
                    </a:cubicBezTo>
                    <a:cubicBezTo>
                      <a:pt x="36" y="51"/>
                      <a:pt x="41" y="51"/>
                      <a:pt x="45" y="50"/>
                    </a:cubicBezTo>
                    <a:cubicBezTo>
                      <a:pt x="52" y="49"/>
                      <a:pt x="52" y="44"/>
                      <a:pt x="56" y="41"/>
                    </a:cubicBezTo>
                    <a:cubicBezTo>
                      <a:pt x="54" y="39"/>
                      <a:pt x="59" y="35"/>
                      <a:pt x="59" y="35"/>
                    </a:cubicBezTo>
                    <a:cubicBezTo>
                      <a:pt x="61" y="34"/>
                      <a:pt x="61" y="33"/>
                      <a:pt x="63" y="32"/>
                    </a:cubicBezTo>
                    <a:cubicBezTo>
                      <a:pt x="64" y="32"/>
                      <a:pt x="65" y="30"/>
                      <a:pt x="66" y="29"/>
                    </a:cubicBezTo>
                    <a:cubicBezTo>
                      <a:pt x="70" y="25"/>
                      <a:pt x="80" y="27"/>
                      <a:pt x="82" y="23"/>
                    </a:cubicBezTo>
                    <a:cubicBezTo>
                      <a:pt x="85" y="16"/>
                      <a:pt x="95" y="0"/>
                      <a:pt x="102" y="0"/>
                    </a:cubicBezTo>
                    <a:cubicBezTo>
                      <a:pt x="109" y="0"/>
                      <a:pt x="109" y="4"/>
                      <a:pt x="109" y="11"/>
                    </a:cubicBezTo>
                    <a:cubicBezTo>
                      <a:pt x="109" y="20"/>
                      <a:pt x="127" y="15"/>
                      <a:pt x="127" y="23"/>
                    </a:cubicBezTo>
                    <a:cubicBezTo>
                      <a:pt x="127" y="27"/>
                      <a:pt x="117" y="25"/>
                      <a:pt x="117" y="29"/>
                    </a:cubicBezTo>
                    <a:cubicBezTo>
                      <a:pt x="117" y="30"/>
                      <a:pt x="118" y="31"/>
                      <a:pt x="119" y="31"/>
                    </a:cubicBezTo>
                    <a:cubicBezTo>
                      <a:pt x="118" y="32"/>
                      <a:pt x="106" y="37"/>
                      <a:pt x="106" y="37"/>
                    </a:cubicBezTo>
                    <a:cubicBezTo>
                      <a:pt x="107" y="38"/>
                      <a:pt x="108" y="40"/>
                      <a:pt x="108" y="41"/>
                    </a:cubicBezTo>
                    <a:cubicBezTo>
                      <a:pt x="107" y="42"/>
                      <a:pt x="105" y="43"/>
                      <a:pt x="105" y="44"/>
                    </a:cubicBezTo>
                    <a:cubicBezTo>
                      <a:pt x="105" y="51"/>
                      <a:pt x="117" y="73"/>
                      <a:pt x="125" y="73"/>
                    </a:cubicBezTo>
                    <a:cubicBezTo>
                      <a:pt x="124" y="79"/>
                      <a:pt x="120" y="77"/>
                      <a:pt x="115" y="77"/>
                    </a:cubicBezTo>
                    <a:cubicBezTo>
                      <a:pt x="114" y="77"/>
                      <a:pt x="112" y="78"/>
                      <a:pt x="111" y="78"/>
                    </a:cubicBezTo>
                    <a:cubicBezTo>
                      <a:pt x="109" y="83"/>
                      <a:pt x="109" y="83"/>
                      <a:pt x="109" y="83"/>
                    </a:cubicBezTo>
                    <a:cubicBezTo>
                      <a:pt x="106" y="92"/>
                      <a:pt x="103" y="95"/>
                      <a:pt x="103" y="102"/>
                    </a:cubicBezTo>
                    <a:cubicBezTo>
                      <a:pt x="98" y="103"/>
                      <a:pt x="93" y="110"/>
                      <a:pt x="93" y="113"/>
                    </a:cubicBezTo>
                    <a:cubicBezTo>
                      <a:pt x="93" y="116"/>
                      <a:pt x="95" y="117"/>
                      <a:pt x="95" y="119"/>
                    </a:cubicBezTo>
                    <a:cubicBezTo>
                      <a:pt x="95" y="122"/>
                      <a:pt x="90" y="129"/>
                      <a:pt x="90" y="134"/>
                    </a:cubicBezTo>
                    <a:cubicBezTo>
                      <a:pt x="83" y="135"/>
                      <a:pt x="82" y="141"/>
                      <a:pt x="76" y="141"/>
                    </a:cubicBezTo>
                    <a:cubicBezTo>
                      <a:pt x="72" y="141"/>
                      <a:pt x="71" y="137"/>
                      <a:pt x="71" y="135"/>
                    </a:cubicBezTo>
                    <a:cubicBezTo>
                      <a:pt x="64" y="133"/>
                      <a:pt x="59" y="128"/>
                      <a:pt x="51" y="128"/>
                    </a:cubicBezTo>
                    <a:cubicBezTo>
                      <a:pt x="48" y="128"/>
                      <a:pt x="45" y="132"/>
                      <a:pt x="40" y="132"/>
                    </a:cubicBezTo>
                    <a:cubicBezTo>
                      <a:pt x="39" y="132"/>
                      <a:pt x="38" y="130"/>
                      <a:pt x="37" y="13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19" name="Freeform 106">
                <a:extLst>
                  <a:ext uri="{FF2B5EF4-FFF2-40B4-BE49-F238E27FC236}">
                    <a16:creationId xmlns:a16="http://schemas.microsoft.com/office/drawing/2014/main" id="{EA08907D-6B15-7E1B-379E-C9B89E6C3D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67463" y="2847975"/>
                <a:ext cx="106363" cy="123825"/>
              </a:xfrm>
              <a:custGeom>
                <a:avLst/>
                <a:gdLst/>
                <a:ahLst/>
                <a:cxnLst>
                  <a:cxn ang="0">
                    <a:pos x="31" y="34"/>
                  </a:cxn>
                  <a:cxn ang="0">
                    <a:pos x="27" y="38"/>
                  </a:cxn>
                  <a:cxn ang="0">
                    <a:pos x="17" y="24"/>
                  </a:cxn>
                  <a:cxn ang="0">
                    <a:pos x="32" y="16"/>
                  </a:cxn>
                  <a:cxn ang="0">
                    <a:pos x="49" y="15"/>
                  </a:cxn>
                  <a:cxn ang="0">
                    <a:pos x="64" y="18"/>
                  </a:cxn>
                  <a:cxn ang="0">
                    <a:pos x="77" y="4"/>
                  </a:cxn>
                  <a:cxn ang="0">
                    <a:pos x="79" y="0"/>
                  </a:cxn>
                  <a:cxn ang="0">
                    <a:pos x="77" y="0"/>
                  </a:cxn>
                  <a:cxn ang="0">
                    <a:pos x="63" y="10"/>
                  </a:cxn>
                  <a:cxn ang="0">
                    <a:pos x="59" y="10"/>
                  </a:cxn>
                  <a:cxn ang="0">
                    <a:pos x="28" y="5"/>
                  </a:cxn>
                  <a:cxn ang="0">
                    <a:pos x="12" y="30"/>
                  </a:cxn>
                  <a:cxn ang="0">
                    <a:pos x="8" y="37"/>
                  </a:cxn>
                  <a:cxn ang="0">
                    <a:pos x="0" y="61"/>
                  </a:cxn>
                  <a:cxn ang="0">
                    <a:pos x="8" y="66"/>
                  </a:cxn>
                  <a:cxn ang="0">
                    <a:pos x="8" y="87"/>
                  </a:cxn>
                  <a:cxn ang="0">
                    <a:pos x="16" y="93"/>
                  </a:cxn>
                  <a:cxn ang="0">
                    <a:pos x="22" y="76"/>
                  </a:cxn>
                  <a:cxn ang="0">
                    <a:pos x="18" y="61"/>
                  </a:cxn>
                  <a:cxn ang="0">
                    <a:pos x="25" y="56"/>
                  </a:cxn>
                  <a:cxn ang="0">
                    <a:pos x="28" y="56"/>
                  </a:cxn>
                  <a:cxn ang="0">
                    <a:pos x="27" y="65"/>
                  </a:cxn>
                  <a:cxn ang="0">
                    <a:pos x="34" y="79"/>
                  </a:cxn>
                  <a:cxn ang="0">
                    <a:pos x="34" y="83"/>
                  </a:cxn>
                  <a:cxn ang="0">
                    <a:pos x="39" y="83"/>
                  </a:cxn>
                  <a:cxn ang="0">
                    <a:pos x="49" y="73"/>
                  </a:cxn>
                  <a:cxn ang="0">
                    <a:pos x="43" y="65"/>
                  </a:cxn>
                  <a:cxn ang="0">
                    <a:pos x="45" y="63"/>
                  </a:cxn>
                  <a:cxn ang="0">
                    <a:pos x="34" y="44"/>
                  </a:cxn>
                  <a:cxn ang="0">
                    <a:pos x="57" y="31"/>
                  </a:cxn>
                  <a:cxn ang="0">
                    <a:pos x="57" y="28"/>
                  </a:cxn>
                  <a:cxn ang="0">
                    <a:pos x="31" y="36"/>
                  </a:cxn>
                  <a:cxn ang="0">
                    <a:pos x="31" y="34"/>
                  </a:cxn>
                </a:cxnLst>
                <a:rect l="0" t="0" r="r" b="b"/>
                <a:pathLst>
                  <a:path w="79" h="93">
                    <a:moveTo>
                      <a:pt x="31" y="34"/>
                    </a:moveTo>
                    <a:cubicBezTo>
                      <a:pt x="30" y="36"/>
                      <a:pt x="29" y="38"/>
                      <a:pt x="27" y="38"/>
                    </a:cubicBezTo>
                    <a:cubicBezTo>
                      <a:pt x="20" y="38"/>
                      <a:pt x="17" y="30"/>
                      <a:pt x="17" y="24"/>
                    </a:cubicBezTo>
                    <a:cubicBezTo>
                      <a:pt x="17" y="15"/>
                      <a:pt x="24" y="16"/>
                      <a:pt x="32" y="16"/>
                    </a:cubicBezTo>
                    <a:cubicBezTo>
                      <a:pt x="39" y="16"/>
                      <a:pt x="42" y="15"/>
                      <a:pt x="49" y="15"/>
                    </a:cubicBezTo>
                    <a:cubicBezTo>
                      <a:pt x="54" y="15"/>
                      <a:pt x="58" y="18"/>
                      <a:pt x="64" y="18"/>
                    </a:cubicBezTo>
                    <a:cubicBezTo>
                      <a:pt x="73" y="18"/>
                      <a:pt x="76" y="10"/>
                      <a:pt x="77" y="4"/>
                    </a:cubicBezTo>
                    <a:cubicBezTo>
                      <a:pt x="79" y="4"/>
                      <a:pt x="79" y="1"/>
                      <a:pt x="79" y="0"/>
                    </a:cubicBezTo>
                    <a:cubicBezTo>
                      <a:pt x="77" y="0"/>
                      <a:pt x="77" y="0"/>
                      <a:pt x="77" y="0"/>
                    </a:cubicBezTo>
                    <a:cubicBezTo>
                      <a:pt x="72" y="4"/>
                      <a:pt x="65" y="8"/>
                      <a:pt x="63" y="10"/>
                    </a:cubicBezTo>
                    <a:cubicBezTo>
                      <a:pt x="59" y="10"/>
                      <a:pt x="59" y="10"/>
                      <a:pt x="59" y="10"/>
                    </a:cubicBezTo>
                    <a:cubicBezTo>
                      <a:pt x="28" y="5"/>
                      <a:pt x="28" y="5"/>
                      <a:pt x="28" y="5"/>
                    </a:cubicBezTo>
                    <a:cubicBezTo>
                      <a:pt x="17" y="5"/>
                      <a:pt x="12" y="20"/>
                      <a:pt x="12" y="30"/>
                    </a:cubicBezTo>
                    <a:cubicBezTo>
                      <a:pt x="12" y="33"/>
                      <a:pt x="8" y="35"/>
                      <a:pt x="8" y="37"/>
                    </a:cubicBezTo>
                    <a:cubicBezTo>
                      <a:pt x="4" y="47"/>
                      <a:pt x="0" y="51"/>
                      <a:pt x="0" y="61"/>
                    </a:cubicBezTo>
                    <a:cubicBezTo>
                      <a:pt x="0" y="66"/>
                      <a:pt x="6" y="66"/>
                      <a:pt x="8" y="66"/>
                    </a:cubicBezTo>
                    <a:cubicBezTo>
                      <a:pt x="8" y="73"/>
                      <a:pt x="8" y="83"/>
                      <a:pt x="8" y="87"/>
                    </a:cubicBezTo>
                    <a:cubicBezTo>
                      <a:pt x="8" y="90"/>
                      <a:pt x="12" y="93"/>
                      <a:pt x="16" y="93"/>
                    </a:cubicBezTo>
                    <a:cubicBezTo>
                      <a:pt x="20" y="93"/>
                      <a:pt x="22" y="78"/>
                      <a:pt x="22" y="76"/>
                    </a:cubicBezTo>
                    <a:cubicBezTo>
                      <a:pt x="22" y="70"/>
                      <a:pt x="18" y="67"/>
                      <a:pt x="18" y="61"/>
                    </a:cubicBezTo>
                    <a:cubicBezTo>
                      <a:pt x="18" y="58"/>
                      <a:pt x="22" y="56"/>
                      <a:pt x="25" y="56"/>
                    </a:cubicBezTo>
                    <a:cubicBezTo>
                      <a:pt x="26" y="56"/>
                      <a:pt x="27" y="56"/>
                      <a:pt x="28" y="56"/>
                    </a:cubicBezTo>
                    <a:cubicBezTo>
                      <a:pt x="27" y="65"/>
                      <a:pt x="27" y="65"/>
                      <a:pt x="27" y="65"/>
                    </a:cubicBezTo>
                    <a:cubicBezTo>
                      <a:pt x="27" y="71"/>
                      <a:pt x="34" y="73"/>
                      <a:pt x="34" y="79"/>
                    </a:cubicBezTo>
                    <a:cubicBezTo>
                      <a:pt x="34" y="80"/>
                      <a:pt x="34" y="81"/>
                      <a:pt x="34" y="83"/>
                    </a:cubicBezTo>
                    <a:cubicBezTo>
                      <a:pt x="39" y="83"/>
                      <a:pt x="39" y="83"/>
                      <a:pt x="39" y="83"/>
                    </a:cubicBezTo>
                    <a:cubicBezTo>
                      <a:pt x="39" y="78"/>
                      <a:pt x="49" y="78"/>
                      <a:pt x="49" y="73"/>
                    </a:cubicBezTo>
                    <a:cubicBezTo>
                      <a:pt x="47" y="73"/>
                      <a:pt x="43" y="68"/>
                      <a:pt x="43" y="65"/>
                    </a:cubicBezTo>
                    <a:cubicBezTo>
                      <a:pt x="43" y="65"/>
                      <a:pt x="44" y="64"/>
                      <a:pt x="45" y="63"/>
                    </a:cubicBezTo>
                    <a:cubicBezTo>
                      <a:pt x="42" y="61"/>
                      <a:pt x="34" y="46"/>
                      <a:pt x="34" y="44"/>
                    </a:cubicBezTo>
                    <a:cubicBezTo>
                      <a:pt x="46" y="44"/>
                      <a:pt x="47" y="35"/>
                      <a:pt x="57" y="31"/>
                    </a:cubicBezTo>
                    <a:cubicBezTo>
                      <a:pt x="57" y="28"/>
                      <a:pt x="57" y="28"/>
                      <a:pt x="57" y="28"/>
                    </a:cubicBezTo>
                    <a:cubicBezTo>
                      <a:pt x="54" y="27"/>
                      <a:pt x="31" y="35"/>
                      <a:pt x="31" y="36"/>
                    </a:cubicBezTo>
                    <a:lnTo>
                      <a:pt x="31" y="3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20" name="Freeform 107">
                <a:extLst>
                  <a:ext uri="{FF2B5EF4-FFF2-40B4-BE49-F238E27FC236}">
                    <a16:creationId xmlns:a16="http://schemas.microsoft.com/office/drawing/2014/main" id="{8D2726FD-EE05-48D0-2E16-122BC9B412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45213" y="2973388"/>
                <a:ext cx="171450" cy="49213"/>
              </a:xfrm>
              <a:custGeom>
                <a:avLst/>
                <a:gdLst/>
                <a:ahLst/>
                <a:cxnLst>
                  <a:cxn ang="0">
                    <a:pos x="123" y="36"/>
                  </a:cxn>
                  <a:cxn ang="0">
                    <a:pos x="114" y="33"/>
                  </a:cxn>
                  <a:cxn ang="0">
                    <a:pos x="114" y="37"/>
                  </a:cxn>
                  <a:cxn ang="0">
                    <a:pos x="67" y="31"/>
                  </a:cxn>
                  <a:cxn ang="0">
                    <a:pos x="56" y="25"/>
                  </a:cxn>
                  <a:cxn ang="0">
                    <a:pos x="32" y="22"/>
                  </a:cxn>
                  <a:cxn ang="0">
                    <a:pos x="14" y="20"/>
                  </a:cxn>
                  <a:cxn ang="0">
                    <a:pos x="0" y="10"/>
                  </a:cxn>
                  <a:cxn ang="0">
                    <a:pos x="11" y="1"/>
                  </a:cxn>
                  <a:cxn ang="0">
                    <a:pos x="14" y="3"/>
                  </a:cxn>
                  <a:cxn ang="0">
                    <a:pos x="22" y="0"/>
                  </a:cxn>
                  <a:cxn ang="0">
                    <a:pos x="55" y="14"/>
                  </a:cxn>
                  <a:cxn ang="0">
                    <a:pos x="68" y="7"/>
                  </a:cxn>
                  <a:cxn ang="0">
                    <a:pos x="88" y="15"/>
                  </a:cxn>
                  <a:cxn ang="0">
                    <a:pos x="101" y="14"/>
                  </a:cxn>
                  <a:cxn ang="0">
                    <a:pos x="105" y="14"/>
                  </a:cxn>
                  <a:cxn ang="0">
                    <a:pos x="89" y="17"/>
                  </a:cxn>
                  <a:cxn ang="0">
                    <a:pos x="107" y="22"/>
                  </a:cxn>
                  <a:cxn ang="0">
                    <a:pos x="111" y="26"/>
                  </a:cxn>
                  <a:cxn ang="0">
                    <a:pos x="121" y="27"/>
                  </a:cxn>
                  <a:cxn ang="0">
                    <a:pos x="128" y="31"/>
                  </a:cxn>
                  <a:cxn ang="0">
                    <a:pos x="123" y="36"/>
                  </a:cxn>
                </a:cxnLst>
                <a:rect l="0" t="0" r="r" b="b"/>
                <a:pathLst>
                  <a:path w="128" h="37">
                    <a:moveTo>
                      <a:pt x="123" y="36"/>
                    </a:moveTo>
                    <a:cubicBezTo>
                      <a:pt x="119" y="36"/>
                      <a:pt x="119" y="33"/>
                      <a:pt x="114" y="33"/>
                    </a:cubicBezTo>
                    <a:cubicBezTo>
                      <a:pt x="113" y="33"/>
                      <a:pt x="114" y="36"/>
                      <a:pt x="114" y="37"/>
                    </a:cubicBezTo>
                    <a:cubicBezTo>
                      <a:pt x="100" y="32"/>
                      <a:pt x="85" y="31"/>
                      <a:pt x="67" y="31"/>
                    </a:cubicBezTo>
                    <a:cubicBezTo>
                      <a:pt x="62" y="31"/>
                      <a:pt x="61" y="25"/>
                      <a:pt x="56" y="25"/>
                    </a:cubicBezTo>
                    <a:cubicBezTo>
                      <a:pt x="48" y="25"/>
                      <a:pt x="41" y="25"/>
                      <a:pt x="32" y="22"/>
                    </a:cubicBezTo>
                    <a:cubicBezTo>
                      <a:pt x="25" y="20"/>
                      <a:pt x="19" y="24"/>
                      <a:pt x="14" y="20"/>
                    </a:cubicBezTo>
                    <a:cubicBezTo>
                      <a:pt x="10" y="15"/>
                      <a:pt x="7" y="10"/>
                      <a:pt x="0" y="10"/>
                    </a:cubicBezTo>
                    <a:cubicBezTo>
                      <a:pt x="0" y="9"/>
                      <a:pt x="8" y="1"/>
                      <a:pt x="11" y="1"/>
                    </a:cubicBezTo>
                    <a:cubicBezTo>
                      <a:pt x="12" y="1"/>
                      <a:pt x="13" y="3"/>
                      <a:pt x="14" y="3"/>
                    </a:cubicBezTo>
                    <a:cubicBezTo>
                      <a:pt x="17" y="3"/>
                      <a:pt x="19" y="0"/>
                      <a:pt x="22" y="0"/>
                    </a:cubicBezTo>
                    <a:cubicBezTo>
                      <a:pt x="35" y="0"/>
                      <a:pt x="41" y="14"/>
                      <a:pt x="55" y="14"/>
                    </a:cubicBezTo>
                    <a:cubicBezTo>
                      <a:pt x="62" y="14"/>
                      <a:pt x="63" y="7"/>
                      <a:pt x="68" y="7"/>
                    </a:cubicBezTo>
                    <a:cubicBezTo>
                      <a:pt x="77" y="7"/>
                      <a:pt x="80" y="15"/>
                      <a:pt x="88" y="15"/>
                    </a:cubicBezTo>
                    <a:cubicBezTo>
                      <a:pt x="101" y="14"/>
                      <a:pt x="101" y="14"/>
                      <a:pt x="101" y="14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4" y="16"/>
                      <a:pt x="89" y="17"/>
                      <a:pt x="89" y="17"/>
                    </a:cubicBezTo>
                    <a:cubicBezTo>
                      <a:pt x="93" y="22"/>
                      <a:pt x="99" y="22"/>
                      <a:pt x="107" y="22"/>
                    </a:cubicBezTo>
                    <a:cubicBezTo>
                      <a:pt x="110" y="22"/>
                      <a:pt x="110" y="26"/>
                      <a:pt x="111" y="26"/>
                    </a:cubicBezTo>
                    <a:cubicBezTo>
                      <a:pt x="114" y="30"/>
                      <a:pt x="117" y="26"/>
                      <a:pt x="121" y="27"/>
                    </a:cubicBezTo>
                    <a:cubicBezTo>
                      <a:pt x="125" y="29"/>
                      <a:pt x="125" y="30"/>
                      <a:pt x="128" y="31"/>
                    </a:cubicBezTo>
                    <a:cubicBezTo>
                      <a:pt x="127" y="33"/>
                      <a:pt x="124" y="36"/>
                      <a:pt x="123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21" name="Freeform 108">
                <a:extLst>
                  <a:ext uri="{FF2B5EF4-FFF2-40B4-BE49-F238E27FC236}">
                    <a16:creationId xmlns:a16="http://schemas.microsoft.com/office/drawing/2014/main" id="{218AA255-2106-1144-D802-1951FCCF4F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6513" y="3013075"/>
                <a:ext cx="52388" cy="12700"/>
              </a:xfrm>
              <a:custGeom>
                <a:avLst/>
                <a:gdLst/>
                <a:ahLst/>
                <a:cxnLst>
                  <a:cxn ang="0">
                    <a:pos x="26" y="9"/>
                  </a:cxn>
                  <a:cxn ang="0">
                    <a:pos x="10" y="9"/>
                  </a:cxn>
                  <a:cxn ang="0">
                    <a:pos x="0" y="4"/>
                  </a:cxn>
                  <a:cxn ang="0">
                    <a:pos x="8" y="1"/>
                  </a:cxn>
                  <a:cxn ang="0">
                    <a:pos x="26" y="4"/>
                  </a:cxn>
                  <a:cxn ang="0">
                    <a:pos x="39" y="0"/>
                  </a:cxn>
                  <a:cxn ang="0">
                    <a:pos x="26" y="9"/>
                  </a:cxn>
                </a:cxnLst>
                <a:rect l="0" t="0" r="r" b="b"/>
                <a:pathLst>
                  <a:path w="39" h="9">
                    <a:moveTo>
                      <a:pt x="26" y="9"/>
                    </a:moveTo>
                    <a:cubicBezTo>
                      <a:pt x="20" y="9"/>
                      <a:pt x="13" y="9"/>
                      <a:pt x="10" y="9"/>
                    </a:cubicBezTo>
                    <a:cubicBezTo>
                      <a:pt x="7" y="9"/>
                      <a:pt x="0" y="9"/>
                      <a:pt x="0" y="4"/>
                    </a:cubicBezTo>
                    <a:cubicBezTo>
                      <a:pt x="0" y="1"/>
                      <a:pt x="5" y="1"/>
                      <a:pt x="8" y="1"/>
                    </a:cubicBezTo>
                    <a:cubicBezTo>
                      <a:pt x="16" y="1"/>
                      <a:pt x="19" y="4"/>
                      <a:pt x="26" y="4"/>
                    </a:cubicBezTo>
                    <a:cubicBezTo>
                      <a:pt x="32" y="4"/>
                      <a:pt x="35" y="2"/>
                      <a:pt x="39" y="0"/>
                    </a:cubicBezTo>
                    <a:cubicBezTo>
                      <a:pt x="35" y="6"/>
                      <a:pt x="32" y="7"/>
                      <a:pt x="26" y="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22" name="Freeform 109">
                <a:extLst>
                  <a:ext uri="{FF2B5EF4-FFF2-40B4-BE49-F238E27FC236}">
                    <a16:creationId xmlns:a16="http://schemas.microsoft.com/office/drawing/2014/main" id="{676EE183-3BCF-ECC2-AD91-2CFDA18DA2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35713" y="3016250"/>
                <a:ext cx="36513" cy="12700"/>
              </a:xfrm>
              <a:custGeom>
                <a:avLst/>
                <a:gdLst/>
                <a:ahLst/>
                <a:cxnLst>
                  <a:cxn ang="0">
                    <a:pos x="27" y="6"/>
                  </a:cxn>
                  <a:cxn ang="0">
                    <a:pos x="23" y="6"/>
                  </a:cxn>
                  <a:cxn ang="0">
                    <a:pos x="19" y="5"/>
                  </a:cxn>
                  <a:cxn ang="0">
                    <a:pos x="9" y="9"/>
                  </a:cxn>
                  <a:cxn ang="0">
                    <a:pos x="0" y="6"/>
                  </a:cxn>
                  <a:cxn ang="0">
                    <a:pos x="7" y="1"/>
                  </a:cxn>
                  <a:cxn ang="0">
                    <a:pos x="16" y="3"/>
                  </a:cxn>
                  <a:cxn ang="0">
                    <a:pos x="16" y="0"/>
                  </a:cxn>
                  <a:cxn ang="0">
                    <a:pos x="27" y="0"/>
                  </a:cxn>
                  <a:cxn ang="0">
                    <a:pos x="27" y="6"/>
                  </a:cxn>
                </a:cxnLst>
                <a:rect l="0" t="0" r="r" b="b"/>
                <a:pathLst>
                  <a:path w="27" h="9">
                    <a:moveTo>
                      <a:pt x="27" y="6"/>
                    </a:moveTo>
                    <a:cubicBezTo>
                      <a:pt x="23" y="6"/>
                      <a:pt x="23" y="6"/>
                      <a:pt x="23" y="6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5" y="6"/>
                      <a:pt x="13" y="9"/>
                      <a:pt x="9" y="9"/>
                    </a:cubicBezTo>
                    <a:cubicBezTo>
                      <a:pt x="5" y="9"/>
                      <a:pt x="0" y="8"/>
                      <a:pt x="0" y="6"/>
                    </a:cubicBezTo>
                    <a:cubicBezTo>
                      <a:pt x="0" y="1"/>
                      <a:pt x="3" y="1"/>
                      <a:pt x="7" y="1"/>
                    </a:cubicBezTo>
                    <a:cubicBezTo>
                      <a:pt x="11" y="1"/>
                      <a:pt x="13" y="2"/>
                      <a:pt x="16" y="3"/>
                    </a:cubicBezTo>
                    <a:cubicBezTo>
                      <a:pt x="16" y="2"/>
                      <a:pt x="16" y="1"/>
                      <a:pt x="16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3"/>
                      <a:pt x="26" y="5"/>
                      <a:pt x="27" y="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23" name="Freeform 110">
                <a:extLst>
                  <a:ext uri="{FF2B5EF4-FFF2-40B4-BE49-F238E27FC236}">
                    <a16:creationId xmlns:a16="http://schemas.microsoft.com/office/drawing/2014/main" id="{B8494C88-277D-CAC0-F7F3-1613D94773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73813" y="3030538"/>
                <a:ext cx="26988" cy="19050"/>
              </a:xfrm>
              <a:custGeom>
                <a:avLst/>
                <a:gdLst/>
                <a:ahLst/>
                <a:cxnLst>
                  <a:cxn ang="0">
                    <a:pos x="15" y="14"/>
                  </a:cxn>
                  <a:cxn ang="0">
                    <a:pos x="12" y="9"/>
                  </a:cxn>
                  <a:cxn ang="0">
                    <a:pos x="0" y="4"/>
                  </a:cxn>
                  <a:cxn ang="0">
                    <a:pos x="9" y="1"/>
                  </a:cxn>
                  <a:cxn ang="0">
                    <a:pos x="13" y="1"/>
                  </a:cxn>
                  <a:cxn ang="0">
                    <a:pos x="20" y="11"/>
                  </a:cxn>
                  <a:cxn ang="0">
                    <a:pos x="16" y="14"/>
                  </a:cxn>
                  <a:cxn ang="0">
                    <a:pos x="15" y="14"/>
                  </a:cxn>
                </a:cxnLst>
                <a:rect l="0" t="0" r="r" b="b"/>
                <a:pathLst>
                  <a:path w="20" h="14">
                    <a:moveTo>
                      <a:pt x="15" y="14"/>
                    </a:moveTo>
                    <a:cubicBezTo>
                      <a:pt x="12" y="14"/>
                      <a:pt x="12" y="10"/>
                      <a:pt x="12" y="9"/>
                    </a:cubicBezTo>
                    <a:cubicBezTo>
                      <a:pt x="8" y="9"/>
                      <a:pt x="0" y="8"/>
                      <a:pt x="0" y="4"/>
                    </a:cubicBezTo>
                    <a:cubicBezTo>
                      <a:pt x="0" y="0"/>
                      <a:pt x="6" y="1"/>
                      <a:pt x="9" y="1"/>
                    </a:cubicBezTo>
                    <a:cubicBezTo>
                      <a:pt x="10" y="1"/>
                      <a:pt x="12" y="1"/>
                      <a:pt x="13" y="1"/>
                    </a:cubicBezTo>
                    <a:cubicBezTo>
                      <a:pt x="13" y="7"/>
                      <a:pt x="20" y="6"/>
                      <a:pt x="20" y="11"/>
                    </a:cubicBezTo>
                    <a:cubicBezTo>
                      <a:pt x="20" y="13"/>
                      <a:pt x="18" y="14"/>
                      <a:pt x="16" y="14"/>
                    </a:cubicBezTo>
                    <a:cubicBezTo>
                      <a:pt x="16" y="14"/>
                      <a:pt x="15" y="14"/>
                      <a:pt x="15" y="1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24" name="Freeform 111">
                <a:extLst>
                  <a:ext uri="{FF2B5EF4-FFF2-40B4-BE49-F238E27FC236}">
                    <a16:creationId xmlns:a16="http://schemas.microsoft.com/office/drawing/2014/main" id="{EBEB306D-6908-D6E4-9D52-DE7F911EEC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23013" y="3014663"/>
                <a:ext cx="11113" cy="111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0"/>
                  </a:cxn>
                  <a:cxn ang="0">
                    <a:pos x="8" y="3"/>
                  </a:cxn>
                  <a:cxn ang="0">
                    <a:pos x="3" y="8"/>
                  </a:cxn>
                  <a:cxn ang="0">
                    <a:pos x="0" y="5"/>
                  </a:cxn>
                  <a:cxn ang="0">
                    <a:pos x="0" y="0"/>
                  </a:cxn>
                </a:cxnLst>
                <a:rect l="0" t="0" r="r" b="b"/>
                <a:pathLst>
                  <a:path w="8" h="8">
                    <a:moveTo>
                      <a:pt x="0" y="0"/>
                    </a:moveTo>
                    <a:cubicBezTo>
                      <a:pt x="1" y="0"/>
                      <a:pt x="2" y="0"/>
                      <a:pt x="4" y="0"/>
                    </a:cubicBezTo>
                    <a:cubicBezTo>
                      <a:pt x="6" y="0"/>
                      <a:pt x="6" y="2"/>
                      <a:pt x="8" y="3"/>
                    </a:cubicBezTo>
                    <a:cubicBezTo>
                      <a:pt x="7" y="6"/>
                      <a:pt x="5" y="8"/>
                      <a:pt x="3" y="8"/>
                    </a:cubicBezTo>
                    <a:cubicBezTo>
                      <a:pt x="2" y="8"/>
                      <a:pt x="0" y="6"/>
                      <a:pt x="0" y="5"/>
                    </a:cubicBezTo>
                    <a:cubicBezTo>
                      <a:pt x="0" y="3"/>
                      <a:pt x="0" y="2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25" name="Freeform 112">
                <a:extLst>
                  <a:ext uri="{FF2B5EF4-FFF2-40B4-BE49-F238E27FC236}">
                    <a16:creationId xmlns:a16="http://schemas.microsoft.com/office/drawing/2014/main" id="{02326F67-C318-37EF-3BF2-E26C6D9C20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48425" y="3016250"/>
                <a:ext cx="58738" cy="34925"/>
              </a:xfrm>
              <a:custGeom>
                <a:avLst/>
                <a:gdLst/>
                <a:ahLst/>
                <a:cxnLst>
                  <a:cxn ang="0">
                    <a:pos x="19" y="13"/>
                  </a:cxn>
                  <a:cxn ang="0">
                    <a:pos x="17" y="19"/>
                  </a:cxn>
                  <a:cxn ang="0">
                    <a:pos x="3" y="26"/>
                  </a:cxn>
                  <a:cxn ang="0">
                    <a:pos x="0" y="22"/>
                  </a:cxn>
                  <a:cxn ang="0">
                    <a:pos x="15" y="10"/>
                  </a:cxn>
                  <a:cxn ang="0">
                    <a:pos x="17" y="6"/>
                  </a:cxn>
                  <a:cxn ang="0">
                    <a:pos x="45" y="3"/>
                  </a:cxn>
                  <a:cxn ang="0">
                    <a:pos x="19" y="13"/>
                  </a:cxn>
                </a:cxnLst>
                <a:rect l="0" t="0" r="r" b="b"/>
                <a:pathLst>
                  <a:path w="45" h="26">
                    <a:moveTo>
                      <a:pt x="19" y="13"/>
                    </a:moveTo>
                    <a:cubicBezTo>
                      <a:pt x="16" y="13"/>
                      <a:pt x="19" y="17"/>
                      <a:pt x="17" y="19"/>
                    </a:cubicBezTo>
                    <a:cubicBezTo>
                      <a:pt x="15" y="21"/>
                      <a:pt x="8" y="26"/>
                      <a:pt x="3" y="26"/>
                    </a:cubicBezTo>
                    <a:cubicBezTo>
                      <a:pt x="1" y="26"/>
                      <a:pt x="0" y="24"/>
                      <a:pt x="0" y="22"/>
                    </a:cubicBezTo>
                    <a:cubicBezTo>
                      <a:pt x="0" y="12"/>
                      <a:pt x="8" y="12"/>
                      <a:pt x="15" y="10"/>
                    </a:cubicBezTo>
                    <a:cubicBezTo>
                      <a:pt x="16" y="10"/>
                      <a:pt x="16" y="7"/>
                      <a:pt x="17" y="6"/>
                    </a:cubicBezTo>
                    <a:cubicBezTo>
                      <a:pt x="21" y="2"/>
                      <a:pt x="41" y="0"/>
                      <a:pt x="45" y="3"/>
                    </a:cubicBezTo>
                    <a:cubicBezTo>
                      <a:pt x="40" y="9"/>
                      <a:pt x="26" y="13"/>
                      <a:pt x="19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26" name="Freeform 113">
                <a:extLst>
                  <a:ext uri="{FF2B5EF4-FFF2-40B4-BE49-F238E27FC236}">
                    <a16:creationId xmlns:a16="http://schemas.microsoft.com/office/drawing/2014/main" id="{84B540A3-0FEE-A69A-302D-13B463F5FC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89700" y="2922588"/>
                <a:ext cx="17463" cy="19050"/>
              </a:xfrm>
              <a:custGeom>
                <a:avLst/>
                <a:gdLst/>
                <a:ahLst/>
                <a:cxnLst>
                  <a:cxn ang="0">
                    <a:pos x="13" y="8"/>
                  </a:cxn>
                  <a:cxn ang="0">
                    <a:pos x="8" y="14"/>
                  </a:cxn>
                  <a:cxn ang="0">
                    <a:pos x="0" y="5"/>
                  </a:cxn>
                  <a:cxn ang="0">
                    <a:pos x="13" y="8"/>
                  </a:cxn>
                </a:cxnLst>
                <a:rect l="0" t="0" r="r" b="b"/>
                <a:pathLst>
                  <a:path w="13" h="14">
                    <a:moveTo>
                      <a:pt x="13" y="8"/>
                    </a:moveTo>
                    <a:cubicBezTo>
                      <a:pt x="13" y="9"/>
                      <a:pt x="10" y="14"/>
                      <a:pt x="8" y="14"/>
                    </a:cubicBezTo>
                    <a:cubicBezTo>
                      <a:pt x="6" y="14"/>
                      <a:pt x="0" y="9"/>
                      <a:pt x="0" y="5"/>
                    </a:cubicBezTo>
                    <a:cubicBezTo>
                      <a:pt x="0" y="0"/>
                      <a:pt x="13" y="4"/>
                      <a:pt x="13" y="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27" name="Freeform 114">
                <a:extLst>
                  <a:ext uri="{FF2B5EF4-FFF2-40B4-BE49-F238E27FC236}">
                    <a16:creationId xmlns:a16="http://schemas.microsoft.com/office/drawing/2014/main" id="{1B958B9A-886F-9BB5-B8C2-F9A38D6806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9863" y="2924175"/>
                <a:ext cx="47625" cy="14288"/>
              </a:xfrm>
              <a:custGeom>
                <a:avLst/>
                <a:gdLst/>
                <a:ahLst/>
                <a:cxnLst>
                  <a:cxn ang="0">
                    <a:pos x="31" y="2"/>
                  </a:cxn>
                  <a:cxn ang="0">
                    <a:pos x="36" y="10"/>
                  </a:cxn>
                  <a:cxn ang="0">
                    <a:pos x="34" y="10"/>
                  </a:cxn>
                  <a:cxn ang="0">
                    <a:pos x="18" y="6"/>
                  </a:cxn>
                  <a:cxn ang="0">
                    <a:pos x="8" y="6"/>
                  </a:cxn>
                  <a:cxn ang="0">
                    <a:pos x="0" y="4"/>
                  </a:cxn>
                  <a:cxn ang="0">
                    <a:pos x="3" y="0"/>
                  </a:cxn>
                  <a:cxn ang="0">
                    <a:pos x="23" y="0"/>
                  </a:cxn>
                  <a:cxn ang="0">
                    <a:pos x="30" y="2"/>
                  </a:cxn>
                  <a:cxn ang="0">
                    <a:pos x="31" y="2"/>
                  </a:cxn>
                </a:cxnLst>
                <a:rect l="0" t="0" r="r" b="b"/>
                <a:pathLst>
                  <a:path w="36" h="10">
                    <a:moveTo>
                      <a:pt x="31" y="2"/>
                    </a:moveTo>
                    <a:cubicBezTo>
                      <a:pt x="32" y="5"/>
                      <a:pt x="36" y="6"/>
                      <a:pt x="36" y="10"/>
                    </a:cubicBezTo>
                    <a:cubicBezTo>
                      <a:pt x="36" y="10"/>
                      <a:pt x="35" y="10"/>
                      <a:pt x="34" y="10"/>
                    </a:cubicBezTo>
                    <a:cubicBezTo>
                      <a:pt x="28" y="10"/>
                      <a:pt x="25" y="6"/>
                      <a:pt x="18" y="6"/>
                    </a:cubicBezTo>
                    <a:cubicBezTo>
                      <a:pt x="14" y="6"/>
                      <a:pt x="12" y="6"/>
                      <a:pt x="8" y="6"/>
                    </a:cubicBezTo>
                    <a:cubicBezTo>
                      <a:pt x="6" y="6"/>
                      <a:pt x="0" y="4"/>
                      <a:pt x="0" y="4"/>
                    </a:cubicBezTo>
                    <a:cubicBezTo>
                      <a:pt x="0" y="2"/>
                      <a:pt x="3" y="1"/>
                      <a:pt x="3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4" y="3"/>
                      <a:pt x="27" y="2"/>
                      <a:pt x="30" y="2"/>
                    </a:cubicBezTo>
                    <a:lnTo>
                      <a:pt x="31" y="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28" name="Freeform 115">
                <a:extLst>
                  <a:ext uri="{FF2B5EF4-FFF2-40B4-BE49-F238E27FC236}">
                    <a16:creationId xmlns:a16="http://schemas.microsoft.com/office/drawing/2014/main" id="{E162D1D0-3A15-767D-1160-738022E832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3513" y="2836863"/>
                <a:ext cx="19050" cy="46038"/>
              </a:xfrm>
              <a:custGeom>
                <a:avLst/>
                <a:gdLst/>
                <a:ahLst/>
                <a:cxnLst>
                  <a:cxn ang="0">
                    <a:pos x="4" y="28"/>
                  </a:cxn>
                  <a:cxn ang="0">
                    <a:pos x="4" y="25"/>
                  </a:cxn>
                  <a:cxn ang="0">
                    <a:pos x="14" y="24"/>
                  </a:cxn>
                  <a:cxn ang="0">
                    <a:pos x="11" y="17"/>
                  </a:cxn>
                  <a:cxn ang="0">
                    <a:pos x="15" y="12"/>
                  </a:cxn>
                  <a:cxn ang="0">
                    <a:pos x="4" y="0"/>
                  </a:cxn>
                  <a:cxn ang="0">
                    <a:pos x="0" y="9"/>
                  </a:cxn>
                  <a:cxn ang="0">
                    <a:pos x="3" y="21"/>
                  </a:cxn>
                  <a:cxn ang="0">
                    <a:pos x="3" y="27"/>
                  </a:cxn>
                  <a:cxn ang="0">
                    <a:pos x="9" y="35"/>
                  </a:cxn>
                  <a:cxn ang="0">
                    <a:pos x="4" y="28"/>
                  </a:cxn>
                </a:cxnLst>
                <a:rect l="0" t="0" r="r" b="b"/>
                <a:pathLst>
                  <a:path w="15" h="35">
                    <a:moveTo>
                      <a:pt x="4" y="28"/>
                    </a:moveTo>
                    <a:cubicBezTo>
                      <a:pt x="4" y="25"/>
                      <a:pt x="4" y="25"/>
                      <a:pt x="4" y="25"/>
                    </a:cubicBezTo>
                    <a:cubicBezTo>
                      <a:pt x="8" y="25"/>
                      <a:pt x="12" y="24"/>
                      <a:pt x="14" y="24"/>
                    </a:cubicBezTo>
                    <a:cubicBezTo>
                      <a:pt x="14" y="20"/>
                      <a:pt x="11" y="20"/>
                      <a:pt x="11" y="17"/>
                    </a:cubicBezTo>
                    <a:cubicBezTo>
                      <a:pt x="11" y="15"/>
                      <a:pt x="15" y="14"/>
                      <a:pt x="15" y="12"/>
                    </a:cubicBezTo>
                    <a:cubicBezTo>
                      <a:pt x="8" y="10"/>
                      <a:pt x="4" y="6"/>
                      <a:pt x="4" y="0"/>
                    </a:cubicBezTo>
                    <a:cubicBezTo>
                      <a:pt x="0" y="2"/>
                      <a:pt x="0" y="5"/>
                      <a:pt x="0" y="9"/>
                    </a:cubicBezTo>
                    <a:cubicBezTo>
                      <a:pt x="0" y="15"/>
                      <a:pt x="3" y="16"/>
                      <a:pt x="3" y="21"/>
                    </a:cubicBezTo>
                    <a:cubicBezTo>
                      <a:pt x="3" y="26"/>
                      <a:pt x="3" y="24"/>
                      <a:pt x="3" y="27"/>
                    </a:cubicBezTo>
                    <a:cubicBezTo>
                      <a:pt x="3" y="30"/>
                      <a:pt x="4" y="35"/>
                      <a:pt x="9" y="35"/>
                    </a:cubicBezTo>
                    <a:cubicBezTo>
                      <a:pt x="7" y="32"/>
                      <a:pt x="6" y="31"/>
                      <a:pt x="4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29" name="Freeform 119">
                <a:extLst>
                  <a:ext uri="{FF2B5EF4-FFF2-40B4-BE49-F238E27FC236}">
                    <a16:creationId xmlns:a16="http://schemas.microsoft.com/office/drawing/2014/main" id="{F96D4C85-8163-C524-3741-7521462B27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4613" y="2709863"/>
                <a:ext cx="76200" cy="71438"/>
              </a:xfrm>
              <a:custGeom>
                <a:avLst/>
                <a:gdLst/>
                <a:ahLst/>
                <a:cxnLst>
                  <a:cxn ang="0">
                    <a:pos x="48" y="38"/>
                  </a:cxn>
                  <a:cxn ang="0">
                    <a:pos x="46" y="35"/>
                  </a:cxn>
                  <a:cxn ang="0">
                    <a:pos x="42" y="40"/>
                  </a:cxn>
                  <a:cxn ang="0">
                    <a:pos x="47" y="48"/>
                  </a:cxn>
                  <a:cxn ang="0">
                    <a:pos x="42" y="53"/>
                  </a:cxn>
                  <a:cxn ang="0">
                    <a:pos x="40" y="50"/>
                  </a:cxn>
                  <a:cxn ang="0">
                    <a:pos x="36" y="51"/>
                  </a:cxn>
                  <a:cxn ang="0">
                    <a:pos x="26" y="37"/>
                  </a:cxn>
                  <a:cxn ang="0">
                    <a:pos x="28" y="32"/>
                  </a:cxn>
                  <a:cxn ang="0">
                    <a:pos x="27" y="29"/>
                  </a:cxn>
                  <a:cxn ang="0">
                    <a:pos x="21" y="28"/>
                  </a:cxn>
                  <a:cxn ang="0">
                    <a:pos x="21" y="32"/>
                  </a:cxn>
                  <a:cxn ang="0">
                    <a:pos x="17" y="30"/>
                  </a:cxn>
                  <a:cxn ang="0">
                    <a:pos x="16" y="32"/>
                  </a:cxn>
                  <a:cxn ang="0">
                    <a:pos x="12" y="28"/>
                  </a:cxn>
                  <a:cxn ang="0">
                    <a:pos x="4" y="45"/>
                  </a:cxn>
                  <a:cxn ang="0">
                    <a:pos x="4" y="36"/>
                  </a:cxn>
                  <a:cxn ang="0">
                    <a:pos x="2" y="32"/>
                  </a:cxn>
                  <a:cxn ang="0">
                    <a:pos x="5" y="22"/>
                  </a:cxn>
                  <a:cxn ang="0">
                    <a:pos x="19" y="14"/>
                  </a:cxn>
                  <a:cxn ang="0">
                    <a:pos x="26" y="20"/>
                  </a:cxn>
                  <a:cxn ang="0">
                    <a:pos x="28" y="20"/>
                  </a:cxn>
                  <a:cxn ang="0">
                    <a:pos x="32" y="15"/>
                  </a:cxn>
                  <a:cxn ang="0">
                    <a:pos x="41" y="9"/>
                  </a:cxn>
                  <a:cxn ang="0">
                    <a:pos x="42" y="0"/>
                  </a:cxn>
                  <a:cxn ang="0">
                    <a:pos x="48" y="4"/>
                  </a:cxn>
                  <a:cxn ang="0">
                    <a:pos x="58" y="33"/>
                  </a:cxn>
                  <a:cxn ang="0">
                    <a:pos x="53" y="46"/>
                  </a:cxn>
                  <a:cxn ang="0">
                    <a:pos x="48" y="36"/>
                  </a:cxn>
                  <a:cxn ang="0">
                    <a:pos x="48" y="38"/>
                  </a:cxn>
                </a:cxnLst>
                <a:rect l="0" t="0" r="r" b="b"/>
                <a:pathLst>
                  <a:path w="58" h="53">
                    <a:moveTo>
                      <a:pt x="48" y="38"/>
                    </a:moveTo>
                    <a:cubicBezTo>
                      <a:pt x="48" y="37"/>
                      <a:pt x="47" y="36"/>
                      <a:pt x="46" y="35"/>
                    </a:cubicBezTo>
                    <a:cubicBezTo>
                      <a:pt x="44" y="37"/>
                      <a:pt x="42" y="38"/>
                      <a:pt x="42" y="40"/>
                    </a:cubicBezTo>
                    <a:cubicBezTo>
                      <a:pt x="42" y="43"/>
                      <a:pt x="47" y="44"/>
                      <a:pt x="47" y="48"/>
                    </a:cubicBezTo>
                    <a:cubicBezTo>
                      <a:pt x="47" y="51"/>
                      <a:pt x="45" y="53"/>
                      <a:pt x="42" y="53"/>
                    </a:cubicBezTo>
                    <a:cubicBezTo>
                      <a:pt x="41" y="53"/>
                      <a:pt x="40" y="51"/>
                      <a:pt x="40" y="50"/>
                    </a:cubicBezTo>
                    <a:cubicBezTo>
                      <a:pt x="39" y="51"/>
                      <a:pt x="37" y="51"/>
                      <a:pt x="36" y="51"/>
                    </a:cubicBezTo>
                    <a:cubicBezTo>
                      <a:pt x="31" y="51"/>
                      <a:pt x="26" y="44"/>
                      <a:pt x="26" y="37"/>
                    </a:cubicBezTo>
                    <a:cubicBezTo>
                      <a:pt x="26" y="34"/>
                      <a:pt x="27" y="33"/>
                      <a:pt x="28" y="32"/>
                    </a:cubicBezTo>
                    <a:cubicBezTo>
                      <a:pt x="28" y="31"/>
                      <a:pt x="27" y="30"/>
                      <a:pt x="27" y="29"/>
                    </a:cubicBezTo>
                    <a:cubicBezTo>
                      <a:pt x="21" y="28"/>
                      <a:pt x="21" y="28"/>
                      <a:pt x="21" y="28"/>
                    </a:cubicBezTo>
                    <a:cubicBezTo>
                      <a:pt x="21" y="30"/>
                      <a:pt x="20" y="31"/>
                      <a:pt x="21" y="32"/>
                    </a:cubicBezTo>
                    <a:cubicBezTo>
                      <a:pt x="18" y="32"/>
                      <a:pt x="18" y="31"/>
                      <a:pt x="17" y="30"/>
                    </a:cubicBezTo>
                    <a:cubicBezTo>
                      <a:pt x="17" y="30"/>
                      <a:pt x="16" y="31"/>
                      <a:pt x="16" y="32"/>
                    </a:cubicBezTo>
                    <a:cubicBezTo>
                      <a:pt x="14" y="31"/>
                      <a:pt x="12" y="28"/>
                      <a:pt x="12" y="28"/>
                    </a:cubicBezTo>
                    <a:cubicBezTo>
                      <a:pt x="8" y="32"/>
                      <a:pt x="8" y="45"/>
                      <a:pt x="4" y="45"/>
                    </a:cubicBezTo>
                    <a:cubicBezTo>
                      <a:pt x="0" y="45"/>
                      <a:pt x="4" y="37"/>
                      <a:pt x="4" y="36"/>
                    </a:cubicBezTo>
                    <a:cubicBezTo>
                      <a:pt x="4" y="35"/>
                      <a:pt x="2" y="33"/>
                      <a:pt x="2" y="32"/>
                    </a:cubicBezTo>
                    <a:cubicBezTo>
                      <a:pt x="2" y="28"/>
                      <a:pt x="4" y="26"/>
                      <a:pt x="5" y="22"/>
                    </a:cubicBezTo>
                    <a:cubicBezTo>
                      <a:pt x="13" y="22"/>
                      <a:pt x="11" y="14"/>
                      <a:pt x="19" y="14"/>
                    </a:cubicBezTo>
                    <a:cubicBezTo>
                      <a:pt x="24" y="14"/>
                      <a:pt x="23" y="20"/>
                      <a:pt x="26" y="20"/>
                    </a:cubicBezTo>
                    <a:cubicBezTo>
                      <a:pt x="27" y="20"/>
                      <a:pt x="27" y="20"/>
                      <a:pt x="28" y="20"/>
                    </a:cubicBezTo>
                    <a:cubicBezTo>
                      <a:pt x="28" y="18"/>
                      <a:pt x="30" y="16"/>
                      <a:pt x="32" y="15"/>
                    </a:cubicBezTo>
                    <a:cubicBezTo>
                      <a:pt x="32" y="10"/>
                      <a:pt x="39" y="12"/>
                      <a:pt x="41" y="9"/>
                    </a:cubicBezTo>
                    <a:cubicBezTo>
                      <a:pt x="42" y="7"/>
                      <a:pt x="42" y="1"/>
                      <a:pt x="42" y="0"/>
                    </a:cubicBezTo>
                    <a:cubicBezTo>
                      <a:pt x="45" y="0"/>
                      <a:pt x="47" y="2"/>
                      <a:pt x="48" y="4"/>
                    </a:cubicBezTo>
                    <a:cubicBezTo>
                      <a:pt x="51" y="7"/>
                      <a:pt x="58" y="30"/>
                      <a:pt x="58" y="33"/>
                    </a:cubicBezTo>
                    <a:cubicBezTo>
                      <a:pt x="58" y="37"/>
                      <a:pt x="53" y="39"/>
                      <a:pt x="53" y="46"/>
                    </a:cubicBezTo>
                    <a:cubicBezTo>
                      <a:pt x="51" y="46"/>
                      <a:pt x="48" y="37"/>
                      <a:pt x="48" y="36"/>
                    </a:cubicBezTo>
                    <a:lnTo>
                      <a:pt x="48" y="38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30" name="Freeform 120">
                <a:extLst>
                  <a:ext uri="{FF2B5EF4-FFF2-40B4-BE49-F238E27FC236}">
                    <a16:creationId xmlns:a16="http://schemas.microsoft.com/office/drawing/2014/main" id="{876CFC6A-6D71-0432-8962-8007D44F11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4763" y="2690813"/>
                <a:ext cx="36513" cy="39688"/>
              </a:xfrm>
              <a:custGeom>
                <a:avLst/>
                <a:gdLst/>
                <a:ahLst/>
                <a:cxnLst>
                  <a:cxn ang="0">
                    <a:pos x="3" y="29"/>
                  </a:cxn>
                  <a:cxn ang="0">
                    <a:pos x="0" y="29"/>
                  </a:cxn>
                  <a:cxn ang="0">
                    <a:pos x="22" y="5"/>
                  </a:cxn>
                  <a:cxn ang="0">
                    <a:pos x="25" y="0"/>
                  </a:cxn>
                  <a:cxn ang="0">
                    <a:pos x="28" y="6"/>
                  </a:cxn>
                  <a:cxn ang="0">
                    <a:pos x="24" y="9"/>
                  </a:cxn>
                  <a:cxn ang="0">
                    <a:pos x="17" y="13"/>
                  </a:cxn>
                  <a:cxn ang="0">
                    <a:pos x="3" y="29"/>
                  </a:cxn>
                </a:cxnLst>
                <a:rect l="0" t="0" r="r" b="b"/>
                <a:pathLst>
                  <a:path w="28" h="29">
                    <a:moveTo>
                      <a:pt x="3" y="29"/>
                    </a:moveTo>
                    <a:cubicBezTo>
                      <a:pt x="0" y="29"/>
                      <a:pt x="0" y="29"/>
                      <a:pt x="0" y="29"/>
                    </a:cubicBezTo>
                    <a:cubicBezTo>
                      <a:pt x="4" y="18"/>
                      <a:pt x="18" y="13"/>
                      <a:pt x="22" y="5"/>
                    </a:cubicBezTo>
                    <a:cubicBezTo>
                      <a:pt x="23" y="3"/>
                      <a:pt x="23" y="1"/>
                      <a:pt x="25" y="0"/>
                    </a:cubicBezTo>
                    <a:cubicBezTo>
                      <a:pt x="24" y="4"/>
                      <a:pt x="26" y="5"/>
                      <a:pt x="28" y="6"/>
                    </a:cubicBezTo>
                    <a:cubicBezTo>
                      <a:pt x="26" y="8"/>
                      <a:pt x="26" y="9"/>
                      <a:pt x="24" y="9"/>
                    </a:cubicBezTo>
                    <a:cubicBezTo>
                      <a:pt x="23" y="12"/>
                      <a:pt x="20" y="13"/>
                      <a:pt x="17" y="13"/>
                    </a:cubicBezTo>
                    <a:cubicBezTo>
                      <a:pt x="15" y="22"/>
                      <a:pt x="8" y="26"/>
                      <a:pt x="3" y="2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31" name="Freeform 121">
                <a:extLst>
                  <a:ext uri="{FF2B5EF4-FFF2-40B4-BE49-F238E27FC236}">
                    <a16:creationId xmlns:a16="http://schemas.microsoft.com/office/drawing/2014/main" id="{015FFC97-EDE5-735B-744D-3E43FDD3B4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3338" y="2563813"/>
                <a:ext cx="71438" cy="101600"/>
              </a:xfrm>
              <a:custGeom>
                <a:avLst/>
                <a:gdLst/>
                <a:ahLst/>
                <a:cxnLst>
                  <a:cxn ang="0">
                    <a:pos x="4" y="31"/>
                  </a:cxn>
                  <a:cxn ang="0">
                    <a:pos x="6" y="20"/>
                  </a:cxn>
                  <a:cxn ang="0">
                    <a:pos x="5" y="7"/>
                  </a:cxn>
                  <a:cxn ang="0">
                    <a:pos x="9" y="0"/>
                  </a:cxn>
                  <a:cxn ang="0">
                    <a:pos x="16" y="7"/>
                  </a:cxn>
                  <a:cxn ang="0">
                    <a:pos x="21" y="3"/>
                  </a:cxn>
                  <a:cxn ang="0">
                    <a:pos x="22" y="5"/>
                  </a:cxn>
                  <a:cxn ang="0">
                    <a:pos x="23" y="8"/>
                  </a:cxn>
                  <a:cxn ang="0">
                    <a:pos x="28" y="25"/>
                  </a:cxn>
                  <a:cxn ang="0">
                    <a:pos x="20" y="42"/>
                  </a:cxn>
                  <a:cxn ang="0">
                    <a:pos x="30" y="59"/>
                  </a:cxn>
                  <a:cxn ang="0">
                    <a:pos x="30" y="58"/>
                  </a:cxn>
                  <a:cxn ang="0">
                    <a:pos x="34" y="55"/>
                  </a:cxn>
                  <a:cxn ang="0">
                    <a:pos x="43" y="64"/>
                  </a:cxn>
                  <a:cxn ang="0">
                    <a:pos x="46" y="61"/>
                  </a:cxn>
                  <a:cxn ang="0">
                    <a:pos x="49" y="62"/>
                  </a:cxn>
                  <a:cxn ang="0">
                    <a:pos x="46" y="66"/>
                  </a:cxn>
                  <a:cxn ang="0">
                    <a:pos x="49" y="66"/>
                  </a:cxn>
                  <a:cxn ang="0">
                    <a:pos x="54" y="71"/>
                  </a:cxn>
                  <a:cxn ang="0">
                    <a:pos x="54" y="74"/>
                  </a:cxn>
                  <a:cxn ang="0">
                    <a:pos x="53" y="76"/>
                  </a:cxn>
                  <a:cxn ang="0">
                    <a:pos x="51" y="73"/>
                  </a:cxn>
                  <a:cxn ang="0">
                    <a:pos x="36" y="61"/>
                  </a:cxn>
                  <a:cxn ang="0">
                    <a:pos x="37" y="69"/>
                  </a:cxn>
                  <a:cxn ang="0">
                    <a:pos x="25" y="60"/>
                  </a:cxn>
                  <a:cxn ang="0">
                    <a:pos x="19" y="62"/>
                  </a:cxn>
                  <a:cxn ang="0">
                    <a:pos x="13" y="57"/>
                  </a:cxn>
                  <a:cxn ang="0">
                    <a:pos x="15" y="53"/>
                  </a:cxn>
                  <a:cxn ang="0">
                    <a:pos x="15" y="49"/>
                  </a:cxn>
                  <a:cxn ang="0">
                    <a:pos x="13" y="49"/>
                  </a:cxn>
                  <a:cxn ang="0">
                    <a:pos x="10" y="51"/>
                  </a:cxn>
                  <a:cxn ang="0">
                    <a:pos x="1" y="44"/>
                  </a:cxn>
                  <a:cxn ang="0">
                    <a:pos x="4" y="31"/>
                  </a:cxn>
                </a:cxnLst>
                <a:rect l="0" t="0" r="r" b="b"/>
                <a:pathLst>
                  <a:path w="54" h="76">
                    <a:moveTo>
                      <a:pt x="4" y="31"/>
                    </a:moveTo>
                    <a:cubicBezTo>
                      <a:pt x="6" y="28"/>
                      <a:pt x="6" y="23"/>
                      <a:pt x="6" y="20"/>
                    </a:cubicBezTo>
                    <a:cubicBezTo>
                      <a:pt x="7" y="15"/>
                      <a:pt x="5" y="12"/>
                      <a:pt x="5" y="7"/>
                    </a:cubicBezTo>
                    <a:cubicBezTo>
                      <a:pt x="5" y="3"/>
                      <a:pt x="6" y="0"/>
                      <a:pt x="9" y="0"/>
                    </a:cubicBezTo>
                    <a:cubicBezTo>
                      <a:pt x="13" y="0"/>
                      <a:pt x="12" y="7"/>
                      <a:pt x="16" y="7"/>
                    </a:cubicBezTo>
                    <a:cubicBezTo>
                      <a:pt x="18" y="7"/>
                      <a:pt x="20" y="4"/>
                      <a:pt x="21" y="3"/>
                    </a:cubicBezTo>
                    <a:cubicBezTo>
                      <a:pt x="21" y="3"/>
                      <a:pt x="22" y="4"/>
                      <a:pt x="22" y="5"/>
                    </a:cubicBezTo>
                    <a:cubicBezTo>
                      <a:pt x="22" y="6"/>
                      <a:pt x="23" y="7"/>
                      <a:pt x="23" y="8"/>
                    </a:cubicBezTo>
                    <a:cubicBezTo>
                      <a:pt x="23" y="13"/>
                      <a:pt x="28" y="18"/>
                      <a:pt x="28" y="25"/>
                    </a:cubicBezTo>
                    <a:cubicBezTo>
                      <a:pt x="28" y="33"/>
                      <a:pt x="20" y="34"/>
                      <a:pt x="20" y="42"/>
                    </a:cubicBezTo>
                    <a:cubicBezTo>
                      <a:pt x="20" y="48"/>
                      <a:pt x="26" y="57"/>
                      <a:pt x="30" y="59"/>
                    </a:cubicBezTo>
                    <a:cubicBezTo>
                      <a:pt x="30" y="59"/>
                      <a:pt x="30" y="58"/>
                      <a:pt x="30" y="58"/>
                    </a:cubicBezTo>
                    <a:cubicBezTo>
                      <a:pt x="30" y="56"/>
                      <a:pt x="32" y="54"/>
                      <a:pt x="34" y="55"/>
                    </a:cubicBezTo>
                    <a:cubicBezTo>
                      <a:pt x="39" y="55"/>
                      <a:pt x="40" y="63"/>
                      <a:pt x="43" y="64"/>
                    </a:cubicBezTo>
                    <a:cubicBezTo>
                      <a:pt x="44" y="64"/>
                      <a:pt x="45" y="61"/>
                      <a:pt x="46" y="61"/>
                    </a:cubicBezTo>
                    <a:cubicBezTo>
                      <a:pt x="47" y="61"/>
                      <a:pt x="48" y="62"/>
                      <a:pt x="49" y="62"/>
                    </a:cubicBezTo>
                    <a:cubicBezTo>
                      <a:pt x="48" y="64"/>
                      <a:pt x="46" y="64"/>
                      <a:pt x="46" y="66"/>
                    </a:cubicBezTo>
                    <a:cubicBezTo>
                      <a:pt x="46" y="67"/>
                      <a:pt x="48" y="67"/>
                      <a:pt x="49" y="66"/>
                    </a:cubicBezTo>
                    <a:cubicBezTo>
                      <a:pt x="49" y="69"/>
                      <a:pt x="51" y="71"/>
                      <a:pt x="54" y="71"/>
                    </a:cubicBezTo>
                    <a:cubicBezTo>
                      <a:pt x="54" y="72"/>
                      <a:pt x="54" y="73"/>
                      <a:pt x="54" y="74"/>
                    </a:cubicBezTo>
                    <a:cubicBezTo>
                      <a:pt x="54" y="75"/>
                      <a:pt x="53" y="76"/>
                      <a:pt x="53" y="76"/>
                    </a:cubicBezTo>
                    <a:cubicBezTo>
                      <a:pt x="51" y="76"/>
                      <a:pt x="51" y="74"/>
                      <a:pt x="51" y="73"/>
                    </a:cubicBezTo>
                    <a:cubicBezTo>
                      <a:pt x="48" y="69"/>
                      <a:pt x="39" y="65"/>
                      <a:pt x="36" y="61"/>
                    </a:cubicBezTo>
                    <a:cubicBezTo>
                      <a:pt x="34" y="64"/>
                      <a:pt x="35" y="66"/>
                      <a:pt x="37" y="69"/>
                    </a:cubicBezTo>
                    <a:cubicBezTo>
                      <a:pt x="31" y="69"/>
                      <a:pt x="31" y="60"/>
                      <a:pt x="25" y="60"/>
                    </a:cubicBezTo>
                    <a:cubicBezTo>
                      <a:pt x="23" y="60"/>
                      <a:pt x="21" y="62"/>
                      <a:pt x="19" y="62"/>
                    </a:cubicBezTo>
                    <a:cubicBezTo>
                      <a:pt x="16" y="62"/>
                      <a:pt x="13" y="59"/>
                      <a:pt x="13" y="57"/>
                    </a:cubicBezTo>
                    <a:cubicBezTo>
                      <a:pt x="13" y="55"/>
                      <a:pt x="14" y="53"/>
                      <a:pt x="15" y="53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3" y="49"/>
                      <a:pt x="13" y="49"/>
                      <a:pt x="13" y="49"/>
                    </a:cubicBezTo>
                    <a:cubicBezTo>
                      <a:pt x="12" y="50"/>
                      <a:pt x="11" y="51"/>
                      <a:pt x="10" y="51"/>
                    </a:cubicBezTo>
                    <a:cubicBezTo>
                      <a:pt x="8" y="51"/>
                      <a:pt x="1" y="47"/>
                      <a:pt x="1" y="44"/>
                    </a:cubicBezTo>
                    <a:cubicBezTo>
                      <a:pt x="1" y="38"/>
                      <a:pt x="0" y="30"/>
                      <a:pt x="4" y="3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32" name="Freeform 122">
                <a:extLst>
                  <a:ext uri="{FF2B5EF4-FFF2-40B4-BE49-F238E27FC236}">
                    <a16:creationId xmlns:a16="http://schemas.microsoft.com/office/drawing/2014/main" id="{134C0D00-FC89-6E7E-E255-D1108B23CD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57950" y="2665413"/>
                <a:ext cx="23813" cy="41275"/>
              </a:xfrm>
              <a:custGeom>
                <a:avLst/>
                <a:gdLst/>
                <a:ahLst/>
                <a:cxnLst>
                  <a:cxn ang="0">
                    <a:pos x="16" y="20"/>
                  </a:cxn>
                  <a:cxn ang="0">
                    <a:pos x="10" y="20"/>
                  </a:cxn>
                  <a:cxn ang="0">
                    <a:pos x="14" y="28"/>
                  </a:cxn>
                  <a:cxn ang="0">
                    <a:pos x="14" y="30"/>
                  </a:cxn>
                  <a:cxn ang="0">
                    <a:pos x="10" y="30"/>
                  </a:cxn>
                  <a:cxn ang="0">
                    <a:pos x="8" y="25"/>
                  </a:cxn>
                  <a:cxn ang="0">
                    <a:pos x="8" y="23"/>
                  </a:cxn>
                  <a:cxn ang="0">
                    <a:pos x="2" y="17"/>
                  </a:cxn>
                  <a:cxn ang="0">
                    <a:pos x="2" y="15"/>
                  </a:cxn>
                  <a:cxn ang="0">
                    <a:pos x="8" y="15"/>
                  </a:cxn>
                  <a:cxn ang="0">
                    <a:pos x="10" y="13"/>
                  </a:cxn>
                  <a:cxn ang="0">
                    <a:pos x="0" y="2"/>
                  </a:cxn>
                  <a:cxn ang="0">
                    <a:pos x="4" y="0"/>
                  </a:cxn>
                  <a:cxn ang="0">
                    <a:pos x="13" y="2"/>
                  </a:cxn>
                  <a:cxn ang="0">
                    <a:pos x="13" y="6"/>
                  </a:cxn>
                  <a:cxn ang="0">
                    <a:pos x="15" y="6"/>
                  </a:cxn>
                  <a:cxn ang="0">
                    <a:pos x="15" y="12"/>
                  </a:cxn>
                  <a:cxn ang="0">
                    <a:pos x="18" y="15"/>
                  </a:cxn>
                  <a:cxn ang="0">
                    <a:pos x="16" y="20"/>
                  </a:cxn>
                </a:cxnLst>
                <a:rect l="0" t="0" r="r" b="b"/>
                <a:pathLst>
                  <a:path w="18" h="30">
                    <a:moveTo>
                      <a:pt x="16" y="20"/>
                    </a:moveTo>
                    <a:cubicBezTo>
                      <a:pt x="10" y="20"/>
                      <a:pt x="10" y="20"/>
                      <a:pt x="10" y="20"/>
                    </a:cubicBezTo>
                    <a:cubicBezTo>
                      <a:pt x="11" y="23"/>
                      <a:pt x="12" y="27"/>
                      <a:pt x="14" y="28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3" y="30"/>
                      <a:pt x="11" y="30"/>
                      <a:pt x="10" y="30"/>
                    </a:cubicBezTo>
                    <a:cubicBezTo>
                      <a:pt x="7" y="30"/>
                      <a:pt x="7" y="27"/>
                      <a:pt x="8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5" y="23"/>
                      <a:pt x="3" y="19"/>
                      <a:pt x="2" y="17"/>
                    </a:cubicBezTo>
                    <a:cubicBezTo>
                      <a:pt x="2" y="15"/>
                      <a:pt x="2" y="15"/>
                      <a:pt x="2" y="15"/>
                    </a:cubicBezTo>
                    <a:cubicBezTo>
                      <a:pt x="4" y="15"/>
                      <a:pt x="7" y="15"/>
                      <a:pt x="8" y="15"/>
                    </a:cubicBezTo>
                    <a:cubicBezTo>
                      <a:pt x="8" y="15"/>
                      <a:pt x="10" y="14"/>
                      <a:pt x="10" y="13"/>
                    </a:cubicBezTo>
                    <a:cubicBezTo>
                      <a:pt x="10" y="8"/>
                      <a:pt x="1" y="5"/>
                      <a:pt x="0" y="2"/>
                    </a:cubicBezTo>
                    <a:cubicBezTo>
                      <a:pt x="1" y="1"/>
                      <a:pt x="3" y="0"/>
                      <a:pt x="4" y="0"/>
                    </a:cubicBezTo>
                    <a:cubicBezTo>
                      <a:pt x="7" y="0"/>
                      <a:pt x="9" y="2"/>
                      <a:pt x="13" y="2"/>
                    </a:cubicBezTo>
                    <a:cubicBezTo>
                      <a:pt x="13" y="3"/>
                      <a:pt x="13" y="5"/>
                      <a:pt x="13" y="6"/>
                    </a:cubicBezTo>
                    <a:cubicBezTo>
                      <a:pt x="13" y="6"/>
                      <a:pt x="14" y="6"/>
                      <a:pt x="15" y="6"/>
                    </a:cubicBezTo>
                    <a:cubicBezTo>
                      <a:pt x="15" y="8"/>
                      <a:pt x="15" y="12"/>
                      <a:pt x="15" y="12"/>
                    </a:cubicBezTo>
                    <a:cubicBezTo>
                      <a:pt x="15" y="12"/>
                      <a:pt x="18" y="15"/>
                      <a:pt x="18" y="15"/>
                    </a:cubicBezTo>
                    <a:cubicBezTo>
                      <a:pt x="18" y="18"/>
                      <a:pt x="17" y="19"/>
                      <a:pt x="16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33" name="Freeform 123">
                <a:extLst>
                  <a:ext uri="{FF2B5EF4-FFF2-40B4-BE49-F238E27FC236}">
                    <a16:creationId xmlns:a16="http://schemas.microsoft.com/office/drawing/2014/main" id="{F258DEDA-188C-E214-61A2-D4735F6102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3025" y="2676525"/>
                <a:ext cx="19050" cy="25400"/>
              </a:xfrm>
              <a:custGeom>
                <a:avLst/>
                <a:gdLst/>
                <a:ahLst/>
                <a:cxnLst>
                  <a:cxn ang="0">
                    <a:pos x="3" y="1"/>
                  </a:cxn>
                  <a:cxn ang="0">
                    <a:pos x="14" y="7"/>
                  </a:cxn>
                  <a:cxn ang="0">
                    <a:pos x="1" y="19"/>
                  </a:cxn>
                  <a:cxn ang="0">
                    <a:pos x="0" y="2"/>
                  </a:cxn>
                  <a:cxn ang="0">
                    <a:pos x="2" y="0"/>
                  </a:cxn>
                  <a:cxn ang="0">
                    <a:pos x="5" y="2"/>
                  </a:cxn>
                  <a:cxn ang="0">
                    <a:pos x="3" y="1"/>
                  </a:cxn>
                </a:cxnLst>
                <a:rect l="0" t="0" r="r" b="b"/>
                <a:pathLst>
                  <a:path w="14" h="19">
                    <a:moveTo>
                      <a:pt x="3" y="1"/>
                    </a:moveTo>
                    <a:cubicBezTo>
                      <a:pt x="4" y="3"/>
                      <a:pt x="14" y="4"/>
                      <a:pt x="14" y="7"/>
                    </a:cubicBezTo>
                    <a:cubicBezTo>
                      <a:pt x="14" y="14"/>
                      <a:pt x="5" y="17"/>
                      <a:pt x="1" y="19"/>
                    </a:cubicBezTo>
                    <a:cubicBezTo>
                      <a:pt x="1" y="13"/>
                      <a:pt x="0" y="6"/>
                      <a:pt x="0" y="2"/>
                    </a:cubicBezTo>
                    <a:cubicBezTo>
                      <a:pt x="0" y="1"/>
                      <a:pt x="2" y="0"/>
                      <a:pt x="2" y="0"/>
                    </a:cubicBezTo>
                    <a:cubicBezTo>
                      <a:pt x="3" y="0"/>
                      <a:pt x="4" y="2"/>
                      <a:pt x="5" y="2"/>
                    </a:cubicBezTo>
                    <a:lnTo>
                      <a:pt x="3" y="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34" name="Freeform 124">
                <a:extLst>
                  <a:ext uri="{FF2B5EF4-FFF2-40B4-BE49-F238E27FC236}">
                    <a16:creationId xmlns:a16="http://schemas.microsoft.com/office/drawing/2014/main" id="{3320E55B-4C92-93D6-6DE3-857F47D09D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32550" y="2692400"/>
                <a:ext cx="19050" cy="31750"/>
              </a:xfrm>
              <a:custGeom>
                <a:avLst/>
                <a:gdLst/>
                <a:ahLst/>
                <a:cxnLst>
                  <a:cxn ang="0">
                    <a:pos x="14" y="5"/>
                  </a:cxn>
                  <a:cxn ang="0">
                    <a:pos x="9" y="17"/>
                  </a:cxn>
                  <a:cxn ang="0">
                    <a:pos x="11" y="22"/>
                  </a:cxn>
                  <a:cxn ang="0">
                    <a:pos x="9" y="24"/>
                  </a:cxn>
                  <a:cxn ang="0">
                    <a:pos x="0" y="14"/>
                  </a:cxn>
                  <a:cxn ang="0">
                    <a:pos x="4" y="12"/>
                  </a:cxn>
                  <a:cxn ang="0">
                    <a:pos x="8" y="1"/>
                  </a:cxn>
                  <a:cxn ang="0">
                    <a:pos x="14" y="5"/>
                  </a:cxn>
                </a:cxnLst>
                <a:rect l="0" t="0" r="r" b="b"/>
                <a:pathLst>
                  <a:path w="14" h="24">
                    <a:moveTo>
                      <a:pt x="14" y="5"/>
                    </a:moveTo>
                    <a:cubicBezTo>
                      <a:pt x="14" y="10"/>
                      <a:pt x="10" y="13"/>
                      <a:pt x="9" y="17"/>
                    </a:cubicBezTo>
                    <a:cubicBezTo>
                      <a:pt x="9" y="21"/>
                      <a:pt x="11" y="20"/>
                      <a:pt x="11" y="22"/>
                    </a:cubicBezTo>
                    <a:cubicBezTo>
                      <a:pt x="11" y="23"/>
                      <a:pt x="10" y="24"/>
                      <a:pt x="9" y="24"/>
                    </a:cubicBezTo>
                    <a:cubicBezTo>
                      <a:pt x="7" y="24"/>
                      <a:pt x="0" y="17"/>
                      <a:pt x="0" y="14"/>
                    </a:cubicBezTo>
                    <a:cubicBezTo>
                      <a:pt x="0" y="13"/>
                      <a:pt x="3" y="12"/>
                      <a:pt x="4" y="12"/>
                    </a:cubicBezTo>
                    <a:cubicBezTo>
                      <a:pt x="4" y="11"/>
                      <a:pt x="6" y="1"/>
                      <a:pt x="8" y="1"/>
                    </a:cubicBezTo>
                    <a:cubicBezTo>
                      <a:pt x="12" y="0"/>
                      <a:pt x="14" y="3"/>
                      <a:pt x="14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35" name="Freeform 125">
                <a:extLst>
                  <a:ext uri="{FF2B5EF4-FFF2-40B4-BE49-F238E27FC236}">
                    <a16:creationId xmlns:a16="http://schemas.microsoft.com/office/drawing/2014/main" id="{705CBFD9-1A2A-1101-79B4-BD5FBF7FF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50013" y="2693988"/>
                <a:ext cx="7938" cy="2063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15"/>
                  </a:cxn>
                  <a:cxn ang="0">
                    <a:pos x="0" y="15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7" h="15">
                    <a:moveTo>
                      <a:pt x="7" y="0"/>
                    </a:moveTo>
                    <a:cubicBezTo>
                      <a:pt x="7" y="7"/>
                      <a:pt x="2" y="9"/>
                      <a:pt x="2" y="15"/>
                    </a:cubicBezTo>
                    <a:cubicBezTo>
                      <a:pt x="2" y="15"/>
                      <a:pt x="0" y="15"/>
                      <a:pt x="0" y="15"/>
                    </a:cubicBezTo>
                    <a:cubicBezTo>
                      <a:pt x="1" y="10"/>
                      <a:pt x="4" y="7"/>
                      <a:pt x="4" y="0"/>
                    </a:cubicBezTo>
                    <a:cubicBezTo>
                      <a:pt x="5" y="0"/>
                      <a:pt x="6" y="0"/>
                      <a:pt x="7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36" name="Freeform 126">
                <a:extLst>
                  <a:ext uri="{FF2B5EF4-FFF2-40B4-BE49-F238E27FC236}">
                    <a16:creationId xmlns:a16="http://schemas.microsoft.com/office/drawing/2014/main" id="{B327D15B-969B-A484-AF29-3D79AA5E21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54775" y="2706688"/>
                <a:ext cx="11113" cy="11113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3" y="0"/>
                  </a:cxn>
                  <a:cxn ang="0">
                    <a:pos x="8" y="0"/>
                  </a:cxn>
                </a:cxnLst>
                <a:rect l="0" t="0" r="r" b="b"/>
                <a:pathLst>
                  <a:path w="8" h="8">
                    <a:moveTo>
                      <a:pt x="8" y="0"/>
                    </a:moveTo>
                    <a:cubicBezTo>
                      <a:pt x="8" y="4"/>
                      <a:pt x="6" y="8"/>
                      <a:pt x="2" y="8"/>
                    </a:cubicBezTo>
                    <a:cubicBezTo>
                      <a:pt x="1" y="8"/>
                      <a:pt x="0" y="6"/>
                      <a:pt x="0" y="6"/>
                    </a:cubicBezTo>
                    <a:cubicBezTo>
                      <a:pt x="0" y="3"/>
                      <a:pt x="2" y="2"/>
                      <a:pt x="3" y="0"/>
                    </a:cubicBezTo>
                    <a:cubicBezTo>
                      <a:pt x="5" y="1"/>
                      <a:pt x="7" y="1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37" name="Freeform 127">
                <a:extLst>
                  <a:ext uri="{FF2B5EF4-FFF2-40B4-BE49-F238E27FC236}">
                    <a16:creationId xmlns:a16="http://schemas.microsoft.com/office/drawing/2014/main" id="{C9903C1D-35F3-0609-4C18-93C63F6FFF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42075" y="2665413"/>
                <a:ext cx="12700" cy="17463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0" y="0"/>
                  </a:cxn>
                  <a:cxn ang="0">
                    <a:pos x="4" y="0"/>
                  </a:cxn>
                  <a:cxn ang="0">
                    <a:pos x="10" y="10"/>
                  </a:cxn>
                  <a:cxn ang="0">
                    <a:pos x="6" y="6"/>
                  </a:cxn>
                  <a:cxn ang="0">
                    <a:pos x="0" y="6"/>
                  </a:cxn>
                </a:cxnLst>
                <a:rect l="0" t="0" r="r" b="b"/>
                <a:pathLst>
                  <a:path w="10" h="12">
                    <a:moveTo>
                      <a:pt x="0" y="6"/>
                    </a:moveTo>
                    <a:cubicBezTo>
                      <a:pt x="0" y="3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4"/>
                      <a:pt x="10" y="5"/>
                      <a:pt x="10" y="10"/>
                    </a:cubicBezTo>
                    <a:cubicBezTo>
                      <a:pt x="10" y="12"/>
                      <a:pt x="6" y="8"/>
                      <a:pt x="6" y="6"/>
                    </a:cubicBezTo>
                    <a:cubicBezTo>
                      <a:pt x="4" y="5"/>
                      <a:pt x="2" y="6"/>
                      <a:pt x="0" y="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38" name="Freeform 128">
                <a:extLst>
                  <a:ext uri="{FF2B5EF4-FFF2-40B4-BE49-F238E27FC236}">
                    <a16:creationId xmlns:a16="http://schemas.microsoft.com/office/drawing/2014/main" id="{E654C6E9-0ED3-B737-3A77-7E3EAD0232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97625" y="2649538"/>
                <a:ext cx="19050" cy="20638"/>
              </a:xfrm>
              <a:custGeom>
                <a:avLst/>
                <a:gdLst/>
                <a:ahLst/>
                <a:cxnLst>
                  <a:cxn ang="0">
                    <a:pos x="11" y="15"/>
                  </a:cxn>
                  <a:cxn ang="0">
                    <a:pos x="0" y="0"/>
                  </a:cxn>
                  <a:cxn ang="0">
                    <a:pos x="4" y="0"/>
                  </a:cxn>
                  <a:cxn ang="0">
                    <a:pos x="14" y="7"/>
                  </a:cxn>
                  <a:cxn ang="0">
                    <a:pos x="11" y="15"/>
                  </a:cxn>
                </a:cxnLst>
                <a:rect l="0" t="0" r="r" b="b"/>
                <a:pathLst>
                  <a:path w="15" h="15">
                    <a:moveTo>
                      <a:pt x="11" y="15"/>
                    </a:moveTo>
                    <a:cubicBezTo>
                      <a:pt x="9" y="15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8" y="3"/>
                      <a:pt x="13" y="2"/>
                      <a:pt x="14" y="7"/>
                    </a:cubicBezTo>
                    <a:cubicBezTo>
                      <a:pt x="15" y="10"/>
                      <a:pt x="13" y="15"/>
                      <a:pt x="11" y="1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39" name="Freeform 129">
                <a:extLst>
                  <a:ext uri="{FF2B5EF4-FFF2-40B4-BE49-F238E27FC236}">
                    <a16:creationId xmlns:a16="http://schemas.microsoft.com/office/drawing/2014/main" id="{377BB9EA-7E4A-30BD-0FA9-DFB7AE9DAC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16675" y="2652713"/>
                <a:ext cx="6350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1"/>
                  </a:cxn>
                  <a:cxn ang="0">
                    <a:pos x="0" y="0"/>
                  </a:cxn>
                </a:cxnLst>
                <a:rect l="0" t="0" r="r" b="b"/>
                <a:pathLst>
                  <a:path w="4" h="1">
                    <a:moveTo>
                      <a:pt x="0" y="0"/>
                    </a:moveTo>
                    <a:cubicBezTo>
                      <a:pt x="1" y="1"/>
                      <a:pt x="3" y="1"/>
                      <a:pt x="4" y="1"/>
                    </a:cubicBezTo>
                    <a:cubicBezTo>
                      <a:pt x="3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40" name="Freeform 130">
                <a:extLst>
                  <a:ext uri="{FF2B5EF4-FFF2-40B4-BE49-F238E27FC236}">
                    <a16:creationId xmlns:a16="http://schemas.microsoft.com/office/drawing/2014/main" id="{83F2C94B-4184-D91B-9ECC-E429341DB0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8100" y="2441575"/>
                <a:ext cx="36513" cy="50800"/>
              </a:xfrm>
              <a:custGeom>
                <a:avLst/>
                <a:gdLst/>
                <a:ahLst/>
                <a:cxnLst>
                  <a:cxn ang="0">
                    <a:pos x="8" y="39"/>
                  </a:cxn>
                  <a:cxn ang="0">
                    <a:pos x="1" y="26"/>
                  </a:cxn>
                  <a:cxn ang="0">
                    <a:pos x="16" y="0"/>
                  </a:cxn>
                  <a:cxn ang="0">
                    <a:pos x="8" y="39"/>
                  </a:cxn>
                </a:cxnLst>
                <a:rect l="0" t="0" r="r" b="b"/>
                <a:pathLst>
                  <a:path w="27" h="39">
                    <a:moveTo>
                      <a:pt x="8" y="39"/>
                    </a:moveTo>
                    <a:cubicBezTo>
                      <a:pt x="0" y="39"/>
                      <a:pt x="1" y="33"/>
                      <a:pt x="1" y="26"/>
                    </a:cubicBezTo>
                    <a:cubicBezTo>
                      <a:pt x="1" y="17"/>
                      <a:pt x="10" y="0"/>
                      <a:pt x="16" y="0"/>
                    </a:cubicBezTo>
                    <a:cubicBezTo>
                      <a:pt x="27" y="0"/>
                      <a:pt x="18" y="39"/>
                      <a:pt x="8" y="3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41" name="Freeform 131">
                <a:extLst>
                  <a:ext uri="{FF2B5EF4-FFF2-40B4-BE49-F238E27FC236}">
                    <a16:creationId xmlns:a16="http://schemas.microsoft.com/office/drawing/2014/main" id="{FF889DDB-1BCF-86C5-8E8D-8BD9340CE7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94425" y="2532063"/>
                <a:ext cx="41275" cy="34925"/>
              </a:xfrm>
              <a:custGeom>
                <a:avLst/>
                <a:gdLst/>
                <a:ahLst/>
                <a:cxnLst>
                  <a:cxn ang="0">
                    <a:pos x="2" y="11"/>
                  </a:cxn>
                  <a:cxn ang="0">
                    <a:pos x="26" y="0"/>
                  </a:cxn>
                  <a:cxn ang="0">
                    <a:pos x="31" y="7"/>
                  </a:cxn>
                  <a:cxn ang="0">
                    <a:pos x="11" y="27"/>
                  </a:cxn>
                  <a:cxn ang="0">
                    <a:pos x="2" y="18"/>
                  </a:cxn>
                  <a:cxn ang="0">
                    <a:pos x="2" y="11"/>
                  </a:cxn>
                </a:cxnLst>
                <a:rect l="0" t="0" r="r" b="b"/>
                <a:pathLst>
                  <a:path w="31" h="27">
                    <a:moveTo>
                      <a:pt x="2" y="11"/>
                    </a:moveTo>
                    <a:cubicBezTo>
                      <a:pt x="5" y="11"/>
                      <a:pt x="20" y="0"/>
                      <a:pt x="26" y="0"/>
                    </a:cubicBezTo>
                    <a:cubicBezTo>
                      <a:pt x="28" y="0"/>
                      <a:pt x="31" y="4"/>
                      <a:pt x="31" y="7"/>
                    </a:cubicBezTo>
                    <a:cubicBezTo>
                      <a:pt x="31" y="13"/>
                      <a:pt x="18" y="27"/>
                      <a:pt x="11" y="27"/>
                    </a:cubicBezTo>
                    <a:cubicBezTo>
                      <a:pt x="5" y="27"/>
                      <a:pt x="2" y="24"/>
                      <a:pt x="2" y="18"/>
                    </a:cubicBezTo>
                    <a:cubicBezTo>
                      <a:pt x="2" y="15"/>
                      <a:pt x="0" y="11"/>
                      <a:pt x="2" y="1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42" name="Freeform 132">
                <a:extLst>
                  <a:ext uri="{FF2B5EF4-FFF2-40B4-BE49-F238E27FC236}">
                    <a16:creationId xmlns:a16="http://schemas.microsoft.com/office/drawing/2014/main" id="{931993A0-0B41-CC00-F291-D129D15A5F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5038" y="2476500"/>
                <a:ext cx="195263" cy="374650"/>
              </a:xfrm>
              <a:custGeom>
                <a:avLst/>
                <a:gdLst/>
                <a:ahLst/>
                <a:cxnLst>
                  <a:cxn ang="0">
                    <a:pos x="12" y="172"/>
                  </a:cxn>
                  <a:cxn ang="0">
                    <a:pos x="21" y="152"/>
                  </a:cxn>
                  <a:cxn ang="0">
                    <a:pos x="25" y="147"/>
                  </a:cxn>
                  <a:cxn ang="0">
                    <a:pos x="15" y="119"/>
                  </a:cxn>
                  <a:cxn ang="0">
                    <a:pos x="8" y="109"/>
                  </a:cxn>
                  <a:cxn ang="0">
                    <a:pos x="8" y="105"/>
                  </a:cxn>
                  <a:cxn ang="0">
                    <a:pos x="8" y="106"/>
                  </a:cxn>
                  <a:cxn ang="0">
                    <a:pos x="12" y="96"/>
                  </a:cxn>
                  <a:cxn ang="0">
                    <a:pos x="9" y="77"/>
                  </a:cxn>
                  <a:cxn ang="0">
                    <a:pos x="0" y="65"/>
                  </a:cxn>
                  <a:cxn ang="0">
                    <a:pos x="8" y="47"/>
                  </a:cxn>
                  <a:cxn ang="0">
                    <a:pos x="19" y="43"/>
                  </a:cxn>
                  <a:cxn ang="0">
                    <a:pos x="45" y="19"/>
                  </a:cxn>
                  <a:cxn ang="0">
                    <a:pos x="47" y="19"/>
                  </a:cxn>
                  <a:cxn ang="0">
                    <a:pos x="50" y="24"/>
                  </a:cxn>
                  <a:cxn ang="0">
                    <a:pos x="52" y="20"/>
                  </a:cxn>
                  <a:cxn ang="0">
                    <a:pos x="52" y="9"/>
                  </a:cxn>
                  <a:cxn ang="0">
                    <a:pos x="64" y="6"/>
                  </a:cxn>
                  <a:cxn ang="0">
                    <a:pos x="78" y="6"/>
                  </a:cxn>
                  <a:cxn ang="0">
                    <a:pos x="96" y="0"/>
                  </a:cxn>
                  <a:cxn ang="0">
                    <a:pos x="115" y="5"/>
                  </a:cxn>
                  <a:cxn ang="0">
                    <a:pos x="130" y="22"/>
                  </a:cxn>
                  <a:cxn ang="0">
                    <a:pos x="100" y="58"/>
                  </a:cxn>
                  <a:cxn ang="0">
                    <a:pos x="104" y="64"/>
                  </a:cxn>
                  <a:cxn ang="0">
                    <a:pos x="129" y="93"/>
                  </a:cxn>
                  <a:cxn ang="0">
                    <a:pos x="147" y="134"/>
                  </a:cxn>
                  <a:cxn ang="0">
                    <a:pos x="142" y="156"/>
                  </a:cxn>
                  <a:cxn ang="0">
                    <a:pos x="115" y="170"/>
                  </a:cxn>
                  <a:cxn ang="0">
                    <a:pos x="105" y="180"/>
                  </a:cxn>
                  <a:cxn ang="0">
                    <a:pos x="104" y="176"/>
                  </a:cxn>
                  <a:cxn ang="0">
                    <a:pos x="104" y="181"/>
                  </a:cxn>
                  <a:cxn ang="0">
                    <a:pos x="93" y="192"/>
                  </a:cxn>
                  <a:cxn ang="0">
                    <a:pos x="90" y="183"/>
                  </a:cxn>
                  <a:cxn ang="0">
                    <a:pos x="91" y="177"/>
                  </a:cxn>
                  <a:cxn ang="0">
                    <a:pos x="88" y="170"/>
                  </a:cxn>
                  <a:cxn ang="0">
                    <a:pos x="73" y="161"/>
                  </a:cxn>
                  <a:cxn ang="0">
                    <a:pos x="63" y="149"/>
                  </a:cxn>
                  <a:cxn ang="0">
                    <a:pos x="43" y="141"/>
                  </a:cxn>
                  <a:cxn ang="0">
                    <a:pos x="41" y="135"/>
                  </a:cxn>
                  <a:cxn ang="0">
                    <a:pos x="30" y="129"/>
                  </a:cxn>
                  <a:cxn ang="0">
                    <a:pos x="27" y="134"/>
                  </a:cxn>
                  <a:cxn ang="0">
                    <a:pos x="29" y="142"/>
                  </a:cxn>
                  <a:cxn ang="0">
                    <a:pos x="16" y="171"/>
                  </a:cxn>
                  <a:cxn ang="0">
                    <a:pos x="31" y="192"/>
                  </a:cxn>
                  <a:cxn ang="0">
                    <a:pos x="30" y="192"/>
                  </a:cxn>
                  <a:cxn ang="0">
                    <a:pos x="35" y="206"/>
                  </a:cxn>
                  <a:cxn ang="0">
                    <a:pos x="73" y="243"/>
                  </a:cxn>
                  <a:cxn ang="0">
                    <a:pos x="71" y="251"/>
                  </a:cxn>
                  <a:cxn ang="0">
                    <a:pos x="80" y="267"/>
                  </a:cxn>
                  <a:cxn ang="0">
                    <a:pos x="84" y="280"/>
                  </a:cxn>
                  <a:cxn ang="0">
                    <a:pos x="78" y="280"/>
                  </a:cxn>
                  <a:cxn ang="0">
                    <a:pos x="75" y="282"/>
                  </a:cxn>
                  <a:cxn ang="0">
                    <a:pos x="68" y="278"/>
                  </a:cxn>
                  <a:cxn ang="0">
                    <a:pos x="37" y="246"/>
                  </a:cxn>
                  <a:cxn ang="0">
                    <a:pos x="27" y="214"/>
                  </a:cxn>
                  <a:cxn ang="0">
                    <a:pos x="14" y="192"/>
                  </a:cxn>
                  <a:cxn ang="0">
                    <a:pos x="8" y="192"/>
                  </a:cxn>
                  <a:cxn ang="0">
                    <a:pos x="8" y="189"/>
                  </a:cxn>
                  <a:cxn ang="0">
                    <a:pos x="10" y="172"/>
                  </a:cxn>
                  <a:cxn ang="0">
                    <a:pos x="11" y="172"/>
                  </a:cxn>
                  <a:cxn ang="0">
                    <a:pos x="12" y="172"/>
                  </a:cxn>
                </a:cxnLst>
                <a:rect l="0" t="0" r="r" b="b"/>
                <a:pathLst>
                  <a:path w="147" h="282">
                    <a:moveTo>
                      <a:pt x="12" y="172"/>
                    </a:moveTo>
                    <a:cubicBezTo>
                      <a:pt x="16" y="165"/>
                      <a:pt x="17" y="160"/>
                      <a:pt x="21" y="152"/>
                    </a:cubicBezTo>
                    <a:cubicBezTo>
                      <a:pt x="22" y="150"/>
                      <a:pt x="25" y="149"/>
                      <a:pt x="25" y="147"/>
                    </a:cubicBezTo>
                    <a:cubicBezTo>
                      <a:pt x="25" y="143"/>
                      <a:pt x="19" y="123"/>
                      <a:pt x="15" y="119"/>
                    </a:cubicBezTo>
                    <a:cubicBezTo>
                      <a:pt x="12" y="116"/>
                      <a:pt x="8" y="114"/>
                      <a:pt x="8" y="109"/>
                    </a:cubicBezTo>
                    <a:cubicBezTo>
                      <a:pt x="8" y="108"/>
                      <a:pt x="8" y="107"/>
                      <a:pt x="8" y="105"/>
                    </a:cubicBezTo>
                    <a:cubicBezTo>
                      <a:pt x="8" y="106"/>
                      <a:pt x="8" y="106"/>
                      <a:pt x="8" y="106"/>
                    </a:cubicBezTo>
                    <a:cubicBezTo>
                      <a:pt x="9" y="105"/>
                      <a:pt x="12" y="100"/>
                      <a:pt x="12" y="96"/>
                    </a:cubicBezTo>
                    <a:cubicBezTo>
                      <a:pt x="12" y="91"/>
                      <a:pt x="12" y="82"/>
                      <a:pt x="9" y="77"/>
                    </a:cubicBezTo>
                    <a:cubicBezTo>
                      <a:pt x="6" y="73"/>
                      <a:pt x="0" y="73"/>
                      <a:pt x="0" y="65"/>
                    </a:cubicBezTo>
                    <a:cubicBezTo>
                      <a:pt x="0" y="57"/>
                      <a:pt x="3" y="51"/>
                      <a:pt x="8" y="47"/>
                    </a:cubicBezTo>
                    <a:cubicBezTo>
                      <a:pt x="10" y="44"/>
                      <a:pt x="15" y="45"/>
                      <a:pt x="19" y="43"/>
                    </a:cubicBezTo>
                    <a:cubicBezTo>
                      <a:pt x="29" y="36"/>
                      <a:pt x="36" y="33"/>
                      <a:pt x="45" y="19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3"/>
                      <a:pt x="49" y="24"/>
                      <a:pt x="50" y="24"/>
                    </a:cubicBezTo>
                    <a:cubicBezTo>
                      <a:pt x="51" y="24"/>
                      <a:pt x="52" y="22"/>
                      <a:pt x="52" y="20"/>
                    </a:cubicBezTo>
                    <a:cubicBezTo>
                      <a:pt x="52" y="16"/>
                      <a:pt x="52" y="13"/>
                      <a:pt x="52" y="9"/>
                    </a:cubicBezTo>
                    <a:cubicBezTo>
                      <a:pt x="52" y="9"/>
                      <a:pt x="62" y="6"/>
                      <a:pt x="64" y="6"/>
                    </a:cubicBezTo>
                    <a:cubicBezTo>
                      <a:pt x="78" y="6"/>
                      <a:pt x="78" y="6"/>
                      <a:pt x="78" y="6"/>
                    </a:cubicBezTo>
                    <a:cubicBezTo>
                      <a:pt x="84" y="9"/>
                      <a:pt x="89" y="0"/>
                      <a:pt x="96" y="0"/>
                    </a:cubicBezTo>
                    <a:cubicBezTo>
                      <a:pt x="103" y="0"/>
                      <a:pt x="107" y="5"/>
                      <a:pt x="115" y="5"/>
                    </a:cubicBezTo>
                    <a:cubicBezTo>
                      <a:pt x="115" y="16"/>
                      <a:pt x="123" y="20"/>
                      <a:pt x="130" y="22"/>
                    </a:cubicBezTo>
                    <a:cubicBezTo>
                      <a:pt x="121" y="36"/>
                      <a:pt x="100" y="39"/>
                      <a:pt x="100" y="58"/>
                    </a:cubicBezTo>
                    <a:cubicBezTo>
                      <a:pt x="100" y="62"/>
                      <a:pt x="102" y="63"/>
                      <a:pt x="104" y="64"/>
                    </a:cubicBezTo>
                    <a:cubicBezTo>
                      <a:pt x="114" y="74"/>
                      <a:pt x="118" y="86"/>
                      <a:pt x="129" y="93"/>
                    </a:cubicBezTo>
                    <a:cubicBezTo>
                      <a:pt x="140" y="100"/>
                      <a:pt x="147" y="119"/>
                      <a:pt x="147" y="134"/>
                    </a:cubicBezTo>
                    <a:cubicBezTo>
                      <a:pt x="147" y="144"/>
                      <a:pt x="142" y="148"/>
                      <a:pt x="142" y="156"/>
                    </a:cubicBezTo>
                    <a:cubicBezTo>
                      <a:pt x="127" y="160"/>
                      <a:pt x="126" y="164"/>
                      <a:pt x="115" y="170"/>
                    </a:cubicBezTo>
                    <a:cubicBezTo>
                      <a:pt x="109" y="173"/>
                      <a:pt x="110" y="180"/>
                      <a:pt x="105" y="180"/>
                    </a:cubicBezTo>
                    <a:cubicBezTo>
                      <a:pt x="104" y="180"/>
                      <a:pt x="104" y="177"/>
                      <a:pt x="104" y="176"/>
                    </a:cubicBezTo>
                    <a:cubicBezTo>
                      <a:pt x="104" y="179"/>
                      <a:pt x="104" y="180"/>
                      <a:pt x="104" y="181"/>
                    </a:cubicBezTo>
                    <a:cubicBezTo>
                      <a:pt x="104" y="185"/>
                      <a:pt x="95" y="192"/>
                      <a:pt x="93" y="192"/>
                    </a:cubicBezTo>
                    <a:cubicBezTo>
                      <a:pt x="91" y="192"/>
                      <a:pt x="90" y="186"/>
                      <a:pt x="90" y="183"/>
                    </a:cubicBezTo>
                    <a:cubicBezTo>
                      <a:pt x="90" y="179"/>
                      <a:pt x="90" y="178"/>
                      <a:pt x="91" y="177"/>
                    </a:cubicBezTo>
                    <a:cubicBezTo>
                      <a:pt x="90" y="176"/>
                      <a:pt x="89" y="172"/>
                      <a:pt x="88" y="170"/>
                    </a:cubicBezTo>
                    <a:cubicBezTo>
                      <a:pt x="82" y="170"/>
                      <a:pt x="73" y="168"/>
                      <a:pt x="73" y="161"/>
                    </a:cubicBezTo>
                    <a:cubicBezTo>
                      <a:pt x="63" y="161"/>
                      <a:pt x="68" y="155"/>
                      <a:pt x="63" y="149"/>
                    </a:cubicBezTo>
                    <a:cubicBezTo>
                      <a:pt x="56" y="143"/>
                      <a:pt x="50" y="143"/>
                      <a:pt x="43" y="141"/>
                    </a:cubicBezTo>
                    <a:cubicBezTo>
                      <a:pt x="42" y="141"/>
                      <a:pt x="41" y="135"/>
                      <a:pt x="41" y="135"/>
                    </a:cubicBezTo>
                    <a:cubicBezTo>
                      <a:pt x="40" y="130"/>
                      <a:pt x="34" y="129"/>
                      <a:pt x="30" y="129"/>
                    </a:cubicBezTo>
                    <a:cubicBezTo>
                      <a:pt x="26" y="129"/>
                      <a:pt x="27" y="132"/>
                      <a:pt x="27" y="134"/>
                    </a:cubicBezTo>
                    <a:cubicBezTo>
                      <a:pt x="27" y="138"/>
                      <a:pt x="29" y="139"/>
                      <a:pt x="29" y="142"/>
                    </a:cubicBezTo>
                    <a:cubicBezTo>
                      <a:pt x="29" y="156"/>
                      <a:pt x="16" y="159"/>
                      <a:pt x="16" y="171"/>
                    </a:cubicBezTo>
                    <a:cubicBezTo>
                      <a:pt x="16" y="185"/>
                      <a:pt x="31" y="179"/>
                      <a:pt x="31" y="192"/>
                    </a:cubicBezTo>
                    <a:cubicBezTo>
                      <a:pt x="30" y="192"/>
                      <a:pt x="30" y="192"/>
                      <a:pt x="30" y="192"/>
                    </a:cubicBezTo>
                    <a:cubicBezTo>
                      <a:pt x="32" y="195"/>
                      <a:pt x="32" y="203"/>
                      <a:pt x="35" y="206"/>
                    </a:cubicBezTo>
                    <a:cubicBezTo>
                      <a:pt x="47" y="218"/>
                      <a:pt x="73" y="221"/>
                      <a:pt x="73" y="243"/>
                    </a:cubicBezTo>
                    <a:cubicBezTo>
                      <a:pt x="73" y="247"/>
                      <a:pt x="71" y="247"/>
                      <a:pt x="71" y="251"/>
                    </a:cubicBezTo>
                    <a:cubicBezTo>
                      <a:pt x="71" y="259"/>
                      <a:pt x="78" y="262"/>
                      <a:pt x="80" y="267"/>
                    </a:cubicBezTo>
                    <a:cubicBezTo>
                      <a:pt x="82" y="273"/>
                      <a:pt x="82" y="275"/>
                      <a:pt x="84" y="280"/>
                    </a:cubicBezTo>
                    <a:cubicBezTo>
                      <a:pt x="80" y="280"/>
                      <a:pt x="80" y="280"/>
                      <a:pt x="78" y="280"/>
                    </a:cubicBezTo>
                    <a:cubicBezTo>
                      <a:pt x="77" y="280"/>
                      <a:pt x="76" y="282"/>
                      <a:pt x="75" y="282"/>
                    </a:cubicBezTo>
                    <a:cubicBezTo>
                      <a:pt x="71" y="282"/>
                      <a:pt x="70" y="279"/>
                      <a:pt x="68" y="278"/>
                    </a:cubicBezTo>
                    <a:cubicBezTo>
                      <a:pt x="54" y="274"/>
                      <a:pt x="41" y="261"/>
                      <a:pt x="37" y="246"/>
                    </a:cubicBezTo>
                    <a:cubicBezTo>
                      <a:pt x="33" y="233"/>
                      <a:pt x="32" y="224"/>
                      <a:pt x="27" y="214"/>
                    </a:cubicBezTo>
                    <a:cubicBezTo>
                      <a:pt x="24" y="208"/>
                      <a:pt x="21" y="192"/>
                      <a:pt x="14" y="192"/>
                    </a:cubicBezTo>
                    <a:cubicBezTo>
                      <a:pt x="9" y="192"/>
                      <a:pt x="12" y="194"/>
                      <a:pt x="8" y="192"/>
                    </a:cubicBezTo>
                    <a:cubicBezTo>
                      <a:pt x="7" y="192"/>
                      <a:pt x="8" y="190"/>
                      <a:pt x="8" y="189"/>
                    </a:cubicBezTo>
                    <a:cubicBezTo>
                      <a:pt x="8" y="183"/>
                      <a:pt x="9" y="179"/>
                      <a:pt x="10" y="172"/>
                    </a:cubicBezTo>
                    <a:cubicBezTo>
                      <a:pt x="11" y="172"/>
                      <a:pt x="11" y="172"/>
                      <a:pt x="11" y="172"/>
                    </a:cubicBezTo>
                    <a:lnTo>
                      <a:pt x="12" y="17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43" name="Freeform 133">
                <a:extLst>
                  <a:ext uri="{FF2B5EF4-FFF2-40B4-BE49-F238E27FC236}">
                    <a16:creationId xmlns:a16="http://schemas.microsoft.com/office/drawing/2014/main" id="{9814230A-D4E9-8DE9-A625-1753B81E2A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42038" y="2898775"/>
                <a:ext cx="26988" cy="25400"/>
              </a:xfrm>
              <a:custGeom>
                <a:avLst/>
                <a:gdLst/>
                <a:ahLst/>
                <a:cxnLst>
                  <a:cxn ang="0">
                    <a:pos x="12" y="17"/>
                  </a:cxn>
                  <a:cxn ang="0">
                    <a:pos x="9" y="11"/>
                  </a:cxn>
                  <a:cxn ang="0">
                    <a:pos x="0" y="6"/>
                  </a:cxn>
                  <a:cxn ang="0">
                    <a:pos x="9" y="0"/>
                  </a:cxn>
                  <a:cxn ang="0">
                    <a:pos x="20" y="15"/>
                  </a:cxn>
                  <a:cxn ang="0">
                    <a:pos x="21" y="19"/>
                  </a:cxn>
                  <a:cxn ang="0">
                    <a:pos x="17" y="19"/>
                  </a:cxn>
                  <a:cxn ang="0">
                    <a:pos x="12" y="17"/>
                  </a:cxn>
                </a:cxnLst>
                <a:rect l="0" t="0" r="r" b="b"/>
                <a:pathLst>
                  <a:path w="21" h="19">
                    <a:moveTo>
                      <a:pt x="12" y="17"/>
                    </a:moveTo>
                    <a:cubicBezTo>
                      <a:pt x="11" y="17"/>
                      <a:pt x="9" y="12"/>
                      <a:pt x="9" y="11"/>
                    </a:cubicBezTo>
                    <a:cubicBezTo>
                      <a:pt x="7" y="7"/>
                      <a:pt x="0" y="9"/>
                      <a:pt x="0" y="6"/>
                    </a:cubicBezTo>
                    <a:cubicBezTo>
                      <a:pt x="0" y="3"/>
                      <a:pt x="6" y="0"/>
                      <a:pt x="9" y="0"/>
                    </a:cubicBezTo>
                    <a:cubicBezTo>
                      <a:pt x="11" y="7"/>
                      <a:pt x="14" y="15"/>
                      <a:pt x="20" y="15"/>
                    </a:cubicBezTo>
                    <a:cubicBezTo>
                      <a:pt x="20" y="16"/>
                      <a:pt x="20" y="18"/>
                      <a:pt x="21" y="19"/>
                    </a:cubicBezTo>
                    <a:cubicBezTo>
                      <a:pt x="20" y="19"/>
                      <a:pt x="18" y="19"/>
                      <a:pt x="17" y="19"/>
                    </a:cubicBezTo>
                    <a:cubicBezTo>
                      <a:pt x="15" y="19"/>
                      <a:pt x="14" y="17"/>
                      <a:pt x="12" y="1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44" name="Freeform 134">
                <a:extLst>
                  <a:ext uri="{FF2B5EF4-FFF2-40B4-BE49-F238E27FC236}">
                    <a16:creationId xmlns:a16="http://schemas.microsoft.com/office/drawing/2014/main" id="{AFAEA61F-C66B-6CF1-DCB8-7FA707E0FC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83313" y="2917825"/>
                <a:ext cx="11113" cy="11113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5" y="0"/>
                  </a:cxn>
                  <a:cxn ang="0">
                    <a:pos x="9" y="3"/>
                  </a:cxn>
                  <a:cxn ang="0">
                    <a:pos x="4" y="8"/>
                  </a:cxn>
                  <a:cxn ang="0">
                    <a:pos x="1" y="3"/>
                  </a:cxn>
                  <a:cxn ang="0">
                    <a:pos x="1" y="0"/>
                  </a:cxn>
                </a:cxnLst>
                <a:rect l="0" t="0" r="r" b="b"/>
                <a:pathLst>
                  <a:path w="9" h="8">
                    <a:moveTo>
                      <a:pt x="1" y="0"/>
                    </a:moveTo>
                    <a:cubicBezTo>
                      <a:pt x="2" y="0"/>
                      <a:pt x="4" y="0"/>
                      <a:pt x="5" y="0"/>
                    </a:cubicBezTo>
                    <a:cubicBezTo>
                      <a:pt x="6" y="0"/>
                      <a:pt x="8" y="2"/>
                      <a:pt x="9" y="3"/>
                    </a:cubicBezTo>
                    <a:cubicBezTo>
                      <a:pt x="9" y="5"/>
                      <a:pt x="7" y="8"/>
                      <a:pt x="4" y="8"/>
                    </a:cubicBezTo>
                    <a:cubicBezTo>
                      <a:pt x="1" y="8"/>
                      <a:pt x="1" y="5"/>
                      <a:pt x="1" y="3"/>
                    </a:cubicBezTo>
                    <a:cubicBezTo>
                      <a:pt x="1" y="2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45" name="Freeform 135">
                <a:extLst>
                  <a:ext uri="{FF2B5EF4-FFF2-40B4-BE49-F238E27FC236}">
                    <a16:creationId xmlns:a16="http://schemas.microsoft.com/office/drawing/2014/main" id="{C8EF4588-5BF9-78FC-703B-C0F49E4C75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5675" y="2892425"/>
                <a:ext cx="9525" cy="15875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8" y="12"/>
                  </a:cxn>
                  <a:cxn ang="0">
                    <a:pos x="0" y="2"/>
                  </a:cxn>
                  <a:cxn ang="0">
                    <a:pos x="0" y="0"/>
                  </a:cxn>
                  <a:cxn ang="0">
                    <a:pos x="3" y="0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8" h="12">
                    <a:moveTo>
                      <a:pt x="1" y="0"/>
                    </a:moveTo>
                    <a:cubicBezTo>
                      <a:pt x="5" y="4"/>
                      <a:pt x="8" y="7"/>
                      <a:pt x="8" y="12"/>
                    </a:cubicBezTo>
                    <a:cubicBezTo>
                      <a:pt x="5" y="12"/>
                      <a:pt x="0" y="5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1"/>
                      <a:pt x="3" y="2"/>
                      <a:pt x="3" y="2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46" name="Freeform 136">
                <a:extLst>
                  <a:ext uri="{FF2B5EF4-FFF2-40B4-BE49-F238E27FC236}">
                    <a16:creationId xmlns:a16="http://schemas.microsoft.com/office/drawing/2014/main" id="{5B186557-1500-8353-A71B-244E6FE0B2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3450" y="2855913"/>
                <a:ext cx="15875" cy="1587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8" y="1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</a:cxnLst>
                <a:rect l="0" t="0" r="r" b="b"/>
                <a:pathLst>
                  <a:path w="12" h="11">
                    <a:moveTo>
                      <a:pt x="2" y="0"/>
                    </a:moveTo>
                    <a:cubicBezTo>
                      <a:pt x="5" y="2"/>
                      <a:pt x="12" y="11"/>
                      <a:pt x="8" y="11"/>
                    </a:cubicBezTo>
                    <a:cubicBezTo>
                      <a:pt x="6" y="11"/>
                      <a:pt x="1" y="4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47" name="Freeform 137">
                <a:extLst>
                  <a:ext uri="{FF2B5EF4-FFF2-40B4-BE49-F238E27FC236}">
                    <a16:creationId xmlns:a16="http://schemas.microsoft.com/office/drawing/2014/main" id="{F9FF8D03-87DB-F35E-48BB-53DB429F03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48438" y="2284413"/>
                <a:ext cx="41275" cy="49213"/>
              </a:xfrm>
              <a:custGeom>
                <a:avLst/>
                <a:gdLst/>
                <a:ahLst/>
                <a:cxnLst>
                  <a:cxn ang="0">
                    <a:pos x="12" y="22"/>
                  </a:cxn>
                  <a:cxn ang="0">
                    <a:pos x="14" y="16"/>
                  </a:cxn>
                  <a:cxn ang="0">
                    <a:pos x="10" y="10"/>
                  </a:cxn>
                  <a:cxn ang="0">
                    <a:pos x="10" y="14"/>
                  </a:cxn>
                  <a:cxn ang="0">
                    <a:pos x="5" y="16"/>
                  </a:cxn>
                  <a:cxn ang="0">
                    <a:pos x="0" y="11"/>
                  </a:cxn>
                  <a:cxn ang="0">
                    <a:pos x="14" y="0"/>
                  </a:cxn>
                  <a:cxn ang="0">
                    <a:pos x="26" y="3"/>
                  </a:cxn>
                  <a:cxn ang="0">
                    <a:pos x="26" y="8"/>
                  </a:cxn>
                  <a:cxn ang="0">
                    <a:pos x="30" y="11"/>
                  </a:cxn>
                  <a:cxn ang="0">
                    <a:pos x="30" y="16"/>
                  </a:cxn>
                  <a:cxn ang="0">
                    <a:pos x="26" y="16"/>
                  </a:cxn>
                  <a:cxn ang="0">
                    <a:pos x="15" y="37"/>
                  </a:cxn>
                  <a:cxn ang="0">
                    <a:pos x="14" y="33"/>
                  </a:cxn>
                  <a:cxn ang="0">
                    <a:pos x="14" y="36"/>
                  </a:cxn>
                  <a:cxn ang="0">
                    <a:pos x="7" y="29"/>
                  </a:cxn>
                  <a:cxn ang="0">
                    <a:pos x="12" y="22"/>
                  </a:cxn>
                </a:cxnLst>
                <a:rect l="0" t="0" r="r" b="b"/>
                <a:pathLst>
                  <a:path w="30" h="37">
                    <a:moveTo>
                      <a:pt x="12" y="22"/>
                    </a:moveTo>
                    <a:cubicBezTo>
                      <a:pt x="14" y="16"/>
                      <a:pt x="14" y="16"/>
                      <a:pt x="14" y="16"/>
                    </a:cubicBezTo>
                    <a:cubicBezTo>
                      <a:pt x="11" y="15"/>
                      <a:pt x="11" y="12"/>
                      <a:pt x="10" y="10"/>
                    </a:cubicBezTo>
                    <a:cubicBezTo>
                      <a:pt x="10" y="11"/>
                      <a:pt x="9" y="13"/>
                      <a:pt x="10" y="14"/>
                    </a:cubicBezTo>
                    <a:cubicBezTo>
                      <a:pt x="8" y="14"/>
                      <a:pt x="6" y="16"/>
                      <a:pt x="5" y="16"/>
                    </a:cubicBezTo>
                    <a:cubicBezTo>
                      <a:pt x="3" y="16"/>
                      <a:pt x="0" y="13"/>
                      <a:pt x="0" y="11"/>
                    </a:cubicBezTo>
                    <a:cubicBezTo>
                      <a:pt x="0" y="8"/>
                      <a:pt x="13" y="0"/>
                      <a:pt x="14" y="0"/>
                    </a:cubicBezTo>
                    <a:cubicBezTo>
                      <a:pt x="18" y="0"/>
                      <a:pt x="20" y="3"/>
                      <a:pt x="26" y="3"/>
                    </a:cubicBezTo>
                    <a:cubicBezTo>
                      <a:pt x="26" y="5"/>
                      <a:pt x="25" y="8"/>
                      <a:pt x="26" y="8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30" y="13"/>
                      <a:pt x="29" y="14"/>
                      <a:pt x="30" y="16"/>
                    </a:cubicBezTo>
                    <a:cubicBezTo>
                      <a:pt x="29" y="16"/>
                      <a:pt x="27" y="16"/>
                      <a:pt x="26" y="16"/>
                    </a:cubicBezTo>
                    <a:cubicBezTo>
                      <a:pt x="25" y="24"/>
                      <a:pt x="21" y="37"/>
                      <a:pt x="15" y="37"/>
                    </a:cubicBezTo>
                    <a:cubicBezTo>
                      <a:pt x="14" y="37"/>
                      <a:pt x="14" y="35"/>
                      <a:pt x="14" y="3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0" y="36"/>
                      <a:pt x="7" y="31"/>
                      <a:pt x="7" y="29"/>
                    </a:cubicBezTo>
                    <a:cubicBezTo>
                      <a:pt x="7" y="28"/>
                      <a:pt x="12" y="22"/>
                      <a:pt x="12" y="2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48" name="Freeform 138">
                <a:extLst>
                  <a:ext uri="{FF2B5EF4-FFF2-40B4-BE49-F238E27FC236}">
                    <a16:creationId xmlns:a16="http://schemas.microsoft.com/office/drawing/2014/main" id="{FDBDD00E-C0ED-68C5-3A4A-36F26C1F1A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6063" y="2271713"/>
                <a:ext cx="42863" cy="30163"/>
              </a:xfrm>
              <a:custGeom>
                <a:avLst/>
                <a:gdLst/>
                <a:ahLst/>
                <a:cxnLst>
                  <a:cxn ang="0">
                    <a:pos x="23" y="15"/>
                  </a:cxn>
                  <a:cxn ang="0">
                    <a:pos x="17" y="12"/>
                  </a:cxn>
                  <a:cxn ang="0">
                    <a:pos x="6" y="23"/>
                  </a:cxn>
                  <a:cxn ang="0">
                    <a:pos x="3" y="17"/>
                  </a:cxn>
                  <a:cxn ang="0">
                    <a:pos x="0" y="12"/>
                  </a:cxn>
                  <a:cxn ang="0">
                    <a:pos x="8" y="5"/>
                  </a:cxn>
                  <a:cxn ang="0">
                    <a:pos x="23" y="0"/>
                  </a:cxn>
                  <a:cxn ang="0">
                    <a:pos x="23" y="15"/>
                  </a:cxn>
                </a:cxnLst>
                <a:rect l="0" t="0" r="r" b="b"/>
                <a:pathLst>
                  <a:path w="33" h="23">
                    <a:moveTo>
                      <a:pt x="23" y="15"/>
                    </a:moveTo>
                    <a:cubicBezTo>
                      <a:pt x="20" y="15"/>
                      <a:pt x="18" y="13"/>
                      <a:pt x="17" y="12"/>
                    </a:cubicBezTo>
                    <a:cubicBezTo>
                      <a:pt x="13" y="16"/>
                      <a:pt x="12" y="23"/>
                      <a:pt x="6" y="23"/>
                    </a:cubicBezTo>
                    <a:cubicBezTo>
                      <a:pt x="4" y="23"/>
                      <a:pt x="3" y="19"/>
                      <a:pt x="3" y="17"/>
                    </a:cubicBezTo>
                    <a:cubicBezTo>
                      <a:pt x="1" y="15"/>
                      <a:pt x="0" y="14"/>
                      <a:pt x="0" y="12"/>
                    </a:cubicBezTo>
                    <a:cubicBezTo>
                      <a:pt x="0" y="12"/>
                      <a:pt x="8" y="6"/>
                      <a:pt x="8" y="5"/>
                    </a:cubicBezTo>
                    <a:cubicBezTo>
                      <a:pt x="16" y="7"/>
                      <a:pt x="17" y="0"/>
                      <a:pt x="23" y="0"/>
                    </a:cubicBezTo>
                    <a:cubicBezTo>
                      <a:pt x="33" y="0"/>
                      <a:pt x="28" y="15"/>
                      <a:pt x="23" y="1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49" name="Freeform 139">
                <a:extLst>
                  <a:ext uri="{FF2B5EF4-FFF2-40B4-BE49-F238E27FC236}">
                    <a16:creationId xmlns:a16="http://schemas.microsoft.com/office/drawing/2014/main" id="{950C7858-D00B-905A-92E6-D4C20321BF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0" y="2136775"/>
                <a:ext cx="185738" cy="153988"/>
              </a:xfrm>
              <a:custGeom>
                <a:avLst/>
                <a:gdLst/>
                <a:ahLst/>
                <a:cxnLst>
                  <a:cxn ang="0">
                    <a:pos x="55" y="110"/>
                  </a:cxn>
                  <a:cxn ang="0">
                    <a:pos x="55" y="107"/>
                  </a:cxn>
                  <a:cxn ang="0">
                    <a:pos x="56" y="99"/>
                  </a:cxn>
                  <a:cxn ang="0">
                    <a:pos x="43" y="95"/>
                  </a:cxn>
                  <a:cxn ang="0">
                    <a:pos x="39" y="99"/>
                  </a:cxn>
                  <a:cxn ang="0">
                    <a:pos x="29" y="100"/>
                  </a:cxn>
                  <a:cxn ang="0">
                    <a:pos x="6" y="106"/>
                  </a:cxn>
                  <a:cxn ang="0">
                    <a:pos x="0" y="104"/>
                  </a:cxn>
                  <a:cxn ang="0">
                    <a:pos x="5" y="101"/>
                  </a:cxn>
                  <a:cxn ang="0">
                    <a:pos x="30" y="84"/>
                  </a:cxn>
                  <a:cxn ang="0">
                    <a:pos x="57" y="84"/>
                  </a:cxn>
                  <a:cxn ang="0">
                    <a:pos x="72" y="70"/>
                  </a:cxn>
                  <a:cxn ang="0">
                    <a:pos x="79" y="59"/>
                  </a:cxn>
                  <a:cxn ang="0">
                    <a:pos x="77" y="64"/>
                  </a:cxn>
                  <a:cxn ang="0">
                    <a:pos x="79" y="66"/>
                  </a:cxn>
                  <a:cxn ang="0">
                    <a:pos x="92" y="60"/>
                  </a:cxn>
                  <a:cxn ang="0">
                    <a:pos x="116" y="25"/>
                  </a:cxn>
                  <a:cxn ang="0">
                    <a:pos x="114" y="19"/>
                  </a:cxn>
                  <a:cxn ang="0">
                    <a:pos x="125" y="3"/>
                  </a:cxn>
                  <a:cxn ang="0">
                    <a:pos x="130" y="4"/>
                  </a:cxn>
                  <a:cxn ang="0">
                    <a:pos x="129" y="4"/>
                  </a:cxn>
                  <a:cxn ang="0">
                    <a:pos x="128" y="0"/>
                  </a:cxn>
                  <a:cxn ang="0">
                    <a:pos x="133" y="2"/>
                  </a:cxn>
                  <a:cxn ang="0">
                    <a:pos x="134" y="11"/>
                  </a:cxn>
                  <a:cxn ang="0">
                    <a:pos x="140" y="26"/>
                  </a:cxn>
                  <a:cxn ang="0">
                    <a:pos x="134" y="40"/>
                  </a:cxn>
                  <a:cxn ang="0">
                    <a:pos x="134" y="43"/>
                  </a:cxn>
                  <a:cxn ang="0">
                    <a:pos x="130" y="44"/>
                  </a:cxn>
                  <a:cxn ang="0">
                    <a:pos x="127" y="63"/>
                  </a:cxn>
                  <a:cxn ang="0">
                    <a:pos x="122" y="76"/>
                  </a:cxn>
                  <a:cxn ang="0">
                    <a:pos x="125" y="84"/>
                  </a:cxn>
                  <a:cxn ang="0">
                    <a:pos x="114" y="93"/>
                  </a:cxn>
                  <a:cxn ang="0">
                    <a:pos x="114" y="86"/>
                  </a:cxn>
                  <a:cxn ang="0">
                    <a:pos x="102" y="96"/>
                  </a:cxn>
                  <a:cxn ang="0">
                    <a:pos x="100" y="94"/>
                  </a:cxn>
                  <a:cxn ang="0">
                    <a:pos x="96" y="94"/>
                  </a:cxn>
                  <a:cxn ang="0">
                    <a:pos x="87" y="100"/>
                  </a:cxn>
                  <a:cxn ang="0">
                    <a:pos x="74" y="92"/>
                  </a:cxn>
                  <a:cxn ang="0">
                    <a:pos x="72" y="96"/>
                  </a:cxn>
                  <a:cxn ang="0">
                    <a:pos x="76" y="103"/>
                  </a:cxn>
                  <a:cxn ang="0">
                    <a:pos x="72" y="103"/>
                  </a:cxn>
                  <a:cxn ang="0">
                    <a:pos x="61" y="115"/>
                  </a:cxn>
                  <a:cxn ang="0">
                    <a:pos x="55" y="110"/>
                  </a:cxn>
                </a:cxnLst>
                <a:rect l="0" t="0" r="r" b="b"/>
                <a:pathLst>
                  <a:path w="140" h="115">
                    <a:moveTo>
                      <a:pt x="55" y="110"/>
                    </a:moveTo>
                    <a:cubicBezTo>
                      <a:pt x="53" y="110"/>
                      <a:pt x="55" y="108"/>
                      <a:pt x="55" y="107"/>
                    </a:cubicBezTo>
                    <a:cubicBezTo>
                      <a:pt x="55" y="104"/>
                      <a:pt x="56" y="101"/>
                      <a:pt x="56" y="99"/>
                    </a:cubicBezTo>
                    <a:cubicBezTo>
                      <a:pt x="51" y="98"/>
                      <a:pt x="48" y="95"/>
                      <a:pt x="43" y="95"/>
                    </a:cubicBezTo>
                    <a:cubicBezTo>
                      <a:pt x="40" y="95"/>
                      <a:pt x="40" y="98"/>
                      <a:pt x="39" y="99"/>
                    </a:cubicBezTo>
                    <a:cubicBezTo>
                      <a:pt x="35" y="100"/>
                      <a:pt x="32" y="98"/>
                      <a:pt x="29" y="100"/>
                    </a:cubicBezTo>
                    <a:cubicBezTo>
                      <a:pt x="23" y="103"/>
                      <a:pt x="15" y="106"/>
                      <a:pt x="6" y="106"/>
                    </a:cubicBezTo>
                    <a:cubicBezTo>
                      <a:pt x="3" y="106"/>
                      <a:pt x="0" y="106"/>
                      <a:pt x="0" y="104"/>
                    </a:cubicBezTo>
                    <a:cubicBezTo>
                      <a:pt x="0" y="103"/>
                      <a:pt x="4" y="102"/>
                      <a:pt x="5" y="101"/>
                    </a:cubicBezTo>
                    <a:cubicBezTo>
                      <a:pt x="15" y="95"/>
                      <a:pt x="19" y="84"/>
                      <a:pt x="30" y="84"/>
                    </a:cubicBezTo>
                    <a:cubicBezTo>
                      <a:pt x="43" y="84"/>
                      <a:pt x="47" y="84"/>
                      <a:pt x="57" y="84"/>
                    </a:cubicBezTo>
                    <a:cubicBezTo>
                      <a:pt x="65" y="84"/>
                      <a:pt x="68" y="70"/>
                      <a:pt x="72" y="70"/>
                    </a:cubicBezTo>
                    <a:cubicBezTo>
                      <a:pt x="72" y="70"/>
                      <a:pt x="78" y="60"/>
                      <a:pt x="79" y="59"/>
                    </a:cubicBezTo>
                    <a:cubicBezTo>
                      <a:pt x="78" y="61"/>
                      <a:pt x="77" y="62"/>
                      <a:pt x="77" y="64"/>
                    </a:cubicBezTo>
                    <a:cubicBezTo>
                      <a:pt x="77" y="65"/>
                      <a:pt x="78" y="66"/>
                      <a:pt x="79" y="66"/>
                    </a:cubicBezTo>
                    <a:cubicBezTo>
                      <a:pt x="86" y="66"/>
                      <a:pt x="87" y="62"/>
                      <a:pt x="92" y="60"/>
                    </a:cubicBezTo>
                    <a:cubicBezTo>
                      <a:pt x="101" y="57"/>
                      <a:pt x="116" y="39"/>
                      <a:pt x="116" y="25"/>
                    </a:cubicBezTo>
                    <a:cubicBezTo>
                      <a:pt x="116" y="22"/>
                      <a:pt x="114" y="22"/>
                      <a:pt x="114" y="19"/>
                    </a:cubicBezTo>
                    <a:cubicBezTo>
                      <a:pt x="114" y="14"/>
                      <a:pt x="119" y="3"/>
                      <a:pt x="125" y="3"/>
                    </a:cubicBezTo>
                    <a:cubicBezTo>
                      <a:pt x="125" y="3"/>
                      <a:pt x="125" y="9"/>
                      <a:pt x="130" y="4"/>
                    </a:cubicBezTo>
                    <a:cubicBezTo>
                      <a:pt x="130" y="4"/>
                      <a:pt x="129" y="4"/>
                      <a:pt x="129" y="4"/>
                    </a:cubicBezTo>
                    <a:cubicBezTo>
                      <a:pt x="128" y="4"/>
                      <a:pt x="127" y="0"/>
                      <a:pt x="128" y="0"/>
                    </a:cubicBezTo>
                    <a:cubicBezTo>
                      <a:pt x="131" y="0"/>
                      <a:pt x="133" y="1"/>
                      <a:pt x="133" y="2"/>
                    </a:cubicBezTo>
                    <a:cubicBezTo>
                      <a:pt x="135" y="5"/>
                      <a:pt x="134" y="8"/>
                      <a:pt x="134" y="11"/>
                    </a:cubicBezTo>
                    <a:cubicBezTo>
                      <a:pt x="134" y="17"/>
                      <a:pt x="140" y="20"/>
                      <a:pt x="140" y="26"/>
                    </a:cubicBezTo>
                    <a:cubicBezTo>
                      <a:pt x="140" y="33"/>
                      <a:pt x="134" y="34"/>
                      <a:pt x="134" y="40"/>
                    </a:cubicBezTo>
                    <a:cubicBezTo>
                      <a:pt x="134" y="41"/>
                      <a:pt x="134" y="42"/>
                      <a:pt x="134" y="43"/>
                    </a:cubicBezTo>
                    <a:cubicBezTo>
                      <a:pt x="133" y="44"/>
                      <a:pt x="132" y="43"/>
                      <a:pt x="130" y="44"/>
                    </a:cubicBezTo>
                    <a:cubicBezTo>
                      <a:pt x="126" y="45"/>
                      <a:pt x="127" y="59"/>
                      <a:pt x="127" y="63"/>
                    </a:cubicBezTo>
                    <a:cubicBezTo>
                      <a:pt x="127" y="67"/>
                      <a:pt x="122" y="70"/>
                      <a:pt x="122" y="76"/>
                    </a:cubicBezTo>
                    <a:cubicBezTo>
                      <a:pt x="122" y="80"/>
                      <a:pt x="124" y="81"/>
                      <a:pt x="125" y="84"/>
                    </a:cubicBezTo>
                    <a:cubicBezTo>
                      <a:pt x="119" y="87"/>
                      <a:pt x="119" y="91"/>
                      <a:pt x="114" y="93"/>
                    </a:cubicBezTo>
                    <a:cubicBezTo>
                      <a:pt x="112" y="89"/>
                      <a:pt x="114" y="89"/>
                      <a:pt x="114" y="86"/>
                    </a:cubicBezTo>
                    <a:cubicBezTo>
                      <a:pt x="108" y="90"/>
                      <a:pt x="104" y="90"/>
                      <a:pt x="102" y="96"/>
                    </a:cubicBezTo>
                    <a:cubicBezTo>
                      <a:pt x="102" y="96"/>
                      <a:pt x="100" y="95"/>
                      <a:pt x="100" y="94"/>
                    </a:cubicBezTo>
                    <a:cubicBezTo>
                      <a:pt x="96" y="94"/>
                      <a:pt x="96" y="94"/>
                      <a:pt x="96" y="94"/>
                    </a:cubicBezTo>
                    <a:cubicBezTo>
                      <a:pt x="93" y="97"/>
                      <a:pt x="91" y="100"/>
                      <a:pt x="87" y="100"/>
                    </a:cubicBezTo>
                    <a:cubicBezTo>
                      <a:pt x="78" y="100"/>
                      <a:pt x="78" y="92"/>
                      <a:pt x="74" y="92"/>
                    </a:cubicBezTo>
                    <a:cubicBezTo>
                      <a:pt x="73" y="92"/>
                      <a:pt x="72" y="94"/>
                      <a:pt x="72" y="96"/>
                    </a:cubicBezTo>
                    <a:cubicBezTo>
                      <a:pt x="72" y="97"/>
                      <a:pt x="76" y="103"/>
                      <a:pt x="76" y="103"/>
                    </a:cubicBezTo>
                    <a:cubicBezTo>
                      <a:pt x="75" y="103"/>
                      <a:pt x="73" y="103"/>
                      <a:pt x="72" y="103"/>
                    </a:cubicBezTo>
                    <a:cubicBezTo>
                      <a:pt x="68" y="103"/>
                      <a:pt x="63" y="110"/>
                      <a:pt x="61" y="115"/>
                    </a:cubicBezTo>
                    <a:cubicBezTo>
                      <a:pt x="57" y="114"/>
                      <a:pt x="58" y="110"/>
                      <a:pt x="55" y="11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50" name="Freeform 140">
                <a:extLst>
                  <a:ext uri="{FF2B5EF4-FFF2-40B4-BE49-F238E27FC236}">
                    <a16:creationId xmlns:a16="http://schemas.microsoft.com/office/drawing/2014/main" id="{0D273FA4-D3B8-B276-2BEC-7EF14213DA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1475" y="2054225"/>
                <a:ext cx="96838" cy="80963"/>
              </a:xfrm>
              <a:custGeom>
                <a:avLst/>
                <a:gdLst/>
                <a:ahLst/>
                <a:cxnLst>
                  <a:cxn ang="0">
                    <a:pos x="11" y="33"/>
                  </a:cxn>
                  <a:cxn ang="0">
                    <a:pos x="15" y="33"/>
                  </a:cxn>
                  <a:cxn ang="0">
                    <a:pos x="26" y="10"/>
                  </a:cxn>
                  <a:cxn ang="0">
                    <a:pos x="23" y="6"/>
                  </a:cxn>
                  <a:cxn ang="0">
                    <a:pos x="26" y="0"/>
                  </a:cxn>
                  <a:cxn ang="0">
                    <a:pos x="60" y="22"/>
                  </a:cxn>
                  <a:cxn ang="0">
                    <a:pos x="70" y="21"/>
                  </a:cxn>
                  <a:cxn ang="0">
                    <a:pos x="67" y="26"/>
                  </a:cxn>
                  <a:cxn ang="0">
                    <a:pos x="72" y="32"/>
                  </a:cxn>
                  <a:cxn ang="0">
                    <a:pos x="59" y="36"/>
                  </a:cxn>
                  <a:cxn ang="0">
                    <a:pos x="43" y="51"/>
                  </a:cxn>
                  <a:cxn ang="0">
                    <a:pos x="24" y="41"/>
                  </a:cxn>
                  <a:cxn ang="0">
                    <a:pos x="21" y="45"/>
                  </a:cxn>
                  <a:cxn ang="0">
                    <a:pos x="8" y="48"/>
                  </a:cxn>
                  <a:cxn ang="0">
                    <a:pos x="16" y="54"/>
                  </a:cxn>
                  <a:cxn ang="0">
                    <a:pos x="5" y="61"/>
                  </a:cxn>
                  <a:cxn ang="0">
                    <a:pos x="3" y="61"/>
                  </a:cxn>
                  <a:cxn ang="0">
                    <a:pos x="3" y="51"/>
                  </a:cxn>
                  <a:cxn ang="0">
                    <a:pos x="0" y="46"/>
                  </a:cxn>
                  <a:cxn ang="0">
                    <a:pos x="8" y="35"/>
                  </a:cxn>
                  <a:cxn ang="0">
                    <a:pos x="8" y="32"/>
                  </a:cxn>
                  <a:cxn ang="0">
                    <a:pos x="12" y="34"/>
                  </a:cxn>
                  <a:cxn ang="0">
                    <a:pos x="11" y="33"/>
                  </a:cxn>
                </a:cxnLst>
                <a:rect l="0" t="0" r="r" b="b"/>
                <a:pathLst>
                  <a:path w="72" h="61">
                    <a:moveTo>
                      <a:pt x="11" y="33"/>
                    </a:moveTo>
                    <a:cubicBezTo>
                      <a:pt x="12" y="33"/>
                      <a:pt x="14" y="33"/>
                      <a:pt x="15" y="33"/>
                    </a:cubicBezTo>
                    <a:cubicBezTo>
                      <a:pt x="23" y="33"/>
                      <a:pt x="26" y="16"/>
                      <a:pt x="26" y="10"/>
                    </a:cubicBezTo>
                    <a:cubicBezTo>
                      <a:pt x="26" y="8"/>
                      <a:pt x="23" y="7"/>
                      <a:pt x="23" y="6"/>
                    </a:cubicBezTo>
                    <a:cubicBezTo>
                      <a:pt x="23" y="2"/>
                      <a:pt x="25" y="1"/>
                      <a:pt x="26" y="0"/>
                    </a:cubicBezTo>
                    <a:cubicBezTo>
                      <a:pt x="38" y="8"/>
                      <a:pt x="43" y="22"/>
                      <a:pt x="60" y="22"/>
                    </a:cubicBezTo>
                    <a:cubicBezTo>
                      <a:pt x="64" y="22"/>
                      <a:pt x="67" y="19"/>
                      <a:pt x="70" y="21"/>
                    </a:cubicBezTo>
                    <a:cubicBezTo>
                      <a:pt x="69" y="23"/>
                      <a:pt x="67" y="24"/>
                      <a:pt x="67" y="26"/>
                    </a:cubicBezTo>
                    <a:cubicBezTo>
                      <a:pt x="67" y="29"/>
                      <a:pt x="71" y="32"/>
                      <a:pt x="72" y="32"/>
                    </a:cubicBezTo>
                    <a:cubicBezTo>
                      <a:pt x="68" y="35"/>
                      <a:pt x="65" y="36"/>
                      <a:pt x="59" y="36"/>
                    </a:cubicBezTo>
                    <a:cubicBezTo>
                      <a:pt x="49" y="36"/>
                      <a:pt x="46" y="46"/>
                      <a:pt x="43" y="51"/>
                    </a:cubicBezTo>
                    <a:cubicBezTo>
                      <a:pt x="36" y="47"/>
                      <a:pt x="31" y="46"/>
                      <a:pt x="24" y="41"/>
                    </a:cubicBezTo>
                    <a:cubicBezTo>
                      <a:pt x="23" y="42"/>
                      <a:pt x="21" y="43"/>
                      <a:pt x="21" y="45"/>
                    </a:cubicBezTo>
                    <a:cubicBezTo>
                      <a:pt x="15" y="45"/>
                      <a:pt x="8" y="40"/>
                      <a:pt x="8" y="48"/>
                    </a:cubicBezTo>
                    <a:cubicBezTo>
                      <a:pt x="8" y="52"/>
                      <a:pt x="14" y="52"/>
                      <a:pt x="16" y="54"/>
                    </a:cubicBezTo>
                    <a:cubicBezTo>
                      <a:pt x="12" y="59"/>
                      <a:pt x="9" y="57"/>
                      <a:pt x="5" y="61"/>
                    </a:cubicBezTo>
                    <a:cubicBezTo>
                      <a:pt x="3" y="61"/>
                      <a:pt x="3" y="61"/>
                      <a:pt x="3" y="61"/>
                    </a:cubicBezTo>
                    <a:cubicBezTo>
                      <a:pt x="3" y="58"/>
                      <a:pt x="3" y="51"/>
                      <a:pt x="3" y="51"/>
                    </a:cubicBezTo>
                    <a:cubicBezTo>
                      <a:pt x="3" y="49"/>
                      <a:pt x="0" y="48"/>
                      <a:pt x="0" y="46"/>
                    </a:cubicBezTo>
                    <a:cubicBezTo>
                      <a:pt x="0" y="41"/>
                      <a:pt x="8" y="38"/>
                      <a:pt x="8" y="35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9" y="32"/>
                      <a:pt x="10" y="33"/>
                      <a:pt x="12" y="34"/>
                    </a:cubicBezTo>
                    <a:lnTo>
                      <a:pt x="11" y="3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51" name="Freeform 141">
                <a:extLst>
                  <a:ext uri="{FF2B5EF4-FFF2-40B4-BE49-F238E27FC236}">
                    <a16:creationId xmlns:a16="http://schemas.microsoft.com/office/drawing/2014/main" id="{BDD2623A-7BC8-9B85-7177-720C2A3104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16725" y="2073275"/>
                <a:ext cx="15875" cy="14288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12" y="2"/>
                  </a:cxn>
                  <a:cxn ang="0">
                    <a:pos x="1" y="11"/>
                  </a:cxn>
                  <a:cxn ang="0">
                    <a:pos x="1" y="7"/>
                  </a:cxn>
                  <a:cxn ang="0">
                    <a:pos x="11" y="0"/>
                  </a:cxn>
                  <a:cxn ang="0">
                    <a:pos x="10" y="0"/>
                  </a:cxn>
                </a:cxnLst>
                <a:rect l="0" t="0" r="r" b="b"/>
                <a:pathLst>
                  <a:path w="12" h="11">
                    <a:moveTo>
                      <a:pt x="10" y="0"/>
                    </a:moveTo>
                    <a:cubicBezTo>
                      <a:pt x="12" y="2"/>
                      <a:pt x="12" y="2"/>
                      <a:pt x="12" y="2"/>
                    </a:cubicBezTo>
                    <a:cubicBezTo>
                      <a:pt x="10" y="4"/>
                      <a:pt x="5" y="11"/>
                      <a:pt x="1" y="11"/>
                    </a:cubicBezTo>
                    <a:cubicBezTo>
                      <a:pt x="0" y="11"/>
                      <a:pt x="0" y="8"/>
                      <a:pt x="1" y="7"/>
                    </a:cubicBezTo>
                    <a:cubicBezTo>
                      <a:pt x="3" y="4"/>
                      <a:pt x="8" y="0"/>
                      <a:pt x="11" y="0"/>
                    </a:cubicBezTo>
                    <a:lnTo>
                      <a:pt x="10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52" name="Freeform 142">
                <a:extLst>
                  <a:ext uri="{FF2B5EF4-FFF2-40B4-BE49-F238E27FC236}">
                    <a16:creationId xmlns:a16="http://schemas.microsoft.com/office/drawing/2014/main" id="{C32CAE87-21CB-358A-FCCE-DB5B4218F3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48475" y="2052638"/>
                <a:ext cx="22225" cy="15875"/>
              </a:xfrm>
              <a:custGeom>
                <a:avLst/>
                <a:gdLst/>
                <a:ahLst/>
                <a:cxnLst>
                  <a:cxn ang="0">
                    <a:pos x="17" y="3"/>
                  </a:cxn>
                  <a:cxn ang="0">
                    <a:pos x="1" y="12"/>
                  </a:cxn>
                  <a:cxn ang="0">
                    <a:pos x="1" y="10"/>
                  </a:cxn>
                  <a:cxn ang="0">
                    <a:pos x="10" y="0"/>
                  </a:cxn>
                  <a:cxn ang="0">
                    <a:pos x="17" y="0"/>
                  </a:cxn>
                  <a:cxn ang="0">
                    <a:pos x="17" y="3"/>
                  </a:cxn>
                </a:cxnLst>
                <a:rect l="0" t="0" r="r" b="b"/>
                <a:pathLst>
                  <a:path w="17" h="12">
                    <a:moveTo>
                      <a:pt x="17" y="3"/>
                    </a:moveTo>
                    <a:cubicBezTo>
                      <a:pt x="7" y="3"/>
                      <a:pt x="7" y="12"/>
                      <a:pt x="1" y="12"/>
                    </a:cubicBezTo>
                    <a:cubicBezTo>
                      <a:pt x="0" y="12"/>
                      <a:pt x="1" y="10"/>
                      <a:pt x="1" y="10"/>
                    </a:cubicBezTo>
                    <a:cubicBezTo>
                      <a:pt x="1" y="10"/>
                      <a:pt x="5" y="0"/>
                      <a:pt x="10" y="0"/>
                    </a:cubicBezTo>
                    <a:cubicBezTo>
                      <a:pt x="13" y="0"/>
                      <a:pt x="15" y="0"/>
                      <a:pt x="17" y="0"/>
                    </a:cubicBezTo>
                    <a:lnTo>
                      <a:pt x="17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53" name="Freeform 143">
                <a:extLst>
                  <a:ext uri="{FF2B5EF4-FFF2-40B4-BE49-F238E27FC236}">
                    <a16:creationId xmlns:a16="http://schemas.microsoft.com/office/drawing/2014/main" id="{2532483A-3C44-ACF4-F8B3-A0B5413EC7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8163" y="2035175"/>
                <a:ext cx="12700" cy="11113"/>
              </a:xfrm>
              <a:custGeom>
                <a:avLst/>
                <a:gdLst/>
                <a:ahLst/>
                <a:cxnLst>
                  <a:cxn ang="0">
                    <a:pos x="1" y="6"/>
                  </a:cxn>
                  <a:cxn ang="0">
                    <a:pos x="2" y="3"/>
                  </a:cxn>
                  <a:cxn ang="0">
                    <a:pos x="9" y="0"/>
                  </a:cxn>
                  <a:cxn ang="0">
                    <a:pos x="1" y="9"/>
                  </a:cxn>
                  <a:cxn ang="0">
                    <a:pos x="1" y="6"/>
                  </a:cxn>
                </a:cxnLst>
                <a:rect l="0" t="0" r="r" b="b"/>
                <a:pathLst>
                  <a:path w="9" h="9">
                    <a:moveTo>
                      <a:pt x="1" y="6"/>
                    </a:moveTo>
                    <a:cubicBezTo>
                      <a:pt x="3" y="6"/>
                      <a:pt x="1" y="4"/>
                      <a:pt x="2" y="3"/>
                    </a:cubicBezTo>
                    <a:cubicBezTo>
                      <a:pt x="3" y="0"/>
                      <a:pt x="8" y="0"/>
                      <a:pt x="9" y="0"/>
                    </a:cubicBezTo>
                    <a:cubicBezTo>
                      <a:pt x="8" y="3"/>
                      <a:pt x="5" y="9"/>
                      <a:pt x="1" y="9"/>
                    </a:cubicBezTo>
                    <a:cubicBezTo>
                      <a:pt x="0" y="9"/>
                      <a:pt x="0" y="6"/>
                      <a:pt x="1" y="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54" name="Freeform 144">
                <a:extLst>
                  <a:ext uri="{FF2B5EF4-FFF2-40B4-BE49-F238E27FC236}">
                    <a16:creationId xmlns:a16="http://schemas.microsoft.com/office/drawing/2014/main" id="{85718F02-49B3-D601-4B96-5AD3753FA8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3225" y="1855788"/>
                <a:ext cx="47625" cy="184150"/>
              </a:xfrm>
              <a:custGeom>
                <a:avLst/>
                <a:gdLst/>
                <a:ahLst/>
                <a:cxnLst>
                  <a:cxn ang="0">
                    <a:pos x="26" y="84"/>
                  </a:cxn>
                  <a:cxn ang="0">
                    <a:pos x="13" y="109"/>
                  </a:cxn>
                  <a:cxn ang="0">
                    <a:pos x="26" y="132"/>
                  </a:cxn>
                  <a:cxn ang="0">
                    <a:pos x="25" y="132"/>
                  </a:cxn>
                  <a:cxn ang="0">
                    <a:pos x="20" y="128"/>
                  </a:cxn>
                  <a:cxn ang="0">
                    <a:pos x="16" y="128"/>
                  </a:cxn>
                  <a:cxn ang="0">
                    <a:pos x="5" y="138"/>
                  </a:cxn>
                  <a:cxn ang="0">
                    <a:pos x="5" y="125"/>
                  </a:cxn>
                  <a:cxn ang="0">
                    <a:pos x="7" y="105"/>
                  </a:cxn>
                  <a:cxn ang="0">
                    <a:pos x="4" y="93"/>
                  </a:cxn>
                  <a:cxn ang="0">
                    <a:pos x="7" y="79"/>
                  </a:cxn>
                  <a:cxn ang="0">
                    <a:pos x="7" y="53"/>
                  </a:cxn>
                  <a:cxn ang="0">
                    <a:pos x="0" y="37"/>
                  </a:cxn>
                  <a:cxn ang="0">
                    <a:pos x="9" y="15"/>
                  </a:cxn>
                  <a:cxn ang="0">
                    <a:pos x="11" y="9"/>
                  </a:cxn>
                  <a:cxn ang="0">
                    <a:pos x="11" y="0"/>
                  </a:cxn>
                  <a:cxn ang="0">
                    <a:pos x="14" y="0"/>
                  </a:cxn>
                  <a:cxn ang="0">
                    <a:pos x="19" y="20"/>
                  </a:cxn>
                  <a:cxn ang="0">
                    <a:pos x="21" y="37"/>
                  </a:cxn>
                  <a:cxn ang="0">
                    <a:pos x="21" y="47"/>
                  </a:cxn>
                  <a:cxn ang="0">
                    <a:pos x="24" y="59"/>
                  </a:cxn>
                  <a:cxn ang="0">
                    <a:pos x="36" y="90"/>
                  </a:cxn>
                  <a:cxn ang="0">
                    <a:pos x="26" y="84"/>
                  </a:cxn>
                </a:cxnLst>
                <a:rect l="0" t="0" r="r" b="b"/>
                <a:pathLst>
                  <a:path w="36" h="138">
                    <a:moveTo>
                      <a:pt x="26" y="84"/>
                    </a:moveTo>
                    <a:cubicBezTo>
                      <a:pt x="15" y="84"/>
                      <a:pt x="13" y="98"/>
                      <a:pt x="13" y="109"/>
                    </a:cubicBezTo>
                    <a:cubicBezTo>
                      <a:pt x="13" y="120"/>
                      <a:pt x="22" y="124"/>
                      <a:pt x="26" y="132"/>
                    </a:cubicBezTo>
                    <a:cubicBezTo>
                      <a:pt x="26" y="132"/>
                      <a:pt x="25" y="132"/>
                      <a:pt x="25" y="132"/>
                    </a:cubicBezTo>
                    <a:cubicBezTo>
                      <a:pt x="23" y="133"/>
                      <a:pt x="21" y="130"/>
                      <a:pt x="20" y="128"/>
                    </a:cubicBezTo>
                    <a:cubicBezTo>
                      <a:pt x="19" y="128"/>
                      <a:pt x="17" y="128"/>
                      <a:pt x="16" y="128"/>
                    </a:cubicBezTo>
                    <a:cubicBezTo>
                      <a:pt x="11" y="128"/>
                      <a:pt x="11" y="138"/>
                      <a:pt x="5" y="138"/>
                    </a:cubicBezTo>
                    <a:cubicBezTo>
                      <a:pt x="4" y="138"/>
                      <a:pt x="5" y="127"/>
                      <a:pt x="5" y="125"/>
                    </a:cubicBezTo>
                    <a:cubicBezTo>
                      <a:pt x="5" y="117"/>
                      <a:pt x="7" y="112"/>
                      <a:pt x="7" y="105"/>
                    </a:cubicBezTo>
                    <a:cubicBezTo>
                      <a:pt x="7" y="99"/>
                      <a:pt x="4" y="98"/>
                      <a:pt x="4" y="93"/>
                    </a:cubicBezTo>
                    <a:cubicBezTo>
                      <a:pt x="4" y="86"/>
                      <a:pt x="7" y="84"/>
                      <a:pt x="7" y="79"/>
                    </a:cubicBezTo>
                    <a:cubicBezTo>
                      <a:pt x="7" y="68"/>
                      <a:pt x="7" y="64"/>
                      <a:pt x="7" y="53"/>
                    </a:cubicBezTo>
                    <a:cubicBezTo>
                      <a:pt x="7" y="46"/>
                      <a:pt x="0" y="44"/>
                      <a:pt x="0" y="37"/>
                    </a:cubicBezTo>
                    <a:cubicBezTo>
                      <a:pt x="0" y="28"/>
                      <a:pt x="3" y="16"/>
                      <a:pt x="9" y="15"/>
                    </a:cubicBezTo>
                    <a:cubicBezTo>
                      <a:pt x="9" y="12"/>
                      <a:pt x="11" y="11"/>
                      <a:pt x="11" y="9"/>
                    </a:cubicBezTo>
                    <a:cubicBezTo>
                      <a:pt x="11" y="4"/>
                      <a:pt x="11" y="3"/>
                      <a:pt x="11" y="0"/>
                    </a:cubicBezTo>
                    <a:cubicBezTo>
                      <a:pt x="12" y="0"/>
                      <a:pt x="13" y="0"/>
                      <a:pt x="14" y="0"/>
                    </a:cubicBezTo>
                    <a:cubicBezTo>
                      <a:pt x="14" y="8"/>
                      <a:pt x="18" y="14"/>
                      <a:pt x="19" y="20"/>
                    </a:cubicBezTo>
                    <a:cubicBezTo>
                      <a:pt x="21" y="26"/>
                      <a:pt x="18" y="30"/>
                      <a:pt x="21" y="37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0" y="52"/>
                      <a:pt x="23" y="57"/>
                      <a:pt x="24" y="59"/>
                    </a:cubicBezTo>
                    <a:cubicBezTo>
                      <a:pt x="27" y="70"/>
                      <a:pt x="33" y="79"/>
                      <a:pt x="36" y="90"/>
                    </a:cubicBezTo>
                    <a:cubicBezTo>
                      <a:pt x="34" y="86"/>
                      <a:pt x="30" y="84"/>
                      <a:pt x="26" y="8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55" name="Freeform 145">
                <a:extLst>
                  <a:ext uri="{FF2B5EF4-FFF2-40B4-BE49-F238E27FC236}">
                    <a16:creationId xmlns:a16="http://schemas.microsoft.com/office/drawing/2014/main" id="{31D7BBD7-996A-5194-82BD-3BF0B93B6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1925" y="1219200"/>
                <a:ext cx="292100" cy="214313"/>
              </a:xfrm>
              <a:custGeom>
                <a:avLst/>
                <a:gdLst/>
                <a:ahLst/>
                <a:cxnLst>
                  <a:cxn ang="0">
                    <a:pos x="76" y="161"/>
                  </a:cxn>
                  <a:cxn ang="0">
                    <a:pos x="50" y="131"/>
                  </a:cxn>
                  <a:cxn ang="0">
                    <a:pos x="103" y="67"/>
                  </a:cxn>
                  <a:cxn ang="0">
                    <a:pos x="125" y="55"/>
                  </a:cxn>
                  <a:cxn ang="0">
                    <a:pos x="134" y="45"/>
                  </a:cxn>
                  <a:cxn ang="0">
                    <a:pos x="175" y="34"/>
                  </a:cxn>
                  <a:cxn ang="0">
                    <a:pos x="220" y="11"/>
                  </a:cxn>
                  <a:cxn ang="0">
                    <a:pos x="203" y="0"/>
                  </a:cxn>
                  <a:cxn ang="0">
                    <a:pos x="136" y="25"/>
                  </a:cxn>
                  <a:cxn ang="0">
                    <a:pos x="123" y="19"/>
                  </a:cxn>
                  <a:cxn ang="0">
                    <a:pos x="109" y="25"/>
                  </a:cxn>
                  <a:cxn ang="0">
                    <a:pos x="69" y="46"/>
                  </a:cxn>
                  <a:cxn ang="0">
                    <a:pos x="52" y="49"/>
                  </a:cxn>
                  <a:cxn ang="0">
                    <a:pos x="47" y="53"/>
                  </a:cxn>
                  <a:cxn ang="0">
                    <a:pos x="50" y="61"/>
                  </a:cxn>
                  <a:cxn ang="0">
                    <a:pos x="27" y="88"/>
                  </a:cxn>
                  <a:cxn ang="0">
                    <a:pos x="34" y="98"/>
                  </a:cxn>
                  <a:cxn ang="0">
                    <a:pos x="13" y="110"/>
                  </a:cxn>
                  <a:cxn ang="0">
                    <a:pos x="13" y="117"/>
                  </a:cxn>
                  <a:cxn ang="0">
                    <a:pos x="0" y="134"/>
                  </a:cxn>
                  <a:cxn ang="0">
                    <a:pos x="8" y="143"/>
                  </a:cxn>
                  <a:cxn ang="0">
                    <a:pos x="21" y="143"/>
                  </a:cxn>
                  <a:cxn ang="0">
                    <a:pos x="27" y="158"/>
                  </a:cxn>
                  <a:cxn ang="0">
                    <a:pos x="39" y="158"/>
                  </a:cxn>
                  <a:cxn ang="0">
                    <a:pos x="42" y="161"/>
                  </a:cxn>
                  <a:cxn ang="0">
                    <a:pos x="76" y="161"/>
                  </a:cxn>
                  <a:cxn ang="0">
                    <a:pos x="72" y="156"/>
                  </a:cxn>
                  <a:cxn ang="0">
                    <a:pos x="76" y="161"/>
                  </a:cxn>
                </a:cxnLst>
                <a:rect l="0" t="0" r="r" b="b"/>
                <a:pathLst>
                  <a:path w="220" h="161">
                    <a:moveTo>
                      <a:pt x="76" y="161"/>
                    </a:moveTo>
                    <a:cubicBezTo>
                      <a:pt x="66" y="151"/>
                      <a:pt x="50" y="147"/>
                      <a:pt x="50" y="131"/>
                    </a:cubicBezTo>
                    <a:cubicBezTo>
                      <a:pt x="50" y="102"/>
                      <a:pt x="81" y="73"/>
                      <a:pt x="103" y="67"/>
                    </a:cubicBezTo>
                    <a:cubicBezTo>
                      <a:pt x="111" y="64"/>
                      <a:pt x="113" y="55"/>
                      <a:pt x="125" y="55"/>
                    </a:cubicBezTo>
                    <a:cubicBezTo>
                      <a:pt x="130" y="55"/>
                      <a:pt x="132" y="46"/>
                      <a:pt x="134" y="45"/>
                    </a:cubicBezTo>
                    <a:cubicBezTo>
                      <a:pt x="149" y="38"/>
                      <a:pt x="160" y="41"/>
                      <a:pt x="175" y="34"/>
                    </a:cubicBezTo>
                    <a:cubicBezTo>
                      <a:pt x="186" y="28"/>
                      <a:pt x="220" y="26"/>
                      <a:pt x="220" y="11"/>
                    </a:cubicBezTo>
                    <a:cubicBezTo>
                      <a:pt x="220" y="6"/>
                      <a:pt x="208" y="0"/>
                      <a:pt x="203" y="0"/>
                    </a:cubicBezTo>
                    <a:cubicBezTo>
                      <a:pt x="181" y="0"/>
                      <a:pt x="160" y="25"/>
                      <a:pt x="136" y="25"/>
                    </a:cubicBezTo>
                    <a:cubicBezTo>
                      <a:pt x="131" y="25"/>
                      <a:pt x="128" y="19"/>
                      <a:pt x="123" y="19"/>
                    </a:cubicBezTo>
                    <a:cubicBezTo>
                      <a:pt x="115" y="19"/>
                      <a:pt x="115" y="25"/>
                      <a:pt x="109" y="25"/>
                    </a:cubicBezTo>
                    <a:cubicBezTo>
                      <a:pt x="93" y="25"/>
                      <a:pt x="80" y="46"/>
                      <a:pt x="69" y="46"/>
                    </a:cubicBezTo>
                    <a:cubicBezTo>
                      <a:pt x="63" y="46"/>
                      <a:pt x="58" y="49"/>
                      <a:pt x="52" y="49"/>
                    </a:cubicBezTo>
                    <a:cubicBezTo>
                      <a:pt x="49" y="49"/>
                      <a:pt x="47" y="52"/>
                      <a:pt x="47" y="53"/>
                    </a:cubicBezTo>
                    <a:cubicBezTo>
                      <a:pt x="47" y="56"/>
                      <a:pt x="50" y="58"/>
                      <a:pt x="50" y="61"/>
                    </a:cubicBezTo>
                    <a:cubicBezTo>
                      <a:pt x="50" y="74"/>
                      <a:pt x="27" y="80"/>
                      <a:pt x="27" y="88"/>
                    </a:cubicBezTo>
                    <a:cubicBezTo>
                      <a:pt x="27" y="91"/>
                      <a:pt x="34" y="92"/>
                      <a:pt x="34" y="98"/>
                    </a:cubicBezTo>
                    <a:cubicBezTo>
                      <a:pt x="27" y="99"/>
                      <a:pt x="13" y="102"/>
                      <a:pt x="13" y="110"/>
                    </a:cubicBezTo>
                    <a:cubicBezTo>
                      <a:pt x="13" y="115"/>
                      <a:pt x="13" y="117"/>
                      <a:pt x="13" y="117"/>
                    </a:cubicBezTo>
                    <a:cubicBezTo>
                      <a:pt x="13" y="124"/>
                      <a:pt x="0" y="124"/>
                      <a:pt x="0" y="134"/>
                    </a:cubicBezTo>
                    <a:cubicBezTo>
                      <a:pt x="0" y="139"/>
                      <a:pt x="8" y="143"/>
                      <a:pt x="8" y="143"/>
                    </a:cubicBezTo>
                    <a:cubicBezTo>
                      <a:pt x="8" y="143"/>
                      <a:pt x="20" y="143"/>
                      <a:pt x="21" y="143"/>
                    </a:cubicBezTo>
                    <a:cubicBezTo>
                      <a:pt x="28" y="145"/>
                      <a:pt x="24" y="152"/>
                      <a:pt x="27" y="158"/>
                    </a:cubicBezTo>
                    <a:cubicBezTo>
                      <a:pt x="28" y="161"/>
                      <a:pt x="35" y="158"/>
                      <a:pt x="39" y="158"/>
                    </a:cubicBezTo>
                    <a:cubicBezTo>
                      <a:pt x="40" y="158"/>
                      <a:pt x="41" y="161"/>
                      <a:pt x="42" y="161"/>
                    </a:cubicBezTo>
                    <a:cubicBezTo>
                      <a:pt x="76" y="161"/>
                      <a:pt x="76" y="161"/>
                      <a:pt x="76" y="161"/>
                    </a:cubicBezTo>
                    <a:cubicBezTo>
                      <a:pt x="75" y="159"/>
                      <a:pt x="73" y="157"/>
                      <a:pt x="72" y="156"/>
                    </a:cubicBezTo>
                    <a:lnTo>
                      <a:pt x="76" y="16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56" name="Freeform 146">
                <a:extLst>
                  <a:ext uri="{FF2B5EF4-FFF2-40B4-BE49-F238E27FC236}">
                    <a16:creationId xmlns:a16="http://schemas.microsoft.com/office/drawing/2014/main" id="{58D0A5BC-6DC3-3166-3755-20280242C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3288" y="1196976"/>
                <a:ext cx="2847975" cy="1058863"/>
              </a:xfrm>
              <a:custGeom>
                <a:avLst/>
                <a:gdLst/>
                <a:ahLst/>
                <a:cxnLst>
                  <a:cxn ang="0">
                    <a:pos x="1515" y="585"/>
                  </a:cxn>
                  <a:cxn ang="0">
                    <a:pos x="1460" y="485"/>
                  </a:cxn>
                  <a:cxn ang="0">
                    <a:pos x="1665" y="408"/>
                  </a:cxn>
                  <a:cxn ang="0">
                    <a:pos x="1804" y="346"/>
                  </a:cxn>
                  <a:cxn ang="0">
                    <a:pos x="1709" y="465"/>
                  </a:cxn>
                  <a:cxn ang="0">
                    <a:pos x="1793" y="452"/>
                  </a:cxn>
                  <a:cxn ang="0">
                    <a:pos x="1989" y="313"/>
                  </a:cxn>
                  <a:cxn ang="0">
                    <a:pos x="2112" y="287"/>
                  </a:cxn>
                  <a:cxn ang="0">
                    <a:pos x="1892" y="194"/>
                  </a:cxn>
                  <a:cxn ang="0">
                    <a:pos x="1660" y="159"/>
                  </a:cxn>
                  <a:cxn ang="0">
                    <a:pos x="1435" y="157"/>
                  </a:cxn>
                  <a:cxn ang="0">
                    <a:pos x="1314" y="97"/>
                  </a:cxn>
                  <a:cxn ang="0">
                    <a:pos x="1102" y="104"/>
                  </a:cxn>
                  <a:cxn ang="0">
                    <a:pos x="1016" y="27"/>
                  </a:cxn>
                  <a:cxn ang="0">
                    <a:pos x="758" y="117"/>
                  </a:cxn>
                  <a:cxn ang="0">
                    <a:pos x="668" y="148"/>
                  </a:cxn>
                  <a:cxn ang="0">
                    <a:pos x="644" y="121"/>
                  </a:cxn>
                  <a:cxn ang="0">
                    <a:pos x="511" y="207"/>
                  </a:cxn>
                  <a:cxn ang="0">
                    <a:pos x="322" y="247"/>
                  </a:cxn>
                  <a:cxn ang="0">
                    <a:pos x="214" y="296"/>
                  </a:cxn>
                  <a:cxn ang="0">
                    <a:pos x="229" y="227"/>
                  </a:cxn>
                  <a:cxn ang="0">
                    <a:pos x="127" y="236"/>
                  </a:cxn>
                  <a:cxn ang="0">
                    <a:pos x="136" y="312"/>
                  </a:cxn>
                  <a:cxn ang="0">
                    <a:pos x="117" y="395"/>
                  </a:cxn>
                  <a:cxn ang="0">
                    <a:pos x="50" y="446"/>
                  </a:cxn>
                  <a:cxn ang="0">
                    <a:pos x="16" y="495"/>
                  </a:cxn>
                  <a:cxn ang="0">
                    <a:pos x="54" y="558"/>
                  </a:cxn>
                  <a:cxn ang="0">
                    <a:pos x="88" y="597"/>
                  </a:cxn>
                  <a:cxn ang="0">
                    <a:pos x="112" y="644"/>
                  </a:cxn>
                  <a:cxn ang="0">
                    <a:pos x="208" y="647"/>
                  </a:cxn>
                  <a:cxn ang="0">
                    <a:pos x="225" y="626"/>
                  </a:cxn>
                  <a:cxn ang="0">
                    <a:pos x="284" y="701"/>
                  </a:cxn>
                  <a:cxn ang="0">
                    <a:pos x="350" y="732"/>
                  </a:cxn>
                  <a:cxn ang="0">
                    <a:pos x="366" y="742"/>
                  </a:cxn>
                  <a:cxn ang="0">
                    <a:pos x="349" y="634"/>
                  </a:cxn>
                  <a:cxn ang="0">
                    <a:pos x="412" y="645"/>
                  </a:cxn>
                  <a:cxn ang="0">
                    <a:pos x="427" y="700"/>
                  </a:cxn>
                  <a:cxn ang="0">
                    <a:pos x="428" y="746"/>
                  </a:cxn>
                  <a:cxn ang="0">
                    <a:pos x="447" y="755"/>
                  </a:cxn>
                  <a:cxn ang="0">
                    <a:pos x="522" y="777"/>
                  </a:cxn>
                  <a:cxn ang="0">
                    <a:pos x="559" y="781"/>
                  </a:cxn>
                  <a:cxn ang="0">
                    <a:pos x="608" y="770"/>
                  </a:cxn>
                  <a:cxn ang="0">
                    <a:pos x="654" y="772"/>
                  </a:cxn>
                  <a:cxn ang="0">
                    <a:pos x="677" y="748"/>
                  </a:cxn>
                  <a:cxn ang="0">
                    <a:pos x="829" y="593"/>
                  </a:cxn>
                  <a:cxn ang="0">
                    <a:pos x="994" y="534"/>
                  </a:cxn>
                  <a:cxn ang="0">
                    <a:pos x="1224" y="569"/>
                  </a:cxn>
                  <a:cxn ang="0">
                    <a:pos x="1411" y="607"/>
                  </a:cxn>
                  <a:cxn ang="0">
                    <a:pos x="1400" y="655"/>
                  </a:cxn>
                </a:cxnLst>
                <a:rect l="0" t="0" r="r" b="b"/>
                <a:pathLst>
                  <a:path w="2139" h="795">
                    <a:moveTo>
                      <a:pt x="1398" y="684"/>
                    </a:moveTo>
                    <a:cubicBezTo>
                      <a:pt x="1398" y="684"/>
                      <a:pt x="1415" y="688"/>
                      <a:pt x="1429" y="688"/>
                    </a:cubicBezTo>
                    <a:cubicBezTo>
                      <a:pt x="1454" y="688"/>
                      <a:pt x="1478" y="635"/>
                      <a:pt x="1495" y="618"/>
                    </a:cubicBezTo>
                    <a:cubicBezTo>
                      <a:pt x="1502" y="610"/>
                      <a:pt x="1512" y="596"/>
                      <a:pt x="1515" y="585"/>
                    </a:cubicBezTo>
                    <a:cubicBezTo>
                      <a:pt x="1518" y="572"/>
                      <a:pt x="1513" y="564"/>
                      <a:pt x="1520" y="551"/>
                    </a:cubicBezTo>
                    <a:cubicBezTo>
                      <a:pt x="1522" y="547"/>
                      <a:pt x="1527" y="537"/>
                      <a:pt x="1527" y="527"/>
                    </a:cubicBezTo>
                    <a:cubicBezTo>
                      <a:pt x="1527" y="515"/>
                      <a:pt x="1508" y="492"/>
                      <a:pt x="1499" y="499"/>
                    </a:cubicBezTo>
                    <a:cubicBezTo>
                      <a:pt x="1473" y="518"/>
                      <a:pt x="1460" y="488"/>
                      <a:pt x="1460" y="485"/>
                    </a:cubicBezTo>
                    <a:cubicBezTo>
                      <a:pt x="1460" y="473"/>
                      <a:pt x="1483" y="459"/>
                      <a:pt x="1493" y="450"/>
                    </a:cubicBezTo>
                    <a:cubicBezTo>
                      <a:pt x="1506" y="436"/>
                      <a:pt x="1524" y="413"/>
                      <a:pt x="1543" y="408"/>
                    </a:cubicBezTo>
                    <a:cubicBezTo>
                      <a:pt x="1560" y="404"/>
                      <a:pt x="1613" y="399"/>
                      <a:pt x="1627" y="399"/>
                    </a:cubicBezTo>
                    <a:cubicBezTo>
                      <a:pt x="1645" y="399"/>
                      <a:pt x="1654" y="408"/>
                      <a:pt x="1665" y="408"/>
                    </a:cubicBezTo>
                    <a:cubicBezTo>
                      <a:pt x="1671" y="408"/>
                      <a:pt x="1675" y="408"/>
                      <a:pt x="1689" y="408"/>
                    </a:cubicBezTo>
                    <a:cubicBezTo>
                      <a:pt x="1696" y="379"/>
                      <a:pt x="1709" y="362"/>
                      <a:pt x="1740" y="362"/>
                    </a:cubicBezTo>
                    <a:cubicBezTo>
                      <a:pt x="1748" y="362"/>
                      <a:pt x="1751" y="360"/>
                      <a:pt x="1766" y="362"/>
                    </a:cubicBezTo>
                    <a:cubicBezTo>
                      <a:pt x="1759" y="368"/>
                      <a:pt x="1756" y="406"/>
                      <a:pt x="1804" y="346"/>
                    </a:cubicBezTo>
                    <a:cubicBezTo>
                      <a:pt x="1809" y="346"/>
                      <a:pt x="1832" y="355"/>
                      <a:pt x="1797" y="377"/>
                    </a:cubicBezTo>
                    <a:cubicBezTo>
                      <a:pt x="1785" y="385"/>
                      <a:pt x="1774" y="381"/>
                      <a:pt x="1766" y="393"/>
                    </a:cubicBezTo>
                    <a:cubicBezTo>
                      <a:pt x="1757" y="406"/>
                      <a:pt x="1749" y="423"/>
                      <a:pt x="1735" y="430"/>
                    </a:cubicBezTo>
                    <a:cubicBezTo>
                      <a:pt x="1724" y="436"/>
                      <a:pt x="1709" y="447"/>
                      <a:pt x="1709" y="465"/>
                    </a:cubicBezTo>
                    <a:cubicBezTo>
                      <a:pt x="1709" y="482"/>
                      <a:pt x="1714" y="535"/>
                      <a:pt x="1726" y="545"/>
                    </a:cubicBezTo>
                    <a:cubicBezTo>
                      <a:pt x="1735" y="532"/>
                      <a:pt x="1741" y="507"/>
                      <a:pt x="1760" y="503"/>
                    </a:cubicBezTo>
                    <a:cubicBezTo>
                      <a:pt x="1757" y="491"/>
                      <a:pt x="1777" y="488"/>
                      <a:pt x="1777" y="479"/>
                    </a:cubicBezTo>
                    <a:cubicBezTo>
                      <a:pt x="1777" y="464"/>
                      <a:pt x="1793" y="460"/>
                      <a:pt x="1793" y="452"/>
                    </a:cubicBezTo>
                    <a:cubicBezTo>
                      <a:pt x="1793" y="447"/>
                      <a:pt x="1788" y="442"/>
                      <a:pt x="1793" y="432"/>
                    </a:cubicBezTo>
                    <a:cubicBezTo>
                      <a:pt x="1828" y="356"/>
                      <a:pt x="1861" y="397"/>
                      <a:pt x="1874" y="397"/>
                    </a:cubicBezTo>
                    <a:cubicBezTo>
                      <a:pt x="1914" y="397"/>
                      <a:pt x="1941" y="347"/>
                      <a:pt x="1976" y="346"/>
                    </a:cubicBezTo>
                    <a:cubicBezTo>
                      <a:pt x="2041" y="345"/>
                      <a:pt x="1989" y="320"/>
                      <a:pt x="1989" y="313"/>
                    </a:cubicBezTo>
                    <a:cubicBezTo>
                      <a:pt x="1989" y="294"/>
                      <a:pt x="2015" y="297"/>
                      <a:pt x="2020" y="287"/>
                    </a:cubicBezTo>
                    <a:cubicBezTo>
                      <a:pt x="2022" y="282"/>
                      <a:pt x="2018" y="271"/>
                      <a:pt x="2026" y="271"/>
                    </a:cubicBezTo>
                    <a:cubicBezTo>
                      <a:pt x="2054" y="271"/>
                      <a:pt x="2077" y="309"/>
                      <a:pt x="2097" y="309"/>
                    </a:cubicBezTo>
                    <a:cubicBezTo>
                      <a:pt x="2106" y="309"/>
                      <a:pt x="2108" y="293"/>
                      <a:pt x="2112" y="287"/>
                    </a:cubicBezTo>
                    <a:cubicBezTo>
                      <a:pt x="2120" y="278"/>
                      <a:pt x="2127" y="279"/>
                      <a:pt x="2139" y="275"/>
                    </a:cubicBezTo>
                    <a:cubicBezTo>
                      <a:pt x="2123" y="254"/>
                      <a:pt x="2071" y="242"/>
                      <a:pt x="2046" y="227"/>
                    </a:cubicBezTo>
                    <a:cubicBezTo>
                      <a:pt x="2011" y="207"/>
                      <a:pt x="1965" y="185"/>
                      <a:pt x="1914" y="185"/>
                    </a:cubicBezTo>
                    <a:cubicBezTo>
                      <a:pt x="1900" y="185"/>
                      <a:pt x="1890" y="188"/>
                      <a:pt x="1892" y="194"/>
                    </a:cubicBezTo>
                    <a:cubicBezTo>
                      <a:pt x="1906" y="237"/>
                      <a:pt x="1872" y="194"/>
                      <a:pt x="1863" y="194"/>
                    </a:cubicBezTo>
                    <a:cubicBezTo>
                      <a:pt x="1762" y="192"/>
                      <a:pt x="1762" y="192"/>
                      <a:pt x="1762" y="192"/>
                    </a:cubicBezTo>
                    <a:cubicBezTo>
                      <a:pt x="1756" y="169"/>
                      <a:pt x="1741" y="161"/>
                      <a:pt x="1711" y="161"/>
                    </a:cubicBezTo>
                    <a:cubicBezTo>
                      <a:pt x="1695" y="161"/>
                      <a:pt x="1670" y="167"/>
                      <a:pt x="1660" y="159"/>
                    </a:cubicBezTo>
                    <a:cubicBezTo>
                      <a:pt x="1652" y="151"/>
                      <a:pt x="1651" y="141"/>
                      <a:pt x="1638" y="137"/>
                    </a:cubicBezTo>
                    <a:cubicBezTo>
                      <a:pt x="1611" y="128"/>
                      <a:pt x="1582" y="121"/>
                      <a:pt x="1548" y="121"/>
                    </a:cubicBezTo>
                    <a:cubicBezTo>
                      <a:pt x="1513" y="121"/>
                      <a:pt x="1509" y="140"/>
                      <a:pt x="1506" y="157"/>
                    </a:cubicBezTo>
                    <a:cubicBezTo>
                      <a:pt x="1473" y="157"/>
                      <a:pt x="1457" y="157"/>
                      <a:pt x="1435" y="157"/>
                    </a:cubicBezTo>
                    <a:cubicBezTo>
                      <a:pt x="1423" y="157"/>
                      <a:pt x="1421" y="147"/>
                      <a:pt x="1407" y="146"/>
                    </a:cubicBezTo>
                    <a:cubicBezTo>
                      <a:pt x="1405" y="152"/>
                      <a:pt x="1403" y="166"/>
                      <a:pt x="1396" y="166"/>
                    </a:cubicBezTo>
                    <a:cubicBezTo>
                      <a:pt x="1377" y="166"/>
                      <a:pt x="1369" y="143"/>
                      <a:pt x="1369" y="130"/>
                    </a:cubicBezTo>
                    <a:cubicBezTo>
                      <a:pt x="1369" y="127"/>
                      <a:pt x="1405" y="105"/>
                      <a:pt x="1314" y="97"/>
                    </a:cubicBezTo>
                    <a:cubicBezTo>
                      <a:pt x="1303" y="96"/>
                      <a:pt x="1296" y="101"/>
                      <a:pt x="1296" y="115"/>
                    </a:cubicBezTo>
                    <a:cubicBezTo>
                      <a:pt x="1248" y="115"/>
                      <a:pt x="1248" y="115"/>
                      <a:pt x="1248" y="115"/>
                    </a:cubicBezTo>
                    <a:cubicBezTo>
                      <a:pt x="1233" y="111"/>
                      <a:pt x="1157" y="102"/>
                      <a:pt x="1147" y="86"/>
                    </a:cubicBezTo>
                    <a:cubicBezTo>
                      <a:pt x="1089" y="133"/>
                      <a:pt x="1102" y="104"/>
                      <a:pt x="1102" y="104"/>
                    </a:cubicBezTo>
                    <a:cubicBezTo>
                      <a:pt x="1116" y="87"/>
                      <a:pt x="1249" y="51"/>
                      <a:pt x="1140" y="24"/>
                    </a:cubicBezTo>
                    <a:cubicBezTo>
                      <a:pt x="1094" y="24"/>
                      <a:pt x="1094" y="24"/>
                      <a:pt x="1094" y="24"/>
                    </a:cubicBezTo>
                    <a:cubicBezTo>
                      <a:pt x="1089" y="12"/>
                      <a:pt x="1079" y="0"/>
                      <a:pt x="1060" y="0"/>
                    </a:cubicBezTo>
                    <a:cubicBezTo>
                      <a:pt x="1038" y="0"/>
                      <a:pt x="1028" y="17"/>
                      <a:pt x="1016" y="27"/>
                    </a:cubicBezTo>
                    <a:cubicBezTo>
                      <a:pt x="1008" y="33"/>
                      <a:pt x="951" y="56"/>
                      <a:pt x="956" y="35"/>
                    </a:cubicBezTo>
                    <a:cubicBezTo>
                      <a:pt x="941" y="40"/>
                      <a:pt x="879" y="44"/>
                      <a:pt x="847" y="73"/>
                    </a:cubicBezTo>
                    <a:cubicBezTo>
                      <a:pt x="840" y="79"/>
                      <a:pt x="838" y="97"/>
                      <a:pt x="828" y="97"/>
                    </a:cubicBezTo>
                    <a:cubicBezTo>
                      <a:pt x="813" y="97"/>
                      <a:pt x="758" y="92"/>
                      <a:pt x="758" y="117"/>
                    </a:cubicBezTo>
                    <a:cubicBezTo>
                      <a:pt x="758" y="122"/>
                      <a:pt x="763" y="128"/>
                      <a:pt x="765" y="135"/>
                    </a:cubicBezTo>
                    <a:cubicBezTo>
                      <a:pt x="755" y="141"/>
                      <a:pt x="752" y="135"/>
                      <a:pt x="721" y="135"/>
                    </a:cubicBezTo>
                    <a:cubicBezTo>
                      <a:pt x="695" y="170"/>
                      <a:pt x="697" y="129"/>
                      <a:pt x="691" y="121"/>
                    </a:cubicBezTo>
                    <a:cubicBezTo>
                      <a:pt x="689" y="136"/>
                      <a:pt x="679" y="142"/>
                      <a:pt x="668" y="148"/>
                    </a:cubicBezTo>
                    <a:cubicBezTo>
                      <a:pt x="671" y="160"/>
                      <a:pt x="690" y="173"/>
                      <a:pt x="677" y="188"/>
                    </a:cubicBezTo>
                    <a:cubicBezTo>
                      <a:pt x="667" y="198"/>
                      <a:pt x="695" y="230"/>
                      <a:pt x="680" y="230"/>
                    </a:cubicBezTo>
                    <a:cubicBezTo>
                      <a:pt x="662" y="230"/>
                      <a:pt x="657" y="164"/>
                      <a:pt x="657" y="150"/>
                    </a:cubicBezTo>
                    <a:cubicBezTo>
                      <a:pt x="657" y="135"/>
                      <a:pt x="681" y="129"/>
                      <a:pt x="644" y="121"/>
                    </a:cubicBezTo>
                    <a:cubicBezTo>
                      <a:pt x="625" y="118"/>
                      <a:pt x="589" y="149"/>
                      <a:pt x="589" y="166"/>
                    </a:cubicBezTo>
                    <a:cubicBezTo>
                      <a:pt x="589" y="186"/>
                      <a:pt x="598" y="199"/>
                      <a:pt x="608" y="210"/>
                    </a:cubicBezTo>
                    <a:cubicBezTo>
                      <a:pt x="633" y="248"/>
                      <a:pt x="574" y="205"/>
                      <a:pt x="552" y="200"/>
                    </a:cubicBezTo>
                    <a:cubicBezTo>
                      <a:pt x="492" y="184"/>
                      <a:pt x="512" y="204"/>
                      <a:pt x="511" y="207"/>
                    </a:cubicBezTo>
                    <a:cubicBezTo>
                      <a:pt x="509" y="241"/>
                      <a:pt x="495" y="214"/>
                      <a:pt x="487" y="214"/>
                    </a:cubicBezTo>
                    <a:cubicBezTo>
                      <a:pt x="473" y="214"/>
                      <a:pt x="445" y="233"/>
                      <a:pt x="425" y="223"/>
                    </a:cubicBezTo>
                    <a:cubicBezTo>
                      <a:pt x="415" y="197"/>
                      <a:pt x="349" y="256"/>
                      <a:pt x="333" y="256"/>
                    </a:cubicBezTo>
                    <a:cubicBezTo>
                      <a:pt x="327" y="256"/>
                      <a:pt x="320" y="252"/>
                      <a:pt x="322" y="247"/>
                    </a:cubicBezTo>
                    <a:cubicBezTo>
                      <a:pt x="329" y="229"/>
                      <a:pt x="319" y="191"/>
                      <a:pt x="300" y="249"/>
                    </a:cubicBezTo>
                    <a:cubicBezTo>
                      <a:pt x="298" y="253"/>
                      <a:pt x="306" y="255"/>
                      <a:pt x="306" y="263"/>
                    </a:cubicBezTo>
                    <a:cubicBezTo>
                      <a:pt x="306" y="278"/>
                      <a:pt x="283" y="267"/>
                      <a:pt x="271" y="271"/>
                    </a:cubicBezTo>
                    <a:cubicBezTo>
                      <a:pt x="259" y="275"/>
                      <a:pt x="265" y="318"/>
                      <a:pt x="214" y="296"/>
                    </a:cubicBezTo>
                    <a:cubicBezTo>
                      <a:pt x="214" y="313"/>
                      <a:pt x="214" y="313"/>
                      <a:pt x="214" y="313"/>
                    </a:cubicBezTo>
                    <a:cubicBezTo>
                      <a:pt x="189" y="311"/>
                      <a:pt x="192" y="284"/>
                      <a:pt x="183" y="271"/>
                    </a:cubicBezTo>
                    <a:cubicBezTo>
                      <a:pt x="202" y="271"/>
                      <a:pt x="212" y="271"/>
                      <a:pt x="230" y="276"/>
                    </a:cubicBezTo>
                    <a:cubicBezTo>
                      <a:pt x="255" y="282"/>
                      <a:pt x="304" y="251"/>
                      <a:pt x="229" y="227"/>
                    </a:cubicBezTo>
                    <a:cubicBezTo>
                      <a:pt x="208" y="220"/>
                      <a:pt x="160" y="196"/>
                      <a:pt x="145" y="196"/>
                    </a:cubicBezTo>
                    <a:cubicBezTo>
                      <a:pt x="144" y="196"/>
                      <a:pt x="144" y="195"/>
                      <a:pt x="133" y="196"/>
                    </a:cubicBezTo>
                    <a:cubicBezTo>
                      <a:pt x="127" y="200"/>
                      <a:pt x="111" y="208"/>
                      <a:pt x="111" y="219"/>
                    </a:cubicBezTo>
                    <a:cubicBezTo>
                      <a:pt x="111" y="227"/>
                      <a:pt x="127" y="226"/>
                      <a:pt x="127" y="236"/>
                    </a:cubicBezTo>
                    <a:cubicBezTo>
                      <a:pt x="127" y="244"/>
                      <a:pt x="119" y="247"/>
                      <a:pt x="119" y="255"/>
                    </a:cubicBezTo>
                    <a:cubicBezTo>
                      <a:pt x="119" y="263"/>
                      <a:pt x="128" y="268"/>
                      <a:pt x="128" y="277"/>
                    </a:cubicBezTo>
                    <a:cubicBezTo>
                      <a:pt x="128" y="282"/>
                      <a:pt x="123" y="285"/>
                      <a:pt x="123" y="290"/>
                    </a:cubicBezTo>
                    <a:cubicBezTo>
                      <a:pt x="123" y="300"/>
                      <a:pt x="136" y="302"/>
                      <a:pt x="136" y="312"/>
                    </a:cubicBezTo>
                    <a:cubicBezTo>
                      <a:pt x="136" y="315"/>
                      <a:pt x="132" y="317"/>
                      <a:pt x="131" y="318"/>
                    </a:cubicBezTo>
                    <a:cubicBezTo>
                      <a:pt x="135" y="325"/>
                      <a:pt x="145" y="327"/>
                      <a:pt x="145" y="336"/>
                    </a:cubicBezTo>
                    <a:cubicBezTo>
                      <a:pt x="145" y="351"/>
                      <a:pt x="115" y="367"/>
                      <a:pt x="106" y="379"/>
                    </a:cubicBezTo>
                    <a:cubicBezTo>
                      <a:pt x="109" y="384"/>
                      <a:pt x="114" y="387"/>
                      <a:pt x="117" y="395"/>
                    </a:cubicBezTo>
                    <a:cubicBezTo>
                      <a:pt x="111" y="398"/>
                      <a:pt x="98" y="405"/>
                      <a:pt x="92" y="405"/>
                    </a:cubicBezTo>
                    <a:cubicBezTo>
                      <a:pt x="85" y="405"/>
                      <a:pt x="80" y="402"/>
                      <a:pt x="70" y="402"/>
                    </a:cubicBezTo>
                    <a:cubicBezTo>
                      <a:pt x="61" y="402"/>
                      <a:pt x="38" y="410"/>
                      <a:pt x="45" y="417"/>
                    </a:cubicBezTo>
                    <a:cubicBezTo>
                      <a:pt x="67" y="438"/>
                      <a:pt x="56" y="446"/>
                      <a:pt x="50" y="446"/>
                    </a:cubicBezTo>
                    <a:cubicBezTo>
                      <a:pt x="42" y="446"/>
                      <a:pt x="40" y="435"/>
                      <a:pt x="33" y="435"/>
                    </a:cubicBezTo>
                    <a:cubicBezTo>
                      <a:pt x="25" y="435"/>
                      <a:pt x="15" y="455"/>
                      <a:pt x="15" y="465"/>
                    </a:cubicBezTo>
                    <a:cubicBezTo>
                      <a:pt x="15" y="483"/>
                      <a:pt x="1" y="480"/>
                      <a:pt x="0" y="496"/>
                    </a:cubicBezTo>
                    <a:cubicBezTo>
                      <a:pt x="6" y="495"/>
                      <a:pt x="11" y="495"/>
                      <a:pt x="16" y="495"/>
                    </a:cubicBezTo>
                    <a:cubicBezTo>
                      <a:pt x="24" y="495"/>
                      <a:pt x="30" y="494"/>
                      <a:pt x="39" y="494"/>
                    </a:cubicBezTo>
                    <a:cubicBezTo>
                      <a:pt x="48" y="494"/>
                      <a:pt x="52" y="510"/>
                      <a:pt x="52" y="520"/>
                    </a:cubicBezTo>
                    <a:cubicBezTo>
                      <a:pt x="52" y="526"/>
                      <a:pt x="46" y="529"/>
                      <a:pt x="46" y="535"/>
                    </a:cubicBezTo>
                    <a:cubicBezTo>
                      <a:pt x="46" y="544"/>
                      <a:pt x="54" y="550"/>
                      <a:pt x="54" y="558"/>
                    </a:cubicBezTo>
                    <a:cubicBezTo>
                      <a:pt x="54" y="563"/>
                      <a:pt x="46" y="565"/>
                      <a:pt x="44" y="568"/>
                    </a:cubicBezTo>
                    <a:cubicBezTo>
                      <a:pt x="39" y="576"/>
                      <a:pt x="37" y="583"/>
                      <a:pt x="37" y="593"/>
                    </a:cubicBezTo>
                    <a:cubicBezTo>
                      <a:pt x="37" y="606"/>
                      <a:pt x="46" y="603"/>
                      <a:pt x="56" y="603"/>
                    </a:cubicBezTo>
                    <a:cubicBezTo>
                      <a:pt x="70" y="603"/>
                      <a:pt x="77" y="597"/>
                      <a:pt x="88" y="597"/>
                    </a:cubicBezTo>
                    <a:cubicBezTo>
                      <a:pt x="99" y="597"/>
                      <a:pt x="97" y="620"/>
                      <a:pt x="108" y="620"/>
                    </a:cubicBezTo>
                    <a:cubicBezTo>
                      <a:pt x="108" y="638"/>
                      <a:pt x="108" y="638"/>
                      <a:pt x="108" y="638"/>
                    </a:cubicBezTo>
                    <a:cubicBezTo>
                      <a:pt x="108" y="640"/>
                      <a:pt x="109" y="641"/>
                      <a:pt x="110" y="641"/>
                    </a:cubicBezTo>
                    <a:cubicBezTo>
                      <a:pt x="112" y="644"/>
                      <a:pt x="112" y="644"/>
                      <a:pt x="112" y="644"/>
                    </a:cubicBezTo>
                    <a:cubicBezTo>
                      <a:pt x="114" y="644"/>
                      <a:pt x="120" y="642"/>
                      <a:pt x="123" y="641"/>
                    </a:cubicBezTo>
                    <a:cubicBezTo>
                      <a:pt x="132" y="639"/>
                      <a:pt x="133" y="627"/>
                      <a:pt x="143" y="627"/>
                    </a:cubicBezTo>
                    <a:cubicBezTo>
                      <a:pt x="151" y="627"/>
                      <a:pt x="171" y="660"/>
                      <a:pt x="177" y="660"/>
                    </a:cubicBezTo>
                    <a:cubicBezTo>
                      <a:pt x="184" y="660"/>
                      <a:pt x="205" y="651"/>
                      <a:pt x="208" y="647"/>
                    </a:cubicBezTo>
                    <a:cubicBezTo>
                      <a:pt x="207" y="647"/>
                      <a:pt x="196" y="645"/>
                      <a:pt x="196" y="645"/>
                    </a:cubicBezTo>
                    <a:cubicBezTo>
                      <a:pt x="194" y="645"/>
                      <a:pt x="189" y="644"/>
                      <a:pt x="189" y="638"/>
                    </a:cubicBezTo>
                    <a:cubicBezTo>
                      <a:pt x="189" y="635"/>
                      <a:pt x="221" y="623"/>
                      <a:pt x="233" y="619"/>
                    </a:cubicBezTo>
                    <a:cubicBezTo>
                      <a:pt x="233" y="619"/>
                      <a:pt x="227" y="625"/>
                      <a:pt x="225" y="626"/>
                    </a:cubicBezTo>
                    <a:cubicBezTo>
                      <a:pt x="226" y="629"/>
                      <a:pt x="237" y="641"/>
                      <a:pt x="211" y="647"/>
                    </a:cubicBezTo>
                    <a:cubicBezTo>
                      <a:pt x="223" y="673"/>
                      <a:pt x="273" y="669"/>
                      <a:pt x="273" y="704"/>
                    </a:cubicBezTo>
                    <a:cubicBezTo>
                      <a:pt x="275" y="703"/>
                      <a:pt x="275" y="703"/>
                      <a:pt x="275" y="703"/>
                    </a:cubicBezTo>
                    <a:cubicBezTo>
                      <a:pt x="278" y="702"/>
                      <a:pt x="280" y="701"/>
                      <a:pt x="284" y="701"/>
                    </a:cubicBezTo>
                    <a:cubicBezTo>
                      <a:pt x="298" y="701"/>
                      <a:pt x="297" y="710"/>
                      <a:pt x="302" y="719"/>
                    </a:cubicBezTo>
                    <a:cubicBezTo>
                      <a:pt x="303" y="721"/>
                      <a:pt x="312" y="726"/>
                      <a:pt x="312" y="726"/>
                    </a:cubicBezTo>
                    <a:cubicBezTo>
                      <a:pt x="320" y="729"/>
                      <a:pt x="322" y="742"/>
                      <a:pt x="335" y="742"/>
                    </a:cubicBezTo>
                    <a:cubicBezTo>
                      <a:pt x="344" y="742"/>
                      <a:pt x="344" y="734"/>
                      <a:pt x="350" y="732"/>
                    </a:cubicBezTo>
                    <a:cubicBezTo>
                      <a:pt x="354" y="731"/>
                      <a:pt x="353" y="731"/>
                      <a:pt x="357" y="731"/>
                    </a:cubicBezTo>
                    <a:cubicBezTo>
                      <a:pt x="358" y="733"/>
                      <a:pt x="358" y="737"/>
                      <a:pt x="360" y="739"/>
                    </a:cubicBezTo>
                    <a:cubicBezTo>
                      <a:pt x="359" y="739"/>
                      <a:pt x="360" y="740"/>
                      <a:pt x="360" y="741"/>
                    </a:cubicBezTo>
                    <a:cubicBezTo>
                      <a:pt x="366" y="742"/>
                      <a:pt x="366" y="742"/>
                      <a:pt x="366" y="742"/>
                    </a:cubicBezTo>
                    <a:cubicBezTo>
                      <a:pt x="371" y="735"/>
                      <a:pt x="371" y="724"/>
                      <a:pt x="378" y="721"/>
                    </a:cubicBezTo>
                    <a:cubicBezTo>
                      <a:pt x="366" y="714"/>
                      <a:pt x="348" y="688"/>
                      <a:pt x="348" y="673"/>
                    </a:cubicBezTo>
                    <a:cubicBezTo>
                      <a:pt x="348" y="668"/>
                      <a:pt x="338" y="662"/>
                      <a:pt x="338" y="655"/>
                    </a:cubicBezTo>
                    <a:cubicBezTo>
                      <a:pt x="338" y="653"/>
                      <a:pt x="347" y="637"/>
                      <a:pt x="349" y="634"/>
                    </a:cubicBezTo>
                    <a:cubicBezTo>
                      <a:pt x="351" y="635"/>
                      <a:pt x="365" y="628"/>
                      <a:pt x="366" y="627"/>
                    </a:cubicBezTo>
                    <a:cubicBezTo>
                      <a:pt x="377" y="623"/>
                      <a:pt x="384" y="620"/>
                      <a:pt x="399" y="620"/>
                    </a:cubicBezTo>
                    <a:cubicBezTo>
                      <a:pt x="423" y="620"/>
                      <a:pt x="427" y="631"/>
                      <a:pt x="436" y="645"/>
                    </a:cubicBezTo>
                    <a:cubicBezTo>
                      <a:pt x="429" y="650"/>
                      <a:pt x="420" y="645"/>
                      <a:pt x="412" y="645"/>
                    </a:cubicBezTo>
                    <a:cubicBezTo>
                      <a:pt x="400" y="645"/>
                      <a:pt x="383" y="656"/>
                      <a:pt x="381" y="656"/>
                    </a:cubicBezTo>
                    <a:cubicBezTo>
                      <a:pt x="382" y="665"/>
                      <a:pt x="389" y="664"/>
                      <a:pt x="391" y="669"/>
                    </a:cubicBezTo>
                    <a:cubicBezTo>
                      <a:pt x="400" y="684"/>
                      <a:pt x="412" y="690"/>
                      <a:pt x="412" y="707"/>
                    </a:cubicBezTo>
                    <a:cubicBezTo>
                      <a:pt x="415" y="705"/>
                      <a:pt x="424" y="701"/>
                      <a:pt x="427" y="700"/>
                    </a:cubicBezTo>
                    <a:cubicBezTo>
                      <a:pt x="427" y="707"/>
                      <a:pt x="434" y="710"/>
                      <a:pt x="434" y="717"/>
                    </a:cubicBezTo>
                    <a:cubicBezTo>
                      <a:pt x="421" y="717"/>
                      <a:pt x="421" y="717"/>
                      <a:pt x="421" y="717"/>
                    </a:cubicBezTo>
                    <a:cubicBezTo>
                      <a:pt x="417" y="717"/>
                      <a:pt x="413" y="721"/>
                      <a:pt x="412" y="728"/>
                    </a:cubicBezTo>
                    <a:cubicBezTo>
                      <a:pt x="421" y="729"/>
                      <a:pt x="428" y="738"/>
                      <a:pt x="428" y="746"/>
                    </a:cubicBezTo>
                    <a:cubicBezTo>
                      <a:pt x="428" y="751"/>
                      <a:pt x="424" y="753"/>
                      <a:pt x="424" y="757"/>
                    </a:cubicBezTo>
                    <a:cubicBezTo>
                      <a:pt x="424" y="761"/>
                      <a:pt x="428" y="765"/>
                      <a:pt x="429" y="766"/>
                    </a:cubicBezTo>
                    <a:cubicBezTo>
                      <a:pt x="429" y="762"/>
                      <a:pt x="434" y="762"/>
                      <a:pt x="438" y="761"/>
                    </a:cubicBezTo>
                    <a:cubicBezTo>
                      <a:pt x="443" y="759"/>
                      <a:pt x="442" y="757"/>
                      <a:pt x="447" y="755"/>
                    </a:cubicBezTo>
                    <a:cubicBezTo>
                      <a:pt x="455" y="752"/>
                      <a:pt x="460" y="754"/>
                      <a:pt x="466" y="749"/>
                    </a:cubicBezTo>
                    <a:cubicBezTo>
                      <a:pt x="476" y="755"/>
                      <a:pt x="482" y="755"/>
                      <a:pt x="491" y="758"/>
                    </a:cubicBezTo>
                    <a:cubicBezTo>
                      <a:pt x="502" y="762"/>
                      <a:pt x="505" y="772"/>
                      <a:pt x="518" y="772"/>
                    </a:cubicBezTo>
                    <a:cubicBezTo>
                      <a:pt x="518" y="774"/>
                      <a:pt x="521" y="775"/>
                      <a:pt x="522" y="777"/>
                    </a:cubicBezTo>
                    <a:cubicBezTo>
                      <a:pt x="523" y="781"/>
                      <a:pt x="522" y="787"/>
                      <a:pt x="524" y="793"/>
                    </a:cubicBezTo>
                    <a:cubicBezTo>
                      <a:pt x="529" y="787"/>
                      <a:pt x="533" y="795"/>
                      <a:pt x="537" y="795"/>
                    </a:cubicBezTo>
                    <a:cubicBezTo>
                      <a:pt x="542" y="795"/>
                      <a:pt x="544" y="791"/>
                      <a:pt x="547" y="788"/>
                    </a:cubicBezTo>
                    <a:cubicBezTo>
                      <a:pt x="551" y="784"/>
                      <a:pt x="556" y="784"/>
                      <a:pt x="559" y="781"/>
                    </a:cubicBezTo>
                    <a:cubicBezTo>
                      <a:pt x="567" y="773"/>
                      <a:pt x="568" y="762"/>
                      <a:pt x="579" y="762"/>
                    </a:cubicBezTo>
                    <a:cubicBezTo>
                      <a:pt x="583" y="762"/>
                      <a:pt x="582" y="764"/>
                      <a:pt x="586" y="764"/>
                    </a:cubicBezTo>
                    <a:cubicBezTo>
                      <a:pt x="587" y="769"/>
                      <a:pt x="597" y="765"/>
                      <a:pt x="600" y="765"/>
                    </a:cubicBezTo>
                    <a:cubicBezTo>
                      <a:pt x="604" y="765"/>
                      <a:pt x="605" y="770"/>
                      <a:pt x="608" y="770"/>
                    </a:cubicBezTo>
                    <a:cubicBezTo>
                      <a:pt x="617" y="770"/>
                      <a:pt x="624" y="765"/>
                      <a:pt x="627" y="759"/>
                    </a:cubicBezTo>
                    <a:cubicBezTo>
                      <a:pt x="628" y="760"/>
                      <a:pt x="629" y="759"/>
                      <a:pt x="630" y="759"/>
                    </a:cubicBezTo>
                    <a:cubicBezTo>
                      <a:pt x="634" y="759"/>
                      <a:pt x="636" y="749"/>
                      <a:pt x="645" y="749"/>
                    </a:cubicBezTo>
                    <a:cubicBezTo>
                      <a:pt x="654" y="749"/>
                      <a:pt x="644" y="772"/>
                      <a:pt x="654" y="772"/>
                    </a:cubicBezTo>
                    <a:cubicBezTo>
                      <a:pt x="664" y="772"/>
                      <a:pt x="668" y="764"/>
                      <a:pt x="677" y="764"/>
                    </a:cubicBezTo>
                    <a:cubicBezTo>
                      <a:pt x="682" y="764"/>
                      <a:pt x="686" y="764"/>
                      <a:pt x="692" y="765"/>
                    </a:cubicBezTo>
                    <a:cubicBezTo>
                      <a:pt x="692" y="763"/>
                      <a:pt x="692" y="763"/>
                      <a:pt x="692" y="763"/>
                    </a:cubicBezTo>
                    <a:cubicBezTo>
                      <a:pt x="690" y="753"/>
                      <a:pt x="688" y="750"/>
                      <a:pt x="677" y="748"/>
                    </a:cubicBezTo>
                    <a:cubicBezTo>
                      <a:pt x="678" y="739"/>
                      <a:pt x="687" y="719"/>
                      <a:pt x="694" y="719"/>
                    </a:cubicBezTo>
                    <a:cubicBezTo>
                      <a:pt x="735" y="719"/>
                      <a:pt x="763" y="698"/>
                      <a:pt x="763" y="649"/>
                    </a:cubicBezTo>
                    <a:cubicBezTo>
                      <a:pt x="785" y="645"/>
                      <a:pt x="787" y="618"/>
                      <a:pt x="800" y="620"/>
                    </a:cubicBezTo>
                    <a:cubicBezTo>
                      <a:pt x="836" y="624"/>
                      <a:pt x="822" y="600"/>
                      <a:pt x="829" y="593"/>
                    </a:cubicBezTo>
                    <a:cubicBezTo>
                      <a:pt x="847" y="578"/>
                      <a:pt x="873" y="578"/>
                      <a:pt x="895" y="565"/>
                    </a:cubicBezTo>
                    <a:cubicBezTo>
                      <a:pt x="898" y="563"/>
                      <a:pt x="906" y="554"/>
                      <a:pt x="913" y="554"/>
                    </a:cubicBezTo>
                    <a:cubicBezTo>
                      <a:pt x="924" y="554"/>
                      <a:pt x="943" y="567"/>
                      <a:pt x="961" y="567"/>
                    </a:cubicBezTo>
                    <a:cubicBezTo>
                      <a:pt x="986" y="567"/>
                      <a:pt x="981" y="534"/>
                      <a:pt x="994" y="534"/>
                    </a:cubicBezTo>
                    <a:cubicBezTo>
                      <a:pt x="1002" y="534"/>
                      <a:pt x="1029" y="538"/>
                      <a:pt x="1032" y="545"/>
                    </a:cubicBezTo>
                    <a:cubicBezTo>
                      <a:pt x="1042" y="573"/>
                      <a:pt x="1060" y="558"/>
                      <a:pt x="1072" y="558"/>
                    </a:cubicBezTo>
                    <a:cubicBezTo>
                      <a:pt x="1099" y="558"/>
                      <a:pt x="1107" y="580"/>
                      <a:pt x="1135" y="580"/>
                    </a:cubicBezTo>
                    <a:cubicBezTo>
                      <a:pt x="1160" y="580"/>
                      <a:pt x="1192" y="557"/>
                      <a:pt x="1224" y="569"/>
                    </a:cubicBezTo>
                    <a:cubicBezTo>
                      <a:pt x="1266" y="586"/>
                      <a:pt x="1245" y="512"/>
                      <a:pt x="1301" y="512"/>
                    </a:cubicBezTo>
                    <a:cubicBezTo>
                      <a:pt x="1340" y="512"/>
                      <a:pt x="1339" y="543"/>
                      <a:pt x="1354" y="567"/>
                    </a:cubicBezTo>
                    <a:cubicBezTo>
                      <a:pt x="1360" y="576"/>
                      <a:pt x="1379" y="577"/>
                      <a:pt x="1387" y="585"/>
                    </a:cubicBezTo>
                    <a:cubicBezTo>
                      <a:pt x="1393" y="590"/>
                      <a:pt x="1398" y="607"/>
                      <a:pt x="1411" y="607"/>
                    </a:cubicBezTo>
                    <a:cubicBezTo>
                      <a:pt x="1426" y="607"/>
                      <a:pt x="1428" y="593"/>
                      <a:pt x="1446" y="593"/>
                    </a:cubicBezTo>
                    <a:cubicBezTo>
                      <a:pt x="1446" y="604"/>
                      <a:pt x="1446" y="604"/>
                      <a:pt x="1446" y="604"/>
                    </a:cubicBezTo>
                    <a:cubicBezTo>
                      <a:pt x="1437" y="614"/>
                      <a:pt x="1433" y="638"/>
                      <a:pt x="1422" y="644"/>
                    </a:cubicBezTo>
                    <a:cubicBezTo>
                      <a:pt x="1412" y="650"/>
                      <a:pt x="1394" y="651"/>
                      <a:pt x="1400" y="655"/>
                    </a:cubicBezTo>
                    <a:cubicBezTo>
                      <a:pt x="1415" y="665"/>
                      <a:pt x="1398" y="684"/>
                      <a:pt x="1398" y="68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57" name="Freeform 147">
                <a:extLst>
                  <a:ext uri="{FF2B5EF4-FFF2-40B4-BE49-F238E27FC236}">
                    <a16:creationId xmlns:a16="http://schemas.microsoft.com/office/drawing/2014/main" id="{C68E9775-841C-2F5A-9DCD-1F5240744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14988" y="1879600"/>
                <a:ext cx="1023938" cy="646113"/>
              </a:xfrm>
              <a:custGeom>
                <a:avLst/>
                <a:gdLst/>
                <a:ahLst/>
                <a:cxnLst>
                  <a:cxn ang="0">
                    <a:pos x="585" y="307"/>
                  </a:cxn>
                  <a:cxn ang="0">
                    <a:pos x="573" y="287"/>
                  </a:cxn>
                  <a:cxn ang="0">
                    <a:pos x="614" y="256"/>
                  </a:cxn>
                  <a:cxn ang="0">
                    <a:pos x="588" y="246"/>
                  </a:cxn>
                  <a:cxn ang="0">
                    <a:pos x="570" y="255"/>
                  </a:cxn>
                  <a:cxn ang="0">
                    <a:pos x="552" y="236"/>
                  </a:cxn>
                  <a:cxn ang="0">
                    <a:pos x="590" y="209"/>
                  </a:cxn>
                  <a:cxn ang="0">
                    <a:pos x="606" y="212"/>
                  </a:cxn>
                  <a:cxn ang="0">
                    <a:pos x="634" y="216"/>
                  </a:cxn>
                  <a:cxn ang="0">
                    <a:pos x="648" y="231"/>
                  </a:cxn>
                  <a:cxn ang="0">
                    <a:pos x="648" y="248"/>
                  </a:cxn>
                  <a:cxn ang="0">
                    <a:pos x="666" y="254"/>
                  </a:cxn>
                  <a:cxn ang="0">
                    <a:pos x="659" y="264"/>
                  </a:cxn>
                  <a:cxn ang="0">
                    <a:pos x="665" y="275"/>
                  </a:cxn>
                  <a:cxn ang="0">
                    <a:pos x="664" y="290"/>
                  </a:cxn>
                  <a:cxn ang="0">
                    <a:pos x="668" y="295"/>
                  </a:cxn>
                  <a:cxn ang="0">
                    <a:pos x="690" y="286"/>
                  </a:cxn>
                  <a:cxn ang="0">
                    <a:pos x="683" y="232"/>
                  </a:cxn>
                  <a:cxn ang="0">
                    <a:pos x="688" y="210"/>
                  </a:cxn>
                  <a:cxn ang="0">
                    <a:pos x="721" y="172"/>
                  </a:cxn>
                  <a:cxn ang="0">
                    <a:pos x="745" y="132"/>
                  </a:cxn>
                  <a:cxn ang="0">
                    <a:pos x="769" y="81"/>
                  </a:cxn>
                  <a:cxn ang="0">
                    <a:pos x="710" y="73"/>
                  </a:cxn>
                  <a:cxn ang="0">
                    <a:pos x="624" y="0"/>
                  </a:cxn>
                  <a:cxn ang="0">
                    <a:pos x="458" y="68"/>
                  </a:cxn>
                  <a:cxn ang="0">
                    <a:pos x="355" y="33"/>
                  </a:cxn>
                  <a:cxn ang="0">
                    <a:pos x="284" y="55"/>
                  </a:cxn>
                  <a:cxn ang="0">
                    <a:pos x="218" y="53"/>
                  </a:cxn>
                  <a:cxn ang="0">
                    <a:pos x="123" y="108"/>
                  </a:cxn>
                  <a:cxn ang="0">
                    <a:pos x="17" y="207"/>
                  </a:cxn>
                  <a:cxn ang="0">
                    <a:pos x="15" y="251"/>
                  </a:cxn>
                  <a:cxn ang="0">
                    <a:pos x="25" y="261"/>
                  </a:cxn>
                  <a:cxn ang="0">
                    <a:pos x="50" y="280"/>
                  </a:cxn>
                  <a:cxn ang="0">
                    <a:pos x="83" y="284"/>
                  </a:cxn>
                  <a:cxn ang="0">
                    <a:pos x="73" y="317"/>
                  </a:cxn>
                  <a:cxn ang="0">
                    <a:pos x="63" y="326"/>
                  </a:cxn>
                  <a:cxn ang="0">
                    <a:pos x="73" y="343"/>
                  </a:cxn>
                  <a:cxn ang="0">
                    <a:pos x="110" y="357"/>
                  </a:cxn>
                  <a:cxn ang="0">
                    <a:pos x="132" y="373"/>
                  </a:cxn>
                  <a:cxn ang="0">
                    <a:pos x="160" y="384"/>
                  </a:cxn>
                  <a:cxn ang="0">
                    <a:pos x="186" y="382"/>
                  </a:cxn>
                  <a:cxn ang="0">
                    <a:pos x="210" y="381"/>
                  </a:cxn>
                  <a:cxn ang="0">
                    <a:pos x="255" y="372"/>
                  </a:cxn>
                  <a:cxn ang="0">
                    <a:pos x="275" y="366"/>
                  </a:cxn>
                  <a:cxn ang="0">
                    <a:pos x="282" y="362"/>
                  </a:cxn>
                  <a:cxn ang="0">
                    <a:pos x="316" y="400"/>
                  </a:cxn>
                  <a:cxn ang="0">
                    <a:pos x="306" y="439"/>
                  </a:cxn>
                  <a:cxn ang="0">
                    <a:pos x="324" y="450"/>
                  </a:cxn>
                  <a:cxn ang="0">
                    <a:pos x="346" y="467"/>
                  </a:cxn>
                  <a:cxn ang="0">
                    <a:pos x="351" y="472"/>
                  </a:cxn>
                  <a:cxn ang="0">
                    <a:pos x="353" y="457"/>
                  </a:cxn>
                  <a:cxn ang="0">
                    <a:pos x="379" y="454"/>
                  </a:cxn>
                  <a:cxn ang="0">
                    <a:pos x="416" y="453"/>
                  </a:cxn>
                  <a:cxn ang="0">
                    <a:pos x="431" y="470"/>
                  </a:cxn>
                  <a:cxn ang="0">
                    <a:pos x="454" y="486"/>
                  </a:cxn>
                  <a:cxn ang="0">
                    <a:pos x="476" y="470"/>
                  </a:cxn>
                  <a:cxn ang="0">
                    <a:pos x="503" y="455"/>
                  </a:cxn>
                  <a:cxn ang="0">
                    <a:pos x="552" y="439"/>
                  </a:cxn>
                  <a:cxn ang="0">
                    <a:pos x="576" y="406"/>
                  </a:cxn>
                  <a:cxn ang="0">
                    <a:pos x="604" y="355"/>
                  </a:cxn>
                  <a:cxn ang="0">
                    <a:pos x="586" y="307"/>
                  </a:cxn>
                </a:cxnLst>
                <a:rect l="0" t="0" r="r" b="b"/>
                <a:pathLst>
                  <a:path w="769" h="486">
                    <a:moveTo>
                      <a:pt x="586" y="307"/>
                    </a:moveTo>
                    <a:cubicBezTo>
                      <a:pt x="585" y="307"/>
                      <a:pt x="585" y="307"/>
                      <a:pt x="585" y="307"/>
                    </a:cubicBezTo>
                    <a:cubicBezTo>
                      <a:pt x="585" y="307"/>
                      <a:pt x="585" y="300"/>
                      <a:pt x="585" y="298"/>
                    </a:cubicBezTo>
                    <a:cubicBezTo>
                      <a:pt x="582" y="298"/>
                      <a:pt x="573" y="294"/>
                      <a:pt x="573" y="287"/>
                    </a:cubicBezTo>
                    <a:cubicBezTo>
                      <a:pt x="573" y="282"/>
                      <a:pt x="581" y="282"/>
                      <a:pt x="582" y="276"/>
                    </a:cubicBezTo>
                    <a:cubicBezTo>
                      <a:pt x="586" y="264"/>
                      <a:pt x="605" y="264"/>
                      <a:pt x="614" y="256"/>
                    </a:cubicBezTo>
                    <a:cubicBezTo>
                      <a:pt x="611" y="251"/>
                      <a:pt x="604" y="256"/>
                      <a:pt x="598" y="252"/>
                    </a:cubicBezTo>
                    <a:cubicBezTo>
                      <a:pt x="595" y="250"/>
                      <a:pt x="593" y="246"/>
                      <a:pt x="588" y="246"/>
                    </a:cubicBezTo>
                    <a:cubicBezTo>
                      <a:pt x="585" y="246"/>
                      <a:pt x="585" y="256"/>
                      <a:pt x="582" y="256"/>
                    </a:cubicBezTo>
                    <a:cubicBezTo>
                      <a:pt x="578" y="256"/>
                      <a:pt x="574" y="257"/>
                      <a:pt x="570" y="255"/>
                    </a:cubicBezTo>
                    <a:cubicBezTo>
                      <a:pt x="565" y="252"/>
                      <a:pt x="567" y="247"/>
                      <a:pt x="562" y="243"/>
                    </a:cubicBezTo>
                    <a:cubicBezTo>
                      <a:pt x="560" y="242"/>
                      <a:pt x="552" y="240"/>
                      <a:pt x="552" y="236"/>
                    </a:cubicBezTo>
                    <a:cubicBezTo>
                      <a:pt x="552" y="227"/>
                      <a:pt x="565" y="230"/>
                      <a:pt x="571" y="225"/>
                    </a:cubicBezTo>
                    <a:cubicBezTo>
                      <a:pt x="577" y="221"/>
                      <a:pt x="587" y="215"/>
                      <a:pt x="590" y="209"/>
                    </a:cubicBezTo>
                    <a:cubicBezTo>
                      <a:pt x="591" y="208"/>
                      <a:pt x="593" y="203"/>
                      <a:pt x="597" y="203"/>
                    </a:cubicBezTo>
                    <a:cubicBezTo>
                      <a:pt x="601" y="203"/>
                      <a:pt x="606" y="209"/>
                      <a:pt x="606" y="212"/>
                    </a:cubicBezTo>
                    <a:cubicBezTo>
                      <a:pt x="606" y="219"/>
                      <a:pt x="597" y="222"/>
                      <a:pt x="597" y="230"/>
                    </a:cubicBezTo>
                    <a:cubicBezTo>
                      <a:pt x="610" y="230"/>
                      <a:pt x="620" y="216"/>
                      <a:pt x="634" y="216"/>
                    </a:cubicBezTo>
                    <a:cubicBezTo>
                      <a:pt x="639" y="216"/>
                      <a:pt x="641" y="221"/>
                      <a:pt x="648" y="221"/>
                    </a:cubicBezTo>
                    <a:cubicBezTo>
                      <a:pt x="646" y="226"/>
                      <a:pt x="648" y="226"/>
                      <a:pt x="648" y="231"/>
                    </a:cubicBezTo>
                    <a:cubicBezTo>
                      <a:pt x="648" y="235"/>
                      <a:pt x="643" y="235"/>
                      <a:pt x="643" y="240"/>
                    </a:cubicBezTo>
                    <a:cubicBezTo>
                      <a:pt x="643" y="242"/>
                      <a:pt x="645" y="248"/>
                      <a:pt x="648" y="248"/>
                    </a:cubicBezTo>
                    <a:cubicBezTo>
                      <a:pt x="649" y="248"/>
                      <a:pt x="651" y="245"/>
                      <a:pt x="654" y="245"/>
                    </a:cubicBezTo>
                    <a:cubicBezTo>
                      <a:pt x="659" y="245"/>
                      <a:pt x="666" y="249"/>
                      <a:pt x="666" y="254"/>
                    </a:cubicBezTo>
                    <a:cubicBezTo>
                      <a:pt x="666" y="257"/>
                      <a:pt x="662" y="260"/>
                      <a:pt x="659" y="260"/>
                    </a:cubicBezTo>
                    <a:cubicBezTo>
                      <a:pt x="659" y="264"/>
                      <a:pt x="659" y="264"/>
                      <a:pt x="659" y="264"/>
                    </a:cubicBezTo>
                    <a:cubicBezTo>
                      <a:pt x="660" y="265"/>
                      <a:pt x="660" y="267"/>
                      <a:pt x="663" y="268"/>
                    </a:cubicBezTo>
                    <a:cubicBezTo>
                      <a:pt x="663" y="270"/>
                      <a:pt x="665" y="272"/>
                      <a:pt x="665" y="275"/>
                    </a:cubicBezTo>
                    <a:cubicBezTo>
                      <a:pt x="665" y="276"/>
                      <a:pt x="661" y="282"/>
                      <a:pt x="661" y="285"/>
                    </a:cubicBezTo>
                    <a:cubicBezTo>
                      <a:pt x="661" y="287"/>
                      <a:pt x="661" y="289"/>
                      <a:pt x="664" y="290"/>
                    </a:cubicBezTo>
                    <a:cubicBezTo>
                      <a:pt x="663" y="292"/>
                      <a:pt x="661" y="293"/>
                      <a:pt x="661" y="295"/>
                    </a:cubicBezTo>
                    <a:cubicBezTo>
                      <a:pt x="668" y="295"/>
                      <a:pt x="668" y="295"/>
                      <a:pt x="668" y="295"/>
                    </a:cubicBezTo>
                    <a:cubicBezTo>
                      <a:pt x="670" y="293"/>
                      <a:pt x="671" y="293"/>
                      <a:pt x="676" y="291"/>
                    </a:cubicBezTo>
                    <a:cubicBezTo>
                      <a:pt x="676" y="287"/>
                      <a:pt x="687" y="287"/>
                      <a:pt x="690" y="286"/>
                    </a:cubicBezTo>
                    <a:cubicBezTo>
                      <a:pt x="696" y="284"/>
                      <a:pt x="699" y="279"/>
                      <a:pt x="699" y="269"/>
                    </a:cubicBezTo>
                    <a:cubicBezTo>
                      <a:pt x="699" y="252"/>
                      <a:pt x="692" y="242"/>
                      <a:pt x="683" y="232"/>
                    </a:cubicBezTo>
                    <a:cubicBezTo>
                      <a:pt x="679" y="228"/>
                      <a:pt x="674" y="224"/>
                      <a:pt x="675" y="217"/>
                    </a:cubicBezTo>
                    <a:cubicBezTo>
                      <a:pt x="680" y="217"/>
                      <a:pt x="685" y="214"/>
                      <a:pt x="688" y="210"/>
                    </a:cubicBezTo>
                    <a:cubicBezTo>
                      <a:pt x="691" y="207"/>
                      <a:pt x="699" y="203"/>
                      <a:pt x="701" y="199"/>
                    </a:cubicBezTo>
                    <a:cubicBezTo>
                      <a:pt x="707" y="187"/>
                      <a:pt x="710" y="180"/>
                      <a:pt x="721" y="172"/>
                    </a:cubicBezTo>
                    <a:cubicBezTo>
                      <a:pt x="721" y="172"/>
                      <a:pt x="738" y="153"/>
                      <a:pt x="723" y="143"/>
                    </a:cubicBezTo>
                    <a:cubicBezTo>
                      <a:pt x="717" y="139"/>
                      <a:pt x="735" y="138"/>
                      <a:pt x="745" y="132"/>
                    </a:cubicBezTo>
                    <a:cubicBezTo>
                      <a:pt x="756" y="126"/>
                      <a:pt x="760" y="102"/>
                      <a:pt x="769" y="92"/>
                    </a:cubicBezTo>
                    <a:cubicBezTo>
                      <a:pt x="769" y="81"/>
                      <a:pt x="769" y="81"/>
                      <a:pt x="769" y="81"/>
                    </a:cubicBezTo>
                    <a:cubicBezTo>
                      <a:pt x="751" y="81"/>
                      <a:pt x="749" y="95"/>
                      <a:pt x="734" y="95"/>
                    </a:cubicBezTo>
                    <a:cubicBezTo>
                      <a:pt x="721" y="95"/>
                      <a:pt x="716" y="78"/>
                      <a:pt x="710" y="73"/>
                    </a:cubicBezTo>
                    <a:cubicBezTo>
                      <a:pt x="702" y="65"/>
                      <a:pt x="683" y="64"/>
                      <a:pt x="677" y="55"/>
                    </a:cubicBezTo>
                    <a:cubicBezTo>
                      <a:pt x="662" y="31"/>
                      <a:pt x="663" y="0"/>
                      <a:pt x="624" y="0"/>
                    </a:cubicBezTo>
                    <a:cubicBezTo>
                      <a:pt x="568" y="0"/>
                      <a:pt x="589" y="74"/>
                      <a:pt x="547" y="57"/>
                    </a:cubicBezTo>
                    <a:cubicBezTo>
                      <a:pt x="515" y="45"/>
                      <a:pt x="483" y="68"/>
                      <a:pt x="458" y="68"/>
                    </a:cubicBezTo>
                    <a:cubicBezTo>
                      <a:pt x="430" y="68"/>
                      <a:pt x="422" y="46"/>
                      <a:pt x="395" y="46"/>
                    </a:cubicBezTo>
                    <a:cubicBezTo>
                      <a:pt x="383" y="46"/>
                      <a:pt x="365" y="61"/>
                      <a:pt x="355" y="33"/>
                    </a:cubicBezTo>
                    <a:cubicBezTo>
                      <a:pt x="352" y="26"/>
                      <a:pt x="325" y="22"/>
                      <a:pt x="317" y="22"/>
                    </a:cubicBezTo>
                    <a:cubicBezTo>
                      <a:pt x="304" y="22"/>
                      <a:pt x="309" y="55"/>
                      <a:pt x="284" y="55"/>
                    </a:cubicBezTo>
                    <a:cubicBezTo>
                      <a:pt x="266" y="55"/>
                      <a:pt x="247" y="42"/>
                      <a:pt x="236" y="42"/>
                    </a:cubicBezTo>
                    <a:cubicBezTo>
                      <a:pt x="229" y="42"/>
                      <a:pt x="221" y="51"/>
                      <a:pt x="218" y="53"/>
                    </a:cubicBezTo>
                    <a:cubicBezTo>
                      <a:pt x="196" y="66"/>
                      <a:pt x="170" y="66"/>
                      <a:pt x="152" y="81"/>
                    </a:cubicBezTo>
                    <a:cubicBezTo>
                      <a:pt x="145" y="88"/>
                      <a:pt x="159" y="112"/>
                      <a:pt x="123" y="108"/>
                    </a:cubicBezTo>
                    <a:cubicBezTo>
                      <a:pt x="110" y="106"/>
                      <a:pt x="108" y="133"/>
                      <a:pt x="86" y="137"/>
                    </a:cubicBezTo>
                    <a:cubicBezTo>
                      <a:pt x="86" y="186"/>
                      <a:pt x="58" y="207"/>
                      <a:pt x="17" y="207"/>
                    </a:cubicBezTo>
                    <a:cubicBezTo>
                      <a:pt x="10" y="207"/>
                      <a:pt x="1" y="227"/>
                      <a:pt x="0" y="236"/>
                    </a:cubicBezTo>
                    <a:cubicBezTo>
                      <a:pt x="11" y="238"/>
                      <a:pt x="13" y="241"/>
                      <a:pt x="15" y="251"/>
                    </a:cubicBezTo>
                    <a:cubicBezTo>
                      <a:pt x="15" y="253"/>
                      <a:pt x="15" y="253"/>
                      <a:pt x="15" y="253"/>
                    </a:cubicBezTo>
                    <a:cubicBezTo>
                      <a:pt x="15" y="261"/>
                      <a:pt x="19" y="259"/>
                      <a:pt x="25" y="261"/>
                    </a:cubicBezTo>
                    <a:cubicBezTo>
                      <a:pt x="30" y="262"/>
                      <a:pt x="28" y="268"/>
                      <a:pt x="31" y="271"/>
                    </a:cubicBezTo>
                    <a:cubicBezTo>
                      <a:pt x="37" y="277"/>
                      <a:pt x="42" y="277"/>
                      <a:pt x="50" y="280"/>
                    </a:cubicBezTo>
                    <a:cubicBezTo>
                      <a:pt x="58" y="279"/>
                      <a:pt x="61" y="272"/>
                      <a:pt x="69" y="272"/>
                    </a:cubicBezTo>
                    <a:cubicBezTo>
                      <a:pt x="73" y="272"/>
                      <a:pt x="83" y="280"/>
                      <a:pt x="83" y="284"/>
                    </a:cubicBezTo>
                    <a:cubicBezTo>
                      <a:pt x="83" y="296"/>
                      <a:pt x="66" y="294"/>
                      <a:pt x="66" y="306"/>
                    </a:cubicBezTo>
                    <a:cubicBezTo>
                      <a:pt x="66" y="311"/>
                      <a:pt x="73" y="312"/>
                      <a:pt x="73" y="317"/>
                    </a:cubicBezTo>
                    <a:cubicBezTo>
                      <a:pt x="73" y="323"/>
                      <a:pt x="68" y="322"/>
                      <a:pt x="63" y="322"/>
                    </a:cubicBezTo>
                    <a:cubicBezTo>
                      <a:pt x="63" y="326"/>
                      <a:pt x="63" y="326"/>
                      <a:pt x="63" y="326"/>
                    </a:cubicBezTo>
                    <a:cubicBezTo>
                      <a:pt x="64" y="331"/>
                      <a:pt x="64" y="335"/>
                      <a:pt x="65" y="340"/>
                    </a:cubicBezTo>
                    <a:cubicBezTo>
                      <a:pt x="66" y="343"/>
                      <a:pt x="71" y="342"/>
                      <a:pt x="73" y="343"/>
                    </a:cubicBezTo>
                    <a:cubicBezTo>
                      <a:pt x="80" y="345"/>
                      <a:pt x="83" y="351"/>
                      <a:pt x="91" y="353"/>
                    </a:cubicBezTo>
                    <a:cubicBezTo>
                      <a:pt x="100" y="355"/>
                      <a:pt x="105" y="352"/>
                      <a:pt x="110" y="357"/>
                    </a:cubicBezTo>
                    <a:cubicBezTo>
                      <a:pt x="116" y="363"/>
                      <a:pt x="120" y="361"/>
                      <a:pt x="127" y="364"/>
                    </a:cubicBezTo>
                    <a:cubicBezTo>
                      <a:pt x="130" y="366"/>
                      <a:pt x="130" y="369"/>
                      <a:pt x="132" y="373"/>
                    </a:cubicBezTo>
                    <a:cubicBezTo>
                      <a:pt x="133" y="376"/>
                      <a:pt x="137" y="372"/>
                      <a:pt x="139" y="373"/>
                    </a:cubicBezTo>
                    <a:cubicBezTo>
                      <a:pt x="146" y="378"/>
                      <a:pt x="150" y="384"/>
                      <a:pt x="160" y="384"/>
                    </a:cubicBezTo>
                    <a:cubicBezTo>
                      <a:pt x="166" y="384"/>
                      <a:pt x="172" y="384"/>
                      <a:pt x="178" y="384"/>
                    </a:cubicBezTo>
                    <a:cubicBezTo>
                      <a:pt x="182" y="384"/>
                      <a:pt x="184" y="382"/>
                      <a:pt x="186" y="382"/>
                    </a:cubicBezTo>
                    <a:cubicBezTo>
                      <a:pt x="189" y="382"/>
                      <a:pt x="190" y="389"/>
                      <a:pt x="191" y="392"/>
                    </a:cubicBezTo>
                    <a:cubicBezTo>
                      <a:pt x="197" y="389"/>
                      <a:pt x="199" y="381"/>
                      <a:pt x="210" y="381"/>
                    </a:cubicBezTo>
                    <a:cubicBezTo>
                      <a:pt x="219" y="381"/>
                      <a:pt x="224" y="386"/>
                      <a:pt x="231" y="386"/>
                    </a:cubicBezTo>
                    <a:cubicBezTo>
                      <a:pt x="238" y="386"/>
                      <a:pt x="252" y="374"/>
                      <a:pt x="255" y="372"/>
                    </a:cubicBezTo>
                    <a:cubicBezTo>
                      <a:pt x="258" y="370"/>
                      <a:pt x="259" y="369"/>
                      <a:pt x="260" y="367"/>
                    </a:cubicBezTo>
                    <a:cubicBezTo>
                      <a:pt x="264" y="363"/>
                      <a:pt x="270" y="368"/>
                      <a:pt x="275" y="366"/>
                    </a:cubicBezTo>
                    <a:cubicBezTo>
                      <a:pt x="279" y="362"/>
                      <a:pt x="279" y="362"/>
                      <a:pt x="279" y="362"/>
                    </a:cubicBezTo>
                    <a:cubicBezTo>
                      <a:pt x="282" y="362"/>
                      <a:pt x="282" y="362"/>
                      <a:pt x="282" y="362"/>
                    </a:cubicBezTo>
                    <a:cubicBezTo>
                      <a:pt x="285" y="377"/>
                      <a:pt x="294" y="376"/>
                      <a:pt x="305" y="381"/>
                    </a:cubicBezTo>
                    <a:cubicBezTo>
                      <a:pt x="309" y="388"/>
                      <a:pt x="316" y="391"/>
                      <a:pt x="316" y="400"/>
                    </a:cubicBezTo>
                    <a:cubicBezTo>
                      <a:pt x="316" y="417"/>
                      <a:pt x="304" y="418"/>
                      <a:pt x="304" y="434"/>
                    </a:cubicBezTo>
                    <a:cubicBezTo>
                      <a:pt x="304" y="436"/>
                      <a:pt x="305" y="439"/>
                      <a:pt x="306" y="439"/>
                    </a:cubicBezTo>
                    <a:cubicBezTo>
                      <a:pt x="309" y="439"/>
                      <a:pt x="312" y="436"/>
                      <a:pt x="315" y="436"/>
                    </a:cubicBezTo>
                    <a:cubicBezTo>
                      <a:pt x="319" y="436"/>
                      <a:pt x="320" y="449"/>
                      <a:pt x="324" y="450"/>
                    </a:cubicBezTo>
                    <a:cubicBezTo>
                      <a:pt x="324" y="459"/>
                      <a:pt x="330" y="468"/>
                      <a:pt x="338" y="468"/>
                    </a:cubicBezTo>
                    <a:cubicBezTo>
                      <a:pt x="342" y="468"/>
                      <a:pt x="343" y="467"/>
                      <a:pt x="346" y="467"/>
                    </a:cubicBezTo>
                    <a:cubicBezTo>
                      <a:pt x="348" y="467"/>
                      <a:pt x="348" y="467"/>
                      <a:pt x="348" y="467"/>
                    </a:cubicBezTo>
                    <a:cubicBezTo>
                      <a:pt x="348" y="471"/>
                      <a:pt x="350" y="472"/>
                      <a:pt x="351" y="472"/>
                    </a:cubicBezTo>
                    <a:cubicBezTo>
                      <a:pt x="352" y="472"/>
                      <a:pt x="353" y="470"/>
                      <a:pt x="353" y="468"/>
                    </a:cubicBezTo>
                    <a:cubicBezTo>
                      <a:pt x="353" y="464"/>
                      <a:pt x="353" y="461"/>
                      <a:pt x="353" y="457"/>
                    </a:cubicBezTo>
                    <a:cubicBezTo>
                      <a:pt x="353" y="457"/>
                      <a:pt x="363" y="454"/>
                      <a:pt x="365" y="454"/>
                    </a:cubicBezTo>
                    <a:cubicBezTo>
                      <a:pt x="379" y="454"/>
                      <a:pt x="379" y="454"/>
                      <a:pt x="379" y="454"/>
                    </a:cubicBezTo>
                    <a:cubicBezTo>
                      <a:pt x="385" y="457"/>
                      <a:pt x="390" y="448"/>
                      <a:pt x="397" y="448"/>
                    </a:cubicBezTo>
                    <a:cubicBezTo>
                      <a:pt x="404" y="448"/>
                      <a:pt x="408" y="453"/>
                      <a:pt x="416" y="453"/>
                    </a:cubicBezTo>
                    <a:cubicBezTo>
                      <a:pt x="416" y="464"/>
                      <a:pt x="424" y="468"/>
                      <a:pt x="431" y="470"/>
                    </a:cubicBezTo>
                    <a:cubicBezTo>
                      <a:pt x="431" y="470"/>
                      <a:pt x="431" y="470"/>
                      <a:pt x="431" y="470"/>
                    </a:cubicBezTo>
                    <a:cubicBezTo>
                      <a:pt x="439" y="474"/>
                      <a:pt x="444" y="471"/>
                      <a:pt x="452" y="475"/>
                    </a:cubicBezTo>
                    <a:cubicBezTo>
                      <a:pt x="452" y="477"/>
                      <a:pt x="451" y="486"/>
                      <a:pt x="454" y="486"/>
                    </a:cubicBezTo>
                    <a:cubicBezTo>
                      <a:pt x="459" y="486"/>
                      <a:pt x="457" y="480"/>
                      <a:pt x="460" y="477"/>
                    </a:cubicBezTo>
                    <a:cubicBezTo>
                      <a:pt x="463" y="474"/>
                      <a:pt x="472" y="472"/>
                      <a:pt x="476" y="470"/>
                    </a:cubicBezTo>
                    <a:cubicBezTo>
                      <a:pt x="484" y="466"/>
                      <a:pt x="492" y="468"/>
                      <a:pt x="498" y="463"/>
                    </a:cubicBezTo>
                    <a:cubicBezTo>
                      <a:pt x="498" y="463"/>
                      <a:pt x="502" y="455"/>
                      <a:pt x="503" y="455"/>
                    </a:cubicBezTo>
                    <a:cubicBezTo>
                      <a:pt x="507" y="455"/>
                      <a:pt x="510" y="458"/>
                      <a:pt x="514" y="458"/>
                    </a:cubicBezTo>
                    <a:cubicBezTo>
                      <a:pt x="534" y="458"/>
                      <a:pt x="539" y="446"/>
                      <a:pt x="552" y="439"/>
                    </a:cubicBezTo>
                    <a:cubicBezTo>
                      <a:pt x="555" y="437"/>
                      <a:pt x="557" y="435"/>
                      <a:pt x="558" y="431"/>
                    </a:cubicBezTo>
                    <a:cubicBezTo>
                      <a:pt x="569" y="431"/>
                      <a:pt x="572" y="414"/>
                      <a:pt x="576" y="406"/>
                    </a:cubicBezTo>
                    <a:cubicBezTo>
                      <a:pt x="578" y="401"/>
                      <a:pt x="590" y="383"/>
                      <a:pt x="597" y="382"/>
                    </a:cubicBezTo>
                    <a:cubicBezTo>
                      <a:pt x="597" y="372"/>
                      <a:pt x="604" y="368"/>
                      <a:pt x="604" y="355"/>
                    </a:cubicBezTo>
                    <a:cubicBezTo>
                      <a:pt x="604" y="336"/>
                      <a:pt x="599" y="329"/>
                      <a:pt x="591" y="317"/>
                    </a:cubicBezTo>
                    <a:cubicBezTo>
                      <a:pt x="590" y="315"/>
                      <a:pt x="590" y="309"/>
                      <a:pt x="586" y="30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58" name="Freeform 148">
                <a:extLst>
                  <a:ext uri="{FF2B5EF4-FFF2-40B4-BE49-F238E27FC236}">
                    <a16:creationId xmlns:a16="http://schemas.microsoft.com/office/drawing/2014/main" id="{B4119117-E1DA-A22E-F11E-5E4A4A4CF7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69175" y="1395413"/>
                <a:ext cx="58738" cy="25400"/>
              </a:xfrm>
              <a:custGeom>
                <a:avLst/>
                <a:gdLst/>
                <a:ahLst/>
                <a:cxnLst>
                  <a:cxn ang="0">
                    <a:pos x="4" y="19"/>
                  </a:cxn>
                  <a:cxn ang="0">
                    <a:pos x="0" y="14"/>
                  </a:cxn>
                  <a:cxn ang="0">
                    <a:pos x="20" y="0"/>
                  </a:cxn>
                  <a:cxn ang="0">
                    <a:pos x="44" y="11"/>
                  </a:cxn>
                  <a:cxn ang="0">
                    <a:pos x="4" y="19"/>
                  </a:cxn>
                </a:cxnLst>
                <a:rect l="0" t="0" r="r" b="b"/>
                <a:pathLst>
                  <a:path w="44" h="19">
                    <a:moveTo>
                      <a:pt x="4" y="19"/>
                    </a:moveTo>
                    <a:cubicBezTo>
                      <a:pt x="1" y="19"/>
                      <a:pt x="0" y="17"/>
                      <a:pt x="0" y="14"/>
                    </a:cubicBezTo>
                    <a:cubicBezTo>
                      <a:pt x="0" y="8"/>
                      <a:pt x="13" y="0"/>
                      <a:pt x="20" y="0"/>
                    </a:cubicBezTo>
                    <a:cubicBezTo>
                      <a:pt x="27" y="0"/>
                      <a:pt x="44" y="4"/>
                      <a:pt x="44" y="11"/>
                    </a:cubicBezTo>
                    <a:cubicBezTo>
                      <a:pt x="44" y="17"/>
                      <a:pt x="9" y="19"/>
                      <a:pt x="4" y="1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59" name="Freeform 149">
                <a:extLst>
                  <a:ext uri="{FF2B5EF4-FFF2-40B4-BE49-F238E27FC236}">
                    <a16:creationId xmlns:a16="http://schemas.microsoft.com/office/drawing/2014/main" id="{7E15EFA6-8D99-247B-32C4-B8AFCDE760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91375" y="1443038"/>
                <a:ext cx="23813" cy="14288"/>
              </a:xfrm>
              <a:custGeom>
                <a:avLst/>
                <a:gdLst/>
                <a:ahLst/>
                <a:cxnLst>
                  <a:cxn ang="0">
                    <a:pos x="13" y="10"/>
                  </a:cxn>
                  <a:cxn ang="0">
                    <a:pos x="18" y="6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13" y="10"/>
                  </a:cxn>
                </a:cxnLst>
                <a:rect l="0" t="0" r="r" b="b"/>
                <a:pathLst>
                  <a:path w="18" h="10">
                    <a:moveTo>
                      <a:pt x="13" y="10"/>
                    </a:moveTo>
                    <a:cubicBezTo>
                      <a:pt x="15" y="10"/>
                      <a:pt x="18" y="8"/>
                      <a:pt x="18" y="6"/>
                    </a:cubicBezTo>
                    <a:cubicBezTo>
                      <a:pt x="18" y="3"/>
                      <a:pt x="15" y="2"/>
                      <a:pt x="1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" y="6"/>
                      <a:pt x="7" y="10"/>
                      <a:pt x="13" y="1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60" name="Freeform 150">
                <a:extLst>
                  <a:ext uri="{FF2B5EF4-FFF2-40B4-BE49-F238E27FC236}">
                    <a16:creationId xmlns:a16="http://schemas.microsoft.com/office/drawing/2014/main" id="{8DECF3CB-301A-C686-6842-29BD631936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5275" y="1257300"/>
                <a:ext cx="11113" cy="12700"/>
              </a:xfrm>
              <a:custGeom>
                <a:avLst/>
                <a:gdLst/>
                <a:ahLst/>
                <a:cxnLst>
                  <a:cxn ang="0">
                    <a:pos x="8" y="5"/>
                  </a:cxn>
                  <a:cxn ang="0">
                    <a:pos x="3" y="0"/>
                  </a:cxn>
                  <a:cxn ang="0">
                    <a:pos x="0" y="7"/>
                  </a:cxn>
                  <a:cxn ang="0">
                    <a:pos x="3" y="10"/>
                  </a:cxn>
                  <a:cxn ang="0">
                    <a:pos x="8" y="4"/>
                  </a:cxn>
                  <a:cxn ang="0">
                    <a:pos x="6" y="4"/>
                  </a:cxn>
                  <a:cxn ang="0">
                    <a:pos x="8" y="5"/>
                  </a:cxn>
                </a:cxnLst>
                <a:rect l="0" t="0" r="r" b="b"/>
                <a:pathLst>
                  <a:path w="8" h="10">
                    <a:moveTo>
                      <a:pt x="8" y="5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2"/>
                      <a:pt x="0" y="4"/>
                      <a:pt x="0" y="7"/>
                    </a:cubicBezTo>
                    <a:cubicBezTo>
                      <a:pt x="0" y="9"/>
                      <a:pt x="1" y="10"/>
                      <a:pt x="3" y="10"/>
                    </a:cubicBezTo>
                    <a:cubicBezTo>
                      <a:pt x="7" y="10"/>
                      <a:pt x="7" y="6"/>
                      <a:pt x="8" y="4"/>
                    </a:cubicBezTo>
                    <a:cubicBezTo>
                      <a:pt x="6" y="4"/>
                      <a:pt x="6" y="4"/>
                      <a:pt x="6" y="4"/>
                    </a:cubicBezTo>
                    <a:lnTo>
                      <a:pt x="8" y="5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61" name="Freeform 151">
                <a:extLst>
                  <a:ext uri="{FF2B5EF4-FFF2-40B4-BE49-F238E27FC236}">
                    <a16:creationId xmlns:a16="http://schemas.microsoft.com/office/drawing/2014/main" id="{E6E33A4A-1BFB-504B-0D31-B8E74FDB0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9988" y="1300163"/>
                <a:ext cx="26988" cy="15875"/>
              </a:xfrm>
              <a:custGeom>
                <a:avLst/>
                <a:gdLst/>
                <a:ahLst/>
                <a:cxnLst>
                  <a:cxn ang="0">
                    <a:pos x="20" y="9"/>
                  </a:cxn>
                  <a:cxn ang="0">
                    <a:pos x="10" y="12"/>
                  </a:cxn>
                  <a:cxn ang="0">
                    <a:pos x="0" y="7"/>
                  </a:cxn>
                  <a:cxn ang="0">
                    <a:pos x="10" y="0"/>
                  </a:cxn>
                  <a:cxn ang="0">
                    <a:pos x="20" y="7"/>
                  </a:cxn>
                  <a:cxn ang="0">
                    <a:pos x="17" y="12"/>
                  </a:cxn>
                  <a:cxn ang="0">
                    <a:pos x="20" y="9"/>
                  </a:cxn>
                </a:cxnLst>
                <a:rect l="0" t="0" r="r" b="b"/>
                <a:pathLst>
                  <a:path w="20" h="12">
                    <a:moveTo>
                      <a:pt x="20" y="9"/>
                    </a:moveTo>
                    <a:cubicBezTo>
                      <a:pt x="17" y="11"/>
                      <a:pt x="14" y="12"/>
                      <a:pt x="10" y="12"/>
                    </a:cubicBezTo>
                    <a:cubicBezTo>
                      <a:pt x="5" y="12"/>
                      <a:pt x="0" y="11"/>
                      <a:pt x="0" y="7"/>
                    </a:cubicBezTo>
                    <a:cubicBezTo>
                      <a:pt x="0" y="3"/>
                      <a:pt x="6" y="0"/>
                      <a:pt x="10" y="0"/>
                    </a:cubicBezTo>
                    <a:cubicBezTo>
                      <a:pt x="16" y="0"/>
                      <a:pt x="20" y="2"/>
                      <a:pt x="20" y="7"/>
                    </a:cubicBezTo>
                    <a:cubicBezTo>
                      <a:pt x="20" y="10"/>
                      <a:pt x="18" y="11"/>
                      <a:pt x="17" y="12"/>
                    </a:cubicBezTo>
                    <a:lnTo>
                      <a:pt x="20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62" name="Freeform 152">
                <a:extLst>
                  <a:ext uri="{FF2B5EF4-FFF2-40B4-BE49-F238E27FC236}">
                    <a16:creationId xmlns:a16="http://schemas.microsoft.com/office/drawing/2014/main" id="{90F00CE2-F143-868C-2143-55EB2CB189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43613" y="1128713"/>
                <a:ext cx="100013" cy="57150"/>
              </a:xfrm>
              <a:custGeom>
                <a:avLst/>
                <a:gdLst/>
                <a:ahLst/>
                <a:cxnLst>
                  <a:cxn ang="0">
                    <a:pos x="6" y="43"/>
                  </a:cxn>
                  <a:cxn ang="0">
                    <a:pos x="0" y="37"/>
                  </a:cxn>
                  <a:cxn ang="0">
                    <a:pos x="8" y="27"/>
                  </a:cxn>
                  <a:cxn ang="0">
                    <a:pos x="39" y="0"/>
                  </a:cxn>
                  <a:cxn ang="0">
                    <a:pos x="45" y="0"/>
                  </a:cxn>
                  <a:cxn ang="0">
                    <a:pos x="44" y="10"/>
                  </a:cxn>
                  <a:cxn ang="0">
                    <a:pos x="52" y="6"/>
                  </a:cxn>
                  <a:cxn ang="0">
                    <a:pos x="76" y="23"/>
                  </a:cxn>
                  <a:cxn ang="0">
                    <a:pos x="45" y="34"/>
                  </a:cxn>
                  <a:cxn ang="0">
                    <a:pos x="30" y="37"/>
                  </a:cxn>
                  <a:cxn ang="0">
                    <a:pos x="6" y="43"/>
                  </a:cxn>
                </a:cxnLst>
                <a:rect l="0" t="0" r="r" b="b"/>
                <a:pathLst>
                  <a:path w="76" h="43">
                    <a:moveTo>
                      <a:pt x="6" y="43"/>
                    </a:moveTo>
                    <a:cubicBezTo>
                      <a:pt x="1" y="43"/>
                      <a:pt x="0" y="41"/>
                      <a:pt x="0" y="37"/>
                    </a:cubicBezTo>
                    <a:cubicBezTo>
                      <a:pt x="0" y="30"/>
                      <a:pt x="5" y="30"/>
                      <a:pt x="8" y="27"/>
                    </a:cubicBezTo>
                    <a:cubicBezTo>
                      <a:pt x="18" y="17"/>
                      <a:pt x="22" y="0"/>
                      <a:pt x="39" y="0"/>
                    </a:cubicBezTo>
                    <a:cubicBezTo>
                      <a:pt x="43" y="0"/>
                      <a:pt x="43" y="0"/>
                      <a:pt x="45" y="0"/>
                    </a:cubicBezTo>
                    <a:cubicBezTo>
                      <a:pt x="45" y="7"/>
                      <a:pt x="47" y="7"/>
                      <a:pt x="44" y="10"/>
                    </a:cubicBezTo>
                    <a:cubicBezTo>
                      <a:pt x="47" y="9"/>
                      <a:pt x="49" y="6"/>
                      <a:pt x="52" y="6"/>
                    </a:cubicBezTo>
                    <a:cubicBezTo>
                      <a:pt x="58" y="6"/>
                      <a:pt x="76" y="17"/>
                      <a:pt x="76" y="23"/>
                    </a:cubicBezTo>
                    <a:cubicBezTo>
                      <a:pt x="76" y="34"/>
                      <a:pt x="53" y="36"/>
                      <a:pt x="45" y="34"/>
                    </a:cubicBezTo>
                    <a:cubicBezTo>
                      <a:pt x="43" y="34"/>
                      <a:pt x="30" y="37"/>
                      <a:pt x="30" y="37"/>
                    </a:cubicBezTo>
                    <a:lnTo>
                      <a:pt x="6" y="4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63" name="Freeform 153">
                <a:extLst>
                  <a:ext uri="{FF2B5EF4-FFF2-40B4-BE49-F238E27FC236}">
                    <a16:creationId xmlns:a16="http://schemas.microsoft.com/office/drawing/2014/main" id="{4ADF6959-70E5-4783-E750-27DC6AE4A5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0738" y="1101725"/>
                <a:ext cx="39688" cy="20638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30" y="7"/>
                  </a:cxn>
                  <a:cxn ang="0">
                    <a:pos x="9" y="16"/>
                  </a:cxn>
                  <a:cxn ang="0">
                    <a:pos x="0" y="5"/>
                  </a:cxn>
                  <a:cxn ang="0">
                    <a:pos x="12" y="0"/>
                  </a:cxn>
                </a:cxnLst>
                <a:rect l="0" t="0" r="r" b="b"/>
                <a:pathLst>
                  <a:path w="30" h="16">
                    <a:moveTo>
                      <a:pt x="12" y="0"/>
                    </a:moveTo>
                    <a:cubicBezTo>
                      <a:pt x="14" y="0"/>
                      <a:pt x="26" y="6"/>
                      <a:pt x="30" y="7"/>
                    </a:cubicBezTo>
                    <a:cubicBezTo>
                      <a:pt x="29" y="15"/>
                      <a:pt x="14" y="16"/>
                      <a:pt x="9" y="16"/>
                    </a:cubicBezTo>
                    <a:cubicBezTo>
                      <a:pt x="6" y="16"/>
                      <a:pt x="0" y="9"/>
                      <a:pt x="0" y="5"/>
                    </a:cubicBezTo>
                    <a:cubicBezTo>
                      <a:pt x="0" y="0"/>
                      <a:pt x="9" y="0"/>
                      <a:pt x="12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64" name="Freeform 154">
                <a:extLst>
                  <a:ext uri="{FF2B5EF4-FFF2-40B4-BE49-F238E27FC236}">
                    <a16:creationId xmlns:a16="http://schemas.microsoft.com/office/drawing/2014/main" id="{4C72D2A8-6FF6-D481-7CE7-F8A86BBF28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13438" y="1057275"/>
                <a:ext cx="139700" cy="98425"/>
              </a:xfrm>
              <a:custGeom>
                <a:avLst/>
                <a:gdLst/>
                <a:ahLst/>
                <a:cxnLst>
                  <a:cxn ang="0">
                    <a:pos x="99" y="68"/>
                  </a:cxn>
                  <a:cxn ang="0">
                    <a:pos x="90" y="74"/>
                  </a:cxn>
                  <a:cxn ang="0">
                    <a:pos x="41" y="66"/>
                  </a:cxn>
                  <a:cxn ang="0">
                    <a:pos x="17" y="50"/>
                  </a:cxn>
                  <a:cxn ang="0">
                    <a:pos x="50" y="36"/>
                  </a:cxn>
                  <a:cxn ang="0">
                    <a:pos x="32" y="36"/>
                  </a:cxn>
                  <a:cxn ang="0">
                    <a:pos x="0" y="26"/>
                  </a:cxn>
                  <a:cxn ang="0">
                    <a:pos x="46" y="0"/>
                  </a:cxn>
                  <a:cxn ang="0">
                    <a:pos x="72" y="17"/>
                  </a:cxn>
                  <a:cxn ang="0">
                    <a:pos x="67" y="18"/>
                  </a:cxn>
                  <a:cxn ang="0">
                    <a:pos x="67" y="27"/>
                  </a:cxn>
                  <a:cxn ang="0">
                    <a:pos x="59" y="35"/>
                  </a:cxn>
                  <a:cxn ang="0">
                    <a:pos x="68" y="35"/>
                  </a:cxn>
                  <a:cxn ang="0">
                    <a:pos x="81" y="39"/>
                  </a:cxn>
                  <a:cxn ang="0">
                    <a:pos x="90" y="39"/>
                  </a:cxn>
                  <a:cxn ang="0">
                    <a:pos x="105" y="48"/>
                  </a:cxn>
                  <a:cxn ang="0">
                    <a:pos x="101" y="57"/>
                  </a:cxn>
                  <a:cxn ang="0">
                    <a:pos x="92" y="62"/>
                  </a:cxn>
                  <a:cxn ang="0">
                    <a:pos x="99" y="68"/>
                  </a:cxn>
                </a:cxnLst>
                <a:rect l="0" t="0" r="r" b="b"/>
                <a:pathLst>
                  <a:path w="105" h="74">
                    <a:moveTo>
                      <a:pt x="99" y="68"/>
                    </a:moveTo>
                    <a:cubicBezTo>
                      <a:pt x="99" y="72"/>
                      <a:pt x="94" y="74"/>
                      <a:pt x="90" y="74"/>
                    </a:cubicBezTo>
                    <a:cubicBezTo>
                      <a:pt x="71" y="74"/>
                      <a:pt x="57" y="66"/>
                      <a:pt x="41" y="66"/>
                    </a:cubicBezTo>
                    <a:cubicBezTo>
                      <a:pt x="35" y="66"/>
                      <a:pt x="24" y="54"/>
                      <a:pt x="17" y="50"/>
                    </a:cubicBezTo>
                    <a:cubicBezTo>
                      <a:pt x="32" y="46"/>
                      <a:pt x="36" y="41"/>
                      <a:pt x="50" y="36"/>
                    </a:cubicBezTo>
                    <a:cubicBezTo>
                      <a:pt x="46" y="36"/>
                      <a:pt x="35" y="36"/>
                      <a:pt x="32" y="36"/>
                    </a:cubicBezTo>
                    <a:cubicBezTo>
                      <a:pt x="20" y="36"/>
                      <a:pt x="11" y="32"/>
                      <a:pt x="0" y="26"/>
                    </a:cubicBezTo>
                    <a:cubicBezTo>
                      <a:pt x="18" y="21"/>
                      <a:pt x="25" y="0"/>
                      <a:pt x="46" y="0"/>
                    </a:cubicBezTo>
                    <a:cubicBezTo>
                      <a:pt x="58" y="0"/>
                      <a:pt x="65" y="12"/>
                      <a:pt x="72" y="17"/>
                    </a:cubicBezTo>
                    <a:cubicBezTo>
                      <a:pt x="68" y="19"/>
                      <a:pt x="69" y="18"/>
                      <a:pt x="67" y="18"/>
                    </a:cubicBezTo>
                    <a:cubicBezTo>
                      <a:pt x="68" y="23"/>
                      <a:pt x="67" y="24"/>
                      <a:pt x="67" y="27"/>
                    </a:cubicBezTo>
                    <a:cubicBezTo>
                      <a:pt x="67" y="29"/>
                      <a:pt x="62" y="33"/>
                      <a:pt x="59" y="35"/>
                    </a:cubicBezTo>
                    <a:cubicBezTo>
                      <a:pt x="63" y="33"/>
                      <a:pt x="65" y="35"/>
                      <a:pt x="68" y="35"/>
                    </a:cubicBezTo>
                    <a:cubicBezTo>
                      <a:pt x="73" y="35"/>
                      <a:pt x="76" y="39"/>
                      <a:pt x="81" y="39"/>
                    </a:cubicBezTo>
                    <a:cubicBezTo>
                      <a:pt x="84" y="39"/>
                      <a:pt x="87" y="39"/>
                      <a:pt x="90" y="39"/>
                    </a:cubicBezTo>
                    <a:cubicBezTo>
                      <a:pt x="99" y="39"/>
                      <a:pt x="99" y="42"/>
                      <a:pt x="105" y="48"/>
                    </a:cubicBezTo>
                    <a:cubicBezTo>
                      <a:pt x="100" y="51"/>
                      <a:pt x="101" y="52"/>
                      <a:pt x="101" y="57"/>
                    </a:cubicBezTo>
                    <a:cubicBezTo>
                      <a:pt x="101" y="61"/>
                      <a:pt x="95" y="62"/>
                      <a:pt x="92" y="62"/>
                    </a:cubicBezTo>
                    <a:cubicBezTo>
                      <a:pt x="95" y="63"/>
                      <a:pt x="99" y="65"/>
                      <a:pt x="99" y="6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65" name="Freeform 155">
                <a:extLst>
                  <a:ext uri="{FF2B5EF4-FFF2-40B4-BE49-F238E27FC236}">
                    <a16:creationId xmlns:a16="http://schemas.microsoft.com/office/drawing/2014/main" id="{8A64226E-6164-1987-9C73-03CF9D4392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3763" y="1212850"/>
                <a:ext cx="17463" cy="12700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7" y="0"/>
                  </a:cxn>
                  <a:cxn ang="0">
                    <a:pos x="13" y="0"/>
                  </a:cxn>
                  <a:cxn ang="0">
                    <a:pos x="5" y="9"/>
                  </a:cxn>
                  <a:cxn ang="0">
                    <a:pos x="0" y="5"/>
                  </a:cxn>
                </a:cxnLst>
                <a:rect l="0" t="0" r="r" b="b"/>
                <a:pathLst>
                  <a:path w="13" h="9">
                    <a:moveTo>
                      <a:pt x="0" y="5"/>
                    </a:moveTo>
                    <a:cubicBezTo>
                      <a:pt x="3" y="3"/>
                      <a:pt x="5" y="1"/>
                      <a:pt x="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2" y="6"/>
                      <a:pt x="10" y="9"/>
                      <a:pt x="5" y="9"/>
                    </a:cubicBezTo>
                    <a:cubicBezTo>
                      <a:pt x="2" y="9"/>
                      <a:pt x="1" y="7"/>
                      <a:pt x="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66" name="Freeform 156">
                <a:extLst>
                  <a:ext uri="{FF2B5EF4-FFF2-40B4-BE49-F238E27FC236}">
                    <a16:creationId xmlns:a16="http://schemas.microsoft.com/office/drawing/2014/main" id="{31B6B519-181B-90B2-D1B0-CF54B6E8AC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86450" y="1060450"/>
                <a:ext cx="23813" cy="7938"/>
              </a:xfrm>
              <a:custGeom>
                <a:avLst/>
                <a:gdLst/>
                <a:ahLst/>
                <a:cxnLst>
                  <a:cxn ang="0">
                    <a:pos x="18" y="4"/>
                  </a:cxn>
                  <a:cxn ang="0">
                    <a:pos x="0" y="0"/>
                  </a:cxn>
                  <a:cxn ang="0">
                    <a:pos x="16" y="0"/>
                  </a:cxn>
                  <a:cxn ang="0">
                    <a:pos x="18" y="4"/>
                  </a:cxn>
                </a:cxnLst>
                <a:rect l="0" t="0" r="r" b="b"/>
                <a:pathLst>
                  <a:path w="18" h="6">
                    <a:moveTo>
                      <a:pt x="18" y="4"/>
                    </a:moveTo>
                    <a:cubicBezTo>
                      <a:pt x="11" y="5"/>
                      <a:pt x="3" y="6"/>
                      <a:pt x="0" y="0"/>
                    </a:cubicBezTo>
                    <a:cubicBezTo>
                      <a:pt x="16" y="0"/>
                      <a:pt x="16" y="0"/>
                      <a:pt x="16" y="0"/>
                    </a:cubicBezTo>
                    <a:lnTo>
                      <a:pt x="18" y="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67" name="Freeform 157">
                <a:extLst>
                  <a:ext uri="{FF2B5EF4-FFF2-40B4-BE49-F238E27FC236}">
                    <a16:creationId xmlns:a16="http://schemas.microsoft.com/office/drawing/2014/main" id="{A4232CE5-EB27-D549-A7C0-EED3ACA5FB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2675" y="1173163"/>
                <a:ext cx="20638" cy="9525"/>
              </a:xfrm>
              <a:custGeom>
                <a:avLst/>
                <a:gdLst/>
                <a:ahLst/>
                <a:cxnLst>
                  <a:cxn ang="0">
                    <a:pos x="15" y="1"/>
                  </a:cxn>
                  <a:cxn ang="0">
                    <a:pos x="9" y="7"/>
                  </a:cxn>
                  <a:cxn ang="0">
                    <a:pos x="0" y="2"/>
                  </a:cxn>
                  <a:cxn ang="0">
                    <a:pos x="15" y="1"/>
                  </a:cxn>
                </a:cxnLst>
                <a:rect l="0" t="0" r="r" b="b"/>
                <a:pathLst>
                  <a:path w="15" h="7">
                    <a:moveTo>
                      <a:pt x="15" y="1"/>
                    </a:moveTo>
                    <a:cubicBezTo>
                      <a:pt x="14" y="4"/>
                      <a:pt x="12" y="7"/>
                      <a:pt x="9" y="7"/>
                    </a:cubicBezTo>
                    <a:cubicBezTo>
                      <a:pt x="4" y="7"/>
                      <a:pt x="1" y="4"/>
                      <a:pt x="0" y="2"/>
                    </a:cubicBezTo>
                    <a:cubicBezTo>
                      <a:pt x="9" y="0"/>
                      <a:pt x="11" y="2"/>
                      <a:pt x="1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68" name="Freeform 158">
                <a:extLst>
                  <a:ext uri="{FF2B5EF4-FFF2-40B4-BE49-F238E27FC236}">
                    <a16:creationId xmlns:a16="http://schemas.microsoft.com/office/drawing/2014/main" id="{72F962C5-98F9-FCB8-AB23-304AAF8C80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9688" y="1074738"/>
                <a:ext cx="117475" cy="36513"/>
              </a:xfrm>
              <a:custGeom>
                <a:avLst/>
                <a:gdLst/>
                <a:ahLst/>
                <a:cxnLst>
                  <a:cxn ang="0">
                    <a:pos x="76" y="14"/>
                  </a:cxn>
                  <a:cxn ang="0">
                    <a:pos x="58" y="17"/>
                  </a:cxn>
                  <a:cxn ang="0">
                    <a:pos x="49" y="27"/>
                  </a:cxn>
                  <a:cxn ang="0">
                    <a:pos x="44" y="23"/>
                  </a:cxn>
                  <a:cxn ang="0">
                    <a:pos x="44" y="23"/>
                  </a:cxn>
                  <a:cxn ang="0">
                    <a:pos x="32" y="17"/>
                  </a:cxn>
                  <a:cxn ang="0">
                    <a:pos x="41" y="14"/>
                  </a:cxn>
                  <a:cxn ang="0">
                    <a:pos x="33" y="13"/>
                  </a:cxn>
                  <a:cxn ang="0">
                    <a:pos x="40" y="9"/>
                  </a:cxn>
                  <a:cxn ang="0">
                    <a:pos x="30" y="5"/>
                  </a:cxn>
                  <a:cxn ang="0">
                    <a:pos x="10" y="11"/>
                  </a:cxn>
                  <a:cxn ang="0">
                    <a:pos x="0" y="9"/>
                  </a:cxn>
                  <a:cxn ang="0">
                    <a:pos x="34" y="0"/>
                  </a:cxn>
                  <a:cxn ang="0">
                    <a:pos x="60" y="6"/>
                  </a:cxn>
                  <a:cxn ang="0">
                    <a:pos x="76" y="0"/>
                  </a:cxn>
                  <a:cxn ang="0">
                    <a:pos x="89" y="5"/>
                  </a:cxn>
                  <a:cxn ang="0">
                    <a:pos x="78" y="13"/>
                  </a:cxn>
                  <a:cxn ang="0">
                    <a:pos x="73" y="13"/>
                  </a:cxn>
                  <a:cxn ang="0">
                    <a:pos x="73" y="17"/>
                  </a:cxn>
                  <a:cxn ang="0">
                    <a:pos x="76" y="14"/>
                  </a:cxn>
                </a:cxnLst>
                <a:rect l="0" t="0" r="r" b="b"/>
                <a:pathLst>
                  <a:path w="89" h="27">
                    <a:moveTo>
                      <a:pt x="76" y="14"/>
                    </a:moveTo>
                    <a:cubicBezTo>
                      <a:pt x="69" y="19"/>
                      <a:pt x="65" y="13"/>
                      <a:pt x="58" y="17"/>
                    </a:cubicBezTo>
                    <a:cubicBezTo>
                      <a:pt x="54" y="19"/>
                      <a:pt x="53" y="27"/>
                      <a:pt x="49" y="27"/>
                    </a:cubicBezTo>
                    <a:cubicBezTo>
                      <a:pt x="47" y="26"/>
                      <a:pt x="45" y="24"/>
                      <a:pt x="44" y="23"/>
                    </a:cubicBezTo>
                    <a:cubicBezTo>
                      <a:pt x="44" y="23"/>
                      <a:pt x="44" y="23"/>
                      <a:pt x="44" y="23"/>
                    </a:cubicBezTo>
                    <a:cubicBezTo>
                      <a:pt x="38" y="23"/>
                      <a:pt x="33" y="21"/>
                      <a:pt x="32" y="17"/>
                    </a:cubicBezTo>
                    <a:cubicBezTo>
                      <a:pt x="36" y="15"/>
                      <a:pt x="38" y="15"/>
                      <a:pt x="41" y="14"/>
                    </a:cubicBezTo>
                    <a:cubicBezTo>
                      <a:pt x="37" y="14"/>
                      <a:pt x="35" y="13"/>
                      <a:pt x="33" y="13"/>
                    </a:cubicBezTo>
                    <a:cubicBezTo>
                      <a:pt x="36" y="11"/>
                      <a:pt x="38" y="11"/>
                      <a:pt x="40" y="9"/>
                    </a:cubicBezTo>
                    <a:cubicBezTo>
                      <a:pt x="36" y="8"/>
                      <a:pt x="34" y="5"/>
                      <a:pt x="30" y="5"/>
                    </a:cubicBezTo>
                    <a:cubicBezTo>
                      <a:pt x="25" y="5"/>
                      <a:pt x="17" y="11"/>
                      <a:pt x="10" y="11"/>
                    </a:cubicBezTo>
                    <a:cubicBezTo>
                      <a:pt x="7" y="11"/>
                      <a:pt x="4" y="9"/>
                      <a:pt x="0" y="9"/>
                    </a:cubicBezTo>
                    <a:cubicBezTo>
                      <a:pt x="4" y="2"/>
                      <a:pt x="25" y="0"/>
                      <a:pt x="34" y="0"/>
                    </a:cubicBezTo>
                    <a:cubicBezTo>
                      <a:pt x="45" y="0"/>
                      <a:pt x="52" y="6"/>
                      <a:pt x="60" y="6"/>
                    </a:cubicBezTo>
                    <a:cubicBezTo>
                      <a:pt x="67" y="6"/>
                      <a:pt x="70" y="0"/>
                      <a:pt x="76" y="0"/>
                    </a:cubicBezTo>
                    <a:cubicBezTo>
                      <a:pt x="82" y="0"/>
                      <a:pt x="87" y="4"/>
                      <a:pt x="89" y="5"/>
                    </a:cubicBezTo>
                    <a:cubicBezTo>
                      <a:pt x="89" y="13"/>
                      <a:pt x="83" y="9"/>
                      <a:pt x="78" y="13"/>
                    </a:cubicBezTo>
                    <a:cubicBezTo>
                      <a:pt x="76" y="13"/>
                      <a:pt x="75" y="13"/>
                      <a:pt x="73" y="13"/>
                    </a:cubicBezTo>
                    <a:cubicBezTo>
                      <a:pt x="73" y="17"/>
                      <a:pt x="73" y="17"/>
                      <a:pt x="73" y="17"/>
                    </a:cubicBezTo>
                    <a:lnTo>
                      <a:pt x="76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69" name="Freeform 159">
                <a:extLst>
                  <a:ext uri="{FF2B5EF4-FFF2-40B4-BE49-F238E27FC236}">
                    <a16:creationId xmlns:a16="http://schemas.microsoft.com/office/drawing/2014/main" id="{9738D0C7-6AED-7E5F-6F6E-65C64641AC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7663" y="1052513"/>
                <a:ext cx="41275" cy="26988"/>
              </a:xfrm>
              <a:custGeom>
                <a:avLst/>
                <a:gdLst/>
                <a:ahLst/>
                <a:cxnLst>
                  <a:cxn ang="0">
                    <a:pos x="7" y="20"/>
                  </a:cxn>
                  <a:cxn ang="0">
                    <a:pos x="0" y="13"/>
                  </a:cxn>
                  <a:cxn ang="0">
                    <a:pos x="25" y="0"/>
                  </a:cxn>
                  <a:cxn ang="0">
                    <a:pos x="31" y="14"/>
                  </a:cxn>
                  <a:cxn ang="0">
                    <a:pos x="7" y="20"/>
                  </a:cxn>
                </a:cxnLst>
                <a:rect l="0" t="0" r="r" b="b"/>
                <a:pathLst>
                  <a:path w="31" h="20">
                    <a:moveTo>
                      <a:pt x="7" y="20"/>
                    </a:moveTo>
                    <a:cubicBezTo>
                      <a:pt x="2" y="20"/>
                      <a:pt x="0" y="17"/>
                      <a:pt x="0" y="13"/>
                    </a:cubicBezTo>
                    <a:cubicBezTo>
                      <a:pt x="0" y="7"/>
                      <a:pt x="18" y="0"/>
                      <a:pt x="25" y="0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28" y="16"/>
                      <a:pt x="11" y="20"/>
                      <a:pt x="7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70" name="Freeform 160">
                <a:extLst>
                  <a:ext uri="{FF2B5EF4-FFF2-40B4-BE49-F238E27FC236}">
                    <a16:creationId xmlns:a16="http://schemas.microsoft.com/office/drawing/2014/main" id="{C6E980AD-8F3A-23C8-0AB5-5E3E017C74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73688" y="1069975"/>
                <a:ext cx="44450" cy="25400"/>
              </a:xfrm>
              <a:custGeom>
                <a:avLst/>
                <a:gdLst/>
                <a:ahLst/>
                <a:cxnLst>
                  <a:cxn ang="0">
                    <a:pos x="33" y="4"/>
                  </a:cxn>
                  <a:cxn ang="0">
                    <a:pos x="33" y="10"/>
                  </a:cxn>
                  <a:cxn ang="0">
                    <a:pos x="22" y="12"/>
                  </a:cxn>
                  <a:cxn ang="0">
                    <a:pos x="24" y="18"/>
                  </a:cxn>
                  <a:cxn ang="0">
                    <a:pos x="0" y="18"/>
                  </a:cxn>
                  <a:cxn ang="0">
                    <a:pos x="9" y="6"/>
                  </a:cxn>
                  <a:cxn ang="0">
                    <a:pos x="9" y="0"/>
                  </a:cxn>
                  <a:cxn ang="0">
                    <a:pos x="23" y="0"/>
                  </a:cxn>
                  <a:cxn ang="0">
                    <a:pos x="19" y="4"/>
                  </a:cxn>
                  <a:cxn ang="0">
                    <a:pos x="33" y="4"/>
                  </a:cxn>
                </a:cxnLst>
                <a:rect l="0" t="0" r="r" b="b"/>
                <a:pathLst>
                  <a:path w="33" h="20">
                    <a:moveTo>
                      <a:pt x="33" y="4"/>
                    </a:moveTo>
                    <a:cubicBezTo>
                      <a:pt x="33" y="8"/>
                      <a:pt x="33" y="8"/>
                      <a:pt x="33" y="10"/>
                    </a:cubicBezTo>
                    <a:cubicBezTo>
                      <a:pt x="30" y="14"/>
                      <a:pt x="26" y="12"/>
                      <a:pt x="22" y="12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9"/>
                      <a:pt x="0" y="20"/>
                      <a:pt x="0" y="18"/>
                    </a:cubicBezTo>
                    <a:cubicBezTo>
                      <a:pt x="0" y="11"/>
                      <a:pt x="3" y="8"/>
                      <a:pt x="9" y="6"/>
                    </a:cubicBezTo>
                    <a:cubicBezTo>
                      <a:pt x="8" y="2"/>
                      <a:pt x="9" y="1"/>
                      <a:pt x="9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2" y="2"/>
                      <a:pt x="20" y="4"/>
                      <a:pt x="19" y="4"/>
                    </a:cubicBezTo>
                    <a:cubicBezTo>
                      <a:pt x="22" y="4"/>
                      <a:pt x="29" y="4"/>
                      <a:pt x="33" y="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71" name="Freeform 161">
                <a:extLst>
                  <a:ext uri="{FF2B5EF4-FFF2-40B4-BE49-F238E27FC236}">
                    <a16:creationId xmlns:a16="http://schemas.microsoft.com/office/drawing/2014/main" id="{4ACF442E-533C-C371-3B8C-180E139031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4950" y="1092200"/>
                <a:ext cx="44450" cy="15875"/>
              </a:xfrm>
              <a:custGeom>
                <a:avLst/>
                <a:gdLst/>
                <a:ahLst/>
                <a:cxnLst>
                  <a:cxn ang="0">
                    <a:pos x="20" y="12"/>
                  </a:cxn>
                  <a:cxn ang="0">
                    <a:pos x="11" y="7"/>
                  </a:cxn>
                  <a:cxn ang="0">
                    <a:pos x="4" y="12"/>
                  </a:cxn>
                  <a:cxn ang="0">
                    <a:pos x="0" y="9"/>
                  </a:cxn>
                  <a:cxn ang="0">
                    <a:pos x="22" y="0"/>
                  </a:cxn>
                  <a:cxn ang="0">
                    <a:pos x="34" y="5"/>
                  </a:cxn>
                  <a:cxn ang="0">
                    <a:pos x="20" y="12"/>
                  </a:cxn>
                </a:cxnLst>
                <a:rect l="0" t="0" r="r" b="b"/>
                <a:pathLst>
                  <a:path w="34" h="12">
                    <a:moveTo>
                      <a:pt x="20" y="12"/>
                    </a:moveTo>
                    <a:cubicBezTo>
                      <a:pt x="17" y="12"/>
                      <a:pt x="14" y="7"/>
                      <a:pt x="11" y="7"/>
                    </a:cubicBezTo>
                    <a:cubicBezTo>
                      <a:pt x="10" y="12"/>
                      <a:pt x="8" y="12"/>
                      <a:pt x="4" y="12"/>
                    </a:cubicBezTo>
                    <a:cubicBezTo>
                      <a:pt x="2" y="12"/>
                      <a:pt x="0" y="10"/>
                      <a:pt x="0" y="9"/>
                    </a:cubicBezTo>
                    <a:cubicBezTo>
                      <a:pt x="0" y="2"/>
                      <a:pt x="17" y="0"/>
                      <a:pt x="22" y="0"/>
                    </a:cubicBezTo>
                    <a:cubicBezTo>
                      <a:pt x="28" y="0"/>
                      <a:pt x="32" y="2"/>
                      <a:pt x="34" y="5"/>
                    </a:cubicBezTo>
                    <a:cubicBezTo>
                      <a:pt x="25" y="5"/>
                      <a:pt x="26" y="12"/>
                      <a:pt x="20" y="1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72" name="Freeform 162">
                <a:extLst>
                  <a:ext uri="{FF2B5EF4-FFF2-40B4-BE49-F238E27FC236}">
                    <a16:creationId xmlns:a16="http://schemas.microsoft.com/office/drawing/2014/main" id="{51D3F6E0-BBCD-8920-307D-DE5AEBBAE2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7963" y="1038225"/>
                <a:ext cx="71438" cy="49213"/>
              </a:xfrm>
              <a:custGeom>
                <a:avLst/>
                <a:gdLst/>
                <a:ahLst/>
                <a:cxnLst>
                  <a:cxn ang="0">
                    <a:pos x="40" y="31"/>
                  </a:cxn>
                  <a:cxn ang="0">
                    <a:pos x="22" y="36"/>
                  </a:cxn>
                  <a:cxn ang="0">
                    <a:pos x="0" y="28"/>
                  </a:cxn>
                  <a:cxn ang="0">
                    <a:pos x="6" y="23"/>
                  </a:cxn>
                  <a:cxn ang="0">
                    <a:pos x="24" y="23"/>
                  </a:cxn>
                  <a:cxn ang="0">
                    <a:pos x="17" y="22"/>
                  </a:cxn>
                  <a:cxn ang="0">
                    <a:pos x="17" y="16"/>
                  </a:cxn>
                  <a:cxn ang="0">
                    <a:pos x="43" y="8"/>
                  </a:cxn>
                  <a:cxn ang="0">
                    <a:pos x="51" y="0"/>
                  </a:cxn>
                  <a:cxn ang="0">
                    <a:pos x="52" y="5"/>
                  </a:cxn>
                  <a:cxn ang="0">
                    <a:pos x="48" y="11"/>
                  </a:cxn>
                  <a:cxn ang="0">
                    <a:pos x="28" y="23"/>
                  </a:cxn>
                  <a:cxn ang="0">
                    <a:pos x="53" y="29"/>
                  </a:cxn>
                  <a:cxn ang="0">
                    <a:pos x="40" y="31"/>
                  </a:cxn>
                </a:cxnLst>
                <a:rect l="0" t="0" r="r" b="b"/>
                <a:pathLst>
                  <a:path w="53" h="36">
                    <a:moveTo>
                      <a:pt x="40" y="31"/>
                    </a:moveTo>
                    <a:cubicBezTo>
                      <a:pt x="34" y="31"/>
                      <a:pt x="27" y="36"/>
                      <a:pt x="22" y="36"/>
                    </a:cubicBezTo>
                    <a:cubicBezTo>
                      <a:pt x="19" y="36"/>
                      <a:pt x="1" y="28"/>
                      <a:pt x="0" y="28"/>
                    </a:cubicBezTo>
                    <a:cubicBezTo>
                      <a:pt x="3" y="26"/>
                      <a:pt x="4" y="25"/>
                      <a:pt x="6" y="23"/>
                    </a:cubicBezTo>
                    <a:cubicBezTo>
                      <a:pt x="24" y="23"/>
                      <a:pt x="24" y="23"/>
                      <a:pt x="24" y="23"/>
                    </a:cubicBezTo>
                    <a:cubicBezTo>
                      <a:pt x="19" y="21"/>
                      <a:pt x="21" y="20"/>
                      <a:pt x="17" y="22"/>
                    </a:cubicBezTo>
                    <a:cubicBezTo>
                      <a:pt x="17" y="16"/>
                      <a:pt x="17" y="16"/>
                      <a:pt x="17" y="16"/>
                    </a:cubicBezTo>
                    <a:cubicBezTo>
                      <a:pt x="30" y="16"/>
                      <a:pt x="30" y="8"/>
                      <a:pt x="43" y="8"/>
                    </a:cubicBezTo>
                    <a:cubicBezTo>
                      <a:pt x="44" y="4"/>
                      <a:pt x="47" y="0"/>
                      <a:pt x="51" y="0"/>
                    </a:cubicBezTo>
                    <a:cubicBezTo>
                      <a:pt x="52" y="0"/>
                      <a:pt x="52" y="4"/>
                      <a:pt x="52" y="5"/>
                    </a:cubicBezTo>
                    <a:cubicBezTo>
                      <a:pt x="50" y="7"/>
                      <a:pt x="48" y="9"/>
                      <a:pt x="48" y="11"/>
                    </a:cubicBezTo>
                    <a:cubicBezTo>
                      <a:pt x="41" y="16"/>
                      <a:pt x="32" y="18"/>
                      <a:pt x="28" y="23"/>
                    </a:cubicBezTo>
                    <a:cubicBezTo>
                      <a:pt x="40" y="24"/>
                      <a:pt x="43" y="25"/>
                      <a:pt x="53" y="29"/>
                    </a:cubicBezTo>
                    <a:cubicBezTo>
                      <a:pt x="49" y="32"/>
                      <a:pt x="45" y="31"/>
                      <a:pt x="40" y="3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73" name="Freeform 172">
                <a:extLst>
                  <a:ext uri="{FF2B5EF4-FFF2-40B4-BE49-F238E27FC236}">
                    <a16:creationId xmlns:a16="http://schemas.microsoft.com/office/drawing/2014/main" id="{040A2AB3-A8AB-FB00-48B5-CCD8D379B2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5438" y="1244600"/>
                <a:ext cx="128588" cy="49213"/>
              </a:xfrm>
              <a:custGeom>
                <a:avLst/>
                <a:gdLst/>
                <a:ahLst/>
                <a:cxnLst>
                  <a:cxn ang="0">
                    <a:pos x="77" y="29"/>
                  </a:cxn>
                  <a:cxn ang="0">
                    <a:pos x="66" y="34"/>
                  </a:cxn>
                  <a:cxn ang="0">
                    <a:pos x="58" y="29"/>
                  </a:cxn>
                  <a:cxn ang="0">
                    <a:pos x="50" y="32"/>
                  </a:cxn>
                  <a:cxn ang="0">
                    <a:pos x="40" y="36"/>
                  </a:cxn>
                  <a:cxn ang="0">
                    <a:pos x="32" y="31"/>
                  </a:cxn>
                  <a:cxn ang="0">
                    <a:pos x="22" y="38"/>
                  </a:cxn>
                  <a:cxn ang="0">
                    <a:pos x="0" y="18"/>
                  </a:cxn>
                  <a:cxn ang="0">
                    <a:pos x="20" y="0"/>
                  </a:cxn>
                  <a:cxn ang="0">
                    <a:pos x="47" y="15"/>
                  </a:cxn>
                  <a:cxn ang="0">
                    <a:pos x="54" y="3"/>
                  </a:cxn>
                  <a:cxn ang="0">
                    <a:pos x="97" y="15"/>
                  </a:cxn>
                  <a:cxn ang="0">
                    <a:pos x="89" y="29"/>
                  </a:cxn>
                  <a:cxn ang="0">
                    <a:pos x="77" y="29"/>
                  </a:cxn>
                </a:cxnLst>
                <a:rect l="0" t="0" r="r" b="b"/>
                <a:pathLst>
                  <a:path w="97" h="38">
                    <a:moveTo>
                      <a:pt x="77" y="29"/>
                    </a:moveTo>
                    <a:cubicBezTo>
                      <a:pt x="74" y="29"/>
                      <a:pt x="72" y="34"/>
                      <a:pt x="66" y="34"/>
                    </a:cubicBezTo>
                    <a:cubicBezTo>
                      <a:pt x="63" y="34"/>
                      <a:pt x="62" y="29"/>
                      <a:pt x="58" y="29"/>
                    </a:cubicBezTo>
                    <a:cubicBezTo>
                      <a:pt x="55" y="29"/>
                      <a:pt x="53" y="32"/>
                      <a:pt x="50" y="32"/>
                    </a:cubicBezTo>
                    <a:cubicBezTo>
                      <a:pt x="47" y="32"/>
                      <a:pt x="44" y="36"/>
                      <a:pt x="40" y="36"/>
                    </a:cubicBezTo>
                    <a:cubicBezTo>
                      <a:pt x="36" y="36"/>
                      <a:pt x="34" y="34"/>
                      <a:pt x="32" y="31"/>
                    </a:cubicBezTo>
                    <a:cubicBezTo>
                      <a:pt x="29" y="34"/>
                      <a:pt x="27" y="38"/>
                      <a:pt x="22" y="38"/>
                    </a:cubicBezTo>
                    <a:cubicBezTo>
                      <a:pt x="11" y="38"/>
                      <a:pt x="0" y="29"/>
                      <a:pt x="0" y="18"/>
                    </a:cubicBezTo>
                    <a:cubicBezTo>
                      <a:pt x="0" y="8"/>
                      <a:pt x="11" y="0"/>
                      <a:pt x="20" y="0"/>
                    </a:cubicBezTo>
                    <a:cubicBezTo>
                      <a:pt x="34" y="0"/>
                      <a:pt x="35" y="15"/>
                      <a:pt x="47" y="15"/>
                    </a:cubicBezTo>
                    <a:cubicBezTo>
                      <a:pt x="47" y="8"/>
                      <a:pt x="49" y="3"/>
                      <a:pt x="54" y="3"/>
                    </a:cubicBezTo>
                    <a:cubicBezTo>
                      <a:pt x="62" y="3"/>
                      <a:pt x="88" y="12"/>
                      <a:pt x="97" y="15"/>
                    </a:cubicBezTo>
                    <a:cubicBezTo>
                      <a:pt x="95" y="21"/>
                      <a:pt x="89" y="26"/>
                      <a:pt x="89" y="29"/>
                    </a:cubicBezTo>
                    <a:lnTo>
                      <a:pt x="77" y="2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74" name="Freeform 173">
                <a:extLst>
                  <a:ext uri="{FF2B5EF4-FFF2-40B4-BE49-F238E27FC236}">
                    <a16:creationId xmlns:a16="http://schemas.microsoft.com/office/drawing/2014/main" id="{3D768343-1F9A-C690-6DF6-5D5A048C97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4425" y="2252663"/>
                <a:ext cx="34925" cy="17463"/>
              </a:xfrm>
              <a:custGeom>
                <a:avLst/>
                <a:gdLst/>
                <a:ahLst/>
                <a:cxnLst>
                  <a:cxn ang="0">
                    <a:pos x="5" y="13"/>
                  </a:cxn>
                  <a:cxn ang="0">
                    <a:pos x="2" y="11"/>
                  </a:cxn>
                  <a:cxn ang="0">
                    <a:pos x="0" y="9"/>
                  </a:cxn>
                  <a:cxn ang="0">
                    <a:pos x="26" y="0"/>
                  </a:cxn>
                  <a:cxn ang="0">
                    <a:pos x="20" y="4"/>
                  </a:cxn>
                  <a:cxn ang="0">
                    <a:pos x="19" y="8"/>
                  </a:cxn>
                  <a:cxn ang="0">
                    <a:pos x="5" y="13"/>
                  </a:cxn>
                </a:cxnLst>
                <a:rect l="0" t="0" r="r" b="b"/>
                <a:pathLst>
                  <a:path w="26" h="13">
                    <a:moveTo>
                      <a:pt x="5" y="13"/>
                    </a:moveTo>
                    <a:cubicBezTo>
                      <a:pt x="4" y="13"/>
                      <a:pt x="2" y="12"/>
                      <a:pt x="2" y="11"/>
                    </a:cubicBezTo>
                    <a:cubicBezTo>
                      <a:pt x="1" y="11"/>
                      <a:pt x="0" y="9"/>
                      <a:pt x="0" y="9"/>
                    </a:cubicBezTo>
                    <a:cubicBezTo>
                      <a:pt x="7" y="6"/>
                      <a:pt x="18" y="1"/>
                      <a:pt x="26" y="0"/>
                    </a:cubicBezTo>
                    <a:cubicBezTo>
                      <a:pt x="25" y="4"/>
                      <a:pt x="22" y="2"/>
                      <a:pt x="20" y="4"/>
                    </a:cubicBezTo>
                    <a:cubicBezTo>
                      <a:pt x="18" y="4"/>
                      <a:pt x="19" y="7"/>
                      <a:pt x="19" y="8"/>
                    </a:cubicBezTo>
                    <a:cubicBezTo>
                      <a:pt x="18" y="11"/>
                      <a:pt x="9" y="13"/>
                      <a:pt x="5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4AB8C7C5-A651-6810-870B-CD4E26E82C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83188" y="1463675"/>
                <a:ext cx="34925" cy="25400"/>
              </a:xfrm>
              <a:custGeom>
                <a:avLst/>
                <a:gdLst/>
                <a:ahLst/>
                <a:cxnLst>
                  <a:cxn ang="0">
                    <a:pos x="5" y="4"/>
                  </a:cxn>
                  <a:cxn ang="0">
                    <a:pos x="11" y="0"/>
                  </a:cxn>
                  <a:cxn ang="0">
                    <a:pos x="26" y="6"/>
                  </a:cxn>
                  <a:cxn ang="0">
                    <a:pos x="26" y="12"/>
                  </a:cxn>
                  <a:cxn ang="0">
                    <a:pos x="8" y="19"/>
                  </a:cxn>
                  <a:cxn ang="0">
                    <a:pos x="0" y="14"/>
                  </a:cxn>
                  <a:cxn ang="0">
                    <a:pos x="5" y="4"/>
                  </a:cxn>
                </a:cxnLst>
                <a:rect l="0" t="0" r="r" b="b"/>
                <a:pathLst>
                  <a:path w="26" h="19">
                    <a:moveTo>
                      <a:pt x="5" y="4"/>
                    </a:moveTo>
                    <a:cubicBezTo>
                      <a:pt x="8" y="4"/>
                      <a:pt x="8" y="0"/>
                      <a:pt x="11" y="0"/>
                    </a:cubicBezTo>
                    <a:cubicBezTo>
                      <a:pt x="17" y="0"/>
                      <a:pt x="20" y="5"/>
                      <a:pt x="26" y="6"/>
                    </a:cubicBezTo>
                    <a:cubicBezTo>
                      <a:pt x="26" y="12"/>
                      <a:pt x="26" y="12"/>
                      <a:pt x="26" y="12"/>
                    </a:cubicBezTo>
                    <a:cubicBezTo>
                      <a:pt x="20" y="15"/>
                      <a:pt x="15" y="19"/>
                      <a:pt x="8" y="19"/>
                    </a:cubicBezTo>
                    <a:cubicBezTo>
                      <a:pt x="2" y="19"/>
                      <a:pt x="0" y="19"/>
                      <a:pt x="0" y="14"/>
                    </a:cubicBezTo>
                    <a:cubicBezTo>
                      <a:pt x="0" y="12"/>
                      <a:pt x="4" y="4"/>
                      <a:pt x="5" y="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C5AF809E-C767-16D2-FD19-0A2E162397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9400" y="1433513"/>
                <a:ext cx="26988" cy="25400"/>
              </a:xfrm>
              <a:custGeom>
                <a:avLst/>
                <a:gdLst/>
                <a:ahLst/>
                <a:cxnLst>
                  <a:cxn ang="0">
                    <a:pos x="21" y="17"/>
                  </a:cxn>
                  <a:cxn ang="0">
                    <a:pos x="15" y="19"/>
                  </a:cxn>
                  <a:cxn ang="0">
                    <a:pos x="0" y="8"/>
                  </a:cxn>
                  <a:cxn ang="0">
                    <a:pos x="21" y="17"/>
                  </a:cxn>
                </a:cxnLst>
                <a:rect l="0" t="0" r="r" b="b"/>
                <a:pathLst>
                  <a:path w="21" h="20">
                    <a:moveTo>
                      <a:pt x="21" y="17"/>
                    </a:moveTo>
                    <a:cubicBezTo>
                      <a:pt x="21" y="20"/>
                      <a:pt x="15" y="19"/>
                      <a:pt x="15" y="19"/>
                    </a:cubicBezTo>
                    <a:cubicBezTo>
                      <a:pt x="10" y="19"/>
                      <a:pt x="0" y="14"/>
                      <a:pt x="0" y="8"/>
                    </a:cubicBezTo>
                    <a:cubicBezTo>
                      <a:pt x="0" y="0"/>
                      <a:pt x="21" y="8"/>
                      <a:pt x="21" y="1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69371C8B-0EDB-731E-2538-5EA74DB181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9900" y="1338263"/>
                <a:ext cx="25400" cy="17463"/>
              </a:xfrm>
              <a:custGeom>
                <a:avLst/>
                <a:gdLst/>
                <a:ahLst/>
                <a:cxnLst>
                  <a:cxn ang="0">
                    <a:pos x="2" y="13"/>
                  </a:cxn>
                  <a:cxn ang="0">
                    <a:pos x="19" y="8"/>
                  </a:cxn>
                  <a:cxn ang="0">
                    <a:pos x="8" y="0"/>
                  </a:cxn>
                  <a:cxn ang="0">
                    <a:pos x="2" y="9"/>
                  </a:cxn>
                  <a:cxn ang="0">
                    <a:pos x="2" y="13"/>
                  </a:cxn>
                </a:cxnLst>
                <a:rect l="0" t="0" r="r" b="b"/>
                <a:pathLst>
                  <a:path w="19" h="13">
                    <a:moveTo>
                      <a:pt x="2" y="13"/>
                    </a:moveTo>
                    <a:cubicBezTo>
                      <a:pt x="7" y="13"/>
                      <a:pt x="17" y="10"/>
                      <a:pt x="19" y="8"/>
                    </a:cubicBezTo>
                    <a:cubicBezTo>
                      <a:pt x="15" y="5"/>
                      <a:pt x="13" y="0"/>
                      <a:pt x="8" y="0"/>
                    </a:cubicBezTo>
                    <a:cubicBezTo>
                      <a:pt x="4" y="0"/>
                      <a:pt x="2" y="5"/>
                      <a:pt x="2" y="9"/>
                    </a:cubicBezTo>
                    <a:cubicBezTo>
                      <a:pt x="2" y="10"/>
                      <a:pt x="0" y="13"/>
                      <a:pt x="2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685B8404-D656-1971-5365-4C1C2E4765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7825" y="1320800"/>
                <a:ext cx="53975" cy="22225"/>
              </a:xfrm>
              <a:custGeom>
                <a:avLst/>
                <a:gdLst/>
                <a:ahLst/>
                <a:cxnLst>
                  <a:cxn ang="0">
                    <a:pos x="0" y="13"/>
                  </a:cxn>
                  <a:cxn ang="0">
                    <a:pos x="21" y="0"/>
                  </a:cxn>
                  <a:cxn ang="0">
                    <a:pos x="41" y="17"/>
                  </a:cxn>
                  <a:cxn ang="0">
                    <a:pos x="28" y="17"/>
                  </a:cxn>
                  <a:cxn ang="0">
                    <a:pos x="2" y="11"/>
                  </a:cxn>
                  <a:cxn ang="0">
                    <a:pos x="0" y="13"/>
                  </a:cxn>
                </a:cxnLst>
                <a:rect l="0" t="0" r="r" b="b"/>
                <a:pathLst>
                  <a:path w="41" h="17">
                    <a:moveTo>
                      <a:pt x="0" y="13"/>
                    </a:moveTo>
                    <a:cubicBezTo>
                      <a:pt x="5" y="6"/>
                      <a:pt x="11" y="0"/>
                      <a:pt x="21" y="0"/>
                    </a:cubicBezTo>
                    <a:cubicBezTo>
                      <a:pt x="32" y="0"/>
                      <a:pt x="41" y="7"/>
                      <a:pt x="41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0" y="13"/>
                      <a:pt x="10" y="14"/>
                      <a:pt x="2" y="11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79" name="Freeform 178">
                <a:extLst>
                  <a:ext uri="{FF2B5EF4-FFF2-40B4-BE49-F238E27FC236}">
                    <a16:creationId xmlns:a16="http://schemas.microsoft.com/office/drawing/2014/main" id="{DE4B2671-A265-AC0B-80A0-D986C84C93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32600" y="1266825"/>
                <a:ext cx="74613" cy="269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2" y="9"/>
                  </a:cxn>
                  <a:cxn ang="0">
                    <a:pos x="56" y="13"/>
                  </a:cxn>
                  <a:cxn ang="0">
                    <a:pos x="37" y="20"/>
                  </a:cxn>
                  <a:cxn ang="0">
                    <a:pos x="4" y="3"/>
                  </a:cxn>
                  <a:cxn ang="0">
                    <a:pos x="0" y="0"/>
                  </a:cxn>
                </a:cxnLst>
                <a:rect l="0" t="0" r="r" b="b"/>
                <a:pathLst>
                  <a:path w="56" h="20">
                    <a:moveTo>
                      <a:pt x="0" y="0"/>
                    </a:moveTo>
                    <a:cubicBezTo>
                      <a:pt x="4" y="3"/>
                      <a:pt x="50" y="9"/>
                      <a:pt x="52" y="9"/>
                    </a:cubicBezTo>
                    <a:cubicBezTo>
                      <a:pt x="55" y="9"/>
                      <a:pt x="56" y="11"/>
                      <a:pt x="56" y="13"/>
                    </a:cubicBezTo>
                    <a:cubicBezTo>
                      <a:pt x="56" y="18"/>
                      <a:pt x="44" y="20"/>
                      <a:pt x="37" y="20"/>
                    </a:cubicBezTo>
                    <a:cubicBezTo>
                      <a:pt x="25" y="20"/>
                      <a:pt x="4" y="14"/>
                      <a:pt x="4" y="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ABAA7E5A-7732-2EFF-D116-B7B64B9A9D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6238" y="1303338"/>
                <a:ext cx="15875" cy="17463"/>
              </a:xfrm>
              <a:custGeom>
                <a:avLst/>
                <a:gdLst/>
                <a:ahLst/>
                <a:cxnLst>
                  <a:cxn ang="0">
                    <a:pos x="12" y="7"/>
                  </a:cxn>
                  <a:cxn ang="0">
                    <a:pos x="5" y="13"/>
                  </a:cxn>
                  <a:cxn ang="0">
                    <a:pos x="0" y="7"/>
                  </a:cxn>
                  <a:cxn ang="0">
                    <a:pos x="12" y="7"/>
                  </a:cxn>
                </a:cxnLst>
                <a:rect l="0" t="0" r="r" b="b"/>
                <a:pathLst>
                  <a:path w="12" h="13">
                    <a:moveTo>
                      <a:pt x="12" y="7"/>
                    </a:moveTo>
                    <a:cubicBezTo>
                      <a:pt x="12" y="11"/>
                      <a:pt x="8" y="13"/>
                      <a:pt x="5" y="13"/>
                    </a:cubicBezTo>
                    <a:cubicBezTo>
                      <a:pt x="0" y="13"/>
                      <a:pt x="0" y="11"/>
                      <a:pt x="0" y="7"/>
                    </a:cubicBezTo>
                    <a:cubicBezTo>
                      <a:pt x="0" y="0"/>
                      <a:pt x="12" y="1"/>
                      <a:pt x="12" y="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lIns="148590" tIns="74296" rIns="148590" bIns="74296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49" name="Group 924">
              <a:extLst>
                <a:ext uri="{FF2B5EF4-FFF2-40B4-BE49-F238E27FC236}">
                  <a16:creationId xmlns:a16="http://schemas.microsoft.com/office/drawing/2014/main" id="{535A3D09-FA9A-7A3B-B892-52A5C485DF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14194" y="2575939"/>
              <a:ext cx="167546" cy="303346"/>
              <a:chOff x="4461097" y="3661645"/>
              <a:chExt cx="146408" cy="263638"/>
            </a:xfrm>
            <a:solidFill>
              <a:srgbClr val="3F74A2"/>
            </a:solidFill>
          </p:grpSpPr>
          <p:pic>
            <p:nvPicPr>
              <p:cNvPr id="112" name="Picture 925">
                <a:extLst>
                  <a:ext uri="{FF2B5EF4-FFF2-40B4-BE49-F238E27FC236}">
                    <a16:creationId xmlns:a16="http://schemas.microsoft.com/office/drawing/2014/main" id="{6712F630-7630-1C1F-E7A1-2E8CCA0FE61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00770" y="3882607"/>
                <a:ext cx="67062" cy="4267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3" name="Graphic 9" descr="Marker">
                <a:extLst>
                  <a:ext uri="{FF2B5EF4-FFF2-40B4-BE49-F238E27FC236}">
                    <a16:creationId xmlns:a16="http://schemas.microsoft.com/office/drawing/2014/main" id="{8C60A580-E1E3-48B4-3C74-7F73068225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1097" y="3661645"/>
                <a:ext cx="146408" cy="237818"/>
              </a:xfrm>
              <a:custGeom>
                <a:avLst/>
                <a:gdLst>
                  <a:gd name="T0" fmla="*/ 73204 w 146408"/>
                  <a:gd name="T1" fmla="*/ 104920 h 237818"/>
                  <a:gd name="T2" fmla="*/ 41728 w 146408"/>
                  <a:gd name="T3" fmla="*/ 73444 h 237818"/>
                  <a:gd name="T4" fmla="*/ 73204 w 146408"/>
                  <a:gd name="T5" fmla="*/ 41968 h 237818"/>
                  <a:gd name="T6" fmla="*/ 104680 w 146408"/>
                  <a:gd name="T7" fmla="*/ 73444 h 237818"/>
                  <a:gd name="T8" fmla="*/ 73204 w 146408"/>
                  <a:gd name="T9" fmla="*/ 104920 h 237818"/>
                  <a:gd name="T10" fmla="*/ 73204 w 146408"/>
                  <a:gd name="T11" fmla="*/ 0 h 237818"/>
                  <a:gd name="T12" fmla="*/ 12701 w 146408"/>
                  <a:gd name="T13" fmla="*/ 32175 h 237818"/>
                  <a:gd name="T14" fmla="*/ 5006 w 146408"/>
                  <a:gd name="T15" fmla="*/ 100373 h 237818"/>
                  <a:gd name="T16" fmla="*/ 38231 w 146408"/>
                  <a:gd name="T17" fmla="*/ 173817 h 237818"/>
                  <a:gd name="T18" fmla="*/ 66909 w 146408"/>
                  <a:gd name="T19" fmla="*/ 233972 h 237818"/>
                  <a:gd name="T20" fmla="*/ 73204 w 146408"/>
                  <a:gd name="T21" fmla="*/ 237819 h 237818"/>
                  <a:gd name="T22" fmla="*/ 79500 w 146408"/>
                  <a:gd name="T23" fmla="*/ 233972 h 237818"/>
                  <a:gd name="T24" fmla="*/ 108178 w 146408"/>
                  <a:gd name="T25" fmla="*/ 173817 h 237818"/>
                  <a:gd name="T26" fmla="*/ 141402 w 146408"/>
                  <a:gd name="T27" fmla="*/ 100373 h 237818"/>
                  <a:gd name="T28" fmla="*/ 133708 w 146408"/>
                  <a:gd name="T29" fmla="*/ 32175 h 237818"/>
                  <a:gd name="T30" fmla="*/ 73204 w 146408"/>
                  <a:gd name="T31" fmla="*/ 0 h 23781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46408" h="237818">
                    <a:moveTo>
                      <a:pt x="73204" y="104920"/>
                    </a:moveTo>
                    <a:cubicBezTo>
                      <a:pt x="55718" y="104920"/>
                      <a:pt x="41728" y="90931"/>
                      <a:pt x="41728" y="73444"/>
                    </a:cubicBezTo>
                    <a:cubicBezTo>
                      <a:pt x="41728" y="55957"/>
                      <a:pt x="55718" y="41968"/>
                      <a:pt x="73204" y="41968"/>
                    </a:cubicBezTo>
                    <a:cubicBezTo>
                      <a:pt x="90691" y="41968"/>
                      <a:pt x="104680" y="55957"/>
                      <a:pt x="104680" y="73444"/>
                    </a:cubicBezTo>
                    <a:cubicBezTo>
                      <a:pt x="104680" y="90931"/>
                      <a:pt x="90691" y="104920"/>
                      <a:pt x="73204" y="104920"/>
                    </a:cubicBezTo>
                    <a:close/>
                    <a:moveTo>
                      <a:pt x="73204" y="0"/>
                    </a:moveTo>
                    <a:cubicBezTo>
                      <a:pt x="49073" y="0"/>
                      <a:pt x="26340" y="11891"/>
                      <a:pt x="12701" y="32175"/>
                    </a:cubicBezTo>
                    <a:cubicBezTo>
                      <a:pt x="-939" y="52110"/>
                      <a:pt x="-3737" y="77641"/>
                      <a:pt x="5006" y="100373"/>
                    </a:cubicBezTo>
                    <a:lnTo>
                      <a:pt x="38231" y="173817"/>
                    </a:lnTo>
                    <a:lnTo>
                      <a:pt x="66909" y="233972"/>
                    </a:lnTo>
                    <a:cubicBezTo>
                      <a:pt x="67958" y="236420"/>
                      <a:pt x="70407" y="237819"/>
                      <a:pt x="73204" y="237819"/>
                    </a:cubicBezTo>
                    <a:cubicBezTo>
                      <a:pt x="76002" y="237819"/>
                      <a:pt x="78450" y="236420"/>
                      <a:pt x="79500" y="233972"/>
                    </a:cubicBezTo>
                    <a:lnTo>
                      <a:pt x="108178" y="173817"/>
                    </a:lnTo>
                    <a:lnTo>
                      <a:pt x="141402" y="100373"/>
                    </a:lnTo>
                    <a:cubicBezTo>
                      <a:pt x="150146" y="77641"/>
                      <a:pt x="147348" y="52110"/>
                      <a:pt x="133708" y="32175"/>
                    </a:cubicBezTo>
                    <a:cubicBezTo>
                      <a:pt x="120069" y="11891"/>
                      <a:pt x="97336" y="0"/>
                      <a:pt x="732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3473" cap="flat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281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50" name="Group 927">
              <a:extLst>
                <a:ext uri="{FF2B5EF4-FFF2-40B4-BE49-F238E27FC236}">
                  <a16:creationId xmlns:a16="http://schemas.microsoft.com/office/drawing/2014/main" id="{8F259948-C099-A8B9-40CC-F34DD6A144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13055" y="3106762"/>
              <a:ext cx="167545" cy="301582"/>
              <a:chOff x="4461097" y="3661645"/>
              <a:chExt cx="146408" cy="263638"/>
            </a:xfrm>
            <a:solidFill>
              <a:srgbClr val="3F74A2"/>
            </a:solidFill>
          </p:grpSpPr>
          <p:pic>
            <p:nvPicPr>
              <p:cNvPr id="110" name="Picture 928">
                <a:extLst>
                  <a:ext uri="{FF2B5EF4-FFF2-40B4-BE49-F238E27FC236}">
                    <a16:creationId xmlns:a16="http://schemas.microsoft.com/office/drawing/2014/main" id="{0D5B2BF9-920D-DB56-9A1E-5477D4F7ED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00770" y="3882607"/>
                <a:ext cx="67062" cy="4267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1" name="Graphic 9" descr="Marker">
                <a:extLst>
                  <a:ext uri="{FF2B5EF4-FFF2-40B4-BE49-F238E27FC236}">
                    <a16:creationId xmlns:a16="http://schemas.microsoft.com/office/drawing/2014/main" id="{D921EC47-5C02-883A-5FC3-131E3B2C4B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1097" y="3661645"/>
                <a:ext cx="146408" cy="237818"/>
              </a:xfrm>
              <a:custGeom>
                <a:avLst/>
                <a:gdLst>
                  <a:gd name="T0" fmla="*/ 73204 w 146408"/>
                  <a:gd name="T1" fmla="*/ 104920 h 237818"/>
                  <a:gd name="T2" fmla="*/ 41728 w 146408"/>
                  <a:gd name="T3" fmla="*/ 73444 h 237818"/>
                  <a:gd name="T4" fmla="*/ 73204 w 146408"/>
                  <a:gd name="T5" fmla="*/ 41968 h 237818"/>
                  <a:gd name="T6" fmla="*/ 104680 w 146408"/>
                  <a:gd name="T7" fmla="*/ 73444 h 237818"/>
                  <a:gd name="T8" fmla="*/ 73204 w 146408"/>
                  <a:gd name="T9" fmla="*/ 104920 h 237818"/>
                  <a:gd name="T10" fmla="*/ 73204 w 146408"/>
                  <a:gd name="T11" fmla="*/ 0 h 237818"/>
                  <a:gd name="T12" fmla="*/ 12701 w 146408"/>
                  <a:gd name="T13" fmla="*/ 32175 h 237818"/>
                  <a:gd name="T14" fmla="*/ 5006 w 146408"/>
                  <a:gd name="T15" fmla="*/ 100373 h 237818"/>
                  <a:gd name="T16" fmla="*/ 38231 w 146408"/>
                  <a:gd name="T17" fmla="*/ 173817 h 237818"/>
                  <a:gd name="T18" fmla="*/ 66909 w 146408"/>
                  <a:gd name="T19" fmla="*/ 233972 h 237818"/>
                  <a:gd name="T20" fmla="*/ 73204 w 146408"/>
                  <a:gd name="T21" fmla="*/ 237819 h 237818"/>
                  <a:gd name="T22" fmla="*/ 79500 w 146408"/>
                  <a:gd name="T23" fmla="*/ 233972 h 237818"/>
                  <a:gd name="T24" fmla="*/ 108178 w 146408"/>
                  <a:gd name="T25" fmla="*/ 173817 h 237818"/>
                  <a:gd name="T26" fmla="*/ 141402 w 146408"/>
                  <a:gd name="T27" fmla="*/ 100373 h 237818"/>
                  <a:gd name="T28" fmla="*/ 133708 w 146408"/>
                  <a:gd name="T29" fmla="*/ 32175 h 237818"/>
                  <a:gd name="T30" fmla="*/ 73204 w 146408"/>
                  <a:gd name="T31" fmla="*/ 0 h 23781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46408" h="237818">
                    <a:moveTo>
                      <a:pt x="73204" y="104920"/>
                    </a:moveTo>
                    <a:cubicBezTo>
                      <a:pt x="55718" y="104920"/>
                      <a:pt x="41728" y="90931"/>
                      <a:pt x="41728" y="73444"/>
                    </a:cubicBezTo>
                    <a:cubicBezTo>
                      <a:pt x="41728" y="55957"/>
                      <a:pt x="55718" y="41968"/>
                      <a:pt x="73204" y="41968"/>
                    </a:cubicBezTo>
                    <a:cubicBezTo>
                      <a:pt x="90691" y="41968"/>
                      <a:pt x="104680" y="55957"/>
                      <a:pt x="104680" y="73444"/>
                    </a:cubicBezTo>
                    <a:cubicBezTo>
                      <a:pt x="104680" y="90931"/>
                      <a:pt x="90691" y="104920"/>
                      <a:pt x="73204" y="104920"/>
                    </a:cubicBezTo>
                    <a:close/>
                    <a:moveTo>
                      <a:pt x="73204" y="0"/>
                    </a:moveTo>
                    <a:cubicBezTo>
                      <a:pt x="49073" y="0"/>
                      <a:pt x="26340" y="11891"/>
                      <a:pt x="12701" y="32175"/>
                    </a:cubicBezTo>
                    <a:cubicBezTo>
                      <a:pt x="-939" y="52110"/>
                      <a:pt x="-3737" y="77641"/>
                      <a:pt x="5006" y="100373"/>
                    </a:cubicBezTo>
                    <a:lnTo>
                      <a:pt x="38231" y="173817"/>
                    </a:lnTo>
                    <a:lnTo>
                      <a:pt x="66909" y="233972"/>
                    </a:lnTo>
                    <a:cubicBezTo>
                      <a:pt x="67958" y="236420"/>
                      <a:pt x="70407" y="237819"/>
                      <a:pt x="73204" y="237819"/>
                    </a:cubicBezTo>
                    <a:cubicBezTo>
                      <a:pt x="76002" y="237819"/>
                      <a:pt x="78450" y="236420"/>
                      <a:pt x="79500" y="233972"/>
                    </a:cubicBezTo>
                    <a:lnTo>
                      <a:pt x="108178" y="173817"/>
                    </a:lnTo>
                    <a:lnTo>
                      <a:pt x="141402" y="100373"/>
                    </a:lnTo>
                    <a:cubicBezTo>
                      <a:pt x="150146" y="77641"/>
                      <a:pt x="147348" y="52110"/>
                      <a:pt x="133708" y="32175"/>
                    </a:cubicBezTo>
                    <a:cubicBezTo>
                      <a:pt x="120069" y="11891"/>
                      <a:pt x="97336" y="0"/>
                      <a:pt x="732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3473" cap="flat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281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51" name="Group 930">
              <a:extLst>
                <a:ext uri="{FF2B5EF4-FFF2-40B4-BE49-F238E27FC236}">
                  <a16:creationId xmlns:a16="http://schemas.microsoft.com/office/drawing/2014/main" id="{1191D025-34DA-EB35-A3B7-FB3382DDC3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77816" y="3360759"/>
              <a:ext cx="167545" cy="301582"/>
              <a:chOff x="4461097" y="3661645"/>
              <a:chExt cx="146408" cy="263638"/>
            </a:xfrm>
            <a:solidFill>
              <a:srgbClr val="3F74A2"/>
            </a:solidFill>
          </p:grpSpPr>
          <p:pic>
            <p:nvPicPr>
              <p:cNvPr id="108" name="Picture 931">
                <a:extLst>
                  <a:ext uri="{FF2B5EF4-FFF2-40B4-BE49-F238E27FC236}">
                    <a16:creationId xmlns:a16="http://schemas.microsoft.com/office/drawing/2014/main" id="{60C051E8-6DED-2563-AB4F-5554911737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00770" y="3882607"/>
                <a:ext cx="67062" cy="4267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9" name="Graphic 9" descr="Marker">
                <a:extLst>
                  <a:ext uri="{FF2B5EF4-FFF2-40B4-BE49-F238E27FC236}">
                    <a16:creationId xmlns:a16="http://schemas.microsoft.com/office/drawing/2014/main" id="{CB809B9F-DBBA-6EB4-9258-D660879870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1097" y="3661645"/>
                <a:ext cx="146408" cy="237818"/>
              </a:xfrm>
              <a:custGeom>
                <a:avLst/>
                <a:gdLst>
                  <a:gd name="T0" fmla="*/ 73204 w 146408"/>
                  <a:gd name="T1" fmla="*/ 104920 h 237818"/>
                  <a:gd name="T2" fmla="*/ 41728 w 146408"/>
                  <a:gd name="T3" fmla="*/ 73444 h 237818"/>
                  <a:gd name="T4" fmla="*/ 73204 w 146408"/>
                  <a:gd name="T5" fmla="*/ 41968 h 237818"/>
                  <a:gd name="T6" fmla="*/ 104680 w 146408"/>
                  <a:gd name="T7" fmla="*/ 73444 h 237818"/>
                  <a:gd name="T8" fmla="*/ 73204 w 146408"/>
                  <a:gd name="T9" fmla="*/ 104920 h 237818"/>
                  <a:gd name="T10" fmla="*/ 73204 w 146408"/>
                  <a:gd name="T11" fmla="*/ 0 h 237818"/>
                  <a:gd name="T12" fmla="*/ 12701 w 146408"/>
                  <a:gd name="T13" fmla="*/ 32175 h 237818"/>
                  <a:gd name="T14" fmla="*/ 5006 w 146408"/>
                  <a:gd name="T15" fmla="*/ 100373 h 237818"/>
                  <a:gd name="T16" fmla="*/ 38231 w 146408"/>
                  <a:gd name="T17" fmla="*/ 173817 h 237818"/>
                  <a:gd name="T18" fmla="*/ 66909 w 146408"/>
                  <a:gd name="T19" fmla="*/ 233972 h 237818"/>
                  <a:gd name="T20" fmla="*/ 73204 w 146408"/>
                  <a:gd name="T21" fmla="*/ 237819 h 237818"/>
                  <a:gd name="T22" fmla="*/ 79500 w 146408"/>
                  <a:gd name="T23" fmla="*/ 233972 h 237818"/>
                  <a:gd name="T24" fmla="*/ 108178 w 146408"/>
                  <a:gd name="T25" fmla="*/ 173817 h 237818"/>
                  <a:gd name="T26" fmla="*/ 141402 w 146408"/>
                  <a:gd name="T27" fmla="*/ 100373 h 237818"/>
                  <a:gd name="T28" fmla="*/ 133708 w 146408"/>
                  <a:gd name="T29" fmla="*/ 32175 h 237818"/>
                  <a:gd name="T30" fmla="*/ 73204 w 146408"/>
                  <a:gd name="T31" fmla="*/ 0 h 23781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46408" h="237818">
                    <a:moveTo>
                      <a:pt x="73204" y="104920"/>
                    </a:moveTo>
                    <a:cubicBezTo>
                      <a:pt x="55718" y="104920"/>
                      <a:pt x="41728" y="90931"/>
                      <a:pt x="41728" y="73444"/>
                    </a:cubicBezTo>
                    <a:cubicBezTo>
                      <a:pt x="41728" y="55957"/>
                      <a:pt x="55718" y="41968"/>
                      <a:pt x="73204" y="41968"/>
                    </a:cubicBezTo>
                    <a:cubicBezTo>
                      <a:pt x="90691" y="41968"/>
                      <a:pt x="104680" y="55957"/>
                      <a:pt x="104680" y="73444"/>
                    </a:cubicBezTo>
                    <a:cubicBezTo>
                      <a:pt x="104680" y="90931"/>
                      <a:pt x="90691" y="104920"/>
                      <a:pt x="73204" y="104920"/>
                    </a:cubicBezTo>
                    <a:close/>
                    <a:moveTo>
                      <a:pt x="73204" y="0"/>
                    </a:moveTo>
                    <a:cubicBezTo>
                      <a:pt x="49073" y="0"/>
                      <a:pt x="26340" y="11891"/>
                      <a:pt x="12701" y="32175"/>
                    </a:cubicBezTo>
                    <a:cubicBezTo>
                      <a:pt x="-939" y="52110"/>
                      <a:pt x="-3737" y="77641"/>
                      <a:pt x="5006" y="100373"/>
                    </a:cubicBezTo>
                    <a:lnTo>
                      <a:pt x="38231" y="173817"/>
                    </a:lnTo>
                    <a:lnTo>
                      <a:pt x="66909" y="233972"/>
                    </a:lnTo>
                    <a:cubicBezTo>
                      <a:pt x="67958" y="236420"/>
                      <a:pt x="70407" y="237819"/>
                      <a:pt x="73204" y="237819"/>
                    </a:cubicBezTo>
                    <a:cubicBezTo>
                      <a:pt x="76002" y="237819"/>
                      <a:pt x="78450" y="236420"/>
                      <a:pt x="79500" y="233972"/>
                    </a:cubicBezTo>
                    <a:lnTo>
                      <a:pt x="108178" y="173817"/>
                    </a:lnTo>
                    <a:lnTo>
                      <a:pt x="141402" y="100373"/>
                    </a:lnTo>
                    <a:cubicBezTo>
                      <a:pt x="150146" y="77641"/>
                      <a:pt x="147348" y="52110"/>
                      <a:pt x="133708" y="32175"/>
                    </a:cubicBezTo>
                    <a:cubicBezTo>
                      <a:pt x="120069" y="11891"/>
                      <a:pt x="97336" y="0"/>
                      <a:pt x="732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3473" cap="flat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281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52" name="Group 933">
              <a:extLst>
                <a:ext uri="{FF2B5EF4-FFF2-40B4-BE49-F238E27FC236}">
                  <a16:creationId xmlns:a16="http://schemas.microsoft.com/office/drawing/2014/main" id="{6BD02E7B-E975-7248-F2A5-51FBCA1B7E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62487" y="2549485"/>
              <a:ext cx="167546" cy="301582"/>
              <a:chOff x="4461097" y="3661645"/>
              <a:chExt cx="146408" cy="263638"/>
            </a:xfrm>
            <a:solidFill>
              <a:srgbClr val="3F74A2"/>
            </a:solidFill>
          </p:grpSpPr>
          <p:pic>
            <p:nvPicPr>
              <p:cNvPr id="106" name="Picture 934">
                <a:extLst>
                  <a:ext uri="{FF2B5EF4-FFF2-40B4-BE49-F238E27FC236}">
                    <a16:creationId xmlns:a16="http://schemas.microsoft.com/office/drawing/2014/main" id="{DA2EEF2D-34BC-5C53-C64A-4807A2B2C61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00770" y="3882607"/>
                <a:ext cx="67062" cy="4267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7" name="Graphic 9" descr="Marker">
                <a:extLst>
                  <a:ext uri="{FF2B5EF4-FFF2-40B4-BE49-F238E27FC236}">
                    <a16:creationId xmlns:a16="http://schemas.microsoft.com/office/drawing/2014/main" id="{946AD7E7-9549-35AB-5E12-9076673FE0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1097" y="3661645"/>
                <a:ext cx="146408" cy="237818"/>
              </a:xfrm>
              <a:custGeom>
                <a:avLst/>
                <a:gdLst>
                  <a:gd name="T0" fmla="*/ 73204 w 146408"/>
                  <a:gd name="T1" fmla="*/ 104920 h 237818"/>
                  <a:gd name="T2" fmla="*/ 41728 w 146408"/>
                  <a:gd name="T3" fmla="*/ 73444 h 237818"/>
                  <a:gd name="T4" fmla="*/ 73204 w 146408"/>
                  <a:gd name="T5" fmla="*/ 41968 h 237818"/>
                  <a:gd name="T6" fmla="*/ 104680 w 146408"/>
                  <a:gd name="T7" fmla="*/ 73444 h 237818"/>
                  <a:gd name="T8" fmla="*/ 73204 w 146408"/>
                  <a:gd name="T9" fmla="*/ 104920 h 237818"/>
                  <a:gd name="T10" fmla="*/ 73204 w 146408"/>
                  <a:gd name="T11" fmla="*/ 0 h 237818"/>
                  <a:gd name="T12" fmla="*/ 12701 w 146408"/>
                  <a:gd name="T13" fmla="*/ 32175 h 237818"/>
                  <a:gd name="T14" fmla="*/ 5006 w 146408"/>
                  <a:gd name="T15" fmla="*/ 100373 h 237818"/>
                  <a:gd name="T16" fmla="*/ 38231 w 146408"/>
                  <a:gd name="T17" fmla="*/ 173817 h 237818"/>
                  <a:gd name="T18" fmla="*/ 66909 w 146408"/>
                  <a:gd name="T19" fmla="*/ 233972 h 237818"/>
                  <a:gd name="T20" fmla="*/ 73204 w 146408"/>
                  <a:gd name="T21" fmla="*/ 237819 h 237818"/>
                  <a:gd name="T22" fmla="*/ 79500 w 146408"/>
                  <a:gd name="T23" fmla="*/ 233972 h 237818"/>
                  <a:gd name="T24" fmla="*/ 108178 w 146408"/>
                  <a:gd name="T25" fmla="*/ 173817 h 237818"/>
                  <a:gd name="T26" fmla="*/ 141402 w 146408"/>
                  <a:gd name="T27" fmla="*/ 100373 h 237818"/>
                  <a:gd name="T28" fmla="*/ 133708 w 146408"/>
                  <a:gd name="T29" fmla="*/ 32175 h 237818"/>
                  <a:gd name="T30" fmla="*/ 73204 w 146408"/>
                  <a:gd name="T31" fmla="*/ 0 h 23781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46408" h="237818">
                    <a:moveTo>
                      <a:pt x="73204" y="104920"/>
                    </a:moveTo>
                    <a:cubicBezTo>
                      <a:pt x="55718" y="104920"/>
                      <a:pt x="41728" y="90931"/>
                      <a:pt x="41728" y="73444"/>
                    </a:cubicBezTo>
                    <a:cubicBezTo>
                      <a:pt x="41728" y="55957"/>
                      <a:pt x="55718" y="41968"/>
                      <a:pt x="73204" y="41968"/>
                    </a:cubicBezTo>
                    <a:cubicBezTo>
                      <a:pt x="90691" y="41968"/>
                      <a:pt x="104680" y="55957"/>
                      <a:pt x="104680" y="73444"/>
                    </a:cubicBezTo>
                    <a:cubicBezTo>
                      <a:pt x="104680" y="90931"/>
                      <a:pt x="90691" y="104920"/>
                      <a:pt x="73204" y="104920"/>
                    </a:cubicBezTo>
                    <a:close/>
                    <a:moveTo>
                      <a:pt x="73204" y="0"/>
                    </a:moveTo>
                    <a:cubicBezTo>
                      <a:pt x="49073" y="0"/>
                      <a:pt x="26340" y="11891"/>
                      <a:pt x="12701" y="32175"/>
                    </a:cubicBezTo>
                    <a:cubicBezTo>
                      <a:pt x="-939" y="52110"/>
                      <a:pt x="-3737" y="77641"/>
                      <a:pt x="5006" y="100373"/>
                    </a:cubicBezTo>
                    <a:lnTo>
                      <a:pt x="38231" y="173817"/>
                    </a:lnTo>
                    <a:lnTo>
                      <a:pt x="66909" y="233972"/>
                    </a:lnTo>
                    <a:cubicBezTo>
                      <a:pt x="67958" y="236420"/>
                      <a:pt x="70407" y="237819"/>
                      <a:pt x="73204" y="237819"/>
                    </a:cubicBezTo>
                    <a:cubicBezTo>
                      <a:pt x="76002" y="237819"/>
                      <a:pt x="78450" y="236420"/>
                      <a:pt x="79500" y="233972"/>
                    </a:cubicBezTo>
                    <a:lnTo>
                      <a:pt x="108178" y="173817"/>
                    </a:lnTo>
                    <a:lnTo>
                      <a:pt x="141402" y="100373"/>
                    </a:lnTo>
                    <a:cubicBezTo>
                      <a:pt x="150146" y="77641"/>
                      <a:pt x="147348" y="52110"/>
                      <a:pt x="133708" y="32175"/>
                    </a:cubicBezTo>
                    <a:cubicBezTo>
                      <a:pt x="120069" y="11891"/>
                      <a:pt x="97336" y="0"/>
                      <a:pt x="732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3473" cap="flat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281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Group 936">
              <a:extLst>
                <a:ext uri="{FF2B5EF4-FFF2-40B4-BE49-F238E27FC236}">
                  <a16:creationId xmlns:a16="http://schemas.microsoft.com/office/drawing/2014/main" id="{C8B48049-E1D8-BFB5-63B1-A78B33D676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37943" y="3819305"/>
              <a:ext cx="167546" cy="301582"/>
              <a:chOff x="4461097" y="3661645"/>
              <a:chExt cx="146408" cy="263638"/>
            </a:xfrm>
            <a:solidFill>
              <a:srgbClr val="3F74A2"/>
            </a:solidFill>
          </p:grpSpPr>
          <p:pic>
            <p:nvPicPr>
              <p:cNvPr id="104" name="Picture 937">
                <a:extLst>
                  <a:ext uri="{FF2B5EF4-FFF2-40B4-BE49-F238E27FC236}">
                    <a16:creationId xmlns:a16="http://schemas.microsoft.com/office/drawing/2014/main" id="{70535E9B-DC84-ACAA-7EC1-37526817A73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00770" y="3882607"/>
                <a:ext cx="67062" cy="4267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5" name="Graphic 9" descr="Marker">
                <a:extLst>
                  <a:ext uri="{FF2B5EF4-FFF2-40B4-BE49-F238E27FC236}">
                    <a16:creationId xmlns:a16="http://schemas.microsoft.com/office/drawing/2014/main" id="{7E44A984-013A-731C-E7D8-C38627A2AC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1097" y="3661645"/>
                <a:ext cx="146408" cy="237818"/>
              </a:xfrm>
              <a:custGeom>
                <a:avLst/>
                <a:gdLst>
                  <a:gd name="T0" fmla="*/ 73204 w 146408"/>
                  <a:gd name="T1" fmla="*/ 104920 h 237818"/>
                  <a:gd name="T2" fmla="*/ 41728 w 146408"/>
                  <a:gd name="T3" fmla="*/ 73444 h 237818"/>
                  <a:gd name="T4" fmla="*/ 73204 w 146408"/>
                  <a:gd name="T5" fmla="*/ 41968 h 237818"/>
                  <a:gd name="T6" fmla="*/ 104680 w 146408"/>
                  <a:gd name="T7" fmla="*/ 73444 h 237818"/>
                  <a:gd name="T8" fmla="*/ 73204 w 146408"/>
                  <a:gd name="T9" fmla="*/ 104920 h 237818"/>
                  <a:gd name="T10" fmla="*/ 73204 w 146408"/>
                  <a:gd name="T11" fmla="*/ 0 h 237818"/>
                  <a:gd name="T12" fmla="*/ 12701 w 146408"/>
                  <a:gd name="T13" fmla="*/ 32175 h 237818"/>
                  <a:gd name="T14" fmla="*/ 5006 w 146408"/>
                  <a:gd name="T15" fmla="*/ 100373 h 237818"/>
                  <a:gd name="T16" fmla="*/ 38231 w 146408"/>
                  <a:gd name="T17" fmla="*/ 173817 h 237818"/>
                  <a:gd name="T18" fmla="*/ 66909 w 146408"/>
                  <a:gd name="T19" fmla="*/ 233972 h 237818"/>
                  <a:gd name="T20" fmla="*/ 73204 w 146408"/>
                  <a:gd name="T21" fmla="*/ 237819 h 237818"/>
                  <a:gd name="T22" fmla="*/ 79500 w 146408"/>
                  <a:gd name="T23" fmla="*/ 233972 h 237818"/>
                  <a:gd name="T24" fmla="*/ 108178 w 146408"/>
                  <a:gd name="T25" fmla="*/ 173817 h 237818"/>
                  <a:gd name="T26" fmla="*/ 141402 w 146408"/>
                  <a:gd name="T27" fmla="*/ 100373 h 237818"/>
                  <a:gd name="T28" fmla="*/ 133708 w 146408"/>
                  <a:gd name="T29" fmla="*/ 32175 h 237818"/>
                  <a:gd name="T30" fmla="*/ 73204 w 146408"/>
                  <a:gd name="T31" fmla="*/ 0 h 23781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46408" h="237818">
                    <a:moveTo>
                      <a:pt x="73204" y="104920"/>
                    </a:moveTo>
                    <a:cubicBezTo>
                      <a:pt x="55718" y="104920"/>
                      <a:pt x="41728" y="90931"/>
                      <a:pt x="41728" y="73444"/>
                    </a:cubicBezTo>
                    <a:cubicBezTo>
                      <a:pt x="41728" y="55957"/>
                      <a:pt x="55718" y="41968"/>
                      <a:pt x="73204" y="41968"/>
                    </a:cubicBezTo>
                    <a:cubicBezTo>
                      <a:pt x="90691" y="41968"/>
                      <a:pt x="104680" y="55957"/>
                      <a:pt x="104680" y="73444"/>
                    </a:cubicBezTo>
                    <a:cubicBezTo>
                      <a:pt x="104680" y="90931"/>
                      <a:pt x="90691" y="104920"/>
                      <a:pt x="73204" y="104920"/>
                    </a:cubicBezTo>
                    <a:close/>
                    <a:moveTo>
                      <a:pt x="73204" y="0"/>
                    </a:moveTo>
                    <a:cubicBezTo>
                      <a:pt x="49073" y="0"/>
                      <a:pt x="26340" y="11891"/>
                      <a:pt x="12701" y="32175"/>
                    </a:cubicBezTo>
                    <a:cubicBezTo>
                      <a:pt x="-939" y="52110"/>
                      <a:pt x="-3737" y="77641"/>
                      <a:pt x="5006" y="100373"/>
                    </a:cubicBezTo>
                    <a:lnTo>
                      <a:pt x="38231" y="173817"/>
                    </a:lnTo>
                    <a:lnTo>
                      <a:pt x="66909" y="233972"/>
                    </a:lnTo>
                    <a:cubicBezTo>
                      <a:pt x="67958" y="236420"/>
                      <a:pt x="70407" y="237819"/>
                      <a:pt x="73204" y="237819"/>
                    </a:cubicBezTo>
                    <a:cubicBezTo>
                      <a:pt x="76002" y="237819"/>
                      <a:pt x="78450" y="236420"/>
                      <a:pt x="79500" y="233972"/>
                    </a:cubicBezTo>
                    <a:lnTo>
                      <a:pt x="108178" y="173817"/>
                    </a:lnTo>
                    <a:lnTo>
                      <a:pt x="141402" y="100373"/>
                    </a:lnTo>
                    <a:cubicBezTo>
                      <a:pt x="150146" y="77641"/>
                      <a:pt x="147348" y="52110"/>
                      <a:pt x="133708" y="32175"/>
                    </a:cubicBezTo>
                    <a:cubicBezTo>
                      <a:pt x="120069" y="11891"/>
                      <a:pt x="97336" y="0"/>
                      <a:pt x="732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3473" cap="flat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281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54" name="Group 939">
              <a:extLst>
                <a:ext uri="{FF2B5EF4-FFF2-40B4-BE49-F238E27FC236}">
                  <a16:creationId xmlns:a16="http://schemas.microsoft.com/office/drawing/2014/main" id="{90EF26F1-D518-2AA5-0832-6E7B26E1AF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09198" y="3378395"/>
              <a:ext cx="167545" cy="301582"/>
              <a:chOff x="4461097" y="3661645"/>
              <a:chExt cx="146408" cy="263638"/>
            </a:xfrm>
            <a:solidFill>
              <a:srgbClr val="94B8D0"/>
            </a:solidFill>
          </p:grpSpPr>
          <p:pic>
            <p:nvPicPr>
              <p:cNvPr id="102" name="Picture 940">
                <a:extLst>
                  <a:ext uri="{FF2B5EF4-FFF2-40B4-BE49-F238E27FC236}">
                    <a16:creationId xmlns:a16="http://schemas.microsoft.com/office/drawing/2014/main" id="{DF771961-8658-59CE-4F90-4D86E03C21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00770" y="3882607"/>
                <a:ext cx="67062" cy="4267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3" name="Graphic 9" descr="Marker">
                <a:extLst>
                  <a:ext uri="{FF2B5EF4-FFF2-40B4-BE49-F238E27FC236}">
                    <a16:creationId xmlns:a16="http://schemas.microsoft.com/office/drawing/2014/main" id="{30736020-427F-BCE9-C475-9FDE51AD9318}"/>
                  </a:ext>
                </a:extLst>
              </p:cNvPr>
              <p:cNvSpPr/>
              <p:nvPr/>
            </p:nvSpPr>
            <p:spPr>
              <a:xfrm>
                <a:off x="4461097" y="3661645"/>
                <a:ext cx="146408" cy="237429"/>
              </a:xfrm>
              <a:custGeom>
                <a:avLst/>
                <a:gdLst>
                  <a:gd name="connsiteX0" fmla="*/ 73204 w 146408"/>
                  <a:gd name="connsiteY0" fmla="*/ 104920 h 237818"/>
                  <a:gd name="connsiteX1" fmla="*/ 41728 w 146408"/>
                  <a:gd name="connsiteY1" fmla="*/ 73444 h 237818"/>
                  <a:gd name="connsiteX2" fmla="*/ 73204 w 146408"/>
                  <a:gd name="connsiteY2" fmla="*/ 41968 h 237818"/>
                  <a:gd name="connsiteX3" fmla="*/ 104680 w 146408"/>
                  <a:gd name="connsiteY3" fmla="*/ 73444 h 237818"/>
                  <a:gd name="connsiteX4" fmla="*/ 73204 w 146408"/>
                  <a:gd name="connsiteY4" fmla="*/ 104920 h 237818"/>
                  <a:gd name="connsiteX5" fmla="*/ 73204 w 146408"/>
                  <a:gd name="connsiteY5" fmla="*/ 0 h 237818"/>
                  <a:gd name="connsiteX6" fmla="*/ 12701 w 146408"/>
                  <a:gd name="connsiteY6" fmla="*/ 32175 h 237818"/>
                  <a:gd name="connsiteX7" fmla="*/ 5006 w 146408"/>
                  <a:gd name="connsiteY7" fmla="*/ 100373 h 237818"/>
                  <a:gd name="connsiteX8" fmla="*/ 38231 w 146408"/>
                  <a:gd name="connsiteY8" fmla="*/ 173817 h 237818"/>
                  <a:gd name="connsiteX9" fmla="*/ 66909 w 146408"/>
                  <a:gd name="connsiteY9" fmla="*/ 233972 h 237818"/>
                  <a:gd name="connsiteX10" fmla="*/ 73204 w 146408"/>
                  <a:gd name="connsiteY10" fmla="*/ 237819 h 237818"/>
                  <a:gd name="connsiteX11" fmla="*/ 79500 w 146408"/>
                  <a:gd name="connsiteY11" fmla="*/ 233972 h 237818"/>
                  <a:gd name="connsiteX12" fmla="*/ 108178 w 146408"/>
                  <a:gd name="connsiteY12" fmla="*/ 173817 h 237818"/>
                  <a:gd name="connsiteX13" fmla="*/ 141402 w 146408"/>
                  <a:gd name="connsiteY13" fmla="*/ 100373 h 237818"/>
                  <a:gd name="connsiteX14" fmla="*/ 133708 w 146408"/>
                  <a:gd name="connsiteY14" fmla="*/ 32175 h 237818"/>
                  <a:gd name="connsiteX15" fmla="*/ 73204 w 146408"/>
                  <a:gd name="connsiteY15" fmla="*/ 0 h 237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46408" h="237818">
                    <a:moveTo>
                      <a:pt x="73204" y="104920"/>
                    </a:moveTo>
                    <a:cubicBezTo>
                      <a:pt x="55718" y="104920"/>
                      <a:pt x="41728" y="90931"/>
                      <a:pt x="41728" y="73444"/>
                    </a:cubicBezTo>
                    <a:cubicBezTo>
                      <a:pt x="41728" y="55957"/>
                      <a:pt x="55718" y="41968"/>
                      <a:pt x="73204" y="41968"/>
                    </a:cubicBezTo>
                    <a:cubicBezTo>
                      <a:pt x="90691" y="41968"/>
                      <a:pt x="104680" y="55957"/>
                      <a:pt x="104680" y="73444"/>
                    </a:cubicBezTo>
                    <a:cubicBezTo>
                      <a:pt x="104680" y="90931"/>
                      <a:pt x="90691" y="104920"/>
                      <a:pt x="73204" y="104920"/>
                    </a:cubicBezTo>
                    <a:close/>
                    <a:moveTo>
                      <a:pt x="73204" y="0"/>
                    </a:moveTo>
                    <a:cubicBezTo>
                      <a:pt x="49073" y="0"/>
                      <a:pt x="26340" y="11891"/>
                      <a:pt x="12701" y="32175"/>
                    </a:cubicBezTo>
                    <a:cubicBezTo>
                      <a:pt x="-939" y="52110"/>
                      <a:pt x="-3737" y="77641"/>
                      <a:pt x="5006" y="100373"/>
                    </a:cubicBezTo>
                    <a:lnTo>
                      <a:pt x="38231" y="173817"/>
                    </a:lnTo>
                    <a:lnTo>
                      <a:pt x="66909" y="233972"/>
                    </a:lnTo>
                    <a:cubicBezTo>
                      <a:pt x="67958" y="236420"/>
                      <a:pt x="70407" y="237819"/>
                      <a:pt x="73204" y="237819"/>
                    </a:cubicBezTo>
                    <a:cubicBezTo>
                      <a:pt x="76002" y="237819"/>
                      <a:pt x="78450" y="236420"/>
                      <a:pt x="79500" y="233972"/>
                    </a:cubicBezTo>
                    <a:lnTo>
                      <a:pt x="108178" y="173817"/>
                    </a:lnTo>
                    <a:lnTo>
                      <a:pt x="141402" y="100373"/>
                    </a:lnTo>
                    <a:cubicBezTo>
                      <a:pt x="150146" y="77641"/>
                      <a:pt x="147348" y="52110"/>
                      <a:pt x="133708" y="32175"/>
                    </a:cubicBezTo>
                    <a:cubicBezTo>
                      <a:pt x="120069" y="11891"/>
                      <a:pt x="97336" y="0"/>
                      <a:pt x="73204" y="0"/>
                    </a:cubicBezTo>
                    <a:close/>
                  </a:path>
                </a:pathLst>
              </a:custGeom>
              <a:grpFill/>
              <a:ln w="3473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leway"/>
                  <a:ea typeface="+mn-ea"/>
                  <a:cs typeface="+mn-cs"/>
                </a:endParaRPr>
              </a:p>
            </p:txBody>
          </p:sp>
        </p:grpSp>
        <p:grpSp>
          <p:nvGrpSpPr>
            <p:cNvPr id="55" name="Group 942">
              <a:extLst>
                <a:ext uri="{FF2B5EF4-FFF2-40B4-BE49-F238E27FC236}">
                  <a16:creationId xmlns:a16="http://schemas.microsoft.com/office/drawing/2014/main" id="{2CA9840B-2742-912B-3B4F-26BDFF9A3D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40944" y="3623540"/>
              <a:ext cx="167545" cy="301583"/>
              <a:chOff x="4461097" y="3661645"/>
              <a:chExt cx="146408" cy="263638"/>
            </a:xfrm>
            <a:solidFill>
              <a:srgbClr val="94B8D0"/>
            </a:solidFill>
          </p:grpSpPr>
          <p:pic>
            <p:nvPicPr>
              <p:cNvPr id="100" name="Picture 943">
                <a:extLst>
                  <a:ext uri="{FF2B5EF4-FFF2-40B4-BE49-F238E27FC236}">
                    <a16:creationId xmlns:a16="http://schemas.microsoft.com/office/drawing/2014/main" id="{ED240E8E-0678-08B2-5402-17990254CD0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00770" y="3882607"/>
                <a:ext cx="67062" cy="4267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1" name="Graphic 9" descr="Marker">
                <a:extLst>
                  <a:ext uri="{FF2B5EF4-FFF2-40B4-BE49-F238E27FC236}">
                    <a16:creationId xmlns:a16="http://schemas.microsoft.com/office/drawing/2014/main" id="{1091E63F-54F5-5548-6DFE-42AA738B2AAD}"/>
                  </a:ext>
                </a:extLst>
              </p:cNvPr>
              <p:cNvSpPr/>
              <p:nvPr/>
            </p:nvSpPr>
            <p:spPr>
              <a:xfrm>
                <a:off x="4461097" y="3661645"/>
                <a:ext cx="146408" cy="237428"/>
              </a:xfrm>
              <a:custGeom>
                <a:avLst/>
                <a:gdLst>
                  <a:gd name="connsiteX0" fmla="*/ 73204 w 146408"/>
                  <a:gd name="connsiteY0" fmla="*/ 104920 h 237818"/>
                  <a:gd name="connsiteX1" fmla="*/ 41728 w 146408"/>
                  <a:gd name="connsiteY1" fmla="*/ 73444 h 237818"/>
                  <a:gd name="connsiteX2" fmla="*/ 73204 w 146408"/>
                  <a:gd name="connsiteY2" fmla="*/ 41968 h 237818"/>
                  <a:gd name="connsiteX3" fmla="*/ 104680 w 146408"/>
                  <a:gd name="connsiteY3" fmla="*/ 73444 h 237818"/>
                  <a:gd name="connsiteX4" fmla="*/ 73204 w 146408"/>
                  <a:gd name="connsiteY4" fmla="*/ 104920 h 237818"/>
                  <a:gd name="connsiteX5" fmla="*/ 73204 w 146408"/>
                  <a:gd name="connsiteY5" fmla="*/ 0 h 237818"/>
                  <a:gd name="connsiteX6" fmla="*/ 12701 w 146408"/>
                  <a:gd name="connsiteY6" fmla="*/ 32175 h 237818"/>
                  <a:gd name="connsiteX7" fmla="*/ 5006 w 146408"/>
                  <a:gd name="connsiteY7" fmla="*/ 100373 h 237818"/>
                  <a:gd name="connsiteX8" fmla="*/ 38231 w 146408"/>
                  <a:gd name="connsiteY8" fmla="*/ 173817 h 237818"/>
                  <a:gd name="connsiteX9" fmla="*/ 66909 w 146408"/>
                  <a:gd name="connsiteY9" fmla="*/ 233972 h 237818"/>
                  <a:gd name="connsiteX10" fmla="*/ 73204 w 146408"/>
                  <a:gd name="connsiteY10" fmla="*/ 237819 h 237818"/>
                  <a:gd name="connsiteX11" fmla="*/ 79500 w 146408"/>
                  <a:gd name="connsiteY11" fmla="*/ 233972 h 237818"/>
                  <a:gd name="connsiteX12" fmla="*/ 108178 w 146408"/>
                  <a:gd name="connsiteY12" fmla="*/ 173817 h 237818"/>
                  <a:gd name="connsiteX13" fmla="*/ 141402 w 146408"/>
                  <a:gd name="connsiteY13" fmla="*/ 100373 h 237818"/>
                  <a:gd name="connsiteX14" fmla="*/ 133708 w 146408"/>
                  <a:gd name="connsiteY14" fmla="*/ 32175 h 237818"/>
                  <a:gd name="connsiteX15" fmla="*/ 73204 w 146408"/>
                  <a:gd name="connsiteY15" fmla="*/ 0 h 237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46408" h="237818">
                    <a:moveTo>
                      <a:pt x="73204" y="104920"/>
                    </a:moveTo>
                    <a:cubicBezTo>
                      <a:pt x="55718" y="104920"/>
                      <a:pt x="41728" y="90931"/>
                      <a:pt x="41728" y="73444"/>
                    </a:cubicBezTo>
                    <a:cubicBezTo>
                      <a:pt x="41728" y="55957"/>
                      <a:pt x="55718" y="41968"/>
                      <a:pt x="73204" y="41968"/>
                    </a:cubicBezTo>
                    <a:cubicBezTo>
                      <a:pt x="90691" y="41968"/>
                      <a:pt x="104680" y="55957"/>
                      <a:pt x="104680" y="73444"/>
                    </a:cubicBezTo>
                    <a:cubicBezTo>
                      <a:pt x="104680" y="90931"/>
                      <a:pt x="90691" y="104920"/>
                      <a:pt x="73204" y="104920"/>
                    </a:cubicBezTo>
                    <a:close/>
                    <a:moveTo>
                      <a:pt x="73204" y="0"/>
                    </a:moveTo>
                    <a:cubicBezTo>
                      <a:pt x="49073" y="0"/>
                      <a:pt x="26340" y="11891"/>
                      <a:pt x="12701" y="32175"/>
                    </a:cubicBezTo>
                    <a:cubicBezTo>
                      <a:pt x="-939" y="52110"/>
                      <a:pt x="-3737" y="77641"/>
                      <a:pt x="5006" y="100373"/>
                    </a:cubicBezTo>
                    <a:lnTo>
                      <a:pt x="38231" y="173817"/>
                    </a:lnTo>
                    <a:lnTo>
                      <a:pt x="66909" y="233972"/>
                    </a:lnTo>
                    <a:cubicBezTo>
                      <a:pt x="67958" y="236420"/>
                      <a:pt x="70407" y="237819"/>
                      <a:pt x="73204" y="237819"/>
                    </a:cubicBezTo>
                    <a:cubicBezTo>
                      <a:pt x="76002" y="237819"/>
                      <a:pt x="78450" y="236420"/>
                      <a:pt x="79500" y="233972"/>
                    </a:cubicBezTo>
                    <a:lnTo>
                      <a:pt x="108178" y="173817"/>
                    </a:lnTo>
                    <a:lnTo>
                      <a:pt x="141402" y="100373"/>
                    </a:lnTo>
                    <a:cubicBezTo>
                      <a:pt x="150146" y="77641"/>
                      <a:pt x="147348" y="52110"/>
                      <a:pt x="133708" y="32175"/>
                    </a:cubicBezTo>
                    <a:cubicBezTo>
                      <a:pt x="120069" y="11891"/>
                      <a:pt x="97336" y="0"/>
                      <a:pt x="73204" y="0"/>
                    </a:cubicBezTo>
                    <a:close/>
                  </a:path>
                </a:pathLst>
              </a:custGeom>
              <a:grpFill/>
              <a:ln w="3473" cap="flat">
                <a:noFill/>
                <a:prstDash val="solid"/>
                <a:miter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leway"/>
                  <a:ea typeface="+mn-ea"/>
                  <a:cs typeface="+mn-cs"/>
                </a:endParaRPr>
              </a:p>
            </p:txBody>
          </p:sp>
        </p:grpSp>
        <p:grpSp>
          <p:nvGrpSpPr>
            <p:cNvPr id="56" name="Group 945">
              <a:extLst>
                <a:ext uri="{FF2B5EF4-FFF2-40B4-BE49-F238E27FC236}">
                  <a16:creationId xmlns:a16="http://schemas.microsoft.com/office/drawing/2014/main" id="{F1FC8C6C-6430-05C9-5459-7BDAE03235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07962" y="3547705"/>
              <a:ext cx="167545" cy="301582"/>
              <a:chOff x="4461097" y="3661645"/>
              <a:chExt cx="146408" cy="263638"/>
            </a:xfrm>
            <a:solidFill>
              <a:srgbClr val="94B8D0"/>
            </a:solidFill>
          </p:grpSpPr>
          <p:pic>
            <p:nvPicPr>
              <p:cNvPr id="98" name="Picture 946">
                <a:extLst>
                  <a:ext uri="{FF2B5EF4-FFF2-40B4-BE49-F238E27FC236}">
                    <a16:creationId xmlns:a16="http://schemas.microsoft.com/office/drawing/2014/main" id="{67D8B668-B4DE-7B80-3C7B-3D1D755DFF4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00770" y="3882607"/>
                <a:ext cx="67062" cy="4267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" name="Graphic 9" descr="Marker">
                <a:extLst>
                  <a:ext uri="{FF2B5EF4-FFF2-40B4-BE49-F238E27FC236}">
                    <a16:creationId xmlns:a16="http://schemas.microsoft.com/office/drawing/2014/main" id="{15E05D86-3C17-FC97-C080-BAA4DD9681E1}"/>
                  </a:ext>
                </a:extLst>
              </p:cNvPr>
              <p:cNvSpPr/>
              <p:nvPr/>
            </p:nvSpPr>
            <p:spPr>
              <a:xfrm>
                <a:off x="4461097" y="3661645"/>
                <a:ext cx="146408" cy="237429"/>
              </a:xfrm>
              <a:custGeom>
                <a:avLst/>
                <a:gdLst>
                  <a:gd name="connsiteX0" fmla="*/ 73204 w 146408"/>
                  <a:gd name="connsiteY0" fmla="*/ 104920 h 237818"/>
                  <a:gd name="connsiteX1" fmla="*/ 41728 w 146408"/>
                  <a:gd name="connsiteY1" fmla="*/ 73444 h 237818"/>
                  <a:gd name="connsiteX2" fmla="*/ 73204 w 146408"/>
                  <a:gd name="connsiteY2" fmla="*/ 41968 h 237818"/>
                  <a:gd name="connsiteX3" fmla="*/ 104680 w 146408"/>
                  <a:gd name="connsiteY3" fmla="*/ 73444 h 237818"/>
                  <a:gd name="connsiteX4" fmla="*/ 73204 w 146408"/>
                  <a:gd name="connsiteY4" fmla="*/ 104920 h 237818"/>
                  <a:gd name="connsiteX5" fmla="*/ 73204 w 146408"/>
                  <a:gd name="connsiteY5" fmla="*/ 0 h 237818"/>
                  <a:gd name="connsiteX6" fmla="*/ 12701 w 146408"/>
                  <a:gd name="connsiteY6" fmla="*/ 32175 h 237818"/>
                  <a:gd name="connsiteX7" fmla="*/ 5006 w 146408"/>
                  <a:gd name="connsiteY7" fmla="*/ 100373 h 237818"/>
                  <a:gd name="connsiteX8" fmla="*/ 38231 w 146408"/>
                  <a:gd name="connsiteY8" fmla="*/ 173817 h 237818"/>
                  <a:gd name="connsiteX9" fmla="*/ 66909 w 146408"/>
                  <a:gd name="connsiteY9" fmla="*/ 233972 h 237818"/>
                  <a:gd name="connsiteX10" fmla="*/ 73204 w 146408"/>
                  <a:gd name="connsiteY10" fmla="*/ 237819 h 237818"/>
                  <a:gd name="connsiteX11" fmla="*/ 79500 w 146408"/>
                  <a:gd name="connsiteY11" fmla="*/ 233972 h 237818"/>
                  <a:gd name="connsiteX12" fmla="*/ 108178 w 146408"/>
                  <a:gd name="connsiteY12" fmla="*/ 173817 h 237818"/>
                  <a:gd name="connsiteX13" fmla="*/ 141402 w 146408"/>
                  <a:gd name="connsiteY13" fmla="*/ 100373 h 237818"/>
                  <a:gd name="connsiteX14" fmla="*/ 133708 w 146408"/>
                  <a:gd name="connsiteY14" fmla="*/ 32175 h 237818"/>
                  <a:gd name="connsiteX15" fmla="*/ 73204 w 146408"/>
                  <a:gd name="connsiteY15" fmla="*/ 0 h 237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46408" h="237818">
                    <a:moveTo>
                      <a:pt x="73204" y="104920"/>
                    </a:moveTo>
                    <a:cubicBezTo>
                      <a:pt x="55718" y="104920"/>
                      <a:pt x="41728" y="90931"/>
                      <a:pt x="41728" y="73444"/>
                    </a:cubicBezTo>
                    <a:cubicBezTo>
                      <a:pt x="41728" y="55957"/>
                      <a:pt x="55718" y="41968"/>
                      <a:pt x="73204" y="41968"/>
                    </a:cubicBezTo>
                    <a:cubicBezTo>
                      <a:pt x="90691" y="41968"/>
                      <a:pt x="104680" y="55957"/>
                      <a:pt x="104680" y="73444"/>
                    </a:cubicBezTo>
                    <a:cubicBezTo>
                      <a:pt x="104680" y="90931"/>
                      <a:pt x="90691" y="104920"/>
                      <a:pt x="73204" y="104920"/>
                    </a:cubicBezTo>
                    <a:close/>
                    <a:moveTo>
                      <a:pt x="73204" y="0"/>
                    </a:moveTo>
                    <a:cubicBezTo>
                      <a:pt x="49073" y="0"/>
                      <a:pt x="26340" y="11891"/>
                      <a:pt x="12701" y="32175"/>
                    </a:cubicBezTo>
                    <a:cubicBezTo>
                      <a:pt x="-939" y="52110"/>
                      <a:pt x="-3737" y="77641"/>
                      <a:pt x="5006" y="100373"/>
                    </a:cubicBezTo>
                    <a:lnTo>
                      <a:pt x="38231" y="173817"/>
                    </a:lnTo>
                    <a:lnTo>
                      <a:pt x="66909" y="233972"/>
                    </a:lnTo>
                    <a:cubicBezTo>
                      <a:pt x="67958" y="236420"/>
                      <a:pt x="70407" y="237819"/>
                      <a:pt x="73204" y="237819"/>
                    </a:cubicBezTo>
                    <a:cubicBezTo>
                      <a:pt x="76002" y="237819"/>
                      <a:pt x="78450" y="236420"/>
                      <a:pt x="79500" y="233972"/>
                    </a:cubicBezTo>
                    <a:lnTo>
                      <a:pt x="108178" y="173817"/>
                    </a:lnTo>
                    <a:lnTo>
                      <a:pt x="141402" y="100373"/>
                    </a:lnTo>
                    <a:cubicBezTo>
                      <a:pt x="150146" y="77641"/>
                      <a:pt x="147348" y="52110"/>
                      <a:pt x="133708" y="32175"/>
                    </a:cubicBezTo>
                    <a:cubicBezTo>
                      <a:pt x="120069" y="11891"/>
                      <a:pt x="97336" y="0"/>
                      <a:pt x="73204" y="0"/>
                    </a:cubicBezTo>
                    <a:close/>
                  </a:path>
                </a:pathLst>
              </a:custGeom>
              <a:grpFill/>
              <a:ln w="3473" cap="flat">
                <a:noFill/>
                <a:prstDash val="solid"/>
                <a:miter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leway"/>
                  <a:ea typeface="+mn-ea"/>
                  <a:cs typeface="+mn-cs"/>
                </a:endParaRPr>
              </a:p>
            </p:txBody>
          </p:sp>
        </p:grpSp>
        <p:grpSp>
          <p:nvGrpSpPr>
            <p:cNvPr id="57" name="Group 948">
              <a:extLst>
                <a:ext uri="{FF2B5EF4-FFF2-40B4-BE49-F238E27FC236}">
                  <a16:creationId xmlns:a16="http://schemas.microsoft.com/office/drawing/2014/main" id="{E007D428-CC69-7C16-51D7-B000FE6C2E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88562" y="3678214"/>
              <a:ext cx="132273" cy="239855"/>
              <a:chOff x="4461097" y="3661645"/>
              <a:chExt cx="146408" cy="263638"/>
            </a:xfrm>
            <a:solidFill>
              <a:srgbClr val="94B8D0"/>
            </a:solidFill>
          </p:grpSpPr>
          <p:pic>
            <p:nvPicPr>
              <p:cNvPr id="96" name="Picture 949">
                <a:extLst>
                  <a:ext uri="{FF2B5EF4-FFF2-40B4-BE49-F238E27FC236}">
                    <a16:creationId xmlns:a16="http://schemas.microsoft.com/office/drawing/2014/main" id="{41CF03FB-897F-D82F-48FD-6348CCB38E5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00770" y="3882607"/>
                <a:ext cx="67062" cy="4267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7" name="Graphic 9" descr="Marker">
                <a:extLst>
                  <a:ext uri="{FF2B5EF4-FFF2-40B4-BE49-F238E27FC236}">
                    <a16:creationId xmlns:a16="http://schemas.microsoft.com/office/drawing/2014/main" id="{4E4152C8-AC9E-3801-04A5-1888D2B0B118}"/>
                  </a:ext>
                </a:extLst>
              </p:cNvPr>
              <p:cNvSpPr/>
              <p:nvPr/>
            </p:nvSpPr>
            <p:spPr>
              <a:xfrm>
                <a:off x="4461097" y="3661645"/>
                <a:ext cx="146408" cy="238437"/>
              </a:xfrm>
              <a:custGeom>
                <a:avLst/>
                <a:gdLst>
                  <a:gd name="connsiteX0" fmla="*/ 73204 w 146408"/>
                  <a:gd name="connsiteY0" fmla="*/ 104920 h 237818"/>
                  <a:gd name="connsiteX1" fmla="*/ 41728 w 146408"/>
                  <a:gd name="connsiteY1" fmla="*/ 73444 h 237818"/>
                  <a:gd name="connsiteX2" fmla="*/ 73204 w 146408"/>
                  <a:gd name="connsiteY2" fmla="*/ 41968 h 237818"/>
                  <a:gd name="connsiteX3" fmla="*/ 104680 w 146408"/>
                  <a:gd name="connsiteY3" fmla="*/ 73444 h 237818"/>
                  <a:gd name="connsiteX4" fmla="*/ 73204 w 146408"/>
                  <a:gd name="connsiteY4" fmla="*/ 104920 h 237818"/>
                  <a:gd name="connsiteX5" fmla="*/ 73204 w 146408"/>
                  <a:gd name="connsiteY5" fmla="*/ 0 h 237818"/>
                  <a:gd name="connsiteX6" fmla="*/ 12701 w 146408"/>
                  <a:gd name="connsiteY6" fmla="*/ 32175 h 237818"/>
                  <a:gd name="connsiteX7" fmla="*/ 5006 w 146408"/>
                  <a:gd name="connsiteY7" fmla="*/ 100373 h 237818"/>
                  <a:gd name="connsiteX8" fmla="*/ 38231 w 146408"/>
                  <a:gd name="connsiteY8" fmla="*/ 173817 h 237818"/>
                  <a:gd name="connsiteX9" fmla="*/ 66909 w 146408"/>
                  <a:gd name="connsiteY9" fmla="*/ 233972 h 237818"/>
                  <a:gd name="connsiteX10" fmla="*/ 73204 w 146408"/>
                  <a:gd name="connsiteY10" fmla="*/ 237819 h 237818"/>
                  <a:gd name="connsiteX11" fmla="*/ 79500 w 146408"/>
                  <a:gd name="connsiteY11" fmla="*/ 233972 h 237818"/>
                  <a:gd name="connsiteX12" fmla="*/ 108178 w 146408"/>
                  <a:gd name="connsiteY12" fmla="*/ 173817 h 237818"/>
                  <a:gd name="connsiteX13" fmla="*/ 141402 w 146408"/>
                  <a:gd name="connsiteY13" fmla="*/ 100373 h 237818"/>
                  <a:gd name="connsiteX14" fmla="*/ 133708 w 146408"/>
                  <a:gd name="connsiteY14" fmla="*/ 32175 h 237818"/>
                  <a:gd name="connsiteX15" fmla="*/ 73204 w 146408"/>
                  <a:gd name="connsiteY15" fmla="*/ 0 h 237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46408" h="237818">
                    <a:moveTo>
                      <a:pt x="73204" y="104920"/>
                    </a:moveTo>
                    <a:cubicBezTo>
                      <a:pt x="55718" y="104920"/>
                      <a:pt x="41728" y="90931"/>
                      <a:pt x="41728" y="73444"/>
                    </a:cubicBezTo>
                    <a:cubicBezTo>
                      <a:pt x="41728" y="55957"/>
                      <a:pt x="55718" y="41968"/>
                      <a:pt x="73204" y="41968"/>
                    </a:cubicBezTo>
                    <a:cubicBezTo>
                      <a:pt x="90691" y="41968"/>
                      <a:pt x="104680" y="55957"/>
                      <a:pt x="104680" y="73444"/>
                    </a:cubicBezTo>
                    <a:cubicBezTo>
                      <a:pt x="104680" y="90931"/>
                      <a:pt x="90691" y="104920"/>
                      <a:pt x="73204" y="104920"/>
                    </a:cubicBezTo>
                    <a:close/>
                    <a:moveTo>
                      <a:pt x="73204" y="0"/>
                    </a:moveTo>
                    <a:cubicBezTo>
                      <a:pt x="49073" y="0"/>
                      <a:pt x="26340" y="11891"/>
                      <a:pt x="12701" y="32175"/>
                    </a:cubicBezTo>
                    <a:cubicBezTo>
                      <a:pt x="-939" y="52110"/>
                      <a:pt x="-3737" y="77641"/>
                      <a:pt x="5006" y="100373"/>
                    </a:cubicBezTo>
                    <a:lnTo>
                      <a:pt x="38231" y="173817"/>
                    </a:lnTo>
                    <a:lnTo>
                      <a:pt x="66909" y="233972"/>
                    </a:lnTo>
                    <a:cubicBezTo>
                      <a:pt x="67958" y="236420"/>
                      <a:pt x="70407" y="237819"/>
                      <a:pt x="73204" y="237819"/>
                    </a:cubicBezTo>
                    <a:cubicBezTo>
                      <a:pt x="76002" y="237819"/>
                      <a:pt x="78450" y="236420"/>
                      <a:pt x="79500" y="233972"/>
                    </a:cubicBezTo>
                    <a:lnTo>
                      <a:pt x="108178" y="173817"/>
                    </a:lnTo>
                    <a:lnTo>
                      <a:pt x="141402" y="100373"/>
                    </a:lnTo>
                    <a:cubicBezTo>
                      <a:pt x="150146" y="77641"/>
                      <a:pt x="147348" y="52110"/>
                      <a:pt x="133708" y="32175"/>
                    </a:cubicBezTo>
                    <a:cubicBezTo>
                      <a:pt x="120069" y="11891"/>
                      <a:pt x="97336" y="0"/>
                      <a:pt x="73204" y="0"/>
                    </a:cubicBezTo>
                    <a:close/>
                  </a:path>
                </a:pathLst>
              </a:custGeom>
              <a:grpFill/>
              <a:ln w="3473" cap="flat">
                <a:noFill/>
                <a:prstDash val="solid"/>
                <a:miter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leway"/>
                  <a:ea typeface="+mn-ea"/>
                  <a:cs typeface="+mn-cs"/>
                </a:endParaRPr>
              </a:p>
            </p:txBody>
          </p:sp>
        </p:grpSp>
        <p:grpSp>
          <p:nvGrpSpPr>
            <p:cNvPr id="58" name="Group 951">
              <a:extLst>
                <a:ext uri="{FF2B5EF4-FFF2-40B4-BE49-F238E27FC236}">
                  <a16:creationId xmlns:a16="http://schemas.microsoft.com/office/drawing/2014/main" id="{A8883014-FC58-81C1-120B-4C4E679107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66871" y="3563577"/>
              <a:ext cx="134037" cy="239855"/>
              <a:chOff x="4461097" y="3661645"/>
              <a:chExt cx="146408" cy="263638"/>
            </a:xfrm>
            <a:solidFill>
              <a:srgbClr val="94B8D0"/>
            </a:solidFill>
          </p:grpSpPr>
          <p:pic>
            <p:nvPicPr>
              <p:cNvPr id="94" name="Picture 952">
                <a:extLst>
                  <a:ext uri="{FF2B5EF4-FFF2-40B4-BE49-F238E27FC236}">
                    <a16:creationId xmlns:a16="http://schemas.microsoft.com/office/drawing/2014/main" id="{855323E9-819F-EBA8-06E9-54CF6E51717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00770" y="3882607"/>
                <a:ext cx="67062" cy="4267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5" name="Graphic 9" descr="Marker">
                <a:extLst>
                  <a:ext uri="{FF2B5EF4-FFF2-40B4-BE49-F238E27FC236}">
                    <a16:creationId xmlns:a16="http://schemas.microsoft.com/office/drawing/2014/main" id="{D9F000B5-7A61-21BE-95AC-88B9410C28C2}"/>
                  </a:ext>
                </a:extLst>
              </p:cNvPr>
              <p:cNvSpPr/>
              <p:nvPr/>
            </p:nvSpPr>
            <p:spPr>
              <a:xfrm>
                <a:off x="4461097" y="3661645"/>
                <a:ext cx="146408" cy="238438"/>
              </a:xfrm>
              <a:custGeom>
                <a:avLst/>
                <a:gdLst>
                  <a:gd name="connsiteX0" fmla="*/ 73204 w 146408"/>
                  <a:gd name="connsiteY0" fmla="*/ 104920 h 237818"/>
                  <a:gd name="connsiteX1" fmla="*/ 41728 w 146408"/>
                  <a:gd name="connsiteY1" fmla="*/ 73444 h 237818"/>
                  <a:gd name="connsiteX2" fmla="*/ 73204 w 146408"/>
                  <a:gd name="connsiteY2" fmla="*/ 41968 h 237818"/>
                  <a:gd name="connsiteX3" fmla="*/ 104680 w 146408"/>
                  <a:gd name="connsiteY3" fmla="*/ 73444 h 237818"/>
                  <a:gd name="connsiteX4" fmla="*/ 73204 w 146408"/>
                  <a:gd name="connsiteY4" fmla="*/ 104920 h 237818"/>
                  <a:gd name="connsiteX5" fmla="*/ 73204 w 146408"/>
                  <a:gd name="connsiteY5" fmla="*/ 0 h 237818"/>
                  <a:gd name="connsiteX6" fmla="*/ 12701 w 146408"/>
                  <a:gd name="connsiteY6" fmla="*/ 32175 h 237818"/>
                  <a:gd name="connsiteX7" fmla="*/ 5006 w 146408"/>
                  <a:gd name="connsiteY7" fmla="*/ 100373 h 237818"/>
                  <a:gd name="connsiteX8" fmla="*/ 38231 w 146408"/>
                  <a:gd name="connsiteY8" fmla="*/ 173817 h 237818"/>
                  <a:gd name="connsiteX9" fmla="*/ 66909 w 146408"/>
                  <a:gd name="connsiteY9" fmla="*/ 233972 h 237818"/>
                  <a:gd name="connsiteX10" fmla="*/ 73204 w 146408"/>
                  <a:gd name="connsiteY10" fmla="*/ 237819 h 237818"/>
                  <a:gd name="connsiteX11" fmla="*/ 79500 w 146408"/>
                  <a:gd name="connsiteY11" fmla="*/ 233972 h 237818"/>
                  <a:gd name="connsiteX12" fmla="*/ 108178 w 146408"/>
                  <a:gd name="connsiteY12" fmla="*/ 173817 h 237818"/>
                  <a:gd name="connsiteX13" fmla="*/ 141402 w 146408"/>
                  <a:gd name="connsiteY13" fmla="*/ 100373 h 237818"/>
                  <a:gd name="connsiteX14" fmla="*/ 133708 w 146408"/>
                  <a:gd name="connsiteY14" fmla="*/ 32175 h 237818"/>
                  <a:gd name="connsiteX15" fmla="*/ 73204 w 146408"/>
                  <a:gd name="connsiteY15" fmla="*/ 0 h 237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46408" h="237818">
                    <a:moveTo>
                      <a:pt x="73204" y="104920"/>
                    </a:moveTo>
                    <a:cubicBezTo>
                      <a:pt x="55718" y="104920"/>
                      <a:pt x="41728" y="90931"/>
                      <a:pt x="41728" y="73444"/>
                    </a:cubicBezTo>
                    <a:cubicBezTo>
                      <a:pt x="41728" y="55957"/>
                      <a:pt x="55718" y="41968"/>
                      <a:pt x="73204" y="41968"/>
                    </a:cubicBezTo>
                    <a:cubicBezTo>
                      <a:pt x="90691" y="41968"/>
                      <a:pt x="104680" y="55957"/>
                      <a:pt x="104680" y="73444"/>
                    </a:cubicBezTo>
                    <a:cubicBezTo>
                      <a:pt x="104680" y="90931"/>
                      <a:pt x="90691" y="104920"/>
                      <a:pt x="73204" y="104920"/>
                    </a:cubicBezTo>
                    <a:close/>
                    <a:moveTo>
                      <a:pt x="73204" y="0"/>
                    </a:moveTo>
                    <a:cubicBezTo>
                      <a:pt x="49073" y="0"/>
                      <a:pt x="26340" y="11891"/>
                      <a:pt x="12701" y="32175"/>
                    </a:cubicBezTo>
                    <a:cubicBezTo>
                      <a:pt x="-939" y="52110"/>
                      <a:pt x="-3737" y="77641"/>
                      <a:pt x="5006" y="100373"/>
                    </a:cubicBezTo>
                    <a:lnTo>
                      <a:pt x="38231" y="173817"/>
                    </a:lnTo>
                    <a:lnTo>
                      <a:pt x="66909" y="233972"/>
                    </a:lnTo>
                    <a:cubicBezTo>
                      <a:pt x="67958" y="236420"/>
                      <a:pt x="70407" y="237819"/>
                      <a:pt x="73204" y="237819"/>
                    </a:cubicBezTo>
                    <a:cubicBezTo>
                      <a:pt x="76002" y="237819"/>
                      <a:pt x="78450" y="236420"/>
                      <a:pt x="79500" y="233972"/>
                    </a:cubicBezTo>
                    <a:lnTo>
                      <a:pt x="108178" y="173817"/>
                    </a:lnTo>
                    <a:lnTo>
                      <a:pt x="141402" y="100373"/>
                    </a:lnTo>
                    <a:cubicBezTo>
                      <a:pt x="150146" y="77641"/>
                      <a:pt x="147348" y="52110"/>
                      <a:pt x="133708" y="32175"/>
                    </a:cubicBezTo>
                    <a:cubicBezTo>
                      <a:pt x="120069" y="11891"/>
                      <a:pt x="97336" y="0"/>
                      <a:pt x="73204" y="0"/>
                    </a:cubicBezTo>
                    <a:close/>
                  </a:path>
                </a:pathLst>
              </a:custGeom>
              <a:grpFill/>
              <a:ln w="3473" cap="flat">
                <a:noFill/>
                <a:prstDash val="solid"/>
                <a:miter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leway"/>
                  <a:ea typeface="+mn-ea"/>
                  <a:cs typeface="+mn-cs"/>
                </a:endParaRPr>
              </a:p>
            </p:txBody>
          </p:sp>
        </p:grpSp>
        <p:grpSp>
          <p:nvGrpSpPr>
            <p:cNvPr id="59" name="Group 959">
              <a:extLst>
                <a:ext uri="{FF2B5EF4-FFF2-40B4-BE49-F238E27FC236}">
                  <a16:creationId xmlns:a16="http://schemas.microsoft.com/office/drawing/2014/main" id="{4F128B53-FB65-8646-E24A-589C6AD03B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51231" y="3048594"/>
              <a:ext cx="167545" cy="303346"/>
              <a:chOff x="4461097" y="3661645"/>
              <a:chExt cx="146408" cy="263638"/>
            </a:xfrm>
            <a:solidFill>
              <a:srgbClr val="3F74A2"/>
            </a:solidFill>
          </p:grpSpPr>
          <p:pic>
            <p:nvPicPr>
              <p:cNvPr id="92" name="Picture 960">
                <a:extLst>
                  <a:ext uri="{FF2B5EF4-FFF2-40B4-BE49-F238E27FC236}">
                    <a16:creationId xmlns:a16="http://schemas.microsoft.com/office/drawing/2014/main" id="{FE9CF231-0065-685B-7454-1B8D426DD37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00770" y="3882607"/>
                <a:ext cx="67062" cy="4267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3" name="Graphic 9" descr="Marker">
                <a:extLst>
                  <a:ext uri="{FF2B5EF4-FFF2-40B4-BE49-F238E27FC236}">
                    <a16:creationId xmlns:a16="http://schemas.microsoft.com/office/drawing/2014/main" id="{7D18C85D-99AF-C69F-D1ED-E2BCAD5304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1097" y="3661645"/>
                <a:ext cx="146408" cy="237818"/>
              </a:xfrm>
              <a:custGeom>
                <a:avLst/>
                <a:gdLst>
                  <a:gd name="T0" fmla="*/ 73204 w 146408"/>
                  <a:gd name="T1" fmla="*/ 104920 h 237818"/>
                  <a:gd name="T2" fmla="*/ 41728 w 146408"/>
                  <a:gd name="T3" fmla="*/ 73444 h 237818"/>
                  <a:gd name="T4" fmla="*/ 73204 w 146408"/>
                  <a:gd name="T5" fmla="*/ 41968 h 237818"/>
                  <a:gd name="T6" fmla="*/ 104680 w 146408"/>
                  <a:gd name="T7" fmla="*/ 73444 h 237818"/>
                  <a:gd name="T8" fmla="*/ 73204 w 146408"/>
                  <a:gd name="T9" fmla="*/ 104920 h 237818"/>
                  <a:gd name="T10" fmla="*/ 73204 w 146408"/>
                  <a:gd name="T11" fmla="*/ 0 h 237818"/>
                  <a:gd name="T12" fmla="*/ 12701 w 146408"/>
                  <a:gd name="T13" fmla="*/ 32175 h 237818"/>
                  <a:gd name="T14" fmla="*/ 5006 w 146408"/>
                  <a:gd name="T15" fmla="*/ 100373 h 237818"/>
                  <a:gd name="T16" fmla="*/ 38231 w 146408"/>
                  <a:gd name="T17" fmla="*/ 173817 h 237818"/>
                  <a:gd name="T18" fmla="*/ 66909 w 146408"/>
                  <a:gd name="T19" fmla="*/ 233972 h 237818"/>
                  <a:gd name="T20" fmla="*/ 73204 w 146408"/>
                  <a:gd name="T21" fmla="*/ 237819 h 237818"/>
                  <a:gd name="T22" fmla="*/ 79500 w 146408"/>
                  <a:gd name="T23" fmla="*/ 233972 h 237818"/>
                  <a:gd name="T24" fmla="*/ 108178 w 146408"/>
                  <a:gd name="T25" fmla="*/ 173817 h 237818"/>
                  <a:gd name="T26" fmla="*/ 141402 w 146408"/>
                  <a:gd name="T27" fmla="*/ 100373 h 237818"/>
                  <a:gd name="T28" fmla="*/ 133708 w 146408"/>
                  <a:gd name="T29" fmla="*/ 32175 h 237818"/>
                  <a:gd name="T30" fmla="*/ 73204 w 146408"/>
                  <a:gd name="T31" fmla="*/ 0 h 23781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46408" h="237818">
                    <a:moveTo>
                      <a:pt x="73204" y="104920"/>
                    </a:moveTo>
                    <a:cubicBezTo>
                      <a:pt x="55718" y="104920"/>
                      <a:pt x="41728" y="90931"/>
                      <a:pt x="41728" y="73444"/>
                    </a:cubicBezTo>
                    <a:cubicBezTo>
                      <a:pt x="41728" y="55957"/>
                      <a:pt x="55718" y="41968"/>
                      <a:pt x="73204" y="41968"/>
                    </a:cubicBezTo>
                    <a:cubicBezTo>
                      <a:pt x="90691" y="41968"/>
                      <a:pt x="104680" y="55957"/>
                      <a:pt x="104680" y="73444"/>
                    </a:cubicBezTo>
                    <a:cubicBezTo>
                      <a:pt x="104680" y="90931"/>
                      <a:pt x="90691" y="104920"/>
                      <a:pt x="73204" y="104920"/>
                    </a:cubicBezTo>
                    <a:close/>
                    <a:moveTo>
                      <a:pt x="73204" y="0"/>
                    </a:moveTo>
                    <a:cubicBezTo>
                      <a:pt x="49073" y="0"/>
                      <a:pt x="26340" y="11891"/>
                      <a:pt x="12701" y="32175"/>
                    </a:cubicBezTo>
                    <a:cubicBezTo>
                      <a:pt x="-939" y="52110"/>
                      <a:pt x="-3737" y="77641"/>
                      <a:pt x="5006" y="100373"/>
                    </a:cubicBezTo>
                    <a:lnTo>
                      <a:pt x="38231" y="173817"/>
                    </a:lnTo>
                    <a:lnTo>
                      <a:pt x="66909" y="233972"/>
                    </a:lnTo>
                    <a:cubicBezTo>
                      <a:pt x="67958" y="236420"/>
                      <a:pt x="70407" y="237819"/>
                      <a:pt x="73204" y="237819"/>
                    </a:cubicBezTo>
                    <a:cubicBezTo>
                      <a:pt x="76002" y="237819"/>
                      <a:pt x="78450" y="236420"/>
                      <a:pt x="79500" y="233972"/>
                    </a:cubicBezTo>
                    <a:lnTo>
                      <a:pt x="108178" y="173817"/>
                    </a:lnTo>
                    <a:lnTo>
                      <a:pt x="141402" y="100373"/>
                    </a:lnTo>
                    <a:cubicBezTo>
                      <a:pt x="150146" y="77641"/>
                      <a:pt x="147348" y="52110"/>
                      <a:pt x="133708" y="32175"/>
                    </a:cubicBezTo>
                    <a:cubicBezTo>
                      <a:pt x="120069" y="11891"/>
                      <a:pt x="97336" y="0"/>
                      <a:pt x="732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3473" cap="flat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281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0" name="Group 962">
              <a:extLst>
                <a:ext uri="{FF2B5EF4-FFF2-40B4-BE49-F238E27FC236}">
                  <a16:creationId xmlns:a16="http://schemas.microsoft.com/office/drawing/2014/main" id="{661DF9E9-CB26-3033-924E-61F4B7FB27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04848" y="3447177"/>
              <a:ext cx="167546" cy="301583"/>
              <a:chOff x="4461097" y="3661645"/>
              <a:chExt cx="146408" cy="263638"/>
            </a:xfrm>
            <a:solidFill>
              <a:srgbClr val="3F74A2"/>
            </a:solidFill>
          </p:grpSpPr>
          <p:pic>
            <p:nvPicPr>
              <p:cNvPr id="90" name="Picture 963">
                <a:extLst>
                  <a:ext uri="{FF2B5EF4-FFF2-40B4-BE49-F238E27FC236}">
                    <a16:creationId xmlns:a16="http://schemas.microsoft.com/office/drawing/2014/main" id="{E3DD3188-AFA2-B891-8C74-DD5A2968922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00770" y="3882607"/>
                <a:ext cx="67062" cy="4267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1" name="Graphic 9" descr="Marker">
                <a:extLst>
                  <a:ext uri="{FF2B5EF4-FFF2-40B4-BE49-F238E27FC236}">
                    <a16:creationId xmlns:a16="http://schemas.microsoft.com/office/drawing/2014/main" id="{0AD3C000-3173-BEF1-8952-A1FE0C6DAA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1097" y="3661645"/>
                <a:ext cx="146408" cy="237818"/>
              </a:xfrm>
              <a:custGeom>
                <a:avLst/>
                <a:gdLst>
                  <a:gd name="T0" fmla="*/ 73204 w 146408"/>
                  <a:gd name="T1" fmla="*/ 104920 h 237818"/>
                  <a:gd name="T2" fmla="*/ 41728 w 146408"/>
                  <a:gd name="T3" fmla="*/ 73444 h 237818"/>
                  <a:gd name="T4" fmla="*/ 73204 w 146408"/>
                  <a:gd name="T5" fmla="*/ 41968 h 237818"/>
                  <a:gd name="T6" fmla="*/ 104680 w 146408"/>
                  <a:gd name="T7" fmla="*/ 73444 h 237818"/>
                  <a:gd name="T8" fmla="*/ 73204 w 146408"/>
                  <a:gd name="T9" fmla="*/ 104920 h 237818"/>
                  <a:gd name="T10" fmla="*/ 73204 w 146408"/>
                  <a:gd name="T11" fmla="*/ 0 h 237818"/>
                  <a:gd name="T12" fmla="*/ 12701 w 146408"/>
                  <a:gd name="T13" fmla="*/ 32175 h 237818"/>
                  <a:gd name="T14" fmla="*/ 5006 w 146408"/>
                  <a:gd name="T15" fmla="*/ 100373 h 237818"/>
                  <a:gd name="T16" fmla="*/ 38231 w 146408"/>
                  <a:gd name="T17" fmla="*/ 173817 h 237818"/>
                  <a:gd name="T18" fmla="*/ 66909 w 146408"/>
                  <a:gd name="T19" fmla="*/ 233972 h 237818"/>
                  <a:gd name="T20" fmla="*/ 73204 w 146408"/>
                  <a:gd name="T21" fmla="*/ 237819 h 237818"/>
                  <a:gd name="T22" fmla="*/ 79500 w 146408"/>
                  <a:gd name="T23" fmla="*/ 233972 h 237818"/>
                  <a:gd name="T24" fmla="*/ 108178 w 146408"/>
                  <a:gd name="T25" fmla="*/ 173817 h 237818"/>
                  <a:gd name="T26" fmla="*/ 141402 w 146408"/>
                  <a:gd name="T27" fmla="*/ 100373 h 237818"/>
                  <a:gd name="T28" fmla="*/ 133708 w 146408"/>
                  <a:gd name="T29" fmla="*/ 32175 h 237818"/>
                  <a:gd name="T30" fmla="*/ 73204 w 146408"/>
                  <a:gd name="T31" fmla="*/ 0 h 23781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46408" h="237818">
                    <a:moveTo>
                      <a:pt x="73204" y="104920"/>
                    </a:moveTo>
                    <a:cubicBezTo>
                      <a:pt x="55718" y="104920"/>
                      <a:pt x="41728" y="90931"/>
                      <a:pt x="41728" y="73444"/>
                    </a:cubicBezTo>
                    <a:cubicBezTo>
                      <a:pt x="41728" y="55957"/>
                      <a:pt x="55718" y="41968"/>
                      <a:pt x="73204" y="41968"/>
                    </a:cubicBezTo>
                    <a:cubicBezTo>
                      <a:pt x="90691" y="41968"/>
                      <a:pt x="104680" y="55957"/>
                      <a:pt x="104680" y="73444"/>
                    </a:cubicBezTo>
                    <a:cubicBezTo>
                      <a:pt x="104680" y="90931"/>
                      <a:pt x="90691" y="104920"/>
                      <a:pt x="73204" y="104920"/>
                    </a:cubicBezTo>
                    <a:close/>
                    <a:moveTo>
                      <a:pt x="73204" y="0"/>
                    </a:moveTo>
                    <a:cubicBezTo>
                      <a:pt x="49073" y="0"/>
                      <a:pt x="26340" y="11891"/>
                      <a:pt x="12701" y="32175"/>
                    </a:cubicBezTo>
                    <a:cubicBezTo>
                      <a:pt x="-939" y="52110"/>
                      <a:pt x="-3737" y="77641"/>
                      <a:pt x="5006" y="100373"/>
                    </a:cubicBezTo>
                    <a:lnTo>
                      <a:pt x="38231" y="173817"/>
                    </a:lnTo>
                    <a:lnTo>
                      <a:pt x="66909" y="233972"/>
                    </a:lnTo>
                    <a:cubicBezTo>
                      <a:pt x="67958" y="236420"/>
                      <a:pt x="70407" y="237819"/>
                      <a:pt x="73204" y="237819"/>
                    </a:cubicBezTo>
                    <a:cubicBezTo>
                      <a:pt x="76002" y="237819"/>
                      <a:pt x="78450" y="236420"/>
                      <a:pt x="79500" y="233972"/>
                    </a:cubicBezTo>
                    <a:lnTo>
                      <a:pt x="108178" y="173817"/>
                    </a:lnTo>
                    <a:lnTo>
                      <a:pt x="141402" y="100373"/>
                    </a:lnTo>
                    <a:cubicBezTo>
                      <a:pt x="150146" y="77641"/>
                      <a:pt x="147348" y="52110"/>
                      <a:pt x="133708" y="32175"/>
                    </a:cubicBezTo>
                    <a:cubicBezTo>
                      <a:pt x="120069" y="11891"/>
                      <a:pt x="97336" y="0"/>
                      <a:pt x="732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3473" cap="flat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281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1" name="Group 965">
              <a:extLst>
                <a:ext uri="{FF2B5EF4-FFF2-40B4-BE49-F238E27FC236}">
                  <a16:creationId xmlns:a16="http://schemas.microsoft.com/office/drawing/2014/main" id="{FD0643EF-F72E-6D24-6834-E6EB0FE4A5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91941" y="3233777"/>
              <a:ext cx="167546" cy="301582"/>
              <a:chOff x="4461097" y="3661645"/>
              <a:chExt cx="146408" cy="263638"/>
            </a:xfrm>
            <a:solidFill>
              <a:srgbClr val="3F74A2"/>
            </a:solidFill>
          </p:grpSpPr>
          <p:pic>
            <p:nvPicPr>
              <p:cNvPr id="88" name="Picture 966">
                <a:extLst>
                  <a:ext uri="{FF2B5EF4-FFF2-40B4-BE49-F238E27FC236}">
                    <a16:creationId xmlns:a16="http://schemas.microsoft.com/office/drawing/2014/main" id="{EF122454-A072-6BD8-844F-FFC4AA6FD7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00770" y="3882607"/>
                <a:ext cx="67062" cy="4267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9" name="Graphic 9" descr="Marker">
                <a:extLst>
                  <a:ext uri="{FF2B5EF4-FFF2-40B4-BE49-F238E27FC236}">
                    <a16:creationId xmlns:a16="http://schemas.microsoft.com/office/drawing/2014/main" id="{05BF01A5-E056-EA00-5B40-26295911E6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1097" y="3661645"/>
                <a:ext cx="146408" cy="237818"/>
              </a:xfrm>
              <a:custGeom>
                <a:avLst/>
                <a:gdLst>
                  <a:gd name="T0" fmla="*/ 73204 w 146408"/>
                  <a:gd name="T1" fmla="*/ 104920 h 237818"/>
                  <a:gd name="T2" fmla="*/ 41728 w 146408"/>
                  <a:gd name="T3" fmla="*/ 73444 h 237818"/>
                  <a:gd name="T4" fmla="*/ 73204 w 146408"/>
                  <a:gd name="T5" fmla="*/ 41968 h 237818"/>
                  <a:gd name="T6" fmla="*/ 104680 w 146408"/>
                  <a:gd name="T7" fmla="*/ 73444 h 237818"/>
                  <a:gd name="T8" fmla="*/ 73204 w 146408"/>
                  <a:gd name="T9" fmla="*/ 104920 h 237818"/>
                  <a:gd name="T10" fmla="*/ 73204 w 146408"/>
                  <a:gd name="T11" fmla="*/ 0 h 237818"/>
                  <a:gd name="T12" fmla="*/ 12701 w 146408"/>
                  <a:gd name="T13" fmla="*/ 32175 h 237818"/>
                  <a:gd name="T14" fmla="*/ 5006 w 146408"/>
                  <a:gd name="T15" fmla="*/ 100373 h 237818"/>
                  <a:gd name="T16" fmla="*/ 38231 w 146408"/>
                  <a:gd name="T17" fmla="*/ 173817 h 237818"/>
                  <a:gd name="T18" fmla="*/ 66909 w 146408"/>
                  <a:gd name="T19" fmla="*/ 233972 h 237818"/>
                  <a:gd name="T20" fmla="*/ 73204 w 146408"/>
                  <a:gd name="T21" fmla="*/ 237819 h 237818"/>
                  <a:gd name="T22" fmla="*/ 79500 w 146408"/>
                  <a:gd name="T23" fmla="*/ 233972 h 237818"/>
                  <a:gd name="T24" fmla="*/ 108178 w 146408"/>
                  <a:gd name="T25" fmla="*/ 173817 h 237818"/>
                  <a:gd name="T26" fmla="*/ 141402 w 146408"/>
                  <a:gd name="T27" fmla="*/ 100373 h 237818"/>
                  <a:gd name="T28" fmla="*/ 133708 w 146408"/>
                  <a:gd name="T29" fmla="*/ 32175 h 237818"/>
                  <a:gd name="T30" fmla="*/ 73204 w 146408"/>
                  <a:gd name="T31" fmla="*/ 0 h 23781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46408" h="237818">
                    <a:moveTo>
                      <a:pt x="73204" y="104920"/>
                    </a:moveTo>
                    <a:cubicBezTo>
                      <a:pt x="55718" y="104920"/>
                      <a:pt x="41728" y="90931"/>
                      <a:pt x="41728" y="73444"/>
                    </a:cubicBezTo>
                    <a:cubicBezTo>
                      <a:pt x="41728" y="55957"/>
                      <a:pt x="55718" y="41968"/>
                      <a:pt x="73204" y="41968"/>
                    </a:cubicBezTo>
                    <a:cubicBezTo>
                      <a:pt x="90691" y="41968"/>
                      <a:pt x="104680" y="55957"/>
                      <a:pt x="104680" y="73444"/>
                    </a:cubicBezTo>
                    <a:cubicBezTo>
                      <a:pt x="104680" y="90931"/>
                      <a:pt x="90691" y="104920"/>
                      <a:pt x="73204" y="104920"/>
                    </a:cubicBezTo>
                    <a:close/>
                    <a:moveTo>
                      <a:pt x="73204" y="0"/>
                    </a:moveTo>
                    <a:cubicBezTo>
                      <a:pt x="49073" y="0"/>
                      <a:pt x="26340" y="11891"/>
                      <a:pt x="12701" y="32175"/>
                    </a:cubicBezTo>
                    <a:cubicBezTo>
                      <a:pt x="-939" y="52110"/>
                      <a:pt x="-3737" y="77641"/>
                      <a:pt x="5006" y="100373"/>
                    </a:cubicBezTo>
                    <a:lnTo>
                      <a:pt x="38231" y="173817"/>
                    </a:lnTo>
                    <a:lnTo>
                      <a:pt x="66909" y="233972"/>
                    </a:lnTo>
                    <a:cubicBezTo>
                      <a:pt x="67958" y="236420"/>
                      <a:pt x="70407" y="237819"/>
                      <a:pt x="73204" y="237819"/>
                    </a:cubicBezTo>
                    <a:cubicBezTo>
                      <a:pt x="76002" y="237819"/>
                      <a:pt x="78450" y="236420"/>
                      <a:pt x="79500" y="233972"/>
                    </a:cubicBezTo>
                    <a:lnTo>
                      <a:pt x="108178" y="173817"/>
                    </a:lnTo>
                    <a:lnTo>
                      <a:pt x="141402" y="100373"/>
                    </a:lnTo>
                    <a:cubicBezTo>
                      <a:pt x="150146" y="77641"/>
                      <a:pt x="147348" y="52110"/>
                      <a:pt x="133708" y="32175"/>
                    </a:cubicBezTo>
                    <a:cubicBezTo>
                      <a:pt x="120069" y="11891"/>
                      <a:pt x="97336" y="0"/>
                      <a:pt x="732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3473" cap="flat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281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2" name="Group 968">
              <a:extLst>
                <a:ext uri="{FF2B5EF4-FFF2-40B4-BE49-F238E27FC236}">
                  <a16:creationId xmlns:a16="http://schemas.microsoft.com/office/drawing/2014/main" id="{CFC2341C-F615-12B0-5DBB-C2DABE888F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38488" y="4103250"/>
              <a:ext cx="167546" cy="301583"/>
              <a:chOff x="4461097" y="3661645"/>
              <a:chExt cx="146408" cy="263638"/>
            </a:xfrm>
            <a:solidFill>
              <a:srgbClr val="3F74A2"/>
            </a:solidFill>
          </p:grpSpPr>
          <p:pic>
            <p:nvPicPr>
              <p:cNvPr id="86" name="Picture 969">
                <a:extLst>
                  <a:ext uri="{FF2B5EF4-FFF2-40B4-BE49-F238E27FC236}">
                    <a16:creationId xmlns:a16="http://schemas.microsoft.com/office/drawing/2014/main" id="{C72A8EA4-C63B-7256-F626-B4C5D5DE141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00770" y="3882607"/>
                <a:ext cx="67062" cy="4267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7" name="Graphic 9" descr="Marker">
                <a:extLst>
                  <a:ext uri="{FF2B5EF4-FFF2-40B4-BE49-F238E27FC236}">
                    <a16:creationId xmlns:a16="http://schemas.microsoft.com/office/drawing/2014/main" id="{EC78591C-90B2-1FC8-0D05-75B82A07DF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1097" y="3661645"/>
                <a:ext cx="146408" cy="237818"/>
              </a:xfrm>
              <a:custGeom>
                <a:avLst/>
                <a:gdLst>
                  <a:gd name="T0" fmla="*/ 73204 w 146408"/>
                  <a:gd name="T1" fmla="*/ 104920 h 237818"/>
                  <a:gd name="T2" fmla="*/ 41728 w 146408"/>
                  <a:gd name="T3" fmla="*/ 73444 h 237818"/>
                  <a:gd name="T4" fmla="*/ 73204 w 146408"/>
                  <a:gd name="T5" fmla="*/ 41968 h 237818"/>
                  <a:gd name="T6" fmla="*/ 104680 w 146408"/>
                  <a:gd name="T7" fmla="*/ 73444 h 237818"/>
                  <a:gd name="T8" fmla="*/ 73204 w 146408"/>
                  <a:gd name="T9" fmla="*/ 104920 h 237818"/>
                  <a:gd name="T10" fmla="*/ 73204 w 146408"/>
                  <a:gd name="T11" fmla="*/ 0 h 237818"/>
                  <a:gd name="T12" fmla="*/ 12701 w 146408"/>
                  <a:gd name="T13" fmla="*/ 32175 h 237818"/>
                  <a:gd name="T14" fmla="*/ 5006 w 146408"/>
                  <a:gd name="T15" fmla="*/ 100373 h 237818"/>
                  <a:gd name="T16" fmla="*/ 38231 w 146408"/>
                  <a:gd name="T17" fmla="*/ 173817 h 237818"/>
                  <a:gd name="T18" fmla="*/ 66909 w 146408"/>
                  <a:gd name="T19" fmla="*/ 233972 h 237818"/>
                  <a:gd name="T20" fmla="*/ 73204 w 146408"/>
                  <a:gd name="T21" fmla="*/ 237819 h 237818"/>
                  <a:gd name="T22" fmla="*/ 79500 w 146408"/>
                  <a:gd name="T23" fmla="*/ 233972 h 237818"/>
                  <a:gd name="T24" fmla="*/ 108178 w 146408"/>
                  <a:gd name="T25" fmla="*/ 173817 h 237818"/>
                  <a:gd name="T26" fmla="*/ 141402 w 146408"/>
                  <a:gd name="T27" fmla="*/ 100373 h 237818"/>
                  <a:gd name="T28" fmla="*/ 133708 w 146408"/>
                  <a:gd name="T29" fmla="*/ 32175 h 237818"/>
                  <a:gd name="T30" fmla="*/ 73204 w 146408"/>
                  <a:gd name="T31" fmla="*/ 0 h 23781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46408" h="237818">
                    <a:moveTo>
                      <a:pt x="73204" y="104920"/>
                    </a:moveTo>
                    <a:cubicBezTo>
                      <a:pt x="55718" y="104920"/>
                      <a:pt x="41728" y="90931"/>
                      <a:pt x="41728" y="73444"/>
                    </a:cubicBezTo>
                    <a:cubicBezTo>
                      <a:pt x="41728" y="55957"/>
                      <a:pt x="55718" y="41968"/>
                      <a:pt x="73204" y="41968"/>
                    </a:cubicBezTo>
                    <a:cubicBezTo>
                      <a:pt x="90691" y="41968"/>
                      <a:pt x="104680" y="55957"/>
                      <a:pt x="104680" y="73444"/>
                    </a:cubicBezTo>
                    <a:cubicBezTo>
                      <a:pt x="104680" y="90931"/>
                      <a:pt x="90691" y="104920"/>
                      <a:pt x="73204" y="104920"/>
                    </a:cubicBezTo>
                    <a:close/>
                    <a:moveTo>
                      <a:pt x="73204" y="0"/>
                    </a:moveTo>
                    <a:cubicBezTo>
                      <a:pt x="49073" y="0"/>
                      <a:pt x="26340" y="11891"/>
                      <a:pt x="12701" y="32175"/>
                    </a:cubicBezTo>
                    <a:cubicBezTo>
                      <a:pt x="-939" y="52110"/>
                      <a:pt x="-3737" y="77641"/>
                      <a:pt x="5006" y="100373"/>
                    </a:cubicBezTo>
                    <a:lnTo>
                      <a:pt x="38231" y="173817"/>
                    </a:lnTo>
                    <a:lnTo>
                      <a:pt x="66909" y="233972"/>
                    </a:lnTo>
                    <a:cubicBezTo>
                      <a:pt x="67958" y="236420"/>
                      <a:pt x="70407" y="237819"/>
                      <a:pt x="73204" y="237819"/>
                    </a:cubicBezTo>
                    <a:cubicBezTo>
                      <a:pt x="76002" y="237819"/>
                      <a:pt x="78450" y="236420"/>
                      <a:pt x="79500" y="233972"/>
                    </a:cubicBezTo>
                    <a:lnTo>
                      <a:pt x="108178" y="173817"/>
                    </a:lnTo>
                    <a:lnTo>
                      <a:pt x="141402" y="100373"/>
                    </a:lnTo>
                    <a:cubicBezTo>
                      <a:pt x="150146" y="77641"/>
                      <a:pt x="147348" y="52110"/>
                      <a:pt x="133708" y="32175"/>
                    </a:cubicBezTo>
                    <a:cubicBezTo>
                      <a:pt x="120069" y="11891"/>
                      <a:pt x="97336" y="0"/>
                      <a:pt x="732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3473" cap="flat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281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3" name="Group 971">
              <a:extLst>
                <a:ext uri="{FF2B5EF4-FFF2-40B4-BE49-F238E27FC236}">
                  <a16:creationId xmlns:a16="http://schemas.microsoft.com/office/drawing/2014/main" id="{DFEC830D-2411-7CBA-8378-A5BD213BA1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21561" y="4345440"/>
              <a:ext cx="167545" cy="605115"/>
              <a:chOff x="4461097" y="3882607"/>
              <a:chExt cx="146408" cy="528979"/>
            </a:xfrm>
            <a:solidFill>
              <a:srgbClr val="3F74A2"/>
            </a:solidFill>
          </p:grpSpPr>
          <p:pic>
            <p:nvPicPr>
              <p:cNvPr id="84" name="Picture 972">
                <a:extLst>
                  <a:ext uri="{FF2B5EF4-FFF2-40B4-BE49-F238E27FC236}">
                    <a16:creationId xmlns:a16="http://schemas.microsoft.com/office/drawing/2014/main" id="{28F18110-587B-FDDF-3ADB-EA36F2382AC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00770" y="3882607"/>
                <a:ext cx="67062" cy="4267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5" name="Graphic 9" descr="Marker">
                <a:extLst>
                  <a:ext uri="{FF2B5EF4-FFF2-40B4-BE49-F238E27FC236}">
                    <a16:creationId xmlns:a16="http://schemas.microsoft.com/office/drawing/2014/main" id="{F165FFFB-F5AA-0CD4-2BDF-B5159EB184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1097" y="4173768"/>
                <a:ext cx="146408" cy="237818"/>
              </a:xfrm>
              <a:custGeom>
                <a:avLst/>
                <a:gdLst>
                  <a:gd name="T0" fmla="*/ 73204 w 146408"/>
                  <a:gd name="T1" fmla="*/ 104920 h 237818"/>
                  <a:gd name="T2" fmla="*/ 41728 w 146408"/>
                  <a:gd name="T3" fmla="*/ 73444 h 237818"/>
                  <a:gd name="T4" fmla="*/ 73204 w 146408"/>
                  <a:gd name="T5" fmla="*/ 41968 h 237818"/>
                  <a:gd name="T6" fmla="*/ 104680 w 146408"/>
                  <a:gd name="T7" fmla="*/ 73444 h 237818"/>
                  <a:gd name="T8" fmla="*/ 73204 w 146408"/>
                  <a:gd name="T9" fmla="*/ 104920 h 237818"/>
                  <a:gd name="T10" fmla="*/ 73204 w 146408"/>
                  <a:gd name="T11" fmla="*/ 0 h 237818"/>
                  <a:gd name="T12" fmla="*/ 12701 w 146408"/>
                  <a:gd name="T13" fmla="*/ 32175 h 237818"/>
                  <a:gd name="T14" fmla="*/ 5006 w 146408"/>
                  <a:gd name="T15" fmla="*/ 100373 h 237818"/>
                  <a:gd name="T16" fmla="*/ 38231 w 146408"/>
                  <a:gd name="T17" fmla="*/ 173817 h 237818"/>
                  <a:gd name="T18" fmla="*/ 66909 w 146408"/>
                  <a:gd name="T19" fmla="*/ 233972 h 237818"/>
                  <a:gd name="T20" fmla="*/ 73204 w 146408"/>
                  <a:gd name="T21" fmla="*/ 237819 h 237818"/>
                  <a:gd name="T22" fmla="*/ 79500 w 146408"/>
                  <a:gd name="T23" fmla="*/ 233972 h 237818"/>
                  <a:gd name="T24" fmla="*/ 108178 w 146408"/>
                  <a:gd name="T25" fmla="*/ 173817 h 237818"/>
                  <a:gd name="T26" fmla="*/ 141402 w 146408"/>
                  <a:gd name="T27" fmla="*/ 100373 h 237818"/>
                  <a:gd name="T28" fmla="*/ 133708 w 146408"/>
                  <a:gd name="T29" fmla="*/ 32175 h 237818"/>
                  <a:gd name="T30" fmla="*/ 73204 w 146408"/>
                  <a:gd name="T31" fmla="*/ 0 h 23781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46408" h="237818">
                    <a:moveTo>
                      <a:pt x="73204" y="104920"/>
                    </a:moveTo>
                    <a:cubicBezTo>
                      <a:pt x="55718" y="104920"/>
                      <a:pt x="41728" y="90931"/>
                      <a:pt x="41728" y="73444"/>
                    </a:cubicBezTo>
                    <a:cubicBezTo>
                      <a:pt x="41728" y="55957"/>
                      <a:pt x="55718" y="41968"/>
                      <a:pt x="73204" y="41968"/>
                    </a:cubicBezTo>
                    <a:cubicBezTo>
                      <a:pt x="90691" y="41968"/>
                      <a:pt x="104680" y="55957"/>
                      <a:pt x="104680" y="73444"/>
                    </a:cubicBezTo>
                    <a:cubicBezTo>
                      <a:pt x="104680" y="90931"/>
                      <a:pt x="90691" y="104920"/>
                      <a:pt x="73204" y="104920"/>
                    </a:cubicBezTo>
                    <a:close/>
                    <a:moveTo>
                      <a:pt x="73204" y="0"/>
                    </a:moveTo>
                    <a:cubicBezTo>
                      <a:pt x="49073" y="0"/>
                      <a:pt x="26340" y="11891"/>
                      <a:pt x="12701" y="32175"/>
                    </a:cubicBezTo>
                    <a:cubicBezTo>
                      <a:pt x="-939" y="52110"/>
                      <a:pt x="-3737" y="77641"/>
                      <a:pt x="5006" y="100373"/>
                    </a:cubicBezTo>
                    <a:lnTo>
                      <a:pt x="38231" y="173817"/>
                    </a:lnTo>
                    <a:lnTo>
                      <a:pt x="66909" y="233972"/>
                    </a:lnTo>
                    <a:cubicBezTo>
                      <a:pt x="67958" y="236420"/>
                      <a:pt x="70407" y="237819"/>
                      <a:pt x="73204" y="237819"/>
                    </a:cubicBezTo>
                    <a:cubicBezTo>
                      <a:pt x="76002" y="237819"/>
                      <a:pt x="78450" y="236420"/>
                      <a:pt x="79500" y="233972"/>
                    </a:cubicBezTo>
                    <a:lnTo>
                      <a:pt x="108178" y="173817"/>
                    </a:lnTo>
                    <a:lnTo>
                      <a:pt x="141402" y="100373"/>
                    </a:lnTo>
                    <a:cubicBezTo>
                      <a:pt x="150146" y="77641"/>
                      <a:pt x="147348" y="52110"/>
                      <a:pt x="133708" y="32175"/>
                    </a:cubicBezTo>
                    <a:cubicBezTo>
                      <a:pt x="120069" y="11891"/>
                      <a:pt x="97336" y="0"/>
                      <a:pt x="732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3473" cap="flat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281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4" name="Group 974">
              <a:extLst>
                <a:ext uri="{FF2B5EF4-FFF2-40B4-BE49-F238E27FC236}">
                  <a16:creationId xmlns:a16="http://schemas.microsoft.com/office/drawing/2014/main" id="{9BCB1214-3482-FC2D-DF2C-3119A552F3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19978" y="2702921"/>
              <a:ext cx="167546" cy="301583"/>
              <a:chOff x="4461097" y="3661645"/>
              <a:chExt cx="146408" cy="263638"/>
            </a:xfrm>
            <a:solidFill>
              <a:srgbClr val="3F74A2"/>
            </a:solidFill>
          </p:grpSpPr>
          <p:pic>
            <p:nvPicPr>
              <p:cNvPr id="82" name="Picture 975">
                <a:extLst>
                  <a:ext uri="{FF2B5EF4-FFF2-40B4-BE49-F238E27FC236}">
                    <a16:creationId xmlns:a16="http://schemas.microsoft.com/office/drawing/2014/main" id="{B45DF9B2-A3C2-CDEE-85E1-E3342C6F12F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00770" y="3882607"/>
                <a:ext cx="67062" cy="4267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3" name="Graphic 9" descr="Marker">
                <a:extLst>
                  <a:ext uri="{FF2B5EF4-FFF2-40B4-BE49-F238E27FC236}">
                    <a16:creationId xmlns:a16="http://schemas.microsoft.com/office/drawing/2014/main" id="{1A96C366-199C-201E-5B72-5DAA22EBCD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1097" y="3661645"/>
                <a:ext cx="146408" cy="237818"/>
              </a:xfrm>
              <a:custGeom>
                <a:avLst/>
                <a:gdLst>
                  <a:gd name="T0" fmla="*/ 73204 w 146408"/>
                  <a:gd name="T1" fmla="*/ 104920 h 237818"/>
                  <a:gd name="T2" fmla="*/ 41728 w 146408"/>
                  <a:gd name="T3" fmla="*/ 73444 h 237818"/>
                  <a:gd name="T4" fmla="*/ 73204 w 146408"/>
                  <a:gd name="T5" fmla="*/ 41968 h 237818"/>
                  <a:gd name="T6" fmla="*/ 104680 w 146408"/>
                  <a:gd name="T7" fmla="*/ 73444 h 237818"/>
                  <a:gd name="T8" fmla="*/ 73204 w 146408"/>
                  <a:gd name="T9" fmla="*/ 104920 h 237818"/>
                  <a:gd name="T10" fmla="*/ 73204 w 146408"/>
                  <a:gd name="T11" fmla="*/ 0 h 237818"/>
                  <a:gd name="T12" fmla="*/ 12701 w 146408"/>
                  <a:gd name="T13" fmla="*/ 32175 h 237818"/>
                  <a:gd name="T14" fmla="*/ 5006 w 146408"/>
                  <a:gd name="T15" fmla="*/ 100373 h 237818"/>
                  <a:gd name="T16" fmla="*/ 38231 w 146408"/>
                  <a:gd name="T17" fmla="*/ 173817 h 237818"/>
                  <a:gd name="T18" fmla="*/ 66909 w 146408"/>
                  <a:gd name="T19" fmla="*/ 233972 h 237818"/>
                  <a:gd name="T20" fmla="*/ 73204 w 146408"/>
                  <a:gd name="T21" fmla="*/ 237819 h 237818"/>
                  <a:gd name="T22" fmla="*/ 79500 w 146408"/>
                  <a:gd name="T23" fmla="*/ 233972 h 237818"/>
                  <a:gd name="T24" fmla="*/ 108178 w 146408"/>
                  <a:gd name="T25" fmla="*/ 173817 h 237818"/>
                  <a:gd name="T26" fmla="*/ 141402 w 146408"/>
                  <a:gd name="T27" fmla="*/ 100373 h 237818"/>
                  <a:gd name="T28" fmla="*/ 133708 w 146408"/>
                  <a:gd name="T29" fmla="*/ 32175 h 237818"/>
                  <a:gd name="T30" fmla="*/ 73204 w 146408"/>
                  <a:gd name="T31" fmla="*/ 0 h 23781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46408" h="237818">
                    <a:moveTo>
                      <a:pt x="73204" y="104920"/>
                    </a:moveTo>
                    <a:cubicBezTo>
                      <a:pt x="55718" y="104920"/>
                      <a:pt x="41728" y="90931"/>
                      <a:pt x="41728" y="73444"/>
                    </a:cubicBezTo>
                    <a:cubicBezTo>
                      <a:pt x="41728" y="55957"/>
                      <a:pt x="55718" y="41968"/>
                      <a:pt x="73204" y="41968"/>
                    </a:cubicBezTo>
                    <a:cubicBezTo>
                      <a:pt x="90691" y="41968"/>
                      <a:pt x="104680" y="55957"/>
                      <a:pt x="104680" y="73444"/>
                    </a:cubicBezTo>
                    <a:cubicBezTo>
                      <a:pt x="104680" y="90931"/>
                      <a:pt x="90691" y="104920"/>
                      <a:pt x="73204" y="104920"/>
                    </a:cubicBezTo>
                    <a:close/>
                    <a:moveTo>
                      <a:pt x="73204" y="0"/>
                    </a:moveTo>
                    <a:cubicBezTo>
                      <a:pt x="49073" y="0"/>
                      <a:pt x="26340" y="11891"/>
                      <a:pt x="12701" y="32175"/>
                    </a:cubicBezTo>
                    <a:cubicBezTo>
                      <a:pt x="-939" y="52110"/>
                      <a:pt x="-3737" y="77641"/>
                      <a:pt x="5006" y="100373"/>
                    </a:cubicBezTo>
                    <a:lnTo>
                      <a:pt x="38231" y="173817"/>
                    </a:lnTo>
                    <a:lnTo>
                      <a:pt x="66909" y="233972"/>
                    </a:lnTo>
                    <a:cubicBezTo>
                      <a:pt x="67958" y="236420"/>
                      <a:pt x="70407" y="237819"/>
                      <a:pt x="73204" y="237819"/>
                    </a:cubicBezTo>
                    <a:cubicBezTo>
                      <a:pt x="76002" y="237819"/>
                      <a:pt x="78450" y="236420"/>
                      <a:pt x="79500" y="233972"/>
                    </a:cubicBezTo>
                    <a:lnTo>
                      <a:pt x="108178" y="173817"/>
                    </a:lnTo>
                    <a:lnTo>
                      <a:pt x="141402" y="100373"/>
                    </a:lnTo>
                    <a:cubicBezTo>
                      <a:pt x="150146" y="77641"/>
                      <a:pt x="147348" y="52110"/>
                      <a:pt x="133708" y="32175"/>
                    </a:cubicBezTo>
                    <a:cubicBezTo>
                      <a:pt x="120069" y="11891"/>
                      <a:pt x="97336" y="0"/>
                      <a:pt x="732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3473" cap="flat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281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5" name="Group 977">
              <a:extLst>
                <a:ext uri="{FF2B5EF4-FFF2-40B4-BE49-F238E27FC236}">
                  <a16:creationId xmlns:a16="http://schemas.microsoft.com/office/drawing/2014/main" id="{A834A42C-EF03-739F-9847-4EB8AB6FD8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04945" y="3083867"/>
              <a:ext cx="167545" cy="303346"/>
              <a:chOff x="4461097" y="3661645"/>
              <a:chExt cx="146408" cy="263638"/>
            </a:xfrm>
            <a:solidFill>
              <a:srgbClr val="3F74A2"/>
            </a:solidFill>
          </p:grpSpPr>
          <p:pic>
            <p:nvPicPr>
              <p:cNvPr id="80" name="Picture 978">
                <a:extLst>
                  <a:ext uri="{FF2B5EF4-FFF2-40B4-BE49-F238E27FC236}">
                    <a16:creationId xmlns:a16="http://schemas.microsoft.com/office/drawing/2014/main" id="{116DCD1C-BD06-4A7A-D553-A0CE98253C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00770" y="3882607"/>
                <a:ext cx="67062" cy="4267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1" name="Graphic 9" descr="Marker">
                <a:extLst>
                  <a:ext uri="{FF2B5EF4-FFF2-40B4-BE49-F238E27FC236}">
                    <a16:creationId xmlns:a16="http://schemas.microsoft.com/office/drawing/2014/main" id="{F5718C24-EE92-BA0C-6658-5B6867D59F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1097" y="3661645"/>
                <a:ext cx="146408" cy="237818"/>
              </a:xfrm>
              <a:custGeom>
                <a:avLst/>
                <a:gdLst>
                  <a:gd name="T0" fmla="*/ 73204 w 146408"/>
                  <a:gd name="T1" fmla="*/ 104920 h 237818"/>
                  <a:gd name="T2" fmla="*/ 41728 w 146408"/>
                  <a:gd name="T3" fmla="*/ 73444 h 237818"/>
                  <a:gd name="T4" fmla="*/ 73204 w 146408"/>
                  <a:gd name="T5" fmla="*/ 41968 h 237818"/>
                  <a:gd name="T6" fmla="*/ 104680 w 146408"/>
                  <a:gd name="T7" fmla="*/ 73444 h 237818"/>
                  <a:gd name="T8" fmla="*/ 73204 w 146408"/>
                  <a:gd name="T9" fmla="*/ 104920 h 237818"/>
                  <a:gd name="T10" fmla="*/ 73204 w 146408"/>
                  <a:gd name="T11" fmla="*/ 0 h 237818"/>
                  <a:gd name="T12" fmla="*/ 12701 w 146408"/>
                  <a:gd name="T13" fmla="*/ 32175 h 237818"/>
                  <a:gd name="T14" fmla="*/ 5006 w 146408"/>
                  <a:gd name="T15" fmla="*/ 100373 h 237818"/>
                  <a:gd name="T16" fmla="*/ 38231 w 146408"/>
                  <a:gd name="T17" fmla="*/ 173817 h 237818"/>
                  <a:gd name="T18" fmla="*/ 66909 w 146408"/>
                  <a:gd name="T19" fmla="*/ 233972 h 237818"/>
                  <a:gd name="T20" fmla="*/ 73204 w 146408"/>
                  <a:gd name="T21" fmla="*/ 237819 h 237818"/>
                  <a:gd name="T22" fmla="*/ 79500 w 146408"/>
                  <a:gd name="T23" fmla="*/ 233972 h 237818"/>
                  <a:gd name="T24" fmla="*/ 108178 w 146408"/>
                  <a:gd name="T25" fmla="*/ 173817 h 237818"/>
                  <a:gd name="T26" fmla="*/ 141402 w 146408"/>
                  <a:gd name="T27" fmla="*/ 100373 h 237818"/>
                  <a:gd name="T28" fmla="*/ 133708 w 146408"/>
                  <a:gd name="T29" fmla="*/ 32175 h 237818"/>
                  <a:gd name="T30" fmla="*/ 73204 w 146408"/>
                  <a:gd name="T31" fmla="*/ 0 h 23781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46408" h="237818">
                    <a:moveTo>
                      <a:pt x="73204" y="104920"/>
                    </a:moveTo>
                    <a:cubicBezTo>
                      <a:pt x="55718" y="104920"/>
                      <a:pt x="41728" y="90931"/>
                      <a:pt x="41728" y="73444"/>
                    </a:cubicBezTo>
                    <a:cubicBezTo>
                      <a:pt x="41728" y="55957"/>
                      <a:pt x="55718" y="41968"/>
                      <a:pt x="73204" y="41968"/>
                    </a:cubicBezTo>
                    <a:cubicBezTo>
                      <a:pt x="90691" y="41968"/>
                      <a:pt x="104680" y="55957"/>
                      <a:pt x="104680" y="73444"/>
                    </a:cubicBezTo>
                    <a:cubicBezTo>
                      <a:pt x="104680" y="90931"/>
                      <a:pt x="90691" y="104920"/>
                      <a:pt x="73204" y="104920"/>
                    </a:cubicBezTo>
                    <a:close/>
                    <a:moveTo>
                      <a:pt x="73204" y="0"/>
                    </a:moveTo>
                    <a:cubicBezTo>
                      <a:pt x="49073" y="0"/>
                      <a:pt x="26340" y="11891"/>
                      <a:pt x="12701" y="32175"/>
                    </a:cubicBezTo>
                    <a:cubicBezTo>
                      <a:pt x="-939" y="52110"/>
                      <a:pt x="-3737" y="77641"/>
                      <a:pt x="5006" y="100373"/>
                    </a:cubicBezTo>
                    <a:lnTo>
                      <a:pt x="38231" y="173817"/>
                    </a:lnTo>
                    <a:lnTo>
                      <a:pt x="66909" y="233972"/>
                    </a:lnTo>
                    <a:cubicBezTo>
                      <a:pt x="67958" y="236420"/>
                      <a:pt x="70407" y="237819"/>
                      <a:pt x="73204" y="237819"/>
                    </a:cubicBezTo>
                    <a:cubicBezTo>
                      <a:pt x="76002" y="237819"/>
                      <a:pt x="78450" y="236420"/>
                      <a:pt x="79500" y="233972"/>
                    </a:cubicBezTo>
                    <a:lnTo>
                      <a:pt x="108178" y="173817"/>
                    </a:lnTo>
                    <a:lnTo>
                      <a:pt x="141402" y="100373"/>
                    </a:lnTo>
                    <a:cubicBezTo>
                      <a:pt x="150146" y="77641"/>
                      <a:pt x="147348" y="52110"/>
                      <a:pt x="133708" y="32175"/>
                    </a:cubicBezTo>
                    <a:cubicBezTo>
                      <a:pt x="120069" y="11891"/>
                      <a:pt x="97336" y="0"/>
                      <a:pt x="732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3473" cap="flat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281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6" name="Group 980">
              <a:extLst>
                <a:ext uri="{FF2B5EF4-FFF2-40B4-BE49-F238E27FC236}">
                  <a16:creationId xmlns:a16="http://schemas.microsoft.com/office/drawing/2014/main" id="{BA553A69-A47D-BF9D-F096-DA61FE8F3D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24181" y="3937468"/>
              <a:ext cx="169309" cy="303346"/>
              <a:chOff x="4461097" y="3661645"/>
              <a:chExt cx="146408" cy="263638"/>
            </a:xfrm>
            <a:solidFill>
              <a:srgbClr val="3F74A2"/>
            </a:solidFill>
          </p:grpSpPr>
          <p:pic>
            <p:nvPicPr>
              <p:cNvPr id="78" name="Picture 981">
                <a:extLst>
                  <a:ext uri="{FF2B5EF4-FFF2-40B4-BE49-F238E27FC236}">
                    <a16:creationId xmlns:a16="http://schemas.microsoft.com/office/drawing/2014/main" id="{2F5AEB90-9A28-31D5-1C5B-299675E71DB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00770" y="3882607"/>
                <a:ext cx="67062" cy="4267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9" name="Graphic 9" descr="Marker">
                <a:extLst>
                  <a:ext uri="{FF2B5EF4-FFF2-40B4-BE49-F238E27FC236}">
                    <a16:creationId xmlns:a16="http://schemas.microsoft.com/office/drawing/2014/main" id="{29A21048-E46F-B168-4CCE-432BF33933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1097" y="3661645"/>
                <a:ext cx="146408" cy="237818"/>
              </a:xfrm>
              <a:custGeom>
                <a:avLst/>
                <a:gdLst>
                  <a:gd name="T0" fmla="*/ 73204 w 146408"/>
                  <a:gd name="T1" fmla="*/ 104920 h 237818"/>
                  <a:gd name="T2" fmla="*/ 41728 w 146408"/>
                  <a:gd name="T3" fmla="*/ 73444 h 237818"/>
                  <a:gd name="T4" fmla="*/ 73204 w 146408"/>
                  <a:gd name="T5" fmla="*/ 41968 h 237818"/>
                  <a:gd name="T6" fmla="*/ 104680 w 146408"/>
                  <a:gd name="T7" fmla="*/ 73444 h 237818"/>
                  <a:gd name="T8" fmla="*/ 73204 w 146408"/>
                  <a:gd name="T9" fmla="*/ 104920 h 237818"/>
                  <a:gd name="T10" fmla="*/ 73204 w 146408"/>
                  <a:gd name="T11" fmla="*/ 0 h 237818"/>
                  <a:gd name="T12" fmla="*/ 12701 w 146408"/>
                  <a:gd name="T13" fmla="*/ 32175 h 237818"/>
                  <a:gd name="T14" fmla="*/ 5006 w 146408"/>
                  <a:gd name="T15" fmla="*/ 100373 h 237818"/>
                  <a:gd name="T16" fmla="*/ 38231 w 146408"/>
                  <a:gd name="T17" fmla="*/ 173817 h 237818"/>
                  <a:gd name="T18" fmla="*/ 66909 w 146408"/>
                  <a:gd name="T19" fmla="*/ 233972 h 237818"/>
                  <a:gd name="T20" fmla="*/ 73204 w 146408"/>
                  <a:gd name="T21" fmla="*/ 237819 h 237818"/>
                  <a:gd name="T22" fmla="*/ 79500 w 146408"/>
                  <a:gd name="T23" fmla="*/ 233972 h 237818"/>
                  <a:gd name="T24" fmla="*/ 108178 w 146408"/>
                  <a:gd name="T25" fmla="*/ 173817 h 237818"/>
                  <a:gd name="T26" fmla="*/ 141402 w 146408"/>
                  <a:gd name="T27" fmla="*/ 100373 h 237818"/>
                  <a:gd name="T28" fmla="*/ 133708 w 146408"/>
                  <a:gd name="T29" fmla="*/ 32175 h 237818"/>
                  <a:gd name="T30" fmla="*/ 73204 w 146408"/>
                  <a:gd name="T31" fmla="*/ 0 h 23781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46408" h="237818">
                    <a:moveTo>
                      <a:pt x="73204" y="104920"/>
                    </a:moveTo>
                    <a:cubicBezTo>
                      <a:pt x="55718" y="104920"/>
                      <a:pt x="41728" y="90931"/>
                      <a:pt x="41728" y="73444"/>
                    </a:cubicBezTo>
                    <a:cubicBezTo>
                      <a:pt x="41728" y="55957"/>
                      <a:pt x="55718" y="41968"/>
                      <a:pt x="73204" y="41968"/>
                    </a:cubicBezTo>
                    <a:cubicBezTo>
                      <a:pt x="90691" y="41968"/>
                      <a:pt x="104680" y="55957"/>
                      <a:pt x="104680" y="73444"/>
                    </a:cubicBezTo>
                    <a:cubicBezTo>
                      <a:pt x="104680" y="90931"/>
                      <a:pt x="90691" y="104920"/>
                      <a:pt x="73204" y="104920"/>
                    </a:cubicBezTo>
                    <a:close/>
                    <a:moveTo>
                      <a:pt x="73204" y="0"/>
                    </a:moveTo>
                    <a:cubicBezTo>
                      <a:pt x="49073" y="0"/>
                      <a:pt x="26340" y="11891"/>
                      <a:pt x="12701" y="32175"/>
                    </a:cubicBezTo>
                    <a:cubicBezTo>
                      <a:pt x="-939" y="52110"/>
                      <a:pt x="-3737" y="77641"/>
                      <a:pt x="5006" y="100373"/>
                    </a:cubicBezTo>
                    <a:lnTo>
                      <a:pt x="38231" y="173817"/>
                    </a:lnTo>
                    <a:lnTo>
                      <a:pt x="66909" y="233972"/>
                    </a:lnTo>
                    <a:cubicBezTo>
                      <a:pt x="67958" y="236420"/>
                      <a:pt x="70407" y="237819"/>
                      <a:pt x="73204" y="237819"/>
                    </a:cubicBezTo>
                    <a:cubicBezTo>
                      <a:pt x="76002" y="237819"/>
                      <a:pt x="78450" y="236420"/>
                      <a:pt x="79500" y="233972"/>
                    </a:cubicBezTo>
                    <a:lnTo>
                      <a:pt x="108178" y="173817"/>
                    </a:lnTo>
                    <a:lnTo>
                      <a:pt x="141402" y="100373"/>
                    </a:lnTo>
                    <a:cubicBezTo>
                      <a:pt x="150146" y="77641"/>
                      <a:pt x="147348" y="52110"/>
                      <a:pt x="133708" y="32175"/>
                    </a:cubicBezTo>
                    <a:cubicBezTo>
                      <a:pt x="120069" y="11891"/>
                      <a:pt x="97336" y="0"/>
                      <a:pt x="732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3473" cap="flat">
                    <a:solidFill>
                      <a:srgbClr val="000000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2813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7" name="Group 983">
              <a:extLst>
                <a:ext uri="{FF2B5EF4-FFF2-40B4-BE49-F238E27FC236}">
                  <a16:creationId xmlns:a16="http://schemas.microsoft.com/office/drawing/2014/main" id="{1499FC43-696B-1140-95B8-95596D3D42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16515" y="4442442"/>
              <a:ext cx="549487" cy="591361"/>
              <a:chOff x="4092672" y="3882607"/>
              <a:chExt cx="475160" cy="516957"/>
            </a:xfrm>
            <a:solidFill>
              <a:srgbClr val="94B8D0"/>
            </a:solidFill>
          </p:grpSpPr>
          <p:pic>
            <p:nvPicPr>
              <p:cNvPr id="76" name="Picture 984">
                <a:extLst>
                  <a:ext uri="{FF2B5EF4-FFF2-40B4-BE49-F238E27FC236}">
                    <a16:creationId xmlns:a16="http://schemas.microsoft.com/office/drawing/2014/main" id="{569D2CAA-7AD5-D7E4-3549-5EB57856F4D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00770" y="3882607"/>
                <a:ext cx="67062" cy="4267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7" name="Graphic 9" descr="Marker">
                <a:extLst>
                  <a:ext uri="{FF2B5EF4-FFF2-40B4-BE49-F238E27FC236}">
                    <a16:creationId xmlns:a16="http://schemas.microsoft.com/office/drawing/2014/main" id="{DE8BB824-4F24-719B-390A-C2FB8A8EA7B4}"/>
                  </a:ext>
                </a:extLst>
              </p:cNvPr>
              <p:cNvSpPr/>
              <p:nvPr/>
            </p:nvSpPr>
            <p:spPr>
              <a:xfrm>
                <a:off x="4092672" y="4162135"/>
                <a:ext cx="146408" cy="237429"/>
              </a:xfrm>
              <a:custGeom>
                <a:avLst/>
                <a:gdLst>
                  <a:gd name="connsiteX0" fmla="*/ 73204 w 146408"/>
                  <a:gd name="connsiteY0" fmla="*/ 104920 h 237818"/>
                  <a:gd name="connsiteX1" fmla="*/ 41728 w 146408"/>
                  <a:gd name="connsiteY1" fmla="*/ 73444 h 237818"/>
                  <a:gd name="connsiteX2" fmla="*/ 73204 w 146408"/>
                  <a:gd name="connsiteY2" fmla="*/ 41968 h 237818"/>
                  <a:gd name="connsiteX3" fmla="*/ 104680 w 146408"/>
                  <a:gd name="connsiteY3" fmla="*/ 73444 h 237818"/>
                  <a:gd name="connsiteX4" fmla="*/ 73204 w 146408"/>
                  <a:gd name="connsiteY4" fmla="*/ 104920 h 237818"/>
                  <a:gd name="connsiteX5" fmla="*/ 73204 w 146408"/>
                  <a:gd name="connsiteY5" fmla="*/ 0 h 237818"/>
                  <a:gd name="connsiteX6" fmla="*/ 12701 w 146408"/>
                  <a:gd name="connsiteY6" fmla="*/ 32175 h 237818"/>
                  <a:gd name="connsiteX7" fmla="*/ 5006 w 146408"/>
                  <a:gd name="connsiteY7" fmla="*/ 100373 h 237818"/>
                  <a:gd name="connsiteX8" fmla="*/ 38231 w 146408"/>
                  <a:gd name="connsiteY8" fmla="*/ 173817 h 237818"/>
                  <a:gd name="connsiteX9" fmla="*/ 66909 w 146408"/>
                  <a:gd name="connsiteY9" fmla="*/ 233972 h 237818"/>
                  <a:gd name="connsiteX10" fmla="*/ 73204 w 146408"/>
                  <a:gd name="connsiteY10" fmla="*/ 237819 h 237818"/>
                  <a:gd name="connsiteX11" fmla="*/ 79500 w 146408"/>
                  <a:gd name="connsiteY11" fmla="*/ 233972 h 237818"/>
                  <a:gd name="connsiteX12" fmla="*/ 108178 w 146408"/>
                  <a:gd name="connsiteY12" fmla="*/ 173817 h 237818"/>
                  <a:gd name="connsiteX13" fmla="*/ 141402 w 146408"/>
                  <a:gd name="connsiteY13" fmla="*/ 100373 h 237818"/>
                  <a:gd name="connsiteX14" fmla="*/ 133708 w 146408"/>
                  <a:gd name="connsiteY14" fmla="*/ 32175 h 237818"/>
                  <a:gd name="connsiteX15" fmla="*/ 73204 w 146408"/>
                  <a:gd name="connsiteY15" fmla="*/ 0 h 237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46408" h="237818">
                    <a:moveTo>
                      <a:pt x="73204" y="104920"/>
                    </a:moveTo>
                    <a:cubicBezTo>
                      <a:pt x="55718" y="104920"/>
                      <a:pt x="41728" y="90931"/>
                      <a:pt x="41728" y="73444"/>
                    </a:cubicBezTo>
                    <a:cubicBezTo>
                      <a:pt x="41728" y="55957"/>
                      <a:pt x="55718" y="41968"/>
                      <a:pt x="73204" y="41968"/>
                    </a:cubicBezTo>
                    <a:cubicBezTo>
                      <a:pt x="90691" y="41968"/>
                      <a:pt x="104680" y="55957"/>
                      <a:pt x="104680" y="73444"/>
                    </a:cubicBezTo>
                    <a:cubicBezTo>
                      <a:pt x="104680" y="90931"/>
                      <a:pt x="90691" y="104920"/>
                      <a:pt x="73204" y="104920"/>
                    </a:cubicBezTo>
                    <a:close/>
                    <a:moveTo>
                      <a:pt x="73204" y="0"/>
                    </a:moveTo>
                    <a:cubicBezTo>
                      <a:pt x="49073" y="0"/>
                      <a:pt x="26340" y="11891"/>
                      <a:pt x="12701" y="32175"/>
                    </a:cubicBezTo>
                    <a:cubicBezTo>
                      <a:pt x="-939" y="52110"/>
                      <a:pt x="-3737" y="77641"/>
                      <a:pt x="5006" y="100373"/>
                    </a:cubicBezTo>
                    <a:lnTo>
                      <a:pt x="38231" y="173817"/>
                    </a:lnTo>
                    <a:lnTo>
                      <a:pt x="66909" y="233972"/>
                    </a:lnTo>
                    <a:cubicBezTo>
                      <a:pt x="67958" y="236420"/>
                      <a:pt x="70407" y="237819"/>
                      <a:pt x="73204" y="237819"/>
                    </a:cubicBezTo>
                    <a:cubicBezTo>
                      <a:pt x="76002" y="237819"/>
                      <a:pt x="78450" y="236420"/>
                      <a:pt x="79500" y="233972"/>
                    </a:cubicBezTo>
                    <a:lnTo>
                      <a:pt x="108178" y="173817"/>
                    </a:lnTo>
                    <a:lnTo>
                      <a:pt x="141402" y="100373"/>
                    </a:lnTo>
                    <a:cubicBezTo>
                      <a:pt x="150146" y="77641"/>
                      <a:pt x="147348" y="52110"/>
                      <a:pt x="133708" y="32175"/>
                    </a:cubicBezTo>
                    <a:cubicBezTo>
                      <a:pt x="120069" y="11891"/>
                      <a:pt x="97336" y="0"/>
                      <a:pt x="73204" y="0"/>
                    </a:cubicBezTo>
                    <a:close/>
                  </a:path>
                </a:pathLst>
              </a:custGeom>
              <a:grpFill/>
              <a:ln w="3473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leway"/>
                  <a:ea typeface="+mn-ea"/>
                  <a:cs typeface="+mn-cs"/>
                </a:endParaRPr>
              </a:p>
            </p:txBody>
          </p:sp>
        </p:grpSp>
        <p:grpSp>
          <p:nvGrpSpPr>
            <p:cNvPr id="68" name="Group 983">
              <a:extLst>
                <a:ext uri="{FF2B5EF4-FFF2-40B4-BE49-F238E27FC236}">
                  <a16:creationId xmlns:a16="http://schemas.microsoft.com/office/drawing/2014/main" id="{7EA69A09-1BC6-69F8-B357-D0DCFF304F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76057" y="3343649"/>
              <a:ext cx="169309" cy="301582"/>
              <a:chOff x="4461097" y="3661645"/>
              <a:chExt cx="146408" cy="263638"/>
            </a:xfrm>
            <a:solidFill>
              <a:srgbClr val="94B8D0"/>
            </a:solidFill>
          </p:grpSpPr>
          <p:pic>
            <p:nvPicPr>
              <p:cNvPr id="74" name="Picture 984">
                <a:extLst>
                  <a:ext uri="{FF2B5EF4-FFF2-40B4-BE49-F238E27FC236}">
                    <a16:creationId xmlns:a16="http://schemas.microsoft.com/office/drawing/2014/main" id="{246CB28D-37BC-517E-920F-F75FEAD0E93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00770" y="3882607"/>
                <a:ext cx="67062" cy="4267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5" name="Graphic 9" descr="Marker">
                <a:extLst>
                  <a:ext uri="{FF2B5EF4-FFF2-40B4-BE49-F238E27FC236}">
                    <a16:creationId xmlns:a16="http://schemas.microsoft.com/office/drawing/2014/main" id="{F6A12F7D-9724-2F40-4A05-5C894788DE31}"/>
                  </a:ext>
                </a:extLst>
              </p:cNvPr>
              <p:cNvSpPr/>
              <p:nvPr/>
            </p:nvSpPr>
            <p:spPr>
              <a:xfrm>
                <a:off x="4461097" y="3661645"/>
                <a:ext cx="146408" cy="237429"/>
              </a:xfrm>
              <a:custGeom>
                <a:avLst/>
                <a:gdLst>
                  <a:gd name="connsiteX0" fmla="*/ 73204 w 146408"/>
                  <a:gd name="connsiteY0" fmla="*/ 104920 h 237818"/>
                  <a:gd name="connsiteX1" fmla="*/ 41728 w 146408"/>
                  <a:gd name="connsiteY1" fmla="*/ 73444 h 237818"/>
                  <a:gd name="connsiteX2" fmla="*/ 73204 w 146408"/>
                  <a:gd name="connsiteY2" fmla="*/ 41968 h 237818"/>
                  <a:gd name="connsiteX3" fmla="*/ 104680 w 146408"/>
                  <a:gd name="connsiteY3" fmla="*/ 73444 h 237818"/>
                  <a:gd name="connsiteX4" fmla="*/ 73204 w 146408"/>
                  <a:gd name="connsiteY4" fmla="*/ 104920 h 237818"/>
                  <a:gd name="connsiteX5" fmla="*/ 73204 w 146408"/>
                  <a:gd name="connsiteY5" fmla="*/ 0 h 237818"/>
                  <a:gd name="connsiteX6" fmla="*/ 12701 w 146408"/>
                  <a:gd name="connsiteY6" fmla="*/ 32175 h 237818"/>
                  <a:gd name="connsiteX7" fmla="*/ 5006 w 146408"/>
                  <a:gd name="connsiteY7" fmla="*/ 100373 h 237818"/>
                  <a:gd name="connsiteX8" fmla="*/ 38231 w 146408"/>
                  <a:gd name="connsiteY8" fmla="*/ 173817 h 237818"/>
                  <a:gd name="connsiteX9" fmla="*/ 66909 w 146408"/>
                  <a:gd name="connsiteY9" fmla="*/ 233972 h 237818"/>
                  <a:gd name="connsiteX10" fmla="*/ 73204 w 146408"/>
                  <a:gd name="connsiteY10" fmla="*/ 237819 h 237818"/>
                  <a:gd name="connsiteX11" fmla="*/ 79500 w 146408"/>
                  <a:gd name="connsiteY11" fmla="*/ 233972 h 237818"/>
                  <a:gd name="connsiteX12" fmla="*/ 108178 w 146408"/>
                  <a:gd name="connsiteY12" fmla="*/ 173817 h 237818"/>
                  <a:gd name="connsiteX13" fmla="*/ 141402 w 146408"/>
                  <a:gd name="connsiteY13" fmla="*/ 100373 h 237818"/>
                  <a:gd name="connsiteX14" fmla="*/ 133708 w 146408"/>
                  <a:gd name="connsiteY14" fmla="*/ 32175 h 237818"/>
                  <a:gd name="connsiteX15" fmla="*/ 73204 w 146408"/>
                  <a:gd name="connsiteY15" fmla="*/ 0 h 237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46408" h="237818">
                    <a:moveTo>
                      <a:pt x="73204" y="104920"/>
                    </a:moveTo>
                    <a:cubicBezTo>
                      <a:pt x="55718" y="104920"/>
                      <a:pt x="41728" y="90931"/>
                      <a:pt x="41728" y="73444"/>
                    </a:cubicBezTo>
                    <a:cubicBezTo>
                      <a:pt x="41728" y="55957"/>
                      <a:pt x="55718" y="41968"/>
                      <a:pt x="73204" y="41968"/>
                    </a:cubicBezTo>
                    <a:cubicBezTo>
                      <a:pt x="90691" y="41968"/>
                      <a:pt x="104680" y="55957"/>
                      <a:pt x="104680" y="73444"/>
                    </a:cubicBezTo>
                    <a:cubicBezTo>
                      <a:pt x="104680" y="90931"/>
                      <a:pt x="90691" y="104920"/>
                      <a:pt x="73204" y="104920"/>
                    </a:cubicBezTo>
                    <a:close/>
                    <a:moveTo>
                      <a:pt x="73204" y="0"/>
                    </a:moveTo>
                    <a:cubicBezTo>
                      <a:pt x="49073" y="0"/>
                      <a:pt x="26340" y="11891"/>
                      <a:pt x="12701" y="32175"/>
                    </a:cubicBezTo>
                    <a:cubicBezTo>
                      <a:pt x="-939" y="52110"/>
                      <a:pt x="-3737" y="77641"/>
                      <a:pt x="5006" y="100373"/>
                    </a:cubicBezTo>
                    <a:lnTo>
                      <a:pt x="38231" y="173817"/>
                    </a:lnTo>
                    <a:lnTo>
                      <a:pt x="66909" y="233972"/>
                    </a:lnTo>
                    <a:cubicBezTo>
                      <a:pt x="67958" y="236420"/>
                      <a:pt x="70407" y="237819"/>
                      <a:pt x="73204" y="237819"/>
                    </a:cubicBezTo>
                    <a:cubicBezTo>
                      <a:pt x="76002" y="237819"/>
                      <a:pt x="78450" y="236420"/>
                      <a:pt x="79500" y="233972"/>
                    </a:cubicBezTo>
                    <a:lnTo>
                      <a:pt x="108178" y="173817"/>
                    </a:lnTo>
                    <a:lnTo>
                      <a:pt x="141402" y="100373"/>
                    </a:lnTo>
                    <a:cubicBezTo>
                      <a:pt x="150146" y="77641"/>
                      <a:pt x="147348" y="52110"/>
                      <a:pt x="133708" y="32175"/>
                    </a:cubicBezTo>
                    <a:cubicBezTo>
                      <a:pt x="120069" y="11891"/>
                      <a:pt x="97336" y="0"/>
                      <a:pt x="73204" y="0"/>
                    </a:cubicBezTo>
                    <a:close/>
                  </a:path>
                </a:pathLst>
              </a:custGeom>
              <a:grpFill/>
              <a:ln w="3473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leway"/>
                  <a:ea typeface="+mn-ea"/>
                  <a:cs typeface="+mn-cs"/>
                </a:endParaRPr>
              </a:p>
            </p:txBody>
          </p:sp>
        </p:grpSp>
        <p:pic>
          <p:nvPicPr>
            <p:cNvPr id="69" name="Picture 984">
              <a:extLst>
                <a:ext uri="{FF2B5EF4-FFF2-40B4-BE49-F238E27FC236}">
                  <a16:creationId xmlns:a16="http://schemas.microsoft.com/office/drawing/2014/main" id="{19220DAA-3966-9DC0-81FC-1557329EE2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38098" y="4267645"/>
              <a:ext cx="77552" cy="48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" name="Graphic 9" descr="Marker">
              <a:extLst>
                <a:ext uri="{FF2B5EF4-FFF2-40B4-BE49-F238E27FC236}">
                  <a16:creationId xmlns:a16="http://schemas.microsoft.com/office/drawing/2014/main" id="{AE4AC725-B5F7-C268-3F0D-62032DB32AA1}"/>
                </a:ext>
              </a:extLst>
            </p:cNvPr>
            <p:cNvSpPr/>
            <p:nvPr/>
          </p:nvSpPr>
          <p:spPr bwMode="auto">
            <a:xfrm>
              <a:off x="9292219" y="4014880"/>
              <a:ext cx="169309" cy="271600"/>
            </a:xfrm>
            <a:custGeom>
              <a:avLst/>
              <a:gdLst>
                <a:gd name="connsiteX0" fmla="*/ 73204 w 146408"/>
                <a:gd name="connsiteY0" fmla="*/ 104920 h 237818"/>
                <a:gd name="connsiteX1" fmla="*/ 41728 w 146408"/>
                <a:gd name="connsiteY1" fmla="*/ 73444 h 237818"/>
                <a:gd name="connsiteX2" fmla="*/ 73204 w 146408"/>
                <a:gd name="connsiteY2" fmla="*/ 41968 h 237818"/>
                <a:gd name="connsiteX3" fmla="*/ 104680 w 146408"/>
                <a:gd name="connsiteY3" fmla="*/ 73444 h 237818"/>
                <a:gd name="connsiteX4" fmla="*/ 73204 w 146408"/>
                <a:gd name="connsiteY4" fmla="*/ 104920 h 237818"/>
                <a:gd name="connsiteX5" fmla="*/ 73204 w 146408"/>
                <a:gd name="connsiteY5" fmla="*/ 0 h 237818"/>
                <a:gd name="connsiteX6" fmla="*/ 12701 w 146408"/>
                <a:gd name="connsiteY6" fmla="*/ 32175 h 237818"/>
                <a:gd name="connsiteX7" fmla="*/ 5006 w 146408"/>
                <a:gd name="connsiteY7" fmla="*/ 100373 h 237818"/>
                <a:gd name="connsiteX8" fmla="*/ 38231 w 146408"/>
                <a:gd name="connsiteY8" fmla="*/ 173817 h 237818"/>
                <a:gd name="connsiteX9" fmla="*/ 66909 w 146408"/>
                <a:gd name="connsiteY9" fmla="*/ 233972 h 237818"/>
                <a:gd name="connsiteX10" fmla="*/ 73204 w 146408"/>
                <a:gd name="connsiteY10" fmla="*/ 237819 h 237818"/>
                <a:gd name="connsiteX11" fmla="*/ 79500 w 146408"/>
                <a:gd name="connsiteY11" fmla="*/ 233972 h 237818"/>
                <a:gd name="connsiteX12" fmla="*/ 108178 w 146408"/>
                <a:gd name="connsiteY12" fmla="*/ 173817 h 237818"/>
                <a:gd name="connsiteX13" fmla="*/ 141402 w 146408"/>
                <a:gd name="connsiteY13" fmla="*/ 100373 h 237818"/>
                <a:gd name="connsiteX14" fmla="*/ 133708 w 146408"/>
                <a:gd name="connsiteY14" fmla="*/ 32175 h 237818"/>
                <a:gd name="connsiteX15" fmla="*/ 73204 w 146408"/>
                <a:gd name="connsiteY15" fmla="*/ 0 h 237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408" h="237818">
                  <a:moveTo>
                    <a:pt x="73204" y="104920"/>
                  </a:moveTo>
                  <a:cubicBezTo>
                    <a:pt x="55718" y="104920"/>
                    <a:pt x="41728" y="90931"/>
                    <a:pt x="41728" y="73444"/>
                  </a:cubicBezTo>
                  <a:cubicBezTo>
                    <a:pt x="41728" y="55957"/>
                    <a:pt x="55718" y="41968"/>
                    <a:pt x="73204" y="41968"/>
                  </a:cubicBezTo>
                  <a:cubicBezTo>
                    <a:pt x="90691" y="41968"/>
                    <a:pt x="104680" y="55957"/>
                    <a:pt x="104680" y="73444"/>
                  </a:cubicBezTo>
                  <a:cubicBezTo>
                    <a:pt x="104680" y="90931"/>
                    <a:pt x="90691" y="104920"/>
                    <a:pt x="73204" y="104920"/>
                  </a:cubicBezTo>
                  <a:close/>
                  <a:moveTo>
                    <a:pt x="73204" y="0"/>
                  </a:moveTo>
                  <a:cubicBezTo>
                    <a:pt x="49073" y="0"/>
                    <a:pt x="26340" y="11891"/>
                    <a:pt x="12701" y="32175"/>
                  </a:cubicBezTo>
                  <a:cubicBezTo>
                    <a:pt x="-939" y="52110"/>
                    <a:pt x="-3737" y="77641"/>
                    <a:pt x="5006" y="100373"/>
                  </a:cubicBezTo>
                  <a:lnTo>
                    <a:pt x="38231" y="173817"/>
                  </a:lnTo>
                  <a:lnTo>
                    <a:pt x="66909" y="233972"/>
                  </a:lnTo>
                  <a:cubicBezTo>
                    <a:pt x="67958" y="236420"/>
                    <a:pt x="70407" y="237819"/>
                    <a:pt x="73204" y="237819"/>
                  </a:cubicBezTo>
                  <a:cubicBezTo>
                    <a:pt x="76002" y="237819"/>
                    <a:pt x="78450" y="236420"/>
                    <a:pt x="79500" y="233972"/>
                  </a:cubicBezTo>
                  <a:lnTo>
                    <a:pt x="108178" y="173817"/>
                  </a:lnTo>
                  <a:lnTo>
                    <a:pt x="141402" y="100373"/>
                  </a:lnTo>
                  <a:cubicBezTo>
                    <a:pt x="150146" y="77641"/>
                    <a:pt x="147348" y="52110"/>
                    <a:pt x="133708" y="32175"/>
                  </a:cubicBezTo>
                  <a:cubicBezTo>
                    <a:pt x="120069" y="11891"/>
                    <a:pt x="97336" y="0"/>
                    <a:pt x="73204" y="0"/>
                  </a:cubicBezTo>
                  <a:close/>
                </a:path>
              </a:pathLst>
            </a:custGeom>
            <a:solidFill>
              <a:srgbClr val="94B8D0"/>
            </a:solidFill>
            <a:ln w="3473" cap="flat">
              <a:noFill/>
              <a:prstDash val="solid"/>
              <a:miter/>
            </a:ln>
          </p:spPr>
          <p:txBody>
            <a:bodyPr anchor="ctr"/>
            <a:lstStyle/>
            <a:p>
              <a:pPr marL="0" marR="0" lvl="0" indent="0" algn="l" defTabSz="1828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/>
                <a:ea typeface="+mn-ea"/>
                <a:cs typeface="+mn-cs"/>
              </a:endParaRPr>
            </a:p>
          </p:txBody>
        </p:sp>
        <p:grpSp>
          <p:nvGrpSpPr>
            <p:cNvPr id="71" name="Group 983">
              <a:extLst>
                <a:ext uri="{FF2B5EF4-FFF2-40B4-BE49-F238E27FC236}">
                  <a16:creationId xmlns:a16="http://schemas.microsoft.com/office/drawing/2014/main" id="{527499F5-8986-39FE-2946-BB7391CFF4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28037" y="3078543"/>
              <a:ext cx="169309" cy="301582"/>
              <a:chOff x="4461097" y="3661645"/>
              <a:chExt cx="146408" cy="263638"/>
            </a:xfrm>
            <a:solidFill>
              <a:srgbClr val="94B8D0"/>
            </a:solidFill>
          </p:grpSpPr>
          <p:pic>
            <p:nvPicPr>
              <p:cNvPr id="72" name="Picture 984">
                <a:extLst>
                  <a:ext uri="{FF2B5EF4-FFF2-40B4-BE49-F238E27FC236}">
                    <a16:creationId xmlns:a16="http://schemas.microsoft.com/office/drawing/2014/main" id="{10A495A9-3D32-6A28-E26B-F0B0383B5D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00770" y="3882607"/>
                <a:ext cx="67062" cy="4267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3" name="Graphic 9" descr="Marker">
                <a:extLst>
                  <a:ext uri="{FF2B5EF4-FFF2-40B4-BE49-F238E27FC236}">
                    <a16:creationId xmlns:a16="http://schemas.microsoft.com/office/drawing/2014/main" id="{928B0A29-17B2-62FB-32DE-86ABF32FB1CE}"/>
                  </a:ext>
                </a:extLst>
              </p:cNvPr>
              <p:cNvSpPr/>
              <p:nvPr/>
            </p:nvSpPr>
            <p:spPr>
              <a:xfrm>
                <a:off x="4461097" y="3661645"/>
                <a:ext cx="146408" cy="237429"/>
              </a:xfrm>
              <a:custGeom>
                <a:avLst/>
                <a:gdLst>
                  <a:gd name="connsiteX0" fmla="*/ 73204 w 146408"/>
                  <a:gd name="connsiteY0" fmla="*/ 104920 h 237818"/>
                  <a:gd name="connsiteX1" fmla="*/ 41728 w 146408"/>
                  <a:gd name="connsiteY1" fmla="*/ 73444 h 237818"/>
                  <a:gd name="connsiteX2" fmla="*/ 73204 w 146408"/>
                  <a:gd name="connsiteY2" fmla="*/ 41968 h 237818"/>
                  <a:gd name="connsiteX3" fmla="*/ 104680 w 146408"/>
                  <a:gd name="connsiteY3" fmla="*/ 73444 h 237818"/>
                  <a:gd name="connsiteX4" fmla="*/ 73204 w 146408"/>
                  <a:gd name="connsiteY4" fmla="*/ 104920 h 237818"/>
                  <a:gd name="connsiteX5" fmla="*/ 73204 w 146408"/>
                  <a:gd name="connsiteY5" fmla="*/ 0 h 237818"/>
                  <a:gd name="connsiteX6" fmla="*/ 12701 w 146408"/>
                  <a:gd name="connsiteY6" fmla="*/ 32175 h 237818"/>
                  <a:gd name="connsiteX7" fmla="*/ 5006 w 146408"/>
                  <a:gd name="connsiteY7" fmla="*/ 100373 h 237818"/>
                  <a:gd name="connsiteX8" fmla="*/ 38231 w 146408"/>
                  <a:gd name="connsiteY8" fmla="*/ 173817 h 237818"/>
                  <a:gd name="connsiteX9" fmla="*/ 66909 w 146408"/>
                  <a:gd name="connsiteY9" fmla="*/ 233972 h 237818"/>
                  <a:gd name="connsiteX10" fmla="*/ 73204 w 146408"/>
                  <a:gd name="connsiteY10" fmla="*/ 237819 h 237818"/>
                  <a:gd name="connsiteX11" fmla="*/ 79500 w 146408"/>
                  <a:gd name="connsiteY11" fmla="*/ 233972 h 237818"/>
                  <a:gd name="connsiteX12" fmla="*/ 108178 w 146408"/>
                  <a:gd name="connsiteY12" fmla="*/ 173817 h 237818"/>
                  <a:gd name="connsiteX13" fmla="*/ 141402 w 146408"/>
                  <a:gd name="connsiteY13" fmla="*/ 100373 h 237818"/>
                  <a:gd name="connsiteX14" fmla="*/ 133708 w 146408"/>
                  <a:gd name="connsiteY14" fmla="*/ 32175 h 237818"/>
                  <a:gd name="connsiteX15" fmla="*/ 73204 w 146408"/>
                  <a:gd name="connsiteY15" fmla="*/ 0 h 237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46408" h="237818">
                    <a:moveTo>
                      <a:pt x="73204" y="104920"/>
                    </a:moveTo>
                    <a:cubicBezTo>
                      <a:pt x="55718" y="104920"/>
                      <a:pt x="41728" y="90931"/>
                      <a:pt x="41728" y="73444"/>
                    </a:cubicBezTo>
                    <a:cubicBezTo>
                      <a:pt x="41728" y="55957"/>
                      <a:pt x="55718" y="41968"/>
                      <a:pt x="73204" y="41968"/>
                    </a:cubicBezTo>
                    <a:cubicBezTo>
                      <a:pt x="90691" y="41968"/>
                      <a:pt x="104680" y="55957"/>
                      <a:pt x="104680" y="73444"/>
                    </a:cubicBezTo>
                    <a:cubicBezTo>
                      <a:pt x="104680" y="90931"/>
                      <a:pt x="90691" y="104920"/>
                      <a:pt x="73204" y="104920"/>
                    </a:cubicBezTo>
                    <a:close/>
                    <a:moveTo>
                      <a:pt x="73204" y="0"/>
                    </a:moveTo>
                    <a:cubicBezTo>
                      <a:pt x="49073" y="0"/>
                      <a:pt x="26340" y="11891"/>
                      <a:pt x="12701" y="32175"/>
                    </a:cubicBezTo>
                    <a:cubicBezTo>
                      <a:pt x="-939" y="52110"/>
                      <a:pt x="-3737" y="77641"/>
                      <a:pt x="5006" y="100373"/>
                    </a:cubicBezTo>
                    <a:lnTo>
                      <a:pt x="38231" y="173817"/>
                    </a:lnTo>
                    <a:lnTo>
                      <a:pt x="66909" y="233972"/>
                    </a:lnTo>
                    <a:cubicBezTo>
                      <a:pt x="67958" y="236420"/>
                      <a:pt x="70407" y="237819"/>
                      <a:pt x="73204" y="237819"/>
                    </a:cubicBezTo>
                    <a:cubicBezTo>
                      <a:pt x="76002" y="237819"/>
                      <a:pt x="78450" y="236420"/>
                      <a:pt x="79500" y="233972"/>
                    </a:cubicBezTo>
                    <a:lnTo>
                      <a:pt x="108178" y="173817"/>
                    </a:lnTo>
                    <a:lnTo>
                      <a:pt x="141402" y="100373"/>
                    </a:lnTo>
                    <a:cubicBezTo>
                      <a:pt x="150146" y="77641"/>
                      <a:pt x="147348" y="52110"/>
                      <a:pt x="133708" y="32175"/>
                    </a:cubicBezTo>
                    <a:cubicBezTo>
                      <a:pt x="120069" y="11891"/>
                      <a:pt x="97336" y="0"/>
                      <a:pt x="73204" y="0"/>
                    </a:cubicBezTo>
                    <a:close/>
                  </a:path>
                </a:pathLst>
              </a:custGeom>
              <a:grpFill/>
              <a:ln w="3473" cap="flat">
                <a:noFill/>
                <a:prstDash val="solid"/>
                <a:miter/>
              </a:ln>
            </p:spPr>
            <p:txBody>
              <a:bodyPr anchor="ctr"/>
              <a:lstStyle/>
              <a:p>
                <a:pPr marL="0" marR="0" lvl="0" indent="0" algn="l" defTabSz="1828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leway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30895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0DD9F6-69EC-2A3D-BECB-977969C31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45B590A5-4F9E-843B-F95C-7D2FE564D4B5}"/>
              </a:ext>
            </a:extLst>
          </p:cNvPr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ENTERPRISE STRUCTURE  •  AT A GLANCE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64E298F-3223-835A-594D-0B55BD9DA48E}"/>
              </a:ext>
            </a:extLst>
          </p:cNvPr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Three pillars.</a:t>
            </a:r>
            <a:endParaRPr lang="en-US" sz="3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548BA4E-02A3-FA64-1B79-38FFAA56507C}"/>
              </a:ext>
            </a:extLst>
          </p:cNvPr>
          <p:cNvSpPr/>
          <p:nvPr/>
        </p:nvSpPr>
        <p:spPr>
          <a:xfrm>
            <a:off x="502920" y="169164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3F75A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converged enterprise.</a:t>
            </a:r>
            <a:endParaRPr lang="en-US" sz="3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9F5D2F6-C4AA-8B4B-7B57-C9B6D858A198}"/>
              </a:ext>
            </a:extLst>
          </p:cNvPr>
          <p:cNvSpPr/>
          <p:nvPr/>
        </p:nvSpPr>
        <p:spPr>
          <a:xfrm>
            <a:off x="502920" y="23317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AI-led enterprise transformation company structured around three pillars — Platforms, Advisory, and Digital Engineering — with shared delivery, governance and account ownership across all three.</a:t>
            </a:r>
            <a:endParaRPr lang="en-US" sz="13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8ADC11E-73AC-842A-46DC-47C15D79341B}"/>
              </a:ext>
            </a:extLst>
          </p:cNvPr>
          <p:cNvSpPr/>
          <p:nvPr/>
        </p:nvSpPr>
        <p:spPr>
          <a:xfrm>
            <a:off x="502920" y="3108960"/>
            <a:ext cx="5510632" cy="98000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5692AD6-18D6-020C-71DA-C5A8E05B3AAE}"/>
              </a:ext>
            </a:extLst>
          </p:cNvPr>
          <p:cNvSpPr/>
          <p:nvPr/>
        </p:nvSpPr>
        <p:spPr>
          <a:xfrm>
            <a:off x="714103" y="3410712"/>
            <a:ext cx="459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A. Enterprise Platform Services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0006B123-2431-DF59-3F0E-67B1AD11CC25}"/>
              </a:ext>
            </a:extLst>
          </p:cNvPr>
          <p:cNvSpPr/>
          <p:nvPr/>
        </p:nvSpPr>
        <p:spPr>
          <a:xfrm>
            <a:off x="714103" y="3749040"/>
            <a:ext cx="4596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 •  Salesforce  •  Workday   |   Future: Oracle, ServiceNow, Microsoft, Adobe   |   Platform-led Transformation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F013B517-E6BE-5C06-090B-C2AF5BB0221C}"/>
              </a:ext>
            </a:extLst>
          </p:cNvPr>
          <p:cNvSpPr/>
          <p:nvPr/>
        </p:nvSpPr>
        <p:spPr>
          <a:xfrm>
            <a:off x="6178144" y="3108960"/>
            <a:ext cx="5510632" cy="98000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C75C322D-BA98-E613-88F6-BCD5C76A8516}"/>
              </a:ext>
            </a:extLst>
          </p:cNvPr>
          <p:cNvSpPr/>
          <p:nvPr/>
        </p:nvSpPr>
        <p:spPr>
          <a:xfrm>
            <a:off x="6389327" y="3410712"/>
            <a:ext cx="459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B. Advisory Services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73D78056-FFE9-A643-AF78-814403B878C2}"/>
              </a:ext>
            </a:extLst>
          </p:cNvPr>
          <p:cNvSpPr/>
          <p:nvPr/>
        </p:nvSpPr>
        <p:spPr>
          <a:xfrm>
            <a:off x="6389327" y="3749040"/>
            <a:ext cx="4596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Transformation Advisory  •  Strategy &amp; Governance  •  Enterprise Architecture   |   Consulting-led Transformation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668287F4-05CF-FD2D-C0DB-86EC76BA7123}"/>
              </a:ext>
            </a:extLst>
          </p:cNvPr>
          <p:cNvSpPr/>
          <p:nvPr/>
        </p:nvSpPr>
        <p:spPr>
          <a:xfrm>
            <a:off x="502920" y="4253712"/>
            <a:ext cx="5510632" cy="98000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81024909-9869-0FDA-B24D-3317B370898A}"/>
              </a:ext>
            </a:extLst>
          </p:cNvPr>
          <p:cNvSpPr/>
          <p:nvPr/>
        </p:nvSpPr>
        <p:spPr>
          <a:xfrm>
            <a:off x="714103" y="4555464"/>
            <a:ext cx="459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C. Digital, Data &amp; AI Services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58FBC520-2241-3192-2253-F5C93723EFA0}"/>
              </a:ext>
            </a:extLst>
          </p:cNvPr>
          <p:cNvSpPr/>
          <p:nvPr/>
        </p:nvSpPr>
        <p:spPr>
          <a:xfrm>
            <a:off x="714103" y="4893792"/>
            <a:ext cx="4596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 Engineering  •  AI &amp; Automation  •  Data &amp; Analytics  •  Integration &amp; Cloud   |   Engineering-led Transformation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132CB16E-A1B2-0AC2-4714-716DC3C4E983}"/>
              </a:ext>
            </a:extLst>
          </p:cNvPr>
          <p:cNvSpPr/>
          <p:nvPr/>
        </p:nvSpPr>
        <p:spPr>
          <a:xfrm>
            <a:off x="6178144" y="4253712"/>
            <a:ext cx="5510632" cy="98000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C38A1AEB-A1AB-4D36-6CF0-443EC5707452}"/>
              </a:ext>
            </a:extLst>
          </p:cNvPr>
          <p:cNvSpPr/>
          <p:nvPr/>
        </p:nvSpPr>
        <p:spPr>
          <a:xfrm>
            <a:off x="6389327" y="4555464"/>
            <a:ext cx="459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Accountable Partner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244B29D5-5F5A-88D9-2BC0-2DD2E64A7972}"/>
              </a:ext>
            </a:extLst>
          </p:cNvPr>
          <p:cNvSpPr/>
          <p:nvPr/>
        </p:nvSpPr>
        <p:spPr>
          <a:xfrm>
            <a:off x="6389327" y="4893792"/>
            <a:ext cx="4596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Integrated ownership across consulting, implementation, support and ongoing transformation — never fragmented vendors.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00" name="Shape DT BG"/>
          <p:cNvSpPr/>
          <p:nvPr/>
        </p:nvSpPr>
        <p:spPr>
          <a:xfrm>
            <a:off x="502920" y="5413712"/>
            <a:ext cx="11185855" cy="50000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1" name="Text DT"/>
          <p:cNvSpPr/>
          <p:nvPr/>
        </p:nvSpPr>
        <p:spPr>
          <a:xfrm>
            <a:off x="714103" y="5438712"/>
            <a:ext cx="108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</a:rPr>
              <a:t>OPERATING PRINCIPLE   </a:t>
            </a:r>
            <a:r>
              <a:rPr lang="en-US" sz="1100" dirty="0">
                <a:solidFill>
                  <a:srgbClr val="FFFFFF"/>
                </a:solidFill>
                <a:latin typeface="IBM Plex Sans" pitchFamily="34" charset="0"/>
              </a:rPr>
              <a:t>Converged Intelligence — clear practice ownership, common delivery engine, and AI woven across every pillar.</a:t>
            </a:r>
            <a:endParaRPr lang="en-US" sz="1100" dirty="0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C9BD02B8-93E7-EAC7-FA8F-0DEC52D3495B}"/>
              </a:ext>
            </a:extLst>
          </p:cNvPr>
          <p:cNvSpPr/>
          <p:nvPr/>
        </p:nvSpPr>
        <p:spPr>
          <a:xfrm>
            <a:off x="502920" y="59500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STRATEGIC CLOUD ALLIANCES   </a:t>
            </a:r>
            <a:r>
              <a:rPr lang="en-US" sz="11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AWS  ·  Microsoft Azure  ·  Google Cloud  ·  SAP  ·  Salesforce  ·  Workday</a:t>
            </a:r>
            <a:endParaRPr lang="en-US" sz="900" dirty="0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CE81E8C3-9EE0-5765-1DEF-DFEB400C32A3}"/>
              </a:ext>
            </a:extLst>
          </p:cNvPr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CF001D1C-EDCA-9664-7A07-1063155B58D9}"/>
              </a:ext>
            </a:extLst>
          </p:cNvPr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Shape 37">
            <a:extLst>
              <a:ext uri="{FF2B5EF4-FFF2-40B4-BE49-F238E27FC236}">
                <a16:creationId xmlns:a16="http://schemas.microsoft.com/office/drawing/2014/main" id="{4D17B470-1E1C-24B6-8085-79DF9202F760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D554F88C-7F6D-5F18-D5CC-2958B32D5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sp>
        <p:nvSpPr>
          <p:cNvPr id="39" name="Rectangle 6">
            <a:extLst>
              <a:ext uri="{FF2B5EF4-FFF2-40B4-BE49-F238E27FC236}">
                <a16:creationId xmlns:a16="http://schemas.microsoft.com/office/drawing/2014/main" id="{0F2D0FC4-EEEC-49F1-7779-E4F91FFCFC24}"/>
              </a:ext>
            </a:extLst>
          </p:cNvPr>
          <p:cNvSpPr>
            <a:spLocks noChangeAspect="1"/>
          </p:cNvSpPr>
          <p:nvPr/>
        </p:nvSpPr>
        <p:spPr>
          <a:xfrm>
            <a:off x="5377207" y="3223313"/>
            <a:ext cx="463564" cy="4638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F028B072-394F-B745-4906-90A26C6DD405}"/>
              </a:ext>
            </a:extLst>
          </p:cNvPr>
          <p:cNvSpPr>
            <a:spLocks noChangeAspect="1"/>
          </p:cNvSpPr>
          <p:nvPr/>
        </p:nvSpPr>
        <p:spPr>
          <a:xfrm>
            <a:off x="11056901" y="3223313"/>
            <a:ext cx="463564" cy="4638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6">
            <a:extLst>
              <a:ext uri="{FF2B5EF4-FFF2-40B4-BE49-F238E27FC236}">
                <a16:creationId xmlns:a16="http://schemas.microsoft.com/office/drawing/2014/main" id="{3C4DA2F1-FF18-EF30-A3EF-617DC477EB7C}"/>
              </a:ext>
            </a:extLst>
          </p:cNvPr>
          <p:cNvSpPr>
            <a:spLocks noChangeAspect="1"/>
          </p:cNvSpPr>
          <p:nvPr/>
        </p:nvSpPr>
        <p:spPr>
          <a:xfrm>
            <a:off x="5373873" y="4686571"/>
            <a:ext cx="463564" cy="4638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6">
            <a:extLst>
              <a:ext uri="{FF2B5EF4-FFF2-40B4-BE49-F238E27FC236}">
                <a16:creationId xmlns:a16="http://schemas.microsoft.com/office/drawing/2014/main" id="{6DD3E0BD-9558-D57F-27F0-A5C895E02A93}"/>
              </a:ext>
            </a:extLst>
          </p:cNvPr>
          <p:cNvSpPr>
            <a:spLocks noChangeAspect="1"/>
          </p:cNvSpPr>
          <p:nvPr/>
        </p:nvSpPr>
        <p:spPr>
          <a:xfrm>
            <a:off x="11056901" y="4686571"/>
            <a:ext cx="463564" cy="4638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7690C03F-4690-945B-AB18-E186D847D0F9}"/>
              </a:ext>
            </a:extLst>
          </p:cNvPr>
          <p:cNvSpPr>
            <a:spLocks noChangeAspect="1"/>
          </p:cNvSpPr>
          <p:nvPr/>
        </p:nvSpPr>
        <p:spPr>
          <a:xfrm>
            <a:off x="11162371" y="145576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EA90D926-2872-875A-30E5-18A0AC6EFF79}"/>
              </a:ext>
            </a:extLst>
          </p:cNvPr>
          <p:cNvSpPr>
            <a:spLocks noChangeAspect="1"/>
          </p:cNvSpPr>
          <p:nvPr/>
        </p:nvSpPr>
        <p:spPr>
          <a:xfrm>
            <a:off x="10924478" y="398337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283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7484C5-4A5A-CDF0-BAA2-D62C54F57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960B318F-4404-D07B-AD81-6F436C6CD33D}"/>
              </a:ext>
            </a:extLst>
          </p:cNvPr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ENTERPRISE STRUCTURE  •  DETAILED BLUEPRINT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A9C62DC-4103-3AEE-A400-7A1AF18232C7}"/>
              </a:ext>
            </a:extLst>
          </p:cNvPr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Three pillars. Common delivery. AI-led future.</a:t>
            </a:r>
            <a:endParaRPr lang="en-US" sz="2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48AAFA0-F9DE-F734-DF99-35BC5783B114}"/>
              </a:ext>
            </a:extLst>
          </p:cNvPr>
          <p:cNvSpPr/>
          <p:nvPr/>
        </p:nvSpPr>
        <p:spPr>
          <a:xfrm>
            <a:off x="502920" y="170992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Our enterprise structure groups capability into three pillars — each with a distinct primary nature, clear sub-practice ownership, and shared delivery, governance and account leadership underneath. Aligned to how the global SI &amp; consulting industry organises, with AI woven across every layer.</a:t>
            </a:r>
            <a:endParaRPr lang="en-US" sz="13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6A8C229-333B-7B07-B1EF-832030B28E61}"/>
              </a:ext>
            </a:extLst>
          </p:cNvPr>
          <p:cNvSpPr/>
          <p:nvPr/>
        </p:nvSpPr>
        <p:spPr>
          <a:xfrm>
            <a:off x="502920" y="2419178"/>
            <a:ext cx="2673020" cy="246888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FC6120D-6C1C-B533-B0A5-365B69A650C8}"/>
              </a:ext>
            </a:extLst>
          </p:cNvPr>
          <p:cNvSpPr/>
          <p:nvPr/>
        </p:nvSpPr>
        <p:spPr>
          <a:xfrm>
            <a:off x="777240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A. Platform Services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A40FAB4-52C8-5733-01E2-9D426F96DCFE}"/>
              </a:ext>
            </a:extLst>
          </p:cNvPr>
          <p:cNvSpPr/>
          <p:nvPr/>
        </p:nvSpPr>
        <p:spPr>
          <a:xfrm>
            <a:off x="777240" y="3310718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• Salesforce • Workday   (Future: Oracle, ServiceNow, Microsoft, Adobe)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Consulting • Implementation • Rollouts • Upgrades &amp; Migrations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Enhancements • AMS • Application Support • Hypercare • Integration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Primary nature: Platform-led Transformation</a:t>
            </a:r>
            <a:endParaRPr lang="en-US" sz="1000" dirty="0">
              <a:solidFill>
                <a:srgbClr val="94B8D0"/>
              </a:solidFill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8D950DB1-2A20-3CA7-5F1F-6D6B64C45E0F}"/>
              </a:ext>
            </a:extLst>
          </p:cNvPr>
          <p:cNvSpPr/>
          <p:nvPr/>
        </p:nvSpPr>
        <p:spPr>
          <a:xfrm>
            <a:off x="3340532" y="2419178"/>
            <a:ext cx="2673020" cy="2468880"/>
          </a:xfrm>
          <a:prstGeom prst="rect">
            <a:avLst/>
          </a:prstGeom>
          <a:solidFill>
            <a:srgbClr val="94B8D0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F963DD92-47C6-DD60-9546-64B220757C56}"/>
              </a:ext>
            </a:extLst>
          </p:cNvPr>
          <p:cNvSpPr/>
          <p:nvPr/>
        </p:nvSpPr>
        <p:spPr>
          <a:xfrm>
            <a:off x="3614852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</a:rPr>
              <a:t>B. Advisory Services</a:t>
            </a: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F4FD7568-82B5-05D9-FF56-0275F46F4D84}"/>
              </a:ext>
            </a:extLst>
          </p:cNvPr>
          <p:cNvSpPr/>
          <p:nvPr/>
        </p:nvSpPr>
        <p:spPr>
          <a:xfrm>
            <a:off x="3614852" y="3276341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Transformation Advisory • Strategy &amp; Governance • Enterprise Architecture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Transformation • CIO Advisory • ERP Advisory • Operating Model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Strategy &amp; Roadmap • PMO • Change Mgmt • Program Assurance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Primary nature: Consulting-led Transformation</a:t>
            </a:r>
            <a:endParaRPr lang="en-US" sz="1000" dirty="0">
              <a:solidFill>
                <a:srgbClr val="121E3B"/>
              </a:solidFill>
            </a:endParaRPr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064B332B-A913-A1F0-3470-F77BDE9CFED1}"/>
              </a:ext>
            </a:extLst>
          </p:cNvPr>
          <p:cNvSpPr/>
          <p:nvPr/>
        </p:nvSpPr>
        <p:spPr>
          <a:xfrm>
            <a:off x="6178144" y="2419178"/>
            <a:ext cx="2673020" cy="246888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49A9B0FA-F3B4-1A50-621A-2DDD74C5F3BD}"/>
              </a:ext>
            </a:extLst>
          </p:cNvPr>
          <p:cNvSpPr/>
          <p:nvPr/>
        </p:nvSpPr>
        <p:spPr>
          <a:xfrm>
            <a:off x="6452464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C. Digital, Data &amp; AI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8B95149A-256E-F055-48F7-EA8EC7BF3B5B}"/>
              </a:ext>
            </a:extLst>
          </p:cNvPr>
          <p:cNvSpPr/>
          <p:nvPr/>
        </p:nvSpPr>
        <p:spPr>
          <a:xfrm>
            <a:off x="6452464" y="3227668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 Engineering • AI &amp; Automation • Data &amp; Analytics • Integration &amp; Cloud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GenAI &amp; intelligent automation • Cloud-native engineering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platforms &amp; analytics • Integration &amp; APIs • DevOps • DXP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Primary nature: Engineering-led Transformation</a:t>
            </a:r>
            <a:endParaRPr lang="en-US" sz="1000" dirty="0">
              <a:solidFill>
                <a:srgbClr val="94B8D0"/>
              </a:solidFill>
            </a:endParaRPr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A78F8A5E-A43B-7EAD-E4AB-86B4D983DEF7}"/>
              </a:ext>
            </a:extLst>
          </p:cNvPr>
          <p:cNvSpPr/>
          <p:nvPr/>
        </p:nvSpPr>
        <p:spPr>
          <a:xfrm>
            <a:off x="9015755" y="2419178"/>
            <a:ext cx="2673020" cy="2468880"/>
          </a:xfrm>
          <a:prstGeom prst="rect">
            <a:avLst/>
          </a:prstGeom>
          <a:solidFill>
            <a:srgbClr val="94B8D0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4A668894-1BAB-0160-4B2E-3071259CB397}"/>
              </a:ext>
            </a:extLst>
          </p:cNvPr>
          <p:cNvSpPr/>
          <p:nvPr/>
        </p:nvSpPr>
        <p:spPr>
          <a:xfrm>
            <a:off x="9244355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This Structure Wins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F08CE842-BAF5-6506-02CC-5E767887723E}"/>
              </a:ext>
            </a:extLst>
          </p:cNvPr>
          <p:cNvSpPr/>
          <p:nvPr/>
        </p:nvSpPr>
        <p:spPr>
          <a:xfrm>
            <a:off x="9244355" y="3227668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 alignment between consulting, platform and engineering services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Stronger enterprise positioning and go-to-market clarity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Cross-sell across pillars; scalable leadership and P&amp;L ownership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Industry-aligned, future-ready for AI-led enterprise transformation</a:t>
            </a:r>
            <a:endParaRPr lang="en-US" sz="1000" dirty="0">
              <a:solidFill>
                <a:srgbClr val="121E3B"/>
              </a:solidFill>
            </a:endParaRPr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A18D5E1B-FF3A-78EE-1402-FE63BFC0C9B5}"/>
              </a:ext>
            </a:extLst>
          </p:cNvPr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E34FE3D1-B08E-4E3F-9BC6-34440562F41B}"/>
              </a:ext>
            </a:extLst>
          </p:cNvPr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900" dirty="0"/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435D937C-050F-FEDC-4E4C-E50E6F8B5599}"/>
              </a:ext>
            </a:extLst>
          </p:cNvPr>
          <p:cNvSpPr>
            <a:spLocks noChangeAspect="1"/>
          </p:cNvSpPr>
          <p:nvPr/>
        </p:nvSpPr>
        <p:spPr>
          <a:xfrm>
            <a:off x="11162371" y="145576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6">
            <a:extLst>
              <a:ext uri="{FF2B5EF4-FFF2-40B4-BE49-F238E27FC236}">
                <a16:creationId xmlns:a16="http://schemas.microsoft.com/office/drawing/2014/main" id="{ADA03526-DA2F-A729-2ADF-FBEC22EC800E}"/>
              </a:ext>
            </a:extLst>
          </p:cNvPr>
          <p:cNvSpPr>
            <a:spLocks noChangeAspect="1"/>
          </p:cNvSpPr>
          <p:nvPr/>
        </p:nvSpPr>
        <p:spPr>
          <a:xfrm>
            <a:off x="10924478" y="398337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201806DB-9634-BC85-663E-00B38B0E6313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BA6ABF86-87F7-98E0-05D7-B7FCE9928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sp>
        <p:nvSpPr>
          <p:cNvPr id="2" name="Shape 4">
            <a:extLst>
              <a:ext uri="{FF2B5EF4-FFF2-40B4-BE49-F238E27FC236}">
                <a16:creationId xmlns:a16="http://schemas.microsoft.com/office/drawing/2014/main" id="{F71205D8-4470-3A98-ED23-2C75B30CAA54}"/>
              </a:ext>
            </a:extLst>
          </p:cNvPr>
          <p:cNvSpPr/>
          <p:nvPr/>
        </p:nvSpPr>
        <p:spPr>
          <a:xfrm>
            <a:off x="777240" y="2693498"/>
            <a:ext cx="290444" cy="0"/>
          </a:xfrm>
          <a:prstGeom prst="line">
            <a:avLst/>
          </a:prstGeom>
          <a:noFill/>
          <a:ln w="57150">
            <a:solidFill>
              <a:srgbClr val="A3CBE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6A299E0B-5C99-5826-E007-D39B68C880A9}"/>
              </a:ext>
            </a:extLst>
          </p:cNvPr>
          <p:cNvSpPr/>
          <p:nvPr/>
        </p:nvSpPr>
        <p:spPr>
          <a:xfrm>
            <a:off x="3614852" y="2686746"/>
            <a:ext cx="290444" cy="0"/>
          </a:xfrm>
          <a:prstGeom prst="line">
            <a:avLst/>
          </a:prstGeom>
          <a:noFill/>
          <a:ln w="57150">
            <a:solidFill>
              <a:srgbClr val="121E3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3016157-68FA-CEB6-E6F4-66CA768DE12A}"/>
              </a:ext>
            </a:extLst>
          </p:cNvPr>
          <p:cNvSpPr/>
          <p:nvPr/>
        </p:nvSpPr>
        <p:spPr>
          <a:xfrm>
            <a:off x="6452464" y="2693498"/>
            <a:ext cx="290444" cy="0"/>
          </a:xfrm>
          <a:prstGeom prst="line">
            <a:avLst/>
          </a:prstGeom>
          <a:noFill/>
          <a:ln w="57150">
            <a:solidFill>
              <a:srgbClr val="A3CBE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D89220CB-03D3-FF60-8F87-B930C8865718}"/>
              </a:ext>
            </a:extLst>
          </p:cNvPr>
          <p:cNvSpPr/>
          <p:nvPr/>
        </p:nvSpPr>
        <p:spPr>
          <a:xfrm>
            <a:off x="9290075" y="2673242"/>
            <a:ext cx="290444" cy="0"/>
          </a:xfrm>
          <a:prstGeom prst="line">
            <a:avLst/>
          </a:prstGeom>
          <a:noFill/>
          <a:ln w="57150">
            <a:solidFill>
              <a:srgbClr val="121E3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4">
            <a:extLst>
              <a:ext uri="{FF2B5EF4-FFF2-40B4-BE49-F238E27FC236}">
                <a16:creationId xmlns:a16="http://schemas.microsoft.com/office/drawing/2014/main" id="{76D89251-3411-4210-DF34-731C5022B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2265" y="55235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5C4CBF3-1F4F-FD8D-7D6F-9CC3EBB86DAA}"/>
              </a:ext>
            </a:extLst>
          </p:cNvPr>
          <p:cNvGrpSpPr/>
          <p:nvPr/>
        </p:nvGrpSpPr>
        <p:grpSpPr>
          <a:xfrm>
            <a:off x="812504" y="4992431"/>
            <a:ext cx="10414739" cy="1440850"/>
            <a:chOff x="812504" y="4992431"/>
            <a:chExt cx="10414739" cy="1440850"/>
          </a:xfrm>
        </p:grpSpPr>
        <p:pic>
          <p:nvPicPr>
            <p:cNvPr id="23" name="Picture 4" descr="SAP SuccessFactors has a New Logo and a New Name">
              <a:extLst>
                <a:ext uri="{FF2B5EF4-FFF2-40B4-BE49-F238E27FC236}">
                  <a16:creationId xmlns:a16="http://schemas.microsoft.com/office/drawing/2014/main" id="{4747390F-785E-8D1D-F3B8-109DEF5B95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9640" y="4992431"/>
              <a:ext cx="1777609" cy="908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Shape 27">
              <a:extLst>
                <a:ext uri="{FF2B5EF4-FFF2-40B4-BE49-F238E27FC236}">
                  <a16:creationId xmlns:a16="http://schemas.microsoft.com/office/drawing/2014/main" id="{2F361A98-898F-2CCF-F653-950BFACCD3BE}"/>
                </a:ext>
              </a:extLst>
            </p:cNvPr>
            <p:cNvSpPr/>
            <p:nvPr/>
          </p:nvSpPr>
          <p:spPr>
            <a:xfrm>
              <a:off x="2632464" y="5515995"/>
              <a:ext cx="0" cy="365760"/>
            </a:xfrm>
            <a:prstGeom prst="line">
              <a:avLst/>
            </a:prstGeom>
            <a:noFill/>
            <a:ln w="6350">
              <a:solidFill>
                <a:srgbClr val="C1BC9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7" name="Picture 10" descr="SAP S/4HANA Private Cloud (RISE with SAP) - Applium">
              <a:extLst>
                <a:ext uri="{FF2B5EF4-FFF2-40B4-BE49-F238E27FC236}">
                  <a16:creationId xmlns:a16="http://schemas.microsoft.com/office/drawing/2014/main" id="{6AE48889-83E6-6512-23AF-12A7C22A97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6966" y="6061200"/>
              <a:ext cx="1147674" cy="3680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8" descr="SAP Ariba | Supply &amp; Demand Chain Executive">
              <a:extLst>
                <a:ext uri="{FF2B5EF4-FFF2-40B4-BE49-F238E27FC236}">
                  <a16:creationId xmlns:a16="http://schemas.microsoft.com/office/drawing/2014/main" id="{F9B72925-F389-5315-F880-1872341965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90" y="5734812"/>
              <a:ext cx="1278123" cy="249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20" descr="Sap Concur Logo PNG, SVG, AI Vector – Free Download">
              <a:extLst>
                <a:ext uri="{FF2B5EF4-FFF2-40B4-BE49-F238E27FC236}">
                  <a16:creationId xmlns:a16="http://schemas.microsoft.com/office/drawing/2014/main" id="{7232DA3D-1092-BC34-A6B4-CD4A85A06C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5209" y="5695270"/>
              <a:ext cx="1522624" cy="2724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Shape 27">
              <a:extLst>
                <a:ext uri="{FF2B5EF4-FFF2-40B4-BE49-F238E27FC236}">
                  <a16:creationId xmlns:a16="http://schemas.microsoft.com/office/drawing/2014/main" id="{78C5F08F-FA70-A1B8-7CF7-13B48F5C47CA}"/>
                </a:ext>
              </a:extLst>
            </p:cNvPr>
            <p:cNvSpPr/>
            <p:nvPr/>
          </p:nvSpPr>
          <p:spPr>
            <a:xfrm>
              <a:off x="7447531" y="5515995"/>
              <a:ext cx="0" cy="365760"/>
            </a:xfrm>
            <a:prstGeom prst="line">
              <a:avLst/>
            </a:prstGeom>
            <a:noFill/>
            <a:ln w="6350">
              <a:solidFill>
                <a:srgbClr val="C1BC9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27">
              <a:extLst>
                <a:ext uri="{FF2B5EF4-FFF2-40B4-BE49-F238E27FC236}">
                  <a16:creationId xmlns:a16="http://schemas.microsoft.com/office/drawing/2014/main" id="{5C7B19AF-B7C0-5B9D-5ED7-B810F4F41EA2}"/>
                </a:ext>
              </a:extLst>
            </p:cNvPr>
            <p:cNvSpPr/>
            <p:nvPr/>
          </p:nvSpPr>
          <p:spPr>
            <a:xfrm>
              <a:off x="10756023" y="5512390"/>
              <a:ext cx="0" cy="365760"/>
            </a:xfrm>
            <a:prstGeom prst="line">
              <a:avLst/>
            </a:prstGeom>
            <a:noFill/>
            <a:ln w="6350">
              <a:solidFill>
                <a:srgbClr val="C1BC9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49" name="Salesforce Logo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7942160" y="5599483"/>
              <a:ext cx="795555" cy="555388"/>
            </a:xfrm>
            <a:prstGeom prst="rect">
              <a:avLst/>
            </a:prstGeom>
            <a:noFill/>
          </p:spPr>
        </p:pic>
        <p:pic>
          <p:nvPicPr>
            <p:cNvPr id="50" name="Workday Logo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9208178" y="5582950"/>
              <a:ext cx="951807" cy="382850"/>
            </a:xfrm>
            <a:prstGeom prst="rect">
              <a:avLst/>
            </a:prstGeom>
            <a:noFill/>
          </p:spPr>
        </p:pic>
        <p:pic>
          <p:nvPicPr>
            <p:cNvPr id="13" name="Picture 8" descr="SAP S/4 HANA Public Cloud in Indore | ID: 2850341673455">
              <a:extLst>
                <a:ext uri="{FF2B5EF4-FFF2-40B4-BE49-F238E27FC236}">
                  <a16:creationId xmlns:a16="http://schemas.microsoft.com/office/drawing/2014/main" id="{EB754F2A-4CC6-E666-0987-94DDFD1F6EF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786" b="29717"/>
            <a:stretch>
              <a:fillRect/>
            </a:stretch>
          </p:blipFill>
          <p:spPr bwMode="auto">
            <a:xfrm>
              <a:off x="812504" y="5196547"/>
              <a:ext cx="1202136" cy="522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4" descr="SAP BTP La plataforma tecnológica para tu ERP en la nube | Xamai">
              <a:extLst>
                <a:ext uri="{FF2B5EF4-FFF2-40B4-BE49-F238E27FC236}">
                  <a16:creationId xmlns:a16="http://schemas.microsoft.com/office/drawing/2014/main" id="{27A75EA0-6B30-6CF9-4409-27C5C4E767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0053" y="5884202"/>
              <a:ext cx="976140" cy="5490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1" name="Picture 1" descr="Syniti - Credly">
              <a:extLst>
                <a:ext uri="{FF2B5EF4-FFF2-40B4-BE49-F238E27FC236}">
                  <a16:creationId xmlns:a16="http://schemas.microsoft.com/office/drawing/2014/main" id="{9EB11118-A702-1E38-B9A3-C92A9BDFA6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54143" y="5582950"/>
              <a:ext cx="673100" cy="55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83693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7484C5-4A5A-CDF0-BAA2-D62C54F57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960B318F-4404-D07B-AD81-6F436C6CD33D}"/>
              </a:ext>
            </a:extLst>
          </p:cNvPr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PARTNER ECOSYSTEM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A9C62DC-4103-3AEE-A400-7A1AF18232C7}"/>
              </a:ext>
            </a:extLst>
          </p:cNvPr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Strategic alliances that extend our reach.</a:t>
            </a:r>
            <a:endParaRPr lang="en-US" sz="2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48AAFA0-F9DE-F734-DF99-35BC5783B114}"/>
              </a:ext>
            </a:extLst>
          </p:cNvPr>
          <p:cNvSpPr/>
          <p:nvPr/>
        </p:nvSpPr>
        <p:spPr>
          <a:xfrm>
            <a:off x="502920" y="170992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Our partner ecosystem spans hyperscalers, application platforms, and specialised technology vendors — giving clients certified delivery, joint roadmaps, and pre-built integration patterns across every layer of the stack.</a:t>
            </a:r>
            <a:endParaRPr lang="en-US" sz="13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6A8C229-333B-7B07-B1EF-832030B28E61}"/>
              </a:ext>
            </a:extLst>
          </p:cNvPr>
          <p:cNvSpPr/>
          <p:nvPr/>
        </p:nvSpPr>
        <p:spPr>
          <a:xfrm>
            <a:off x="502920" y="2419178"/>
            <a:ext cx="2673020" cy="246888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FC6120D-6C1C-B533-B0A5-365B69A650C8}"/>
              </a:ext>
            </a:extLst>
          </p:cNvPr>
          <p:cNvSpPr/>
          <p:nvPr/>
        </p:nvSpPr>
        <p:spPr>
          <a:xfrm>
            <a:off x="777240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 Platforms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A40FAB4-52C8-5733-01E2-9D426F96DCFE}"/>
              </a:ext>
            </a:extLst>
          </p:cNvPr>
          <p:cNvSpPr/>
          <p:nvPr/>
        </p:nvSpPr>
        <p:spPr>
          <a:xfrm>
            <a:off x="777240" y="3310718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(Gold • RISE • PCE)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Salesforce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Workday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Concur, Ariba, SuccessFactors</a:t>
            </a:r>
            <a:endParaRPr lang="en-US" sz="1000" dirty="0">
              <a:solidFill>
                <a:srgbClr val="94B8D0"/>
              </a:solidFill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8D950DB1-2A20-3CA7-5F1F-6D6B64C45E0F}"/>
              </a:ext>
            </a:extLst>
          </p:cNvPr>
          <p:cNvSpPr/>
          <p:nvPr/>
        </p:nvSpPr>
        <p:spPr>
          <a:xfrm>
            <a:off x="3340532" y="2419178"/>
            <a:ext cx="2673020" cy="2468880"/>
          </a:xfrm>
          <a:prstGeom prst="rect">
            <a:avLst/>
          </a:prstGeom>
          <a:solidFill>
            <a:srgbClr val="94B8D0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F963DD92-47C6-DD60-9546-64B220757C56}"/>
              </a:ext>
            </a:extLst>
          </p:cNvPr>
          <p:cNvSpPr/>
          <p:nvPr/>
        </p:nvSpPr>
        <p:spPr>
          <a:xfrm>
            <a:off x="3614852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</a:rPr>
              <a:t>Hyperscalers</a:t>
            </a: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F4FD7568-82B5-05D9-FF56-0275F46F4D84}"/>
              </a:ext>
            </a:extLst>
          </p:cNvPr>
          <p:cNvSpPr/>
          <p:nvPr/>
        </p:nvSpPr>
        <p:spPr>
          <a:xfrm>
            <a:off x="3614852" y="3276341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Amazon Web Services (AWS)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Microsoft Azure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Google Cloud Platform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Multi-cloud delivery experience</a:t>
            </a:r>
            <a:endParaRPr lang="en-US" sz="1000" dirty="0">
              <a:solidFill>
                <a:srgbClr val="121E3B"/>
              </a:solidFill>
            </a:endParaRPr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064B332B-A913-A1F0-3470-F77BDE9CFED1}"/>
              </a:ext>
            </a:extLst>
          </p:cNvPr>
          <p:cNvSpPr/>
          <p:nvPr/>
        </p:nvSpPr>
        <p:spPr>
          <a:xfrm>
            <a:off x="6178144" y="2419178"/>
            <a:ext cx="2673020" cy="246888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49A9B0FA-F3B4-1A50-621A-2DDD74C5F3BD}"/>
              </a:ext>
            </a:extLst>
          </p:cNvPr>
          <p:cNvSpPr/>
          <p:nvPr/>
        </p:nvSpPr>
        <p:spPr>
          <a:xfrm>
            <a:off x="6452464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&amp; Analytics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8B95149A-256E-F055-48F7-EA8EC7BF3B5B}"/>
              </a:ext>
            </a:extLst>
          </p:cNvPr>
          <p:cNvSpPr/>
          <p:nvPr/>
        </p:nvSpPr>
        <p:spPr>
          <a:xfrm>
            <a:off x="6452464" y="3227668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Datasphere &amp; SAC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Syniti (data migration)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Tableau, Power BI, Qlik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Snowflake, Databricks (integration)</a:t>
            </a:r>
            <a:endParaRPr lang="en-US" sz="1000" dirty="0">
              <a:solidFill>
                <a:srgbClr val="94B8D0"/>
              </a:solidFill>
            </a:endParaRPr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A78F8A5E-A43B-7EAD-E4AB-86B4D983DEF7}"/>
              </a:ext>
            </a:extLst>
          </p:cNvPr>
          <p:cNvSpPr/>
          <p:nvPr/>
        </p:nvSpPr>
        <p:spPr>
          <a:xfrm>
            <a:off x="9015755" y="2419178"/>
            <a:ext cx="2673020" cy="2468880"/>
          </a:xfrm>
          <a:prstGeom prst="rect">
            <a:avLst/>
          </a:prstGeom>
          <a:solidFill>
            <a:srgbClr val="94B8D0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4A668894-1BAB-0160-4B2E-3071259CB397}"/>
              </a:ext>
            </a:extLst>
          </p:cNvPr>
          <p:cNvSpPr/>
          <p:nvPr/>
        </p:nvSpPr>
        <p:spPr>
          <a:xfrm>
            <a:off x="9244355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Specialised Partners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F08CE842-BAF5-6506-02CC-5E767887723E}"/>
              </a:ext>
            </a:extLst>
          </p:cNvPr>
          <p:cNvSpPr/>
          <p:nvPr/>
        </p:nvSpPr>
        <p:spPr>
          <a:xfrm>
            <a:off x="9244355" y="3227668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MuleSoft (integration)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OpenText (content)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ServiceNow (ITSM)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+8 strategic partners</a:t>
            </a:r>
            <a:endParaRPr lang="en-US" sz="1000" dirty="0">
              <a:solidFill>
                <a:srgbClr val="121E3B"/>
              </a:solidFill>
            </a:endParaRPr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A18D5E1B-FF3A-78EE-1402-FE63BFC0C9B5}"/>
              </a:ext>
            </a:extLst>
          </p:cNvPr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E34FE3D1-B08E-4E3F-9BC6-34440562F41B}"/>
              </a:ext>
            </a:extLst>
          </p:cNvPr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900" dirty="0"/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435D937C-050F-FEDC-4E4C-E50E6F8B5599}"/>
              </a:ext>
            </a:extLst>
          </p:cNvPr>
          <p:cNvSpPr>
            <a:spLocks noChangeAspect="1"/>
          </p:cNvSpPr>
          <p:nvPr/>
        </p:nvSpPr>
        <p:spPr>
          <a:xfrm>
            <a:off x="11162371" y="145576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6">
            <a:extLst>
              <a:ext uri="{FF2B5EF4-FFF2-40B4-BE49-F238E27FC236}">
                <a16:creationId xmlns:a16="http://schemas.microsoft.com/office/drawing/2014/main" id="{ADA03526-DA2F-A729-2ADF-FBEC22EC800E}"/>
              </a:ext>
            </a:extLst>
          </p:cNvPr>
          <p:cNvSpPr>
            <a:spLocks noChangeAspect="1"/>
          </p:cNvSpPr>
          <p:nvPr/>
        </p:nvSpPr>
        <p:spPr>
          <a:xfrm>
            <a:off x="10924478" y="398337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201806DB-9634-BC85-663E-00B38B0E6313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BA6ABF86-87F7-98E0-05D7-B7FCE9928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sp>
        <p:nvSpPr>
          <p:cNvPr id="2" name="Shape 4">
            <a:extLst>
              <a:ext uri="{FF2B5EF4-FFF2-40B4-BE49-F238E27FC236}">
                <a16:creationId xmlns:a16="http://schemas.microsoft.com/office/drawing/2014/main" id="{F71205D8-4470-3A98-ED23-2C75B30CAA54}"/>
              </a:ext>
            </a:extLst>
          </p:cNvPr>
          <p:cNvSpPr/>
          <p:nvPr/>
        </p:nvSpPr>
        <p:spPr>
          <a:xfrm>
            <a:off x="777240" y="2693498"/>
            <a:ext cx="290444" cy="0"/>
          </a:xfrm>
          <a:prstGeom prst="line">
            <a:avLst/>
          </a:prstGeom>
          <a:noFill/>
          <a:ln w="57150">
            <a:solidFill>
              <a:srgbClr val="A3CBE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6A299E0B-5C99-5826-E007-D39B68C880A9}"/>
              </a:ext>
            </a:extLst>
          </p:cNvPr>
          <p:cNvSpPr/>
          <p:nvPr/>
        </p:nvSpPr>
        <p:spPr>
          <a:xfrm>
            <a:off x="3614852" y="2686746"/>
            <a:ext cx="290444" cy="0"/>
          </a:xfrm>
          <a:prstGeom prst="line">
            <a:avLst/>
          </a:prstGeom>
          <a:noFill/>
          <a:ln w="57150">
            <a:solidFill>
              <a:srgbClr val="121E3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3016157-68FA-CEB6-E6F4-66CA768DE12A}"/>
              </a:ext>
            </a:extLst>
          </p:cNvPr>
          <p:cNvSpPr/>
          <p:nvPr/>
        </p:nvSpPr>
        <p:spPr>
          <a:xfrm>
            <a:off x="6452464" y="2693498"/>
            <a:ext cx="290444" cy="0"/>
          </a:xfrm>
          <a:prstGeom prst="line">
            <a:avLst/>
          </a:prstGeom>
          <a:noFill/>
          <a:ln w="57150">
            <a:solidFill>
              <a:srgbClr val="A3CBE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D89220CB-03D3-FF60-8F87-B930C8865718}"/>
              </a:ext>
            </a:extLst>
          </p:cNvPr>
          <p:cNvSpPr/>
          <p:nvPr/>
        </p:nvSpPr>
        <p:spPr>
          <a:xfrm>
            <a:off x="9290075" y="2673242"/>
            <a:ext cx="290444" cy="0"/>
          </a:xfrm>
          <a:prstGeom prst="line">
            <a:avLst/>
          </a:prstGeom>
          <a:noFill/>
          <a:ln w="57150">
            <a:solidFill>
              <a:srgbClr val="121E3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7750FB1-6D5C-9B48-4332-A7428B7334C5}"/>
              </a:ext>
            </a:extLst>
          </p:cNvPr>
          <p:cNvGrpSpPr/>
          <p:nvPr/>
        </p:nvGrpSpPr>
        <p:grpSpPr>
          <a:xfrm>
            <a:off x="812504" y="4992431"/>
            <a:ext cx="10414739" cy="1440850"/>
            <a:chOff x="812504" y="4992431"/>
            <a:chExt cx="10414739" cy="1440850"/>
          </a:xfrm>
        </p:grpSpPr>
        <p:pic>
          <p:nvPicPr>
            <p:cNvPr id="56" name="Picture 4" descr="SAP SuccessFactors has a New Logo and a New Name">
              <a:extLst>
                <a:ext uri="{FF2B5EF4-FFF2-40B4-BE49-F238E27FC236}">
                  <a16:creationId xmlns:a16="http://schemas.microsoft.com/office/drawing/2014/main" id="{480AC459-8351-D089-6923-5B4DA8D013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9640" y="4992431"/>
              <a:ext cx="1777609" cy="908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7" name="Shape 27">
              <a:extLst>
                <a:ext uri="{FF2B5EF4-FFF2-40B4-BE49-F238E27FC236}">
                  <a16:creationId xmlns:a16="http://schemas.microsoft.com/office/drawing/2014/main" id="{5C90715E-FBA4-348E-BE97-40CC8501A354}"/>
                </a:ext>
              </a:extLst>
            </p:cNvPr>
            <p:cNvSpPr/>
            <p:nvPr/>
          </p:nvSpPr>
          <p:spPr>
            <a:xfrm>
              <a:off x="2632464" y="5515995"/>
              <a:ext cx="0" cy="365760"/>
            </a:xfrm>
            <a:prstGeom prst="line">
              <a:avLst/>
            </a:prstGeom>
            <a:noFill/>
            <a:ln w="6350">
              <a:solidFill>
                <a:srgbClr val="C1BC9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58" name="Picture 10" descr="SAP S/4HANA Private Cloud (RISE with SAP) - Applium">
              <a:extLst>
                <a:ext uri="{FF2B5EF4-FFF2-40B4-BE49-F238E27FC236}">
                  <a16:creationId xmlns:a16="http://schemas.microsoft.com/office/drawing/2014/main" id="{41AE781E-1E10-4F0A-154C-96D52C56CD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6966" y="6061200"/>
              <a:ext cx="1147674" cy="3680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18" descr="SAP Ariba | Supply &amp; Demand Chain Executive">
              <a:extLst>
                <a:ext uri="{FF2B5EF4-FFF2-40B4-BE49-F238E27FC236}">
                  <a16:creationId xmlns:a16="http://schemas.microsoft.com/office/drawing/2014/main" id="{65F81454-06AC-5823-FE0D-28B6C93693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90" y="5734812"/>
              <a:ext cx="1278123" cy="249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20" descr="Sap Concur Logo PNG, SVG, AI Vector – Free Download">
              <a:extLst>
                <a:ext uri="{FF2B5EF4-FFF2-40B4-BE49-F238E27FC236}">
                  <a16:creationId xmlns:a16="http://schemas.microsoft.com/office/drawing/2014/main" id="{8C4B87F5-FCF0-FA16-3039-B812C8E9BF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5209" y="5695270"/>
              <a:ext cx="1522624" cy="2724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Shape 27">
              <a:extLst>
                <a:ext uri="{FF2B5EF4-FFF2-40B4-BE49-F238E27FC236}">
                  <a16:creationId xmlns:a16="http://schemas.microsoft.com/office/drawing/2014/main" id="{E5ED30BD-892B-8970-6F38-EC26F35A7169}"/>
                </a:ext>
              </a:extLst>
            </p:cNvPr>
            <p:cNvSpPr/>
            <p:nvPr/>
          </p:nvSpPr>
          <p:spPr>
            <a:xfrm>
              <a:off x="7447531" y="5515995"/>
              <a:ext cx="0" cy="365760"/>
            </a:xfrm>
            <a:prstGeom prst="line">
              <a:avLst/>
            </a:prstGeom>
            <a:noFill/>
            <a:ln w="6350">
              <a:solidFill>
                <a:srgbClr val="C1BC9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27">
              <a:extLst>
                <a:ext uri="{FF2B5EF4-FFF2-40B4-BE49-F238E27FC236}">
                  <a16:creationId xmlns:a16="http://schemas.microsoft.com/office/drawing/2014/main" id="{3A9A1A1A-5AE7-1042-6AD0-F2544974DE62}"/>
                </a:ext>
              </a:extLst>
            </p:cNvPr>
            <p:cNvSpPr/>
            <p:nvPr/>
          </p:nvSpPr>
          <p:spPr>
            <a:xfrm>
              <a:off x="10756023" y="5512390"/>
              <a:ext cx="0" cy="365760"/>
            </a:xfrm>
            <a:prstGeom prst="line">
              <a:avLst/>
            </a:prstGeom>
            <a:noFill/>
            <a:ln w="6350">
              <a:solidFill>
                <a:srgbClr val="C1BC9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63" name="Salesforce Logo">
              <a:extLst>
                <a:ext uri="{FF2B5EF4-FFF2-40B4-BE49-F238E27FC236}">
                  <a16:creationId xmlns:a16="http://schemas.microsoft.com/office/drawing/2014/main" id="{0B1632E4-0E3E-B996-92B4-3C10899F14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7942160" y="5599483"/>
              <a:ext cx="795555" cy="555388"/>
            </a:xfrm>
            <a:prstGeom prst="rect">
              <a:avLst/>
            </a:prstGeom>
            <a:noFill/>
          </p:spPr>
        </p:pic>
        <p:pic>
          <p:nvPicPr>
            <p:cNvPr id="64" name="Workday Logo">
              <a:extLst>
                <a:ext uri="{FF2B5EF4-FFF2-40B4-BE49-F238E27FC236}">
                  <a16:creationId xmlns:a16="http://schemas.microsoft.com/office/drawing/2014/main" id="{7274B08E-C4DC-1279-D1DC-88226C0B07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9208178" y="5582950"/>
              <a:ext cx="951807" cy="382850"/>
            </a:xfrm>
            <a:prstGeom prst="rect">
              <a:avLst/>
            </a:prstGeom>
            <a:noFill/>
          </p:spPr>
        </p:pic>
        <p:pic>
          <p:nvPicPr>
            <p:cNvPr id="65" name="Picture 8" descr="SAP S/4 HANA Public Cloud in Indore | ID: 2850341673455">
              <a:extLst>
                <a:ext uri="{FF2B5EF4-FFF2-40B4-BE49-F238E27FC236}">
                  <a16:creationId xmlns:a16="http://schemas.microsoft.com/office/drawing/2014/main" id="{13EE9839-7204-D942-BB93-7031FAF98B3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786" b="29717"/>
            <a:stretch>
              <a:fillRect/>
            </a:stretch>
          </p:blipFill>
          <p:spPr bwMode="auto">
            <a:xfrm>
              <a:off x="812504" y="5196547"/>
              <a:ext cx="1202136" cy="522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" name="Picture 14" descr="SAP BTP La plataforma tecnológica para tu ERP en la nube | Xamai">
              <a:extLst>
                <a:ext uri="{FF2B5EF4-FFF2-40B4-BE49-F238E27FC236}">
                  <a16:creationId xmlns:a16="http://schemas.microsoft.com/office/drawing/2014/main" id="{EE87EB71-6826-A5D1-9E87-028BC86D31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0053" y="5884202"/>
              <a:ext cx="976140" cy="5490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" name="Picture 1" descr="Syniti - Credly">
              <a:extLst>
                <a:ext uri="{FF2B5EF4-FFF2-40B4-BE49-F238E27FC236}">
                  <a16:creationId xmlns:a16="http://schemas.microsoft.com/office/drawing/2014/main" id="{BDD8B3C7-3A0B-18D5-63CE-84775AC8FD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54143" y="5582950"/>
              <a:ext cx="673100" cy="55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83693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DELIVERY ARCHITECTURE  •  ENGAGEMENT LAYERS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Three Tiers,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3F75A3"/>
                </a:solidFill>
                <a:latin typeface="Newsreader" pitchFamily="34" charset="0"/>
              </a:rPr>
              <a:t>one continuous engagement.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Clients engage at any tier — advisory, build, or run — and move across tiers as the program matures. The same delivery engine runs underneath all three.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900" dirty="0"/>
          </a:p>
        </p:txBody>
      </p:sp>
      <p:sp>
        <p:nvSpPr>
          <p:cNvPr id="44" name="Shape 37">
            <a:extLst>
              <a:ext uri="{FF2B5EF4-FFF2-40B4-BE49-F238E27FC236}">
                <a16:creationId xmlns:a16="http://schemas.microsoft.com/office/drawing/2014/main" id="{65466FC9-CE82-AB54-F6B6-B0208169FBDD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71AFAC92-7BC4-3EEB-F3D1-052281FBF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sp>
        <p:nvSpPr>
          <p:cNvPr id="46" name="Rectangle 6">
            <a:extLst>
              <a:ext uri="{FF2B5EF4-FFF2-40B4-BE49-F238E27FC236}">
                <a16:creationId xmlns:a16="http://schemas.microsoft.com/office/drawing/2014/main" id="{4E49E653-E767-42C2-FB8A-858093F6BD79}"/>
              </a:ext>
            </a:extLst>
          </p:cNvPr>
          <p:cNvSpPr>
            <a:spLocks noChangeAspect="1"/>
          </p:cNvSpPr>
          <p:nvPr/>
        </p:nvSpPr>
        <p:spPr>
          <a:xfrm>
            <a:off x="11162371" y="145576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6">
            <a:extLst>
              <a:ext uri="{FF2B5EF4-FFF2-40B4-BE49-F238E27FC236}">
                <a16:creationId xmlns:a16="http://schemas.microsoft.com/office/drawing/2014/main" id="{DF73AF18-C412-5AB9-06A1-4ECF82AA67E3}"/>
              </a:ext>
            </a:extLst>
          </p:cNvPr>
          <p:cNvSpPr>
            <a:spLocks noChangeAspect="1"/>
          </p:cNvSpPr>
          <p:nvPr/>
        </p:nvSpPr>
        <p:spPr>
          <a:xfrm>
            <a:off x="10924478" y="398337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Shape 9">
            <a:extLst>
              <a:ext uri="{FF2B5EF4-FFF2-40B4-BE49-F238E27FC236}">
                <a16:creationId xmlns:a16="http://schemas.microsoft.com/office/drawing/2014/main" id="{9270D852-11AA-2828-3544-E3E7AF446D29}"/>
              </a:ext>
            </a:extLst>
          </p:cNvPr>
          <p:cNvSpPr/>
          <p:nvPr/>
        </p:nvSpPr>
        <p:spPr>
          <a:xfrm>
            <a:off x="502920" y="2927418"/>
            <a:ext cx="11185855" cy="868680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10">
            <a:extLst>
              <a:ext uri="{FF2B5EF4-FFF2-40B4-BE49-F238E27FC236}">
                <a16:creationId xmlns:a16="http://schemas.microsoft.com/office/drawing/2014/main" id="{F50EF8FE-51C5-0E59-DB94-05CA14273C5D}"/>
              </a:ext>
            </a:extLst>
          </p:cNvPr>
          <p:cNvSpPr/>
          <p:nvPr/>
        </p:nvSpPr>
        <p:spPr>
          <a:xfrm>
            <a:off x="795528" y="300057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1BC9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TIER 01</a:t>
            </a:r>
            <a:endParaRPr lang="en-US" sz="1000" dirty="0">
              <a:solidFill>
                <a:srgbClr val="C1BC9C"/>
              </a:solidFill>
            </a:endParaRPr>
          </a:p>
        </p:txBody>
      </p:sp>
      <p:sp>
        <p:nvSpPr>
          <p:cNvPr id="97" name="Shape 11">
            <a:extLst>
              <a:ext uri="{FF2B5EF4-FFF2-40B4-BE49-F238E27FC236}">
                <a16:creationId xmlns:a16="http://schemas.microsoft.com/office/drawing/2014/main" id="{75D09232-B9B1-C821-7BB0-931FF850E96D}"/>
              </a:ext>
            </a:extLst>
          </p:cNvPr>
          <p:cNvSpPr/>
          <p:nvPr/>
        </p:nvSpPr>
        <p:spPr>
          <a:xfrm>
            <a:off x="795528" y="3210882"/>
            <a:ext cx="365760" cy="0"/>
          </a:xfrm>
          <a:prstGeom prst="line">
            <a:avLst/>
          </a:prstGeom>
          <a:noFill/>
          <a:ln w="12700">
            <a:solidFill>
              <a:srgbClr val="C1BC9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12">
            <a:extLst>
              <a:ext uri="{FF2B5EF4-FFF2-40B4-BE49-F238E27FC236}">
                <a16:creationId xmlns:a16="http://schemas.microsoft.com/office/drawing/2014/main" id="{E011D9EB-72A1-85A6-2759-BA2340AA3755}"/>
              </a:ext>
            </a:extLst>
          </p:cNvPr>
          <p:cNvSpPr/>
          <p:nvPr/>
        </p:nvSpPr>
        <p:spPr>
          <a:xfrm>
            <a:off x="795528" y="3274890"/>
            <a:ext cx="4537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Advisory  (Pillar B)</a:t>
            </a:r>
            <a:endParaRPr lang="en-US" sz="1700" dirty="0"/>
          </a:p>
        </p:txBody>
      </p:sp>
      <p:sp>
        <p:nvSpPr>
          <p:cNvPr id="99" name="Text 13">
            <a:extLst>
              <a:ext uri="{FF2B5EF4-FFF2-40B4-BE49-F238E27FC236}">
                <a16:creationId xmlns:a16="http://schemas.microsoft.com/office/drawing/2014/main" id="{8D748F16-F970-7667-DB9E-8184417D9CAB}"/>
              </a:ext>
            </a:extLst>
          </p:cNvPr>
          <p:cNvSpPr/>
          <p:nvPr/>
        </p:nvSpPr>
        <p:spPr>
          <a:xfrm>
            <a:off x="795528" y="3535604"/>
            <a:ext cx="4537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>
                    <a:alpha val="8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Advisory Services define the transformation — where to play and how to fund it.</a:t>
            </a:r>
            <a:endParaRPr lang="en-US" sz="950" dirty="0"/>
          </a:p>
        </p:txBody>
      </p:sp>
      <p:sp>
        <p:nvSpPr>
          <p:cNvPr id="100" name="Shape 14">
            <a:extLst>
              <a:ext uri="{FF2B5EF4-FFF2-40B4-BE49-F238E27FC236}">
                <a16:creationId xmlns:a16="http://schemas.microsoft.com/office/drawing/2014/main" id="{5DCD4335-8E4B-5910-627C-6715EA3E5BC2}"/>
              </a:ext>
            </a:extLst>
          </p:cNvPr>
          <p:cNvSpPr/>
          <p:nvPr/>
        </p:nvSpPr>
        <p:spPr>
          <a:xfrm>
            <a:off x="5516136" y="3050862"/>
            <a:ext cx="203545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15">
            <a:extLst>
              <a:ext uri="{FF2B5EF4-FFF2-40B4-BE49-F238E27FC236}">
                <a16:creationId xmlns:a16="http://schemas.microsoft.com/office/drawing/2014/main" id="{6CCB2C54-F969-5AD0-BBDD-977F5E8416BE}"/>
              </a:ext>
            </a:extLst>
          </p:cNvPr>
          <p:cNvSpPr/>
          <p:nvPr/>
        </p:nvSpPr>
        <p:spPr>
          <a:xfrm>
            <a:off x="5516136" y="3050862"/>
            <a:ext cx="203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Transformation strategy</a:t>
            </a:r>
            <a:endParaRPr lang="en-US" sz="1000" dirty="0"/>
          </a:p>
        </p:txBody>
      </p:sp>
      <p:sp>
        <p:nvSpPr>
          <p:cNvPr id="102" name="Shape 16">
            <a:extLst>
              <a:ext uri="{FF2B5EF4-FFF2-40B4-BE49-F238E27FC236}">
                <a16:creationId xmlns:a16="http://schemas.microsoft.com/office/drawing/2014/main" id="{0CE11285-9216-5B55-F3E2-EC3B7BECF5AB}"/>
              </a:ext>
            </a:extLst>
          </p:cNvPr>
          <p:cNvSpPr/>
          <p:nvPr/>
        </p:nvSpPr>
        <p:spPr>
          <a:xfrm>
            <a:off x="7624743" y="3050862"/>
            <a:ext cx="1285646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Text 17">
            <a:extLst>
              <a:ext uri="{FF2B5EF4-FFF2-40B4-BE49-F238E27FC236}">
                <a16:creationId xmlns:a16="http://schemas.microsoft.com/office/drawing/2014/main" id="{CB732D9D-182E-74BF-B978-F231E2F2CD5C}"/>
              </a:ext>
            </a:extLst>
          </p:cNvPr>
          <p:cNvSpPr/>
          <p:nvPr/>
        </p:nvSpPr>
        <p:spPr>
          <a:xfrm>
            <a:off x="7624743" y="3050862"/>
            <a:ext cx="12856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case</a:t>
            </a:r>
            <a:endParaRPr lang="en-US" sz="1000" dirty="0"/>
          </a:p>
        </p:txBody>
      </p:sp>
      <p:sp>
        <p:nvSpPr>
          <p:cNvPr id="104" name="Shape 18">
            <a:extLst>
              <a:ext uri="{FF2B5EF4-FFF2-40B4-BE49-F238E27FC236}">
                <a16:creationId xmlns:a16="http://schemas.microsoft.com/office/drawing/2014/main" id="{7B3AE0A4-9655-BE83-44B3-2770D73E04CD}"/>
              </a:ext>
            </a:extLst>
          </p:cNvPr>
          <p:cNvSpPr/>
          <p:nvPr/>
        </p:nvSpPr>
        <p:spPr>
          <a:xfrm>
            <a:off x="8983541" y="3050862"/>
            <a:ext cx="196047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Text 19">
            <a:extLst>
              <a:ext uri="{FF2B5EF4-FFF2-40B4-BE49-F238E27FC236}">
                <a16:creationId xmlns:a16="http://schemas.microsoft.com/office/drawing/2014/main" id="{A7094863-6609-E92C-6420-D3D300739462}"/>
              </a:ext>
            </a:extLst>
          </p:cNvPr>
          <p:cNvSpPr/>
          <p:nvPr/>
        </p:nvSpPr>
        <p:spPr>
          <a:xfrm>
            <a:off x="8983541" y="3050862"/>
            <a:ext cx="1960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 re-engineering</a:t>
            </a:r>
            <a:endParaRPr lang="en-US" sz="1000" dirty="0"/>
          </a:p>
        </p:txBody>
      </p:sp>
      <p:sp>
        <p:nvSpPr>
          <p:cNvPr id="106" name="Shape 20">
            <a:extLst>
              <a:ext uri="{FF2B5EF4-FFF2-40B4-BE49-F238E27FC236}">
                <a16:creationId xmlns:a16="http://schemas.microsoft.com/office/drawing/2014/main" id="{C9545C34-06CB-E3D2-412F-157B665FABEC}"/>
              </a:ext>
            </a:extLst>
          </p:cNvPr>
          <p:cNvSpPr/>
          <p:nvPr/>
        </p:nvSpPr>
        <p:spPr>
          <a:xfrm>
            <a:off x="5516136" y="3398334"/>
            <a:ext cx="158557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Text 21">
            <a:extLst>
              <a:ext uri="{FF2B5EF4-FFF2-40B4-BE49-F238E27FC236}">
                <a16:creationId xmlns:a16="http://schemas.microsoft.com/office/drawing/2014/main" id="{7607E85C-3643-98D9-D543-075F12427084}"/>
              </a:ext>
            </a:extLst>
          </p:cNvPr>
          <p:cNvSpPr/>
          <p:nvPr/>
        </p:nvSpPr>
        <p:spPr>
          <a:xfrm>
            <a:off x="5516136" y="3398334"/>
            <a:ext cx="15855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Change management</a:t>
            </a:r>
            <a:endParaRPr lang="en-US" sz="1000" dirty="0"/>
          </a:p>
        </p:txBody>
      </p:sp>
      <p:sp>
        <p:nvSpPr>
          <p:cNvPr id="108" name="Shape 22">
            <a:extLst>
              <a:ext uri="{FF2B5EF4-FFF2-40B4-BE49-F238E27FC236}">
                <a16:creationId xmlns:a16="http://schemas.microsoft.com/office/drawing/2014/main" id="{5C70478B-DCC9-54BA-B3C1-09B88B39C2F3}"/>
              </a:ext>
            </a:extLst>
          </p:cNvPr>
          <p:cNvSpPr/>
          <p:nvPr/>
        </p:nvSpPr>
        <p:spPr>
          <a:xfrm>
            <a:off x="7174858" y="3398334"/>
            <a:ext cx="1435608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Text 23">
            <a:extLst>
              <a:ext uri="{FF2B5EF4-FFF2-40B4-BE49-F238E27FC236}">
                <a16:creationId xmlns:a16="http://schemas.microsoft.com/office/drawing/2014/main" id="{A4347973-F361-6F1C-681E-DAB93BA7E932}"/>
              </a:ext>
            </a:extLst>
          </p:cNvPr>
          <p:cNvSpPr/>
          <p:nvPr/>
        </p:nvSpPr>
        <p:spPr>
          <a:xfrm>
            <a:off x="7174858" y="3398334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Digital roadmap</a:t>
            </a:r>
            <a:endParaRPr lang="en-US" sz="1000" dirty="0"/>
          </a:p>
        </p:txBody>
      </p:sp>
      <p:sp>
        <p:nvSpPr>
          <p:cNvPr id="110" name="Shape 24">
            <a:extLst>
              <a:ext uri="{FF2B5EF4-FFF2-40B4-BE49-F238E27FC236}">
                <a16:creationId xmlns:a16="http://schemas.microsoft.com/office/drawing/2014/main" id="{863161D2-B871-65F3-778A-FA813FFFA23C}"/>
              </a:ext>
            </a:extLst>
          </p:cNvPr>
          <p:cNvSpPr/>
          <p:nvPr/>
        </p:nvSpPr>
        <p:spPr>
          <a:xfrm>
            <a:off x="502920" y="3850962"/>
            <a:ext cx="11185855" cy="105156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Text 25">
            <a:extLst>
              <a:ext uri="{FF2B5EF4-FFF2-40B4-BE49-F238E27FC236}">
                <a16:creationId xmlns:a16="http://schemas.microsoft.com/office/drawing/2014/main" id="{676B3117-D028-4899-A0A1-0539D25668A7}"/>
              </a:ext>
            </a:extLst>
          </p:cNvPr>
          <p:cNvSpPr/>
          <p:nvPr/>
        </p:nvSpPr>
        <p:spPr>
          <a:xfrm>
            <a:off x="795528" y="392411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1BC9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TIER 02</a:t>
            </a:r>
            <a:endParaRPr lang="en-US" sz="1000" dirty="0">
              <a:solidFill>
                <a:srgbClr val="C1BC9C"/>
              </a:solidFill>
            </a:endParaRPr>
          </a:p>
        </p:txBody>
      </p:sp>
      <p:sp>
        <p:nvSpPr>
          <p:cNvPr id="112" name="Shape 26">
            <a:extLst>
              <a:ext uri="{FF2B5EF4-FFF2-40B4-BE49-F238E27FC236}">
                <a16:creationId xmlns:a16="http://schemas.microsoft.com/office/drawing/2014/main" id="{9A40A67B-18B5-C0D0-F368-3E56E7C825BE}"/>
              </a:ext>
            </a:extLst>
          </p:cNvPr>
          <p:cNvSpPr/>
          <p:nvPr/>
        </p:nvSpPr>
        <p:spPr>
          <a:xfrm>
            <a:off x="795528" y="4134426"/>
            <a:ext cx="365760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27">
            <a:extLst>
              <a:ext uri="{FF2B5EF4-FFF2-40B4-BE49-F238E27FC236}">
                <a16:creationId xmlns:a16="http://schemas.microsoft.com/office/drawing/2014/main" id="{9DD26324-E8C5-3E94-4E43-A3239594DCE7}"/>
              </a:ext>
            </a:extLst>
          </p:cNvPr>
          <p:cNvSpPr/>
          <p:nvPr/>
        </p:nvSpPr>
        <p:spPr>
          <a:xfrm>
            <a:off x="795528" y="4198434"/>
            <a:ext cx="4537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Platforms &amp; Engineering  (Pillars A &amp; C)</a:t>
            </a:r>
            <a:endParaRPr lang="en-US" sz="1800" dirty="0"/>
          </a:p>
        </p:txBody>
      </p:sp>
      <p:sp>
        <p:nvSpPr>
          <p:cNvPr id="114" name="Text 28">
            <a:extLst>
              <a:ext uri="{FF2B5EF4-FFF2-40B4-BE49-F238E27FC236}">
                <a16:creationId xmlns:a16="http://schemas.microsoft.com/office/drawing/2014/main" id="{5C43D722-28C2-4A92-0026-38673F7DEE47}"/>
              </a:ext>
            </a:extLst>
          </p:cNvPr>
          <p:cNvSpPr/>
          <p:nvPr/>
        </p:nvSpPr>
        <p:spPr>
          <a:xfrm>
            <a:off x="795528" y="4509330"/>
            <a:ext cx="4537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>
                    <a:alpha val="8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the new core — SAP, Salesforce, Workday and custom digital engineering, AI and data.</a:t>
            </a:r>
            <a:endParaRPr lang="en-US" sz="950" dirty="0"/>
          </a:p>
        </p:txBody>
      </p:sp>
      <p:sp>
        <p:nvSpPr>
          <p:cNvPr id="115" name="Shape 29">
            <a:extLst>
              <a:ext uri="{FF2B5EF4-FFF2-40B4-BE49-F238E27FC236}">
                <a16:creationId xmlns:a16="http://schemas.microsoft.com/office/drawing/2014/main" id="{AF223773-AF79-0D09-7964-9A43569C0245}"/>
              </a:ext>
            </a:extLst>
          </p:cNvPr>
          <p:cNvSpPr/>
          <p:nvPr/>
        </p:nvSpPr>
        <p:spPr>
          <a:xfrm>
            <a:off x="5516136" y="4065846"/>
            <a:ext cx="1885493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Text 30">
            <a:extLst>
              <a:ext uri="{FF2B5EF4-FFF2-40B4-BE49-F238E27FC236}">
                <a16:creationId xmlns:a16="http://schemas.microsoft.com/office/drawing/2014/main" id="{479EBACC-B323-B5FD-BEA4-D76772F2D4F6}"/>
              </a:ext>
            </a:extLst>
          </p:cNvPr>
          <p:cNvSpPr/>
          <p:nvPr/>
        </p:nvSpPr>
        <p:spPr>
          <a:xfrm>
            <a:off x="5516136" y="4065846"/>
            <a:ext cx="18854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S/4HANA &amp; modules</a:t>
            </a:r>
            <a:endParaRPr lang="en-US" sz="1000" dirty="0"/>
          </a:p>
        </p:txBody>
      </p:sp>
      <p:sp>
        <p:nvSpPr>
          <p:cNvPr id="117" name="Shape 31">
            <a:extLst>
              <a:ext uri="{FF2B5EF4-FFF2-40B4-BE49-F238E27FC236}">
                <a16:creationId xmlns:a16="http://schemas.microsoft.com/office/drawing/2014/main" id="{C88C9458-510F-E5DC-4D56-8CAB9CF36BBB}"/>
              </a:ext>
            </a:extLst>
          </p:cNvPr>
          <p:cNvSpPr/>
          <p:nvPr/>
        </p:nvSpPr>
        <p:spPr>
          <a:xfrm>
            <a:off x="7474781" y="4065846"/>
            <a:ext cx="835762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Text 32">
            <a:extLst>
              <a:ext uri="{FF2B5EF4-FFF2-40B4-BE49-F238E27FC236}">
                <a16:creationId xmlns:a16="http://schemas.microsoft.com/office/drawing/2014/main" id="{4D40BD63-4D44-CCE6-2A3D-D48DAA478D11}"/>
              </a:ext>
            </a:extLst>
          </p:cNvPr>
          <p:cNvSpPr/>
          <p:nvPr/>
        </p:nvSpPr>
        <p:spPr>
          <a:xfrm>
            <a:off x="7474781" y="4065846"/>
            <a:ext cx="8357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Workday</a:t>
            </a:r>
            <a:endParaRPr lang="en-US" sz="1000" dirty="0"/>
          </a:p>
        </p:txBody>
      </p:sp>
      <p:sp>
        <p:nvSpPr>
          <p:cNvPr id="119" name="Shape 33">
            <a:extLst>
              <a:ext uri="{FF2B5EF4-FFF2-40B4-BE49-F238E27FC236}">
                <a16:creationId xmlns:a16="http://schemas.microsoft.com/office/drawing/2014/main" id="{78878745-2C3D-C592-8427-FAB7F9462441}"/>
              </a:ext>
            </a:extLst>
          </p:cNvPr>
          <p:cNvSpPr/>
          <p:nvPr/>
        </p:nvSpPr>
        <p:spPr>
          <a:xfrm>
            <a:off x="8383695" y="4065846"/>
            <a:ext cx="106070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Text 34">
            <a:extLst>
              <a:ext uri="{FF2B5EF4-FFF2-40B4-BE49-F238E27FC236}">
                <a16:creationId xmlns:a16="http://schemas.microsoft.com/office/drawing/2014/main" id="{4ACAA5BC-C95E-A0A1-8A76-6D816B5B272F}"/>
              </a:ext>
            </a:extLst>
          </p:cNvPr>
          <p:cNvSpPr/>
          <p:nvPr/>
        </p:nvSpPr>
        <p:spPr>
          <a:xfrm>
            <a:off x="8383695" y="4065846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Salesforce</a:t>
            </a:r>
            <a:endParaRPr lang="en-US" sz="1000" dirty="0"/>
          </a:p>
        </p:txBody>
      </p:sp>
      <p:sp>
        <p:nvSpPr>
          <p:cNvPr id="121" name="Shape 35">
            <a:extLst>
              <a:ext uri="{FF2B5EF4-FFF2-40B4-BE49-F238E27FC236}">
                <a16:creationId xmlns:a16="http://schemas.microsoft.com/office/drawing/2014/main" id="{9C2FACB4-A30D-0D3E-D95D-3BB7557F3C28}"/>
              </a:ext>
            </a:extLst>
          </p:cNvPr>
          <p:cNvSpPr/>
          <p:nvPr/>
        </p:nvSpPr>
        <p:spPr>
          <a:xfrm>
            <a:off x="5516136" y="4413318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Text 36">
            <a:extLst>
              <a:ext uri="{FF2B5EF4-FFF2-40B4-BE49-F238E27FC236}">
                <a16:creationId xmlns:a16="http://schemas.microsoft.com/office/drawing/2014/main" id="{5F3E1DB2-B176-6DA3-AD62-57E4CA481B5B}"/>
              </a:ext>
            </a:extLst>
          </p:cNvPr>
          <p:cNvSpPr/>
          <p:nvPr/>
        </p:nvSpPr>
        <p:spPr>
          <a:xfrm>
            <a:off x="5516136" y="441331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 engineering &amp; Digital Transformation</a:t>
            </a:r>
            <a:endParaRPr lang="en-US" sz="1000" dirty="0"/>
          </a:p>
        </p:txBody>
      </p:sp>
      <p:sp>
        <p:nvSpPr>
          <p:cNvPr id="123" name="Shape 37">
            <a:extLst>
              <a:ext uri="{FF2B5EF4-FFF2-40B4-BE49-F238E27FC236}">
                <a16:creationId xmlns:a16="http://schemas.microsoft.com/office/drawing/2014/main" id="{7CB83736-BDBB-87CB-ECFF-C9C6E75827B7}"/>
              </a:ext>
            </a:extLst>
          </p:cNvPr>
          <p:cNvSpPr/>
          <p:nvPr/>
        </p:nvSpPr>
        <p:spPr>
          <a:xfrm>
            <a:off x="502920" y="4957386"/>
            <a:ext cx="11185855" cy="868680"/>
          </a:xfrm>
          <a:prstGeom prst="rect">
            <a:avLst/>
          </a:prstGeom>
          <a:solidFill>
            <a:srgbClr val="A3CB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Text 38">
            <a:extLst>
              <a:ext uri="{FF2B5EF4-FFF2-40B4-BE49-F238E27FC236}">
                <a16:creationId xmlns:a16="http://schemas.microsoft.com/office/drawing/2014/main" id="{77B2D5D0-077B-B342-C8BC-27045958BD22}"/>
              </a:ext>
            </a:extLst>
          </p:cNvPr>
          <p:cNvSpPr/>
          <p:nvPr/>
        </p:nvSpPr>
        <p:spPr>
          <a:xfrm>
            <a:off x="795528" y="503053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3F74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TIER 03</a:t>
            </a:r>
            <a:endParaRPr lang="en-US" sz="1000" dirty="0">
              <a:solidFill>
                <a:srgbClr val="3F74A2"/>
              </a:solidFill>
            </a:endParaRPr>
          </a:p>
        </p:txBody>
      </p:sp>
      <p:sp>
        <p:nvSpPr>
          <p:cNvPr id="125" name="Shape 39">
            <a:extLst>
              <a:ext uri="{FF2B5EF4-FFF2-40B4-BE49-F238E27FC236}">
                <a16:creationId xmlns:a16="http://schemas.microsoft.com/office/drawing/2014/main" id="{DD818611-5D90-8937-5B5A-A97AE5BF8F2E}"/>
              </a:ext>
            </a:extLst>
          </p:cNvPr>
          <p:cNvSpPr/>
          <p:nvPr/>
        </p:nvSpPr>
        <p:spPr>
          <a:xfrm>
            <a:off x="795528" y="5240850"/>
            <a:ext cx="365760" cy="0"/>
          </a:xfrm>
          <a:prstGeom prst="line">
            <a:avLst/>
          </a:prstGeom>
          <a:noFill/>
          <a:ln w="12700">
            <a:solidFill>
              <a:srgbClr val="3F74A2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3F74A2"/>
              </a:solidFill>
            </a:endParaRPr>
          </a:p>
        </p:txBody>
      </p:sp>
      <p:sp>
        <p:nvSpPr>
          <p:cNvPr id="126" name="Text 40">
            <a:extLst>
              <a:ext uri="{FF2B5EF4-FFF2-40B4-BE49-F238E27FC236}">
                <a16:creationId xmlns:a16="http://schemas.microsoft.com/office/drawing/2014/main" id="{3BCCBD1B-83BB-8590-A02C-0B8A7547FCF2}"/>
              </a:ext>
            </a:extLst>
          </p:cNvPr>
          <p:cNvSpPr/>
          <p:nvPr/>
        </p:nvSpPr>
        <p:spPr>
          <a:xfrm>
            <a:off x="795528" y="5249994"/>
            <a:ext cx="4537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Managed Services &amp; Sustenance</a:t>
            </a:r>
            <a:endParaRPr lang="en-US" sz="1700" dirty="0"/>
          </a:p>
        </p:txBody>
      </p:sp>
      <p:sp>
        <p:nvSpPr>
          <p:cNvPr id="127" name="Text 41">
            <a:extLst>
              <a:ext uri="{FF2B5EF4-FFF2-40B4-BE49-F238E27FC236}">
                <a16:creationId xmlns:a16="http://schemas.microsoft.com/office/drawing/2014/main" id="{60CB68F6-CB20-480B-9E0D-77DBE94CCFA5}"/>
              </a:ext>
            </a:extLst>
          </p:cNvPr>
          <p:cNvSpPr/>
          <p:nvPr/>
        </p:nvSpPr>
        <p:spPr>
          <a:xfrm>
            <a:off x="795528" y="5496882"/>
            <a:ext cx="4537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21E3B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Run, optimise and extend — protecting the investment across platforms and applications.</a:t>
            </a:r>
            <a:endParaRPr lang="en-US" sz="950" dirty="0"/>
          </a:p>
        </p:txBody>
      </p:sp>
      <p:sp>
        <p:nvSpPr>
          <p:cNvPr id="128" name="Shape 42">
            <a:extLst>
              <a:ext uri="{FF2B5EF4-FFF2-40B4-BE49-F238E27FC236}">
                <a16:creationId xmlns:a16="http://schemas.microsoft.com/office/drawing/2014/main" id="{A96C7BA3-EAE4-748F-2FE3-61D970851BD4}"/>
              </a:ext>
            </a:extLst>
          </p:cNvPr>
          <p:cNvSpPr/>
          <p:nvPr/>
        </p:nvSpPr>
        <p:spPr>
          <a:xfrm>
            <a:off x="5516136" y="5080830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Text 43">
            <a:extLst>
              <a:ext uri="{FF2B5EF4-FFF2-40B4-BE49-F238E27FC236}">
                <a16:creationId xmlns:a16="http://schemas.microsoft.com/office/drawing/2014/main" id="{EF048A9B-6B16-722C-409F-A4109C1F9FB2}"/>
              </a:ext>
            </a:extLst>
          </p:cNvPr>
          <p:cNvSpPr/>
          <p:nvPr/>
        </p:nvSpPr>
        <p:spPr>
          <a:xfrm>
            <a:off x="5516136" y="508083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AMS</a:t>
            </a:r>
            <a:endParaRPr lang="en-US" sz="1000" dirty="0"/>
          </a:p>
        </p:txBody>
      </p:sp>
      <p:sp>
        <p:nvSpPr>
          <p:cNvPr id="130" name="Shape 44">
            <a:extLst>
              <a:ext uri="{FF2B5EF4-FFF2-40B4-BE49-F238E27FC236}">
                <a16:creationId xmlns:a16="http://schemas.microsoft.com/office/drawing/2014/main" id="{241FFCB8-C0FF-FF66-E2E2-5AB480DD4B55}"/>
              </a:ext>
            </a:extLst>
          </p:cNvPr>
          <p:cNvSpPr/>
          <p:nvPr/>
        </p:nvSpPr>
        <p:spPr>
          <a:xfrm>
            <a:off x="6275088" y="5080830"/>
            <a:ext cx="1735531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Text 45">
            <a:extLst>
              <a:ext uri="{FF2B5EF4-FFF2-40B4-BE49-F238E27FC236}">
                <a16:creationId xmlns:a16="http://schemas.microsoft.com/office/drawing/2014/main" id="{83B1AA70-D4B8-FD0D-351C-52FD6934372E}"/>
              </a:ext>
            </a:extLst>
          </p:cNvPr>
          <p:cNvSpPr/>
          <p:nvPr/>
        </p:nvSpPr>
        <p:spPr>
          <a:xfrm>
            <a:off x="6275088" y="5080830"/>
            <a:ext cx="1735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 support</a:t>
            </a:r>
            <a:endParaRPr lang="en-US" sz="1000" dirty="0"/>
          </a:p>
        </p:txBody>
      </p:sp>
      <p:sp>
        <p:nvSpPr>
          <p:cNvPr id="132" name="Shape 46">
            <a:extLst>
              <a:ext uri="{FF2B5EF4-FFF2-40B4-BE49-F238E27FC236}">
                <a16:creationId xmlns:a16="http://schemas.microsoft.com/office/drawing/2014/main" id="{A950D009-8A70-387E-9FFB-8A3D911DB991}"/>
              </a:ext>
            </a:extLst>
          </p:cNvPr>
          <p:cNvSpPr/>
          <p:nvPr/>
        </p:nvSpPr>
        <p:spPr>
          <a:xfrm>
            <a:off x="8083771" y="5080830"/>
            <a:ext cx="1810512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Text 47">
            <a:extLst>
              <a:ext uri="{FF2B5EF4-FFF2-40B4-BE49-F238E27FC236}">
                <a16:creationId xmlns:a16="http://schemas.microsoft.com/office/drawing/2014/main" id="{1818EB77-98DE-841A-8130-43406AD19846}"/>
              </a:ext>
            </a:extLst>
          </p:cNvPr>
          <p:cNvSpPr/>
          <p:nvPr/>
        </p:nvSpPr>
        <p:spPr>
          <a:xfrm>
            <a:off x="8083771" y="508083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Technical operations</a:t>
            </a:r>
            <a:endParaRPr lang="en-US" sz="1000" dirty="0"/>
          </a:p>
        </p:txBody>
      </p:sp>
      <p:sp>
        <p:nvSpPr>
          <p:cNvPr id="134" name="Shape 48">
            <a:extLst>
              <a:ext uri="{FF2B5EF4-FFF2-40B4-BE49-F238E27FC236}">
                <a16:creationId xmlns:a16="http://schemas.microsoft.com/office/drawing/2014/main" id="{EE1F653E-48C5-5610-1398-8CD30FA9C590}"/>
              </a:ext>
            </a:extLst>
          </p:cNvPr>
          <p:cNvSpPr/>
          <p:nvPr/>
        </p:nvSpPr>
        <p:spPr>
          <a:xfrm>
            <a:off x="5516136" y="5428302"/>
            <a:ext cx="196047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Text 49">
            <a:extLst>
              <a:ext uri="{FF2B5EF4-FFF2-40B4-BE49-F238E27FC236}">
                <a16:creationId xmlns:a16="http://schemas.microsoft.com/office/drawing/2014/main" id="{F30B37BC-3795-ADD0-4CA2-DFB5C25E6D67}"/>
              </a:ext>
            </a:extLst>
          </p:cNvPr>
          <p:cNvSpPr/>
          <p:nvPr/>
        </p:nvSpPr>
        <p:spPr>
          <a:xfrm>
            <a:off x="5516136" y="5428302"/>
            <a:ext cx="1960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Continuous improvement</a:t>
            </a:r>
            <a:endParaRPr lang="en-US" sz="1000" dirty="0"/>
          </a:p>
        </p:txBody>
      </p:sp>
      <p:sp>
        <p:nvSpPr>
          <p:cNvPr id="136" name="Shape 50">
            <a:extLst>
              <a:ext uri="{FF2B5EF4-FFF2-40B4-BE49-F238E27FC236}">
                <a16:creationId xmlns:a16="http://schemas.microsoft.com/office/drawing/2014/main" id="{2D55F2E8-F867-EE40-DBA5-482E384E4531}"/>
              </a:ext>
            </a:extLst>
          </p:cNvPr>
          <p:cNvSpPr/>
          <p:nvPr/>
        </p:nvSpPr>
        <p:spPr>
          <a:xfrm>
            <a:off x="502920" y="5917506"/>
            <a:ext cx="11185855" cy="384048"/>
          </a:xfrm>
          <a:prstGeom prst="rect">
            <a:avLst/>
          </a:prstGeom>
          <a:solidFill>
            <a:srgbClr val="F7F8FA"/>
          </a:solidFill>
          <a:ln w="6350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51">
            <a:extLst>
              <a:ext uri="{FF2B5EF4-FFF2-40B4-BE49-F238E27FC236}">
                <a16:creationId xmlns:a16="http://schemas.microsoft.com/office/drawing/2014/main" id="{FAA498FC-B55F-8237-F8D5-5390DF6197C6}"/>
              </a:ext>
            </a:extLst>
          </p:cNvPr>
          <p:cNvSpPr/>
          <p:nvPr/>
        </p:nvSpPr>
        <p:spPr>
          <a:xfrm>
            <a:off x="731520" y="591750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DELIVERY ENGINE</a:t>
            </a:r>
            <a:endParaRPr lang="en-US" sz="900" dirty="0"/>
          </a:p>
        </p:txBody>
      </p:sp>
      <p:sp>
        <p:nvSpPr>
          <p:cNvPr id="138" name="Shape 52">
            <a:extLst>
              <a:ext uri="{FF2B5EF4-FFF2-40B4-BE49-F238E27FC236}">
                <a16:creationId xmlns:a16="http://schemas.microsoft.com/office/drawing/2014/main" id="{584D67EC-4BC1-A1F7-4250-463FBF4B19A5}"/>
              </a:ext>
            </a:extLst>
          </p:cNvPr>
          <p:cNvSpPr/>
          <p:nvPr/>
        </p:nvSpPr>
        <p:spPr>
          <a:xfrm>
            <a:off x="2377440" y="5990658"/>
            <a:ext cx="0" cy="237744"/>
          </a:xfrm>
          <a:prstGeom prst="line">
            <a:avLst/>
          </a:prstGeom>
          <a:noFill/>
          <a:ln w="12700">
            <a:solidFill>
              <a:srgbClr val="A3CBE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53">
            <a:extLst>
              <a:ext uri="{FF2B5EF4-FFF2-40B4-BE49-F238E27FC236}">
                <a16:creationId xmlns:a16="http://schemas.microsoft.com/office/drawing/2014/main" id="{0B265DE1-95A6-31AB-CDC3-C94E4B4AAB8C}"/>
              </a:ext>
            </a:extLst>
          </p:cNvPr>
          <p:cNvSpPr/>
          <p:nvPr/>
        </p:nvSpPr>
        <p:spPr>
          <a:xfrm>
            <a:off x="2514600" y="5917506"/>
            <a:ext cx="9082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FastForward methodology   ·   Development factory   ·   Global AMS bench   ·   Account-level governance</a:t>
            </a:r>
            <a:endParaRPr lang="en-US" sz="1050" dirty="0"/>
          </a:p>
        </p:txBody>
      </p:sp>
      <p:sp>
        <p:nvSpPr>
          <p:cNvPr id="141" name="Rectangle 6">
            <a:extLst>
              <a:ext uri="{FF2B5EF4-FFF2-40B4-BE49-F238E27FC236}">
                <a16:creationId xmlns:a16="http://schemas.microsoft.com/office/drawing/2014/main" id="{D02E62AA-1413-F4B2-11E6-FC4FF4E5600C}"/>
              </a:ext>
            </a:extLst>
          </p:cNvPr>
          <p:cNvSpPr>
            <a:spLocks noChangeAspect="1"/>
          </p:cNvSpPr>
          <p:nvPr/>
        </p:nvSpPr>
        <p:spPr>
          <a:xfrm>
            <a:off x="11144319" y="2997894"/>
            <a:ext cx="463564" cy="4638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6">
            <a:extLst>
              <a:ext uri="{FF2B5EF4-FFF2-40B4-BE49-F238E27FC236}">
                <a16:creationId xmlns:a16="http://schemas.microsoft.com/office/drawing/2014/main" id="{902A1F48-0EF4-FA2D-4655-A0531E9A92D3}"/>
              </a:ext>
            </a:extLst>
          </p:cNvPr>
          <p:cNvSpPr>
            <a:spLocks noChangeAspect="1"/>
          </p:cNvSpPr>
          <p:nvPr/>
        </p:nvSpPr>
        <p:spPr>
          <a:xfrm>
            <a:off x="11144319" y="3948198"/>
            <a:ext cx="463564" cy="4638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6">
            <a:extLst>
              <a:ext uri="{FF2B5EF4-FFF2-40B4-BE49-F238E27FC236}">
                <a16:creationId xmlns:a16="http://schemas.microsoft.com/office/drawing/2014/main" id="{F7C7D915-8DFB-03CA-D742-547BC9411731}"/>
              </a:ext>
            </a:extLst>
          </p:cNvPr>
          <p:cNvSpPr>
            <a:spLocks noChangeAspect="1"/>
          </p:cNvSpPr>
          <p:nvPr/>
        </p:nvSpPr>
        <p:spPr>
          <a:xfrm>
            <a:off x="11133771" y="5018046"/>
            <a:ext cx="463564" cy="4638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A3CBE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50292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Platform Services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4160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Platform-led transformation across SAP, Salesforce and Workday — with one accountable partner for the full lifecycle: consulting, implementation, rollout, upgrade, AMS and ongoing enhancement.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9525">
            <a:solidFill>
              <a:srgbClr val="2A3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900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C8C08BF-AFD8-2503-01B4-225DC3EC2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5639" y="347471"/>
            <a:ext cx="2070410" cy="6445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A3CBE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A1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50292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SUB-PRACTICE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SAP Services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4160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Gold Partner. 300+ consultants. 1,000+ combined years of SAP experience.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9525">
            <a:solidFill>
              <a:srgbClr val="2A3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900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C8C08BF-AFD8-2503-01B4-225DC3EC2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5639" y="347471"/>
            <a:ext cx="2070410" cy="6445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7484C5-4A5A-CDF0-BAA2-D62C54F57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960B318F-4404-D07B-AD81-6F436C6CD33D}"/>
              </a:ext>
            </a:extLst>
          </p:cNvPr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 •  PRACTICE AT A GLANCE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A9C62DC-4103-3AEE-A400-7A1AF18232C7}"/>
              </a:ext>
            </a:extLst>
          </p:cNvPr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Proud SAP Gold Partner</a:t>
            </a:r>
            <a:endParaRPr lang="en-US" sz="2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48AAFA0-F9DE-F734-DF99-35BC5783B114}"/>
              </a:ext>
            </a:extLst>
          </p:cNvPr>
          <p:cNvSpPr/>
          <p:nvPr/>
        </p:nvSpPr>
        <p:spPr>
          <a:xfrm>
            <a:off x="502920" y="170992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300+ consultants • 1,000+ combined years of SAP experience • 50+ clients across manufacturing, infrastructure, professional services, metals &amp; mining, utilities. Capability spans S/4HANA, SuccessFactors, Ariba, Concur, Analytics Cloud (SAC), Datasphere, BTP and Joule.</a:t>
            </a:r>
            <a:endParaRPr lang="en-US" sz="13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6A8C229-333B-7B07-B1EF-832030B28E61}"/>
              </a:ext>
            </a:extLst>
          </p:cNvPr>
          <p:cNvSpPr/>
          <p:nvPr/>
        </p:nvSpPr>
        <p:spPr>
          <a:xfrm>
            <a:off x="502920" y="2419178"/>
            <a:ext cx="2673020" cy="246888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FC6120D-6C1C-B533-B0A5-365B69A650C8}"/>
              </a:ext>
            </a:extLst>
          </p:cNvPr>
          <p:cNvSpPr/>
          <p:nvPr/>
        </p:nvSpPr>
        <p:spPr>
          <a:xfrm>
            <a:off x="777240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Partnership Depth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A40FAB4-52C8-5733-01E2-9D426F96DCFE}"/>
              </a:ext>
            </a:extLst>
          </p:cNvPr>
          <p:cNvSpPr/>
          <p:nvPr/>
        </p:nvSpPr>
        <p:spPr>
          <a:xfrm>
            <a:off x="777240" y="3310718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Gold Partner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RISE with SAP (BTaaS)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PCE &amp; Co-Innovation Partner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Active in SAP user groups</a:t>
            </a:r>
            <a:endParaRPr lang="en-US" sz="1000" dirty="0">
              <a:solidFill>
                <a:srgbClr val="94B8D0"/>
              </a:solidFill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8D950DB1-2A20-3CA7-5F1F-6D6B64C45E0F}"/>
              </a:ext>
            </a:extLst>
          </p:cNvPr>
          <p:cNvSpPr/>
          <p:nvPr/>
        </p:nvSpPr>
        <p:spPr>
          <a:xfrm>
            <a:off x="3340532" y="2419178"/>
            <a:ext cx="2673020" cy="2468880"/>
          </a:xfrm>
          <a:prstGeom prst="rect">
            <a:avLst/>
          </a:prstGeom>
          <a:solidFill>
            <a:srgbClr val="94B8D0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F963DD92-47C6-DD60-9546-64B220757C56}"/>
              </a:ext>
            </a:extLst>
          </p:cNvPr>
          <p:cNvSpPr/>
          <p:nvPr/>
        </p:nvSpPr>
        <p:spPr>
          <a:xfrm>
            <a:off x="3614852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</a:rPr>
              <a:t>Industry Experience</a:t>
            </a: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F4FD7568-82B5-05D9-FF56-0275F46F4D84}"/>
              </a:ext>
            </a:extLst>
          </p:cNvPr>
          <p:cNvSpPr/>
          <p:nvPr/>
        </p:nvSpPr>
        <p:spPr>
          <a:xfrm>
            <a:off x="3614852" y="3276341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50+ SAP clients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Manufacturing &amp; Automotive, BFSI, Retail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Energy &amp; Utilities, Pharma, Metals &amp; Mining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Government &amp; Public Sector, Prof. Services</a:t>
            </a:r>
            <a:endParaRPr lang="en-US" sz="1000" dirty="0">
              <a:solidFill>
                <a:srgbClr val="121E3B"/>
              </a:solidFill>
            </a:endParaRPr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064B332B-A913-A1F0-3470-F77BDE9CFED1}"/>
              </a:ext>
            </a:extLst>
          </p:cNvPr>
          <p:cNvSpPr/>
          <p:nvPr/>
        </p:nvSpPr>
        <p:spPr>
          <a:xfrm>
            <a:off x="6178144" y="2419178"/>
            <a:ext cx="2673020" cy="246888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49A9B0FA-F3B4-1A50-621A-2DDD74C5F3BD}"/>
              </a:ext>
            </a:extLst>
          </p:cNvPr>
          <p:cNvSpPr/>
          <p:nvPr/>
        </p:nvSpPr>
        <p:spPr>
          <a:xfrm>
            <a:off x="6452464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Specialized Skills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8B95149A-256E-F055-48F7-EA8EC7BF3B5B}"/>
              </a:ext>
            </a:extLst>
          </p:cNvPr>
          <p:cNvSpPr/>
          <p:nvPr/>
        </p:nvSpPr>
        <p:spPr>
          <a:xfrm>
            <a:off x="6452464" y="3227668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300+ consultants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40% technical · 60% functional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Migration &amp; transformation experts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major platforms</a:t>
            </a:r>
            <a:endParaRPr lang="en-US" sz="1000" dirty="0">
              <a:solidFill>
                <a:srgbClr val="94B8D0"/>
              </a:solidFill>
            </a:endParaRPr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A78F8A5E-A43B-7EAD-E4AB-86B4D983DEF7}"/>
              </a:ext>
            </a:extLst>
          </p:cNvPr>
          <p:cNvSpPr/>
          <p:nvPr/>
        </p:nvSpPr>
        <p:spPr>
          <a:xfrm>
            <a:off x="9015755" y="2419178"/>
            <a:ext cx="2673020" cy="2468880"/>
          </a:xfrm>
          <a:prstGeom prst="rect">
            <a:avLst/>
          </a:prstGeom>
          <a:solidFill>
            <a:srgbClr val="94B8D0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4A668894-1BAB-0160-4B2E-3071259CB397}"/>
              </a:ext>
            </a:extLst>
          </p:cNvPr>
          <p:cNvSpPr/>
          <p:nvPr/>
        </p:nvSpPr>
        <p:spPr>
          <a:xfrm>
            <a:off x="9244355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Solutions &amp; IP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F08CE842-BAF5-6506-02CC-5E767887723E}"/>
              </a:ext>
            </a:extLst>
          </p:cNvPr>
          <p:cNvSpPr/>
          <p:nvPr/>
        </p:nvSpPr>
        <p:spPr>
          <a:xfrm>
            <a:off x="9244355" y="3227668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RISE/GROW implementation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AMS support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Country payroll localizations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Packaged S/4HANA add-ons</a:t>
            </a:r>
            <a:endParaRPr lang="en-US" sz="1000" dirty="0">
              <a:solidFill>
                <a:srgbClr val="121E3B"/>
              </a:solidFill>
            </a:endParaRPr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A18D5E1B-FF3A-78EE-1402-FE63BFC0C9B5}"/>
              </a:ext>
            </a:extLst>
          </p:cNvPr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E34FE3D1-B08E-4E3F-9BC6-34440562F41B}"/>
              </a:ext>
            </a:extLst>
          </p:cNvPr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900" dirty="0"/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435D937C-050F-FEDC-4E4C-E50E6F8B5599}"/>
              </a:ext>
            </a:extLst>
          </p:cNvPr>
          <p:cNvSpPr>
            <a:spLocks noChangeAspect="1"/>
          </p:cNvSpPr>
          <p:nvPr/>
        </p:nvSpPr>
        <p:spPr>
          <a:xfrm>
            <a:off x="11162371" y="145576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6">
            <a:extLst>
              <a:ext uri="{FF2B5EF4-FFF2-40B4-BE49-F238E27FC236}">
                <a16:creationId xmlns:a16="http://schemas.microsoft.com/office/drawing/2014/main" id="{ADA03526-DA2F-A729-2ADF-FBEC22EC800E}"/>
              </a:ext>
            </a:extLst>
          </p:cNvPr>
          <p:cNvSpPr>
            <a:spLocks noChangeAspect="1"/>
          </p:cNvSpPr>
          <p:nvPr/>
        </p:nvSpPr>
        <p:spPr>
          <a:xfrm>
            <a:off x="10924478" y="398337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BA6ABF86-87F7-98E0-05D7-B7FCE9928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sp>
        <p:nvSpPr>
          <p:cNvPr id="2" name="Shape 4">
            <a:extLst>
              <a:ext uri="{FF2B5EF4-FFF2-40B4-BE49-F238E27FC236}">
                <a16:creationId xmlns:a16="http://schemas.microsoft.com/office/drawing/2014/main" id="{F71205D8-4470-3A98-ED23-2C75B30CAA54}"/>
              </a:ext>
            </a:extLst>
          </p:cNvPr>
          <p:cNvSpPr/>
          <p:nvPr/>
        </p:nvSpPr>
        <p:spPr>
          <a:xfrm>
            <a:off x="777240" y="2693498"/>
            <a:ext cx="290444" cy="0"/>
          </a:xfrm>
          <a:prstGeom prst="line">
            <a:avLst/>
          </a:prstGeom>
          <a:noFill/>
          <a:ln w="57150">
            <a:solidFill>
              <a:srgbClr val="A3CBE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6A299E0B-5C99-5826-E007-D39B68C880A9}"/>
              </a:ext>
            </a:extLst>
          </p:cNvPr>
          <p:cNvSpPr/>
          <p:nvPr/>
        </p:nvSpPr>
        <p:spPr>
          <a:xfrm>
            <a:off x="3614852" y="2686746"/>
            <a:ext cx="290444" cy="0"/>
          </a:xfrm>
          <a:prstGeom prst="line">
            <a:avLst/>
          </a:prstGeom>
          <a:noFill/>
          <a:ln w="57150">
            <a:solidFill>
              <a:srgbClr val="121E3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3016157-68FA-CEB6-E6F4-66CA768DE12A}"/>
              </a:ext>
            </a:extLst>
          </p:cNvPr>
          <p:cNvSpPr/>
          <p:nvPr/>
        </p:nvSpPr>
        <p:spPr>
          <a:xfrm>
            <a:off x="6452464" y="2693498"/>
            <a:ext cx="290444" cy="0"/>
          </a:xfrm>
          <a:prstGeom prst="line">
            <a:avLst/>
          </a:prstGeom>
          <a:noFill/>
          <a:ln w="57150">
            <a:solidFill>
              <a:srgbClr val="A3CBE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D89220CB-03D3-FF60-8F87-B930C8865718}"/>
              </a:ext>
            </a:extLst>
          </p:cNvPr>
          <p:cNvSpPr/>
          <p:nvPr/>
        </p:nvSpPr>
        <p:spPr>
          <a:xfrm>
            <a:off x="9290075" y="2673242"/>
            <a:ext cx="290444" cy="0"/>
          </a:xfrm>
          <a:prstGeom prst="line">
            <a:avLst/>
          </a:prstGeom>
          <a:noFill/>
          <a:ln w="57150">
            <a:solidFill>
              <a:srgbClr val="121E3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5E22B1E-D432-B1B3-2F9A-6B6FE1EC8C3B}"/>
              </a:ext>
            </a:extLst>
          </p:cNvPr>
          <p:cNvGrpSpPr/>
          <p:nvPr/>
        </p:nvGrpSpPr>
        <p:grpSpPr>
          <a:xfrm>
            <a:off x="812504" y="4992431"/>
            <a:ext cx="10414739" cy="1440850"/>
            <a:chOff x="812504" y="4992431"/>
            <a:chExt cx="10414739" cy="1440850"/>
          </a:xfrm>
        </p:grpSpPr>
        <p:pic>
          <p:nvPicPr>
            <p:cNvPr id="56" name="Picture 4" descr="SAP SuccessFactors has a New Logo and a New Name">
              <a:extLst>
                <a:ext uri="{FF2B5EF4-FFF2-40B4-BE49-F238E27FC236}">
                  <a16:creationId xmlns:a16="http://schemas.microsoft.com/office/drawing/2014/main" id="{A1C1CE07-8177-9019-67D5-1ECA5F604B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9640" y="4992431"/>
              <a:ext cx="1777609" cy="908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7" name="Shape 27">
              <a:extLst>
                <a:ext uri="{FF2B5EF4-FFF2-40B4-BE49-F238E27FC236}">
                  <a16:creationId xmlns:a16="http://schemas.microsoft.com/office/drawing/2014/main" id="{F5EC8DC8-7F3D-3A63-8C44-EA0D209225CC}"/>
                </a:ext>
              </a:extLst>
            </p:cNvPr>
            <p:cNvSpPr/>
            <p:nvPr/>
          </p:nvSpPr>
          <p:spPr>
            <a:xfrm>
              <a:off x="2632464" y="5515995"/>
              <a:ext cx="0" cy="365760"/>
            </a:xfrm>
            <a:prstGeom prst="line">
              <a:avLst/>
            </a:prstGeom>
            <a:noFill/>
            <a:ln w="6350">
              <a:solidFill>
                <a:srgbClr val="C1BC9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58" name="Picture 10" descr="SAP S/4HANA Private Cloud (RISE with SAP) - Applium">
              <a:extLst>
                <a:ext uri="{FF2B5EF4-FFF2-40B4-BE49-F238E27FC236}">
                  <a16:creationId xmlns:a16="http://schemas.microsoft.com/office/drawing/2014/main" id="{1706CE59-6455-11B1-AF46-CF23244A25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6966" y="6061200"/>
              <a:ext cx="1147674" cy="3680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18" descr="SAP Ariba | Supply &amp; Demand Chain Executive">
              <a:extLst>
                <a:ext uri="{FF2B5EF4-FFF2-40B4-BE49-F238E27FC236}">
                  <a16:creationId xmlns:a16="http://schemas.microsoft.com/office/drawing/2014/main" id="{A9A18284-1687-A4A0-9D0D-B8A0DE9E8C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90" y="5734812"/>
              <a:ext cx="1278123" cy="249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20" descr="Sap Concur Logo PNG, SVG, AI Vector – Free Download">
              <a:extLst>
                <a:ext uri="{FF2B5EF4-FFF2-40B4-BE49-F238E27FC236}">
                  <a16:creationId xmlns:a16="http://schemas.microsoft.com/office/drawing/2014/main" id="{69A94076-9A97-5EC1-5985-E9FB326142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5209" y="5695270"/>
              <a:ext cx="1522624" cy="2724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Shape 27">
              <a:extLst>
                <a:ext uri="{FF2B5EF4-FFF2-40B4-BE49-F238E27FC236}">
                  <a16:creationId xmlns:a16="http://schemas.microsoft.com/office/drawing/2014/main" id="{D3CB0ED5-A8E9-04E3-E420-C7AFB315936D}"/>
                </a:ext>
              </a:extLst>
            </p:cNvPr>
            <p:cNvSpPr/>
            <p:nvPr/>
          </p:nvSpPr>
          <p:spPr>
            <a:xfrm>
              <a:off x="7447531" y="5515995"/>
              <a:ext cx="0" cy="365760"/>
            </a:xfrm>
            <a:prstGeom prst="line">
              <a:avLst/>
            </a:prstGeom>
            <a:noFill/>
            <a:ln w="6350">
              <a:solidFill>
                <a:srgbClr val="C1BC9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27">
              <a:extLst>
                <a:ext uri="{FF2B5EF4-FFF2-40B4-BE49-F238E27FC236}">
                  <a16:creationId xmlns:a16="http://schemas.microsoft.com/office/drawing/2014/main" id="{39AA8471-6275-EF24-8FDF-87AA5E113C7E}"/>
                </a:ext>
              </a:extLst>
            </p:cNvPr>
            <p:cNvSpPr/>
            <p:nvPr/>
          </p:nvSpPr>
          <p:spPr>
            <a:xfrm>
              <a:off x="10756023" y="5512390"/>
              <a:ext cx="0" cy="365760"/>
            </a:xfrm>
            <a:prstGeom prst="line">
              <a:avLst/>
            </a:prstGeom>
            <a:noFill/>
            <a:ln w="6350">
              <a:solidFill>
                <a:srgbClr val="C1BC9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63" name="Salesforce Logo">
              <a:extLst>
                <a:ext uri="{FF2B5EF4-FFF2-40B4-BE49-F238E27FC236}">
                  <a16:creationId xmlns:a16="http://schemas.microsoft.com/office/drawing/2014/main" id="{3427C296-F402-74C8-8F55-7D75CBF319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7942160" y="5599483"/>
              <a:ext cx="795555" cy="555388"/>
            </a:xfrm>
            <a:prstGeom prst="rect">
              <a:avLst/>
            </a:prstGeom>
            <a:noFill/>
          </p:spPr>
        </p:pic>
        <p:pic>
          <p:nvPicPr>
            <p:cNvPr id="64" name="Workday Logo">
              <a:extLst>
                <a:ext uri="{FF2B5EF4-FFF2-40B4-BE49-F238E27FC236}">
                  <a16:creationId xmlns:a16="http://schemas.microsoft.com/office/drawing/2014/main" id="{7B64741E-C4FD-325E-EB06-617F8C4F05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9208178" y="5582950"/>
              <a:ext cx="951807" cy="382850"/>
            </a:xfrm>
            <a:prstGeom prst="rect">
              <a:avLst/>
            </a:prstGeom>
            <a:noFill/>
          </p:spPr>
        </p:pic>
        <p:pic>
          <p:nvPicPr>
            <p:cNvPr id="65" name="Picture 8" descr="SAP S/4 HANA Public Cloud in Indore | ID: 2850341673455">
              <a:extLst>
                <a:ext uri="{FF2B5EF4-FFF2-40B4-BE49-F238E27FC236}">
                  <a16:creationId xmlns:a16="http://schemas.microsoft.com/office/drawing/2014/main" id="{7F24AAE2-3C47-3611-AF6D-F7745F5796C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786" b="29717"/>
            <a:stretch>
              <a:fillRect/>
            </a:stretch>
          </p:blipFill>
          <p:spPr bwMode="auto">
            <a:xfrm>
              <a:off x="812504" y="5196547"/>
              <a:ext cx="1202136" cy="522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" name="Picture 14" descr="SAP BTP La plataforma tecnológica para tu ERP en la nube | Xamai">
              <a:extLst>
                <a:ext uri="{FF2B5EF4-FFF2-40B4-BE49-F238E27FC236}">
                  <a16:creationId xmlns:a16="http://schemas.microsoft.com/office/drawing/2014/main" id="{174E396D-91E0-BA10-4B03-14EF850394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0053" y="5884202"/>
              <a:ext cx="976140" cy="5490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" name="Picture 1" descr="Syniti - Credly">
              <a:extLst>
                <a:ext uri="{FF2B5EF4-FFF2-40B4-BE49-F238E27FC236}">
                  <a16:creationId xmlns:a16="http://schemas.microsoft.com/office/drawing/2014/main" id="{3E20DE5E-A123-1E2D-899B-6269C77836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54143" y="5582950"/>
              <a:ext cx="673100" cy="55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83693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484C5-4A5A-CDF0-BAA2-D62C54F57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960B318F-4404-D07B-AD81-6F436C6CD33D}"/>
              </a:ext>
            </a:extLst>
          </p:cNvPr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 •  ADVANCED TRANSFORMATION &amp; MANAGED SERVICES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A9C62DC-4103-3AEE-A400-7A1AF18232C7}"/>
              </a:ext>
            </a:extLst>
          </p:cNvPr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AI-led. Cloud-first. Industry-focused.</a:t>
            </a:r>
            <a:endParaRPr lang="en-US" sz="2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48AAFA0-F9DE-F734-DF99-35BC5783B114}"/>
              </a:ext>
            </a:extLst>
          </p:cNvPr>
          <p:cNvSpPr/>
          <p:nvPr/>
        </p:nvSpPr>
        <p:spPr>
          <a:xfrm>
            <a:off x="502920" y="170992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integrated SAP capability spanning advisory, modernisation, managed services and AI innovation — engineered for outcomes across Manufacturing &amp; Automotive, BFSI, Retail, Energy &amp; Utilities, Pharma &amp; Life Sciences, Government &amp; Public Sector, Metals &amp; Mining and Professional Services.</a:t>
            </a:r>
            <a:endParaRPr lang="en-US" sz="13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6A8C229-333B-7B07-B1EF-832030B28E61}"/>
              </a:ext>
            </a:extLst>
          </p:cNvPr>
          <p:cNvSpPr/>
          <p:nvPr/>
        </p:nvSpPr>
        <p:spPr>
          <a:xfrm>
            <a:off x="502920" y="2419178"/>
            <a:ext cx="2673020" cy="246888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FC6120D-6C1C-B533-B0A5-365B69A650C8}"/>
              </a:ext>
            </a:extLst>
          </p:cNvPr>
          <p:cNvSpPr/>
          <p:nvPr/>
        </p:nvSpPr>
        <p:spPr>
          <a:xfrm>
            <a:off x="777240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Advisory &amp; Transformation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A40FAB4-52C8-5733-01E2-9D426F96DCFE}"/>
              </a:ext>
            </a:extLst>
          </p:cNvPr>
          <p:cNvSpPr/>
          <p:nvPr/>
        </p:nvSpPr>
        <p:spPr>
          <a:xfrm>
            <a:off x="777240" y="3310718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Strategy &amp; Roadmap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Operating Model Transformation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Process Excellence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License Optimisation &amp; Value Realisation</a:t>
            </a:r>
            <a:endParaRPr lang="en-US" sz="1000" dirty="0">
              <a:solidFill>
                <a:srgbClr val="94B8D0"/>
              </a:solidFill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8D950DB1-2A20-3CA7-5F1F-6D6B64C45E0F}"/>
              </a:ext>
            </a:extLst>
          </p:cNvPr>
          <p:cNvSpPr/>
          <p:nvPr/>
        </p:nvSpPr>
        <p:spPr>
          <a:xfrm>
            <a:off x="3340532" y="2419178"/>
            <a:ext cx="2673020" cy="2468880"/>
          </a:xfrm>
          <a:prstGeom prst="rect">
            <a:avLst/>
          </a:prstGeom>
          <a:solidFill>
            <a:srgbClr val="94B8D0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F963DD92-47C6-DD60-9546-64B220757C56}"/>
              </a:ext>
            </a:extLst>
          </p:cNvPr>
          <p:cNvSpPr/>
          <p:nvPr/>
        </p:nvSpPr>
        <p:spPr>
          <a:xfrm>
            <a:off x="3614852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</a:rPr>
              <a:t>S/4HANA &amp; Modernisation</a:t>
            </a: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F4FD7568-82B5-05D9-FF56-0275F46F4D84}"/>
              </a:ext>
            </a:extLst>
          </p:cNvPr>
          <p:cNvSpPr/>
          <p:nvPr/>
        </p:nvSpPr>
        <p:spPr>
          <a:xfrm>
            <a:off x="3614852" y="3276341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Implementation &amp; Conversion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Migration &amp; Upgrades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&amp; Landscape Transformation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Technical Excellence</a:t>
            </a:r>
            <a:endParaRPr lang="en-US" sz="1000" dirty="0">
              <a:solidFill>
                <a:srgbClr val="121E3B"/>
              </a:solidFill>
            </a:endParaRPr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064B332B-A913-A1F0-3470-F77BDE9CFED1}"/>
              </a:ext>
            </a:extLst>
          </p:cNvPr>
          <p:cNvSpPr/>
          <p:nvPr/>
        </p:nvSpPr>
        <p:spPr>
          <a:xfrm>
            <a:off x="6178144" y="2419178"/>
            <a:ext cx="2673020" cy="246888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49A9B0FA-F3B4-1A50-621A-2DDD74C5F3BD}"/>
              </a:ext>
            </a:extLst>
          </p:cNvPr>
          <p:cNvSpPr/>
          <p:nvPr/>
        </p:nvSpPr>
        <p:spPr>
          <a:xfrm>
            <a:off x="6452464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Managed Services &amp; Cloud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8B95149A-256E-F055-48F7-EA8EC7BF3B5B}"/>
              </a:ext>
            </a:extLst>
          </p:cNvPr>
          <p:cNvSpPr/>
          <p:nvPr/>
        </p:nvSpPr>
        <p:spPr>
          <a:xfrm>
            <a:off x="6452464" y="3227668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24×7 AMS Support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AI-led Operations &amp; Monitoring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RISE / GROW / Cloud ERP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BTP, Extensions &amp; Integration</a:t>
            </a:r>
            <a:endParaRPr lang="en-US" sz="1000" dirty="0">
              <a:solidFill>
                <a:srgbClr val="94B8D0"/>
              </a:solidFill>
            </a:endParaRPr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A78F8A5E-A43B-7EAD-E4AB-86B4D983DEF7}"/>
              </a:ext>
            </a:extLst>
          </p:cNvPr>
          <p:cNvSpPr/>
          <p:nvPr/>
        </p:nvSpPr>
        <p:spPr>
          <a:xfrm>
            <a:off x="9015755" y="2419178"/>
            <a:ext cx="2673020" cy="2468880"/>
          </a:xfrm>
          <a:prstGeom prst="rect">
            <a:avLst/>
          </a:prstGeom>
          <a:solidFill>
            <a:srgbClr val="94B8D0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4A668894-1BAB-0160-4B2E-3071259CB397}"/>
              </a:ext>
            </a:extLst>
          </p:cNvPr>
          <p:cNvSpPr/>
          <p:nvPr/>
        </p:nvSpPr>
        <p:spPr>
          <a:xfrm>
            <a:off x="9244355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AI, Analytics &amp; Governance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F08CE842-BAF5-6506-02CC-5E767887723E}"/>
              </a:ext>
            </a:extLst>
          </p:cNvPr>
          <p:cNvSpPr/>
          <p:nvPr/>
        </p:nvSpPr>
        <p:spPr>
          <a:xfrm>
            <a:off x="9244355" y="3227668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Analytics, Insight &amp; Predictive AI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 Automation &amp; Intelligent Workflows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Security, Access &amp; Risk Governance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Governance, Audit &amp; Cyber Resilience</a:t>
            </a:r>
            <a:endParaRPr lang="en-US" sz="1000" dirty="0">
              <a:solidFill>
                <a:srgbClr val="121E3B"/>
              </a:solidFill>
            </a:endParaRPr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A18D5E1B-FF3A-78EE-1402-FE63BFC0C9B5}"/>
              </a:ext>
            </a:extLst>
          </p:cNvPr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E34FE3D1-B08E-4E3F-9BC6-34440562F41B}"/>
              </a:ext>
            </a:extLst>
          </p:cNvPr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900" dirty="0"/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435D937C-050F-FEDC-4E4C-E50E6F8B5599}"/>
              </a:ext>
            </a:extLst>
          </p:cNvPr>
          <p:cNvSpPr>
            <a:spLocks noChangeAspect="1"/>
          </p:cNvSpPr>
          <p:nvPr/>
        </p:nvSpPr>
        <p:spPr>
          <a:xfrm>
            <a:off x="11162371" y="145576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6">
            <a:extLst>
              <a:ext uri="{FF2B5EF4-FFF2-40B4-BE49-F238E27FC236}">
                <a16:creationId xmlns:a16="http://schemas.microsoft.com/office/drawing/2014/main" id="{ADA03526-DA2F-A729-2ADF-FBEC22EC800E}"/>
              </a:ext>
            </a:extLst>
          </p:cNvPr>
          <p:cNvSpPr>
            <a:spLocks noChangeAspect="1"/>
          </p:cNvSpPr>
          <p:nvPr/>
        </p:nvSpPr>
        <p:spPr>
          <a:xfrm>
            <a:off x="10924478" y="398337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201806DB-9634-BC85-663E-00B38B0E6313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BA6ABF86-87F7-98E0-05D7-B7FCE9928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sp>
        <p:nvSpPr>
          <p:cNvPr id="2" name="Shape 4">
            <a:extLst>
              <a:ext uri="{FF2B5EF4-FFF2-40B4-BE49-F238E27FC236}">
                <a16:creationId xmlns:a16="http://schemas.microsoft.com/office/drawing/2014/main" id="{F71205D8-4470-3A98-ED23-2C75B30CAA54}"/>
              </a:ext>
            </a:extLst>
          </p:cNvPr>
          <p:cNvSpPr/>
          <p:nvPr/>
        </p:nvSpPr>
        <p:spPr>
          <a:xfrm>
            <a:off x="777240" y="2693498"/>
            <a:ext cx="290444" cy="0"/>
          </a:xfrm>
          <a:prstGeom prst="line">
            <a:avLst/>
          </a:prstGeom>
          <a:noFill/>
          <a:ln w="57150">
            <a:solidFill>
              <a:srgbClr val="A3CBE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6A299E0B-5C99-5826-E007-D39B68C880A9}"/>
              </a:ext>
            </a:extLst>
          </p:cNvPr>
          <p:cNvSpPr/>
          <p:nvPr/>
        </p:nvSpPr>
        <p:spPr>
          <a:xfrm>
            <a:off x="3614852" y="2686746"/>
            <a:ext cx="290444" cy="0"/>
          </a:xfrm>
          <a:prstGeom prst="line">
            <a:avLst/>
          </a:prstGeom>
          <a:noFill/>
          <a:ln w="57150">
            <a:solidFill>
              <a:srgbClr val="121E3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3016157-68FA-CEB6-E6F4-66CA768DE12A}"/>
              </a:ext>
            </a:extLst>
          </p:cNvPr>
          <p:cNvSpPr/>
          <p:nvPr/>
        </p:nvSpPr>
        <p:spPr>
          <a:xfrm>
            <a:off x="6452464" y="2693498"/>
            <a:ext cx="290444" cy="0"/>
          </a:xfrm>
          <a:prstGeom prst="line">
            <a:avLst/>
          </a:prstGeom>
          <a:noFill/>
          <a:ln w="57150">
            <a:solidFill>
              <a:srgbClr val="A3CBE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D89220CB-03D3-FF60-8F87-B930C8865718}"/>
              </a:ext>
            </a:extLst>
          </p:cNvPr>
          <p:cNvSpPr/>
          <p:nvPr/>
        </p:nvSpPr>
        <p:spPr>
          <a:xfrm>
            <a:off x="9290075" y="2673242"/>
            <a:ext cx="290444" cy="0"/>
          </a:xfrm>
          <a:prstGeom prst="line">
            <a:avLst/>
          </a:prstGeom>
          <a:noFill/>
          <a:ln w="57150">
            <a:solidFill>
              <a:srgbClr val="121E3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A645A86-5CEE-6132-B1F1-16789C22318F}"/>
              </a:ext>
            </a:extLst>
          </p:cNvPr>
          <p:cNvGrpSpPr/>
          <p:nvPr/>
        </p:nvGrpSpPr>
        <p:grpSpPr>
          <a:xfrm>
            <a:off x="812504" y="4992431"/>
            <a:ext cx="10414739" cy="1440850"/>
            <a:chOff x="812504" y="4992431"/>
            <a:chExt cx="10414739" cy="1440850"/>
          </a:xfrm>
        </p:grpSpPr>
        <p:pic>
          <p:nvPicPr>
            <p:cNvPr id="18" name="Picture 4" descr="SAP SuccessFactors has a New Logo and a New Name">
              <a:extLst>
                <a:ext uri="{FF2B5EF4-FFF2-40B4-BE49-F238E27FC236}">
                  <a16:creationId xmlns:a16="http://schemas.microsoft.com/office/drawing/2014/main" id="{3374ED1F-12E0-4E3E-7A95-DB2348D5D4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9640" y="4992431"/>
              <a:ext cx="1777609" cy="908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Shape 27">
              <a:extLst>
                <a:ext uri="{FF2B5EF4-FFF2-40B4-BE49-F238E27FC236}">
                  <a16:creationId xmlns:a16="http://schemas.microsoft.com/office/drawing/2014/main" id="{14DB970C-3271-958C-7EE1-C38D6E8B8B0F}"/>
                </a:ext>
              </a:extLst>
            </p:cNvPr>
            <p:cNvSpPr/>
            <p:nvPr/>
          </p:nvSpPr>
          <p:spPr>
            <a:xfrm>
              <a:off x="2632464" y="5515995"/>
              <a:ext cx="0" cy="365760"/>
            </a:xfrm>
            <a:prstGeom prst="line">
              <a:avLst/>
            </a:prstGeom>
            <a:noFill/>
            <a:ln w="6350">
              <a:solidFill>
                <a:srgbClr val="C1BC9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8" name="Picture 10" descr="SAP S/4HANA Private Cloud (RISE with SAP) - Applium">
              <a:extLst>
                <a:ext uri="{FF2B5EF4-FFF2-40B4-BE49-F238E27FC236}">
                  <a16:creationId xmlns:a16="http://schemas.microsoft.com/office/drawing/2014/main" id="{5D503109-BF86-FBBF-ED24-A585CDE227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6966" y="6061200"/>
              <a:ext cx="1147674" cy="3680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18" descr="SAP Ariba | Supply &amp; Demand Chain Executive">
              <a:extLst>
                <a:ext uri="{FF2B5EF4-FFF2-40B4-BE49-F238E27FC236}">
                  <a16:creationId xmlns:a16="http://schemas.microsoft.com/office/drawing/2014/main" id="{11B02510-A65A-856B-0D86-8560E25318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90" y="5734812"/>
              <a:ext cx="1278123" cy="249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20" descr="Sap Concur Logo PNG, SVG, AI Vector – Free Download">
              <a:extLst>
                <a:ext uri="{FF2B5EF4-FFF2-40B4-BE49-F238E27FC236}">
                  <a16:creationId xmlns:a16="http://schemas.microsoft.com/office/drawing/2014/main" id="{E370ACC4-ABD5-BAAF-A47C-A203EEABA5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5209" y="5695270"/>
              <a:ext cx="1522624" cy="2724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Shape 27">
              <a:extLst>
                <a:ext uri="{FF2B5EF4-FFF2-40B4-BE49-F238E27FC236}">
                  <a16:creationId xmlns:a16="http://schemas.microsoft.com/office/drawing/2014/main" id="{04A0CB78-545E-0E82-5508-76C06681738E}"/>
                </a:ext>
              </a:extLst>
            </p:cNvPr>
            <p:cNvSpPr/>
            <p:nvPr/>
          </p:nvSpPr>
          <p:spPr>
            <a:xfrm>
              <a:off x="7447531" y="5515995"/>
              <a:ext cx="0" cy="365760"/>
            </a:xfrm>
            <a:prstGeom prst="line">
              <a:avLst/>
            </a:prstGeom>
            <a:noFill/>
            <a:ln w="6350">
              <a:solidFill>
                <a:srgbClr val="C1BC9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27">
              <a:extLst>
                <a:ext uri="{FF2B5EF4-FFF2-40B4-BE49-F238E27FC236}">
                  <a16:creationId xmlns:a16="http://schemas.microsoft.com/office/drawing/2014/main" id="{AEC3FB66-B686-3199-FE90-0B809C999A17}"/>
                </a:ext>
              </a:extLst>
            </p:cNvPr>
            <p:cNvSpPr/>
            <p:nvPr/>
          </p:nvSpPr>
          <p:spPr>
            <a:xfrm>
              <a:off x="10756023" y="5512390"/>
              <a:ext cx="0" cy="365760"/>
            </a:xfrm>
            <a:prstGeom prst="line">
              <a:avLst/>
            </a:prstGeom>
            <a:noFill/>
            <a:ln w="6350">
              <a:solidFill>
                <a:srgbClr val="C1BC9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6" name="Salesforce Logo">
              <a:extLst>
                <a:ext uri="{FF2B5EF4-FFF2-40B4-BE49-F238E27FC236}">
                  <a16:creationId xmlns:a16="http://schemas.microsoft.com/office/drawing/2014/main" id="{7486792C-1956-6B6F-5E8D-D335ED02CA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7942160" y="5599483"/>
              <a:ext cx="795555" cy="555388"/>
            </a:xfrm>
            <a:prstGeom prst="rect">
              <a:avLst/>
            </a:prstGeom>
            <a:noFill/>
          </p:spPr>
        </p:pic>
        <p:pic>
          <p:nvPicPr>
            <p:cNvPr id="52" name="Workday Logo">
              <a:extLst>
                <a:ext uri="{FF2B5EF4-FFF2-40B4-BE49-F238E27FC236}">
                  <a16:creationId xmlns:a16="http://schemas.microsoft.com/office/drawing/2014/main" id="{B5CF3FEA-A968-D6A5-E101-584E816921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9208178" y="5582950"/>
              <a:ext cx="951807" cy="382850"/>
            </a:xfrm>
            <a:prstGeom prst="rect">
              <a:avLst/>
            </a:prstGeom>
            <a:noFill/>
          </p:spPr>
        </p:pic>
        <p:pic>
          <p:nvPicPr>
            <p:cNvPr id="53" name="Picture 8" descr="SAP S/4 HANA Public Cloud in Indore | ID: 2850341673455">
              <a:extLst>
                <a:ext uri="{FF2B5EF4-FFF2-40B4-BE49-F238E27FC236}">
                  <a16:creationId xmlns:a16="http://schemas.microsoft.com/office/drawing/2014/main" id="{B38A9B3B-3696-2F12-6AFE-3FC64E4043A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786" b="29717"/>
            <a:stretch>
              <a:fillRect/>
            </a:stretch>
          </p:blipFill>
          <p:spPr bwMode="auto">
            <a:xfrm>
              <a:off x="812504" y="5196547"/>
              <a:ext cx="1202136" cy="522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4" name="Picture 14" descr="SAP BTP La plataforma tecnológica para tu ERP en la nube | Xamai">
              <a:extLst>
                <a:ext uri="{FF2B5EF4-FFF2-40B4-BE49-F238E27FC236}">
                  <a16:creationId xmlns:a16="http://schemas.microsoft.com/office/drawing/2014/main" id="{EE1FECF5-6B7A-D73C-BF2D-FA59A53F38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0053" y="5884202"/>
              <a:ext cx="976140" cy="5490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" name="Picture 1" descr="Syniti - Credly">
              <a:extLst>
                <a:ext uri="{FF2B5EF4-FFF2-40B4-BE49-F238E27FC236}">
                  <a16:creationId xmlns:a16="http://schemas.microsoft.com/office/drawing/2014/main" id="{8A0E4A33-DBC2-975C-DC9D-19F1471F4A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54143" y="5582950"/>
              <a:ext cx="673100" cy="55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36144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7484C5-4A5A-CDF0-BAA2-D62C54F57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960B318F-4404-D07B-AD81-6F436C6CD33D}"/>
              </a:ext>
            </a:extLst>
          </p:cNvPr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 •  TOOL CHAIN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A9C62DC-4103-3AEE-A400-7A1AF18232C7}"/>
              </a:ext>
            </a:extLst>
          </p:cNvPr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SAP-native delivery toolchain.</a:t>
            </a:r>
            <a:endParaRPr lang="en-US" sz="2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48AAFA0-F9DE-F734-DF99-35BC5783B114}"/>
              </a:ext>
            </a:extLst>
          </p:cNvPr>
          <p:cNvSpPr/>
          <p:nvPr/>
        </p:nvSpPr>
        <p:spPr>
          <a:xfrm>
            <a:off x="502920" y="170992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Our delivery mandate for global and large enterprise transformations: six SAP-native tools that anchor process discovery, architecture, governance, testing, adoption and reference. Used uniformly across RISE, GROW and PCE engagements.</a:t>
            </a:r>
            <a:endParaRPr lang="en-US" sz="13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6A8C229-333B-7B07-B1EF-832030B28E61}"/>
              </a:ext>
            </a:extLst>
          </p:cNvPr>
          <p:cNvSpPr/>
          <p:nvPr/>
        </p:nvSpPr>
        <p:spPr>
          <a:xfrm>
            <a:off x="502920" y="2419178"/>
            <a:ext cx="2673020" cy="246888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FC6120D-6C1C-B533-B0A5-365B69A650C8}"/>
              </a:ext>
            </a:extLst>
          </p:cNvPr>
          <p:cNvSpPr/>
          <p:nvPr/>
        </p:nvSpPr>
        <p:spPr>
          <a:xfrm>
            <a:off x="777240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 Mining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A40FAB4-52C8-5733-01E2-9D426F96DCFE}"/>
              </a:ext>
            </a:extLst>
          </p:cNvPr>
          <p:cNvSpPr/>
          <p:nvPr/>
        </p:nvSpPr>
        <p:spPr>
          <a:xfrm>
            <a:off x="777240" y="3310718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Signavio Process Intelligence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Discover, model, mine actual processes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Identify automation candidates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Benchmark vs SAP best practice</a:t>
            </a:r>
            <a:endParaRPr lang="en-US" sz="1000" dirty="0">
              <a:solidFill>
                <a:srgbClr val="94B8D0"/>
              </a:solidFill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8D950DB1-2A20-3CA7-5F1F-6D6B64C45E0F}"/>
              </a:ext>
            </a:extLst>
          </p:cNvPr>
          <p:cNvSpPr/>
          <p:nvPr/>
        </p:nvSpPr>
        <p:spPr>
          <a:xfrm>
            <a:off x="3340532" y="2419178"/>
            <a:ext cx="2673020" cy="2468880"/>
          </a:xfrm>
          <a:prstGeom prst="rect">
            <a:avLst/>
          </a:prstGeom>
          <a:solidFill>
            <a:srgbClr val="94B8D0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F963DD92-47C6-DD60-9546-64B220757C56}"/>
              </a:ext>
            </a:extLst>
          </p:cNvPr>
          <p:cNvSpPr/>
          <p:nvPr/>
        </p:nvSpPr>
        <p:spPr>
          <a:xfrm>
            <a:off x="3614852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</a:rPr>
              <a:t>Enterprise Architecture</a:t>
            </a: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F4FD7568-82B5-05D9-FF56-0275F46F4D84}"/>
              </a:ext>
            </a:extLst>
          </p:cNvPr>
          <p:cNvSpPr/>
          <p:nvPr/>
        </p:nvSpPr>
        <p:spPr>
          <a:xfrm>
            <a:off x="3614852" y="3276341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LeanIX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 portfolio &amp; rationalisation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Technology &amp; integration landscape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Continuous transformation roadmap</a:t>
            </a:r>
            <a:endParaRPr lang="en-US" sz="1000" dirty="0">
              <a:solidFill>
                <a:srgbClr val="121E3B"/>
              </a:solidFill>
            </a:endParaRPr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064B332B-A913-A1F0-3470-F77BDE9CFED1}"/>
              </a:ext>
            </a:extLst>
          </p:cNvPr>
          <p:cNvSpPr/>
          <p:nvPr/>
        </p:nvSpPr>
        <p:spPr>
          <a:xfrm>
            <a:off x="6178144" y="2419178"/>
            <a:ext cx="2673020" cy="246888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49A9B0FA-F3B4-1A50-621A-2DDD74C5F3BD}"/>
              </a:ext>
            </a:extLst>
          </p:cNvPr>
          <p:cNvSpPr/>
          <p:nvPr/>
        </p:nvSpPr>
        <p:spPr>
          <a:xfrm>
            <a:off x="6452464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Governance &amp; Testing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8B95149A-256E-F055-48F7-EA8EC7BF3B5B}"/>
              </a:ext>
            </a:extLst>
          </p:cNvPr>
          <p:cNvSpPr/>
          <p:nvPr/>
        </p:nvSpPr>
        <p:spPr>
          <a:xfrm>
            <a:off x="6452464" y="3227668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Cloud ALM   +   Tricentis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 ALM: end-to-end project &amp; ops mgmt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Tricentis: AI-driven test automation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SAP-recommended for S/4HANA testing</a:t>
            </a:r>
            <a:endParaRPr lang="en-US" sz="1000" dirty="0">
              <a:solidFill>
                <a:srgbClr val="94B8D0"/>
              </a:solidFill>
            </a:endParaRPr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A78F8A5E-A43B-7EAD-E4AB-86B4D983DEF7}"/>
              </a:ext>
            </a:extLst>
          </p:cNvPr>
          <p:cNvSpPr/>
          <p:nvPr/>
        </p:nvSpPr>
        <p:spPr>
          <a:xfrm>
            <a:off x="9015755" y="2419178"/>
            <a:ext cx="2673020" cy="2468880"/>
          </a:xfrm>
          <a:prstGeom prst="rect">
            <a:avLst/>
          </a:prstGeom>
          <a:solidFill>
            <a:srgbClr val="94B8D0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4A668894-1BAB-0160-4B2E-3071259CB397}"/>
              </a:ext>
            </a:extLst>
          </p:cNvPr>
          <p:cNvSpPr/>
          <p:nvPr/>
        </p:nvSpPr>
        <p:spPr>
          <a:xfrm>
            <a:off x="9244355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Methodology &amp; Adoption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F08CE842-BAF5-6506-02CC-5E767887723E}"/>
              </a:ext>
            </a:extLst>
          </p:cNvPr>
          <p:cNvSpPr/>
          <p:nvPr/>
        </p:nvSpPr>
        <p:spPr>
          <a:xfrm>
            <a:off x="9244355" y="3227668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Activate   +   WalkMe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Activate: SAP delivery methodology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WalkMe: digital adoption &amp; guidance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Reference architecture &amp; clean-core blueprints</a:t>
            </a:r>
            <a:endParaRPr lang="en-US" sz="1000" dirty="0">
              <a:solidFill>
                <a:srgbClr val="121E3B"/>
              </a:solidFill>
            </a:endParaRPr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A18D5E1B-FF3A-78EE-1402-FE63BFC0C9B5}"/>
              </a:ext>
            </a:extLst>
          </p:cNvPr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E34FE3D1-B08E-4E3F-9BC6-34440562F41B}"/>
              </a:ext>
            </a:extLst>
          </p:cNvPr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900" dirty="0"/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435D937C-050F-FEDC-4E4C-E50E6F8B5599}"/>
              </a:ext>
            </a:extLst>
          </p:cNvPr>
          <p:cNvSpPr>
            <a:spLocks noChangeAspect="1"/>
          </p:cNvSpPr>
          <p:nvPr/>
        </p:nvSpPr>
        <p:spPr>
          <a:xfrm>
            <a:off x="11162371" y="145576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6">
            <a:extLst>
              <a:ext uri="{FF2B5EF4-FFF2-40B4-BE49-F238E27FC236}">
                <a16:creationId xmlns:a16="http://schemas.microsoft.com/office/drawing/2014/main" id="{ADA03526-DA2F-A729-2ADF-FBEC22EC800E}"/>
              </a:ext>
            </a:extLst>
          </p:cNvPr>
          <p:cNvSpPr>
            <a:spLocks noChangeAspect="1"/>
          </p:cNvSpPr>
          <p:nvPr/>
        </p:nvSpPr>
        <p:spPr>
          <a:xfrm>
            <a:off x="10924478" y="398337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201806DB-9634-BC85-663E-00B38B0E6313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BA6ABF86-87F7-98E0-05D7-B7FCE9928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sp>
        <p:nvSpPr>
          <p:cNvPr id="2" name="Shape 4">
            <a:extLst>
              <a:ext uri="{FF2B5EF4-FFF2-40B4-BE49-F238E27FC236}">
                <a16:creationId xmlns:a16="http://schemas.microsoft.com/office/drawing/2014/main" id="{F71205D8-4470-3A98-ED23-2C75B30CAA54}"/>
              </a:ext>
            </a:extLst>
          </p:cNvPr>
          <p:cNvSpPr/>
          <p:nvPr/>
        </p:nvSpPr>
        <p:spPr>
          <a:xfrm>
            <a:off x="777240" y="2693498"/>
            <a:ext cx="290444" cy="0"/>
          </a:xfrm>
          <a:prstGeom prst="line">
            <a:avLst/>
          </a:prstGeom>
          <a:noFill/>
          <a:ln w="57150">
            <a:solidFill>
              <a:srgbClr val="A3CBE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6A299E0B-5C99-5826-E007-D39B68C880A9}"/>
              </a:ext>
            </a:extLst>
          </p:cNvPr>
          <p:cNvSpPr/>
          <p:nvPr/>
        </p:nvSpPr>
        <p:spPr>
          <a:xfrm>
            <a:off x="3614852" y="2686746"/>
            <a:ext cx="290444" cy="0"/>
          </a:xfrm>
          <a:prstGeom prst="line">
            <a:avLst/>
          </a:prstGeom>
          <a:noFill/>
          <a:ln w="57150">
            <a:solidFill>
              <a:srgbClr val="121E3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3016157-68FA-CEB6-E6F4-66CA768DE12A}"/>
              </a:ext>
            </a:extLst>
          </p:cNvPr>
          <p:cNvSpPr/>
          <p:nvPr/>
        </p:nvSpPr>
        <p:spPr>
          <a:xfrm>
            <a:off x="6452464" y="2693498"/>
            <a:ext cx="290444" cy="0"/>
          </a:xfrm>
          <a:prstGeom prst="line">
            <a:avLst/>
          </a:prstGeom>
          <a:noFill/>
          <a:ln w="57150">
            <a:solidFill>
              <a:srgbClr val="A3CBE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D89220CB-03D3-FF60-8F87-B930C8865718}"/>
              </a:ext>
            </a:extLst>
          </p:cNvPr>
          <p:cNvSpPr/>
          <p:nvPr/>
        </p:nvSpPr>
        <p:spPr>
          <a:xfrm>
            <a:off x="9290075" y="2673242"/>
            <a:ext cx="290444" cy="0"/>
          </a:xfrm>
          <a:prstGeom prst="line">
            <a:avLst/>
          </a:prstGeom>
          <a:noFill/>
          <a:ln w="57150">
            <a:solidFill>
              <a:srgbClr val="121E3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2EACCEE-B3AA-5A70-39C9-A744C39446FD}"/>
              </a:ext>
            </a:extLst>
          </p:cNvPr>
          <p:cNvGrpSpPr/>
          <p:nvPr/>
        </p:nvGrpSpPr>
        <p:grpSpPr>
          <a:xfrm>
            <a:off x="812504" y="4992431"/>
            <a:ext cx="10414739" cy="1440850"/>
            <a:chOff x="812504" y="4992431"/>
            <a:chExt cx="10414739" cy="1440850"/>
          </a:xfrm>
        </p:grpSpPr>
        <p:pic>
          <p:nvPicPr>
            <p:cNvPr id="56" name="Picture 4" descr="SAP SuccessFactors has a New Logo and a New Name">
              <a:extLst>
                <a:ext uri="{FF2B5EF4-FFF2-40B4-BE49-F238E27FC236}">
                  <a16:creationId xmlns:a16="http://schemas.microsoft.com/office/drawing/2014/main" id="{AF37964B-2732-D05A-9DDB-51C8D0320C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9640" y="4992431"/>
              <a:ext cx="1777609" cy="908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7" name="Shape 27">
              <a:extLst>
                <a:ext uri="{FF2B5EF4-FFF2-40B4-BE49-F238E27FC236}">
                  <a16:creationId xmlns:a16="http://schemas.microsoft.com/office/drawing/2014/main" id="{CEF68FF9-9267-B13A-4FF0-387C7D068C7E}"/>
                </a:ext>
              </a:extLst>
            </p:cNvPr>
            <p:cNvSpPr/>
            <p:nvPr/>
          </p:nvSpPr>
          <p:spPr>
            <a:xfrm>
              <a:off x="2632464" y="5515995"/>
              <a:ext cx="0" cy="365760"/>
            </a:xfrm>
            <a:prstGeom prst="line">
              <a:avLst/>
            </a:prstGeom>
            <a:noFill/>
            <a:ln w="6350">
              <a:solidFill>
                <a:srgbClr val="C1BC9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58" name="Picture 10" descr="SAP S/4HANA Private Cloud (RISE with SAP) - Applium">
              <a:extLst>
                <a:ext uri="{FF2B5EF4-FFF2-40B4-BE49-F238E27FC236}">
                  <a16:creationId xmlns:a16="http://schemas.microsoft.com/office/drawing/2014/main" id="{899178C1-C2FB-36CF-8322-973E99B30A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6966" y="6061200"/>
              <a:ext cx="1147674" cy="3680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18" descr="SAP Ariba | Supply &amp; Demand Chain Executive">
              <a:extLst>
                <a:ext uri="{FF2B5EF4-FFF2-40B4-BE49-F238E27FC236}">
                  <a16:creationId xmlns:a16="http://schemas.microsoft.com/office/drawing/2014/main" id="{B113EE86-0ECD-87D3-BFF5-526E48014C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90" y="5734812"/>
              <a:ext cx="1278123" cy="249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20" descr="Sap Concur Logo PNG, SVG, AI Vector – Free Download">
              <a:extLst>
                <a:ext uri="{FF2B5EF4-FFF2-40B4-BE49-F238E27FC236}">
                  <a16:creationId xmlns:a16="http://schemas.microsoft.com/office/drawing/2014/main" id="{47552EC5-C227-EE97-372B-9EE50B3F56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5209" y="5695270"/>
              <a:ext cx="1522624" cy="2724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Shape 27">
              <a:extLst>
                <a:ext uri="{FF2B5EF4-FFF2-40B4-BE49-F238E27FC236}">
                  <a16:creationId xmlns:a16="http://schemas.microsoft.com/office/drawing/2014/main" id="{1BF488D3-EB91-9768-1401-157833DAF0F3}"/>
                </a:ext>
              </a:extLst>
            </p:cNvPr>
            <p:cNvSpPr/>
            <p:nvPr/>
          </p:nvSpPr>
          <p:spPr>
            <a:xfrm>
              <a:off x="7447531" y="5515995"/>
              <a:ext cx="0" cy="365760"/>
            </a:xfrm>
            <a:prstGeom prst="line">
              <a:avLst/>
            </a:prstGeom>
            <a:noFill/>
            <a:ln w="6350">
              <a:solidFill>
                <a:srgbClr val="C1BC9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27">
              <a:extLst>
                <a:ext uri="{FF2B5EF4-FFF2-40B4-BE49-F238E27FC236}">
                  <a16:creationId xmlns:a16="http://schemas.microsoft.com/office/drawing/2014/main" id="{4A84CC62-7A03-5229-5891-CABB64DF5363}"/>
                </a:ext>
              </a:extLst>
            </p:cNvPr>
            <p:cNvSpPr/>
            <p:nvPr/>
          </p:nvSpPr>
          <p:spPr>
            <a:xfrm>
              <a:off x="10756023" y="5512390"/>
              <a:ext cx="0" cy="365760"/>
            </a:xfrm>
            <a:prstGeom prst="line">
              <a:avLst/>
            </a:prstGeom>
            <a:noFill/>
            <a:ln w="6350">
              <a:solidFill>
                <a:srgbClr val="C1BC9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63" name="Salesforce Logo">
              <a:extLst>
                <a:ext uri="{FF2B5EF4-FFF2-40B4-BE49-F238E27FC236}">
                  <a16:creationId xmlns:a16="http://schemas.microsoft.com/office/drawing/2014/main" id="{85C7EEB9-1F5D-39A4-A413-1133CAA615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7942160" y="5599483"/>
              <a:ext cx="795555" cy="555388"/>
            </a:xfrm>
            <a:prstGeom prst="rect">
              <a:avLst/>
            </a:prstGeom>
            <a:noFill/>
          </p:spPr>
        </p:pic>
        <p:pic>
          <p:nvPicPr>
            <p:cNvPr id="64" name="Workday Logo">
              <a:extLst>
                <a:ext uri="{FF2B5EF4-FFF2-40B4-BE49-F238E27FC236}">
                  <a16:creationId xmlns:a16="http://schemas.microsoft.com/office/drawing/2014/main" id="{C46AFD1B-4720-4773-422D-3750FCCFF9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9208178" y="5582950"/>
              <a:ext cx="951807" cy="382850"/>
            </a:xfrm>
            <a:prstGeom prst="rect">
              <a:avLst/>
            </a:prstGeom>
            <a:noFill/>
          </p:spPr>
        </p:pic>
        <p:pic>
          <p:nvPicPr>
            <p:cNvPr id="65" name="Picture 8" descr="SAP S/4 HANA Public Cloud in Indore | ID: 2850341673455">
              <a:extLst>
                <a:ext uri="{FF2B5EF4-FFF2-40B4-BE49-F238E27FC236}">
                  <a16:creationId xmlns:a16="http://schemas.microsoft.com/office/drawing/2014/main" id="{1A8BEE3D-2BF4-21D7-5237-8F4248778B9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786" b="29717"/>
            <a:stretch>
              <a:fillRect/>
            </a:stretch>
          </p:blipFill>
          <p:spPr bwMode="auto">
            <a:xfrm>
              <a:off x="812504" y="5196547"/>
              <a:ext cx="1202136" cy="522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" name="Picture 14" descr="SAP BTP La plataforma tecnológica para tu ERP en la nube | Xamai">
              <a:extLst>
                <a:ext uri="{FF2B5EF4-FFF2-40B4-BE49-F238E27FC236}">
                  <a16:creationId xmlns:a16="http://schemas.microsoft.com/office/drawing/2014/main" id="{54A3EEBE-B93B-EFF1-FF96-B504AC07B0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0053" y="5884202"/>
              <a:ext cx="976140" cy="5490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" name="Picture 1" descr="Syniti - Credly">
              <a:extLst>
                <a:ext uri="{FF2B5EF4-FFF2-40B4-BE49-F238E27FC236}">
                  <a16:creationId xmlns:a16="http://schemas.microsoft.com/office/drawing/2014/main" id="{57A8693B-5FC5-D68A-7CEA-2A4A33AA82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54143" y="5582950"/>
              <a:ext cx="673100" cy="55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83693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 •  SOLUTIONS CATALOGUE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we deliver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3F75A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across SAP.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lenses on the same SAP practice — the platforms we configure, the services we provide, and the industries where we have the deepest delivery experience.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200400"/>
            <a:ext cx="3606698" cy="50292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3240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SOLUTIONS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703320"/>
            <a:ext cx="3606698" cy="2423160"/>
          </a:xfrm>
          <a:prstGeom prst="rect">
            <a:avLst/>
          </a:prstGeom>
          <a:solidFill>
            <a:srgbClr val="F7F8FA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840480"/>
            <a:ext cx="305805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S/4HANA Public Cloud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S/4HANA PCE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Ariba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SuccessFactors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Analytics Cloud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Extension Suite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Integration Suite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C/4HANA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CALM &amp; Solution Manager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2498" y="3200400"/>
            <a:ext cx="3606698" cy="50292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21098" y="3200400"/>
            <a:ext cx="3240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2498" y="3703320"/>
            <a:ext cx="3606698" cy="2423160"/>
          </a:xfrm>
          <a:prstGeom prst="rect">
            <a:avLst/>
          </a:prstGeom>
          <a:solidFill>
            <a:srgbClr val="F7F8FA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66818" y="3840480"/>
            <a:ext cx="305805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Digital transformation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End-to-end implementation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Rollout &amp; carve-outs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Upgrade &amp; migration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advisory services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Analytics &amp; reporting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security services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Industry solutions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Support &amp; maintenance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82077" y="3200400"/>
            <a:ext cx="3606698" cy="50292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10677" y="3200400"/>
            <a:ext cx="3240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INDUSTRIES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82077" y="3703320"/>
            <a:ext cx="3606698" cy="2423160"/>
          </a:xfrm>
          <a:prstGeom prst="rect">
            <a:avLst/>
          </a:prstGeom>
          <a:solidFill>
            <a:srgbClr val="F7F8FA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56397" y="3840480"/>
            <a:ext cx="305805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Automotive &amp; Manufacturing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BFSI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Retail &amp; E-commerce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Energy &amp; Utilities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Engineering &amp; Construction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Pharma &amp; Life Sciences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Chemicals &amp; Fertilizers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Government &amp; Public Enterprises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Professional Services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Metals &amp; Mining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900" dirty="0"/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4E62868D-1603-6F36-802D-C7B88A267143}"/>
              </a:ext>
            </a:extLst>
          </p:cNvPr>
          <p:cNvSpPr>
            <a:spLocks noChangeAspect="1"/>
          </p:cNvSpPr>
          <p:nvPr/>
        </p:nvSpPr>
        <p:spPr>
          <a:xfrm>
            <a:off x="11162371" y="145576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8E517381-0649-CBF5-4A6A-2B322A3C8495}"/>
              </a:ext>
            </a:extLst>
          </p:cNvPr>
          <p:cNvSpPr>
            <a:spLocks noChangeAspect="1"/>
          </p:cNvSpPr>
          <p:nvPr/>
        </p:nvSpPr>
        <p:spPr>
          <a:xfrm>
            <a:off x="10924478" y="398337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Shape 37">
            <a:extLst>
              <a:ext uri="{FF2B5EF4-FFF2-40B4-BE49-F238E27FC236}">
                <a16:creationId xmlns:a16="http://schemas.microsoft.com/office/drawing/2014/main" id="{B28AA634-F009-015F-7842-F7103D401ACF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8D5F2FD-6EF0-D613-D80D-27BED605A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8E4731-E16E-15E6-3A07-3CDDF509E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9FC95F38-ADFB-DCBF-37DE-3F6305D1DDF5}"/>
              </a:ext>
            </a:extLst>
          </p:cNvPr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 ·  S/4HANA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E2D429D-F381-68CC-ECA4-3099C800F358}"/>
              </a:ext>
            </a:extLst>
          </p:cNvPr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Three paths to S/4HANA —</a:t>
            </a:r>
            <a:endParaRPr lang="en-US" sz="2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11A52FB-351A-9A98-D9E9-5D961389214A}"/>
              </a:ext>
            </a:extLst>
          </p:cNvPr>
          <p:cNvSpPr/>
          <p:nvPr/>
        </p:nvSpPr>
        <p:spPr>
          <a:xfrm>
            <a:off x="502920" y="1519795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3F75A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we run all three.</a:t>
            </a:r>
            <a:endParaRPr lang="en-US" sz="2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0D489EC-0CD5-674D-2927-528F8BE6102E}"/>
              </a:ext>
            </a:extLst>
          </p:cNvPr>
          <p:cNvSpPr/>
          <p:nvPr/>
        </p:nvSpPr>
        <p:spPr>
          <a:xfrm>
            <a:off x="502920" y="2112264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RISE, GROW, and Private Cloud Edition give clients different starting points. Our methodology, accelerators, and certified consultants cover the full spectrum — every path runs on SAP Activate, compressed by our pre-built configurations, accelerators and In2IT RDS for faster go-live.</a:t>
            </a:r>
            <a:endParaRPr lang="en-US" sz="13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BB63A50-F51B-D412-3334-F0CA7BD1F85E}"/>
              </a:ext>
            </a:extLst>
          </p:cNvPr>
          <p:cNvSpPr/>
          <p:nvPr/>
        </p:nvSpPr>
        <p:spPr>
          <a:xfrm>
            <a:off x="502920" y="2775205"/>
            <a:ext cx="3606698" cy="251460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15E9ED0-DD39-1FD4-CA22-3E735CC2CDA3}"/>
              </a:ext>
            </a:extLst>
          </p:cNvPr>
          <p:cNvSpPr/>
          <p:nvPr/>
        </p:nvSpPr>
        <p:spPr>
          <a:xfrm>
            <a:off x="777240" y="3003805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RISE WITH SAP</a:t>
            </a:r>
            <a:endParaRPr lang="en-US" sz="1000" dirty="0">
              <a:solidFill>
                <a:srgbClr val="94B8D0"/>
              </a:solidFill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417785E-5BDD-90AF-DCC3-5AC4BA49A683}"/>
              </a:ext>
            </a:extLst>
          </p:cNvPr>
          <p:cNvSpPr/>
          <p:nvPr/>
        </p:nvSpPr>
        <p:spPr>
          <a:xfrm>
            <a:off x="777240" y="3278125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Business-process-led transformation</a:t>
            </a:r>
            <a:endParaRPr lang="en-US" sz="1700" dirty="0">
              <a:solidFill>
                <a:srgbClr val="FFFFFF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CD6D039-8DC5-6986-6E2A-DA372CD37932}"/>
              </a:ext>
            </a:extLst>
          </p:cNvPr>
          <p:cNvSpPr/>
          <p:nvPr/>
        </p:nvSpPr>
        <p:spPr>
          <a:xfrm>
            <a:off x="777240" y="4009645"/>
            <a:ext cx="31494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Greenfield or brownfield. Full S/4HANA transformation with integrated business services, infrastructure, and SAP-managed cloud.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FFAD67E-050A-31BC-7CE0-738CADA2597C}"/>
              </a:ext>
            </a:extLst>
          </p:cNvPr>
          <p:cNvSpPr/>
          <p:nvPr/>
        </p:nvSpPr>
        <p:spPr>
          <a:xfrm>
            <a:off x="777240" y="4832605"/>
            <a:ext cx="3058058" cy="0"/>
          </a:xfrm>
          <a:prstGeom prst="line">
            <a:avLst/>
          </a:prstGeom>
          <a:noFill/>
          <a:ln w="6350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4BED60C-918F-884D-C26F-3529FE03868B}"/>
              </a:ext>
            </a:extLst>
          </p:cNvPr>
          <p:cNvSpPr/>
          <p:nvPr/>
        </p:nvSpPr>
        <p:spPr>
          <a:xfrm>
            <a:off x="777240" y="4878325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Greenfield  ·  Brownfield  ·  Selective Data Transition</a:t>
            </a:r>
            <a:endParaRPr lang="en-US" sz="950" dirty="0">
              <a:solidFill>
                <a:srgbClr val="94B8D0"/>
              </a:solidFill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425A38F-00EA-B5D6-9E83-EE658A2DD141}"/>
              </a:ext>
            </a:extLst>
          </p:cNvPr>
          <p:cNvSpPr/>
          <p:nvPr/>
        </p:nvSpPr>
        <p:spPr>
          <a:xfrm>
            <a:off x="4292498" y="2775205"/>
            <a:ext cx="3606698" cy="2514600"/>
          </a:xfrm>
          <a:prstGeom prst="rect">
            <a:avLst/>
          </a:prstGeom>
          <a:solidFill>
            <a:srgbClr val="3F74A2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A3CAFCF-3843-2145-468F-40989724E91C}"/>
              </a:ext>
            </a:extLst>
          </p:cNvPr>
          <p:cNvSpPr/>
          <p:nvPr/>
        </p:nvSpPr>
        <p:spPr>
          <a:xfrm>
            <a:off x="4566818" y="3003805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GROW WITH SAP</a:t>
            </a:r>
            <a:endParaRPr lang="en-US" sz="1000" dirty="0">
              <a:solidFill>
                <a:srgbClr val="121E3B"/>
              </a:solidFill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2500DDD-1C6E-A4CE-3E8A-2BF7C58B2F92}"/>
              </a:ext>
            </a:extLst>
          </p:cNvPr>
          <p:cNvSpPr/>
          <p:nvPr/>
        </p:nvSpPr>
        <p:spPr>
          <a:xfrm>
            <a:off x="4566818" y="3278125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Public cloud, fast time-to-value</a:t>
            </a:r>
            <a:endParaRPr lang="en-US" sz="1700" dirty="0">
              <a:solidFill>
                <a:srgbClr val="FFFFFF"/>
              </a:solidFill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30D1C93-073E-4ABE-4E2A-95D770090D1D}"/>
              </a:ext>
            </a:extLst>
          </p:cNvPr>
          <p:cNvSpPr/>
          <p:nvPr/>
        </p:nvSpPr>
        <p:spPr>
          <a:xfrm>
            <a:off x="4566818" y="4009645"/>
            <a:ext cx="31494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Pre-configured industry processes on SAP S/4HANA Cloud Public Edition. Designed for mid-market and faster-moving units.</a:t>
            </a:r>
            <a:endParaRPr lang="en-US" sz="1100" dirty="0">
              <a:solidFill>
                <a:srgbClr val="121E3B"/>
              </a:solidFill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07D469EA-801D-1AEC-DDB2-49C627E5E48F}"/>
              </a:ext>
            </a:extLst>
          </p:cNvPr>
          <p:cNvSpPr/>
          <p:nvPr/>
        </p:nvSpPr>
        <p:spPr>
          <a:xfrm>
            <a:off x="4566818" y="4832605"/>
            <a:ext cx="3058058" cy="0"/>
          </a:xfrm>
          <a:prstGeom prst="line">
            <a:avLst/>
          </a:prstGeom>
          <a:noFill/>
          <a:ln w="6350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465FB01-EC35-05DD-5B43-22D6E083078F}"/>
              </a:ext>
            </a:extLst>
          </p:cNvPr>
          <p:cNvSpPr/>
          <p:nvPr/>
        </p:nvSpPr>
        <p:spPr>
          <a:xfrm>
            <a:off x="4566818" y="4878325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Pre-configured  ·  Best-practice  ·  Quarterly innovation</a:t>
            </a:r>
            <a:endParaRPr lang="en-US" sz="950" dirty="0">
              <a:solidFill>
                <a:srgbClr val="121E3B"/>
              </a:solidFill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B981C5A-6F75-FD82-E75A-E7CDF7600B21}"/>
              </a:ext>
            </a:extLst>
          </p:cNvPr>
          <p:cNvSpPr/>
          <p:nvPr/>
        </p:nvSpPr>
        <p:spPr>
          <a:xfrm>
            <a:off x="8082077" y="2775205"/>
            <a:ext cx="3606698" cy="2514600"/>
          </a:xfrm>
          <a:prstGeom prst="rect">
            <a:avLst/>
          </a:prstGeom>
          <a:solidFill>
            <a:srgbClr val="94B8D0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A2A28A2-9568-45E1-63BB-B3DCC94F107A}"/>
              </a:ext>
            </a:extLst>
          </p:cNvPr>
          <p:cNvSpPr/>
          <p:nvPr/>
        </p:nvSpPr>
        <p:spPr>
          <a:xfrm>
            <a:off x="8356397" y="3003805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S/4HANA PRIVATE CLOUD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E743143-7579-3F49-E4FC-37CB99926F77}"/>
              </a:ext>
            </a:extLst>
          </p:cNvPr>
          <p:cNvSpPr/>
          <p:nvPr/>
        </p:nvSpPr>
        <p:spPr>
          <a:xfrm>
            <a:off x="8356397" y="3278125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Customised, on dedicated cloud</a:t>
            </a:r>
            <a:endParaRPr lang="en-US" sz="1700" dirty="0">
              <a:solidFill>
                <a:srgbClr val="FFFFFF"/>
              </a:solidFill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22512A3-6C99-8C45-D09A-3818020BD306}"/>
              </a:ext>
            </a:extLst>
          </p:cNvPr>
          <p:cNvSpPr/>
          <p:nvPr/>
        </p:nvSpPr>
        <p:spPr>
          <a:xfrm>
            <a:off x="8356397" y="4009645"/>
            <a:ext cx="31494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PCE for organizations that need deep customization, complex integrations, or regulatory isolation. We are an SAP PCE Partner.</a:t>
            </a:r>
            <a:endParaRPr lang="en-US" sz="11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0AE4B39-6A60-1B4C-B6BF-EB40919B933C}"/>
              </a:ext>
            </a:extLst>
          </p:cNvPr>
          <p:cNvSpPr/>
          <p:nvPr/>
        </p:nvSpPr>
        <p:spPr>
          <a:xfrm>
            <a:off x="8356397" y="4832605"/>
            <a:ext cx="3058058" cy="0"/>
          </a:xfrm>
          <a:prstGeom prst="line">
            <a:avLst/>
          </a:prstGeom>
          <a:noFill/>
          <a:ln w="6350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29BF074-07D1-F2D5-2142-C124843C143B}"/>
              </a:ext>
            </a:extLst>
          </p:cNvPr>
          <p:cNvSpPr/>
          <p:nvPr/>
        </p:nvSpPr>
        <p:spPr>
          <a:xfrm>
            <a:off x="8356397" y="4878325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Dedicated tenancy  ·  Full customisation  ·  PCE Partner</a:t>
            </a:r>
            <a:endParaRPr lang="en-US" sz="9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DB3431C3-0C33-677C-C966-235CD840467E}"/>
              </a:ext>
            </a:extLst>
          </p:cNvPr>
          <p:cNvSpPr/>
          <p:nvPr/>
        </p:nvSpPr>
        <p:spPr>
          <a:xfrm>
            <a:off x="502920" y="5495545"/>
            <a:ext cx="11185855" cy="502920"/>
          </a:xfrm>
          <a:prstGeom prst="rect">
            <a:avLst/>
          </a:prstGeom>
          <a:solidFill>
            <a:srgbClr val="C1BC9C"/>
          </a:solidFill>
          <a:ln w="6350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6AD3D10-92B1-0B29-0395-7C7EA075A36C}"/>
              </a:ext>
            </a:extLst>
          </p:cNvPr>
          <p:cNvSpPr/>
          <p:nvPr/>
        </p:nvSpPr>
        <p:spPr>
          <a:xfrm>
            <a:off x="1417320" y="5495545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30%  </a:t>
            </a: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faster go-live vs benchmark</a:t>
            </a:r>
            <a:endParaRPr lang="en-US" sz="1300" dirty="0">
              <a:solidFill>
                <a:srgbClr val="121E3B"/>
              </a:solidFill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87A90440-176E-A5D1-3CC9-E90CE0965F5D}"/>
              </a:ext>
            </a:extLst>
          </p:cNvPr>
          <p:cNvSpPr/>
          <p:nvPr/>
        </p:nvSpPr>
        <p:spPr>
          <a:xfrm>
            <a:off x="4841138" y="5495545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25+  </a:t>
            </a: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S/4HANA programs delivered</a:t>
            </a:r>
            <a:endParaRPr lang="en-US" sz="1300" dirty="0">
              <a:solidFill>
                <a:srgbClr val="121E3B"/>
              </a:solidFill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753DC9C6-365E-99D2-3B07-2A86CCC206B4}"/>
              </a:ext>
            </a:extLst>
          </p:cNvPr>
          <p:cNvSpPr/>
          <p:nvPr/>
        </p:nvSpPr>
        <p:spPr>
          <a:xfrm>
            <a:off x="8264957" y="5495545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100%  </a:t>
            </a: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go-live success rate</a:t>
            </a:r>
            <a:endParaRPr lang="en-US" sz="1300" dirty="0">
              <a:solidFill>
                <a:srgbClr val="121E3B"/>
              </a:solidFill>
            </a:endParaRPr>
          </a:p>
          <a:p>
            <a:pPr marL="0" indent="0">
              <a:buNone/>
            </a:pPr>
            <a:r>
              <a:rPr lang="en-US" sz="700" i="1" dirty="0">
                <a:solidFill>
                  <a:srgbClr val="5A6478"/>
                </a:solidFill>
                <a:latin typeface="IBM Plex Sans" pitchFamily="34" charset="0"/>
              </a:rPr>
              <a:t>Source: In2IT EBS internal program data across 25+ S/4HANA implementations (2019–2026).</a:t>
            </a: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10D1658A-B8A7-41BE-087E-E632896BC31F}"/>
              </a:ext>
            </a:extLst>
          </p:cNvPr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E754E8F0-C2E8-F8FA-A37D-9517A02DEBAE}"/>
              </a:ext>
            </a:extLst>
          </p:cNvPr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900" dirty="0"/>
          </a:p>
        </p:txBody>
      </p:sp>
      <p:sp>
        <p:nvSpPr>
          <p:cNvPr id="41" name="Rectangle 6">
            <a:extLst>
              <a:ext uri="{FF2B5EF4-FFF2-40B4-BE49-F238E27FC236}">
                <a16:creationId xmlns:a16="http://schemas.microsoft.com/office/drawing/2014/main" id="{2D979F01-72C2-78BF-3DBA-CE8F9D368083}"/>
              </a:ext>
            </a:extLst>
          </p:cNvPr>
          <p:cNvSpPr>
            <a:spLocks noChangeAspect="1"/>
          </p:cNvSpPr>
          <p:nvPr/>
        </p:nvSpPr>
        <p:spPr>
          <a:xfrm>
            <a:off x="11162371" y="145576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6">
            <a:extLst>
              <a:ext uri="{FF2B5EF4-FFF2-40B4-BE49-F238E27FC236}">
                <a16:creationId xmlns:a16="http://schemas.microsoft.com/office/drawing/2014/main" id="{B10843EA-2BA4-ED20-8045-E419EA644247}"/>
              </a:ext>
            </a:extLst>
          </p:cNvPr>
          <p:cNvSpPr>
            <a:spLocks noChangeAspect="1"/>
          </p:cNvSpPr>
          <p:nvPr/>
        </p:nvSpPr>
        <p:spPr>
          <a:xfrm>
            <a:off x="10924478" y="398337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Shape 37">
            <a:extLst>
              <a:ext uri="{FF2B5EF4-FFF2-40B4-BE49-F238E27FC236}">
                <a16:creationId xmlns:a16="http://schemas.microsoft.com/office/drawing/2014/main" id="{B73E1ABF-7B96-C1D1-8F52-B7F1E5258901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B4F701C4-3D8A-A73D-A87C-5F3DE565F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sp>
        <p:nvSpPr>
          <p:cNvPr id="45" name="Rectangle 6">
            <a:extLst>
              <a:ext uri="{FF2B5EF4-FFF2-40B4-BE49-F238E27FC236}">
                <a16:creationId xmlns:a16="http://schemas.microsoft.com/office/drawing/2014/main" id="{E6C0803E-E3E1-7B6F-4462-0EA2E56A4035}"/>
              </a:ext>
            </a:extLst>
          </p:cNvPr>
          <p:cNvSpPr>
            <a:spLocks noChangeAspect="1"/>
          </p:cNvSpPr>
          <p:nvPr/>
        </p:nvSpPr>
        <p:spPr>
          <a:xfrm>
            <a:off x="11133771" y="2849579"/>
            <a:ext cx="463564" cy="4638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6">
            <a:extLst>
              <a:ext uri="{FF2B5EF4-FFF2-40B4-BE49-F238E27FC236}">
                <a16:creationId xmlns:a16="http://schemas.microsoft.com/office/drawing/2014/main" id="{524F5797-24AB-8011-18C4-7538BE3CE349}"/>
              </a:ext>
            </a:extLst>
          </p:cNvPr>
          <p:cNvSpPr>
            <a:spLocks noChangeAspect="1"/>
          </p:cNvSpPr>
          <p:nvPr/>
        </p:nvSpPr>
        <p:spPr>
          <a:xfrm>
            <a:off x="7344192" y="2849579"/>
            <a:ext cx="463564" cy="4638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6">
            <a:extLst>
              <a:ext uri="{FF2B5EF4-FFF2-40B4-BE49-F238E27FC236}">
                <a16:creationId xmlns:a16="http://schemas.microsoft.com/office/drawing/2014/main" id="{F220AAFB-56D2-7105-00C9-F362478C52C9}"/>
              </a:ext>
            </a:extLst>
          </p:cNvPr>
          <p:cNvSpPr>
            <a:spLocks noChangeAspect="1"/>
          </p:cNvSpPr>
          <p:nvPr/>
        </p:nvSpPr>
        <p:spPr>
          <a:xfrm>
            <a:off x="3554614" y="2849579"/>
            <a:ext cx="463564" cy="4638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275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 •  RISE vs GROW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Which path fits your business?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3F75A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An honest decision-aid.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RISE and GROW are both valid paths to S/4HANA Cloud — they suit different organisations. We have certified consultants for both, and our recommendation depends on your business profile, not our convenience.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200400"/>
            <a:ext cx="3606698" cy="50292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3240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RISE WITH SAP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703320"/>
            <a:ext cx="3606698" cy="2423160"/>
          </a:xfrm>
          <a:prstGeom prst="rect">
            <a:avLst/>
          </a:prstGeom>
          <a:solidFill>
            <a:srgbClr val="F7F8FA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840480"/>
            <a:ext cx="305805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Private Cloud Edition of S/4HANA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Best for: large enterprises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Customisation: deep, retains flexibility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Integration: complex SAP/non-SAP landscape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Innovation: annual / planned releases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Time-to-value: 9–18 months typical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Cost: higher TCO, fewer constraints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SAP-managed cloud, dedicated tenancy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credential: SAP PCE Partner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2498" y="3200400"/>
            <a:ext cx="3606698" cy="50292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21098" y="3200400"/>
            <a:ext cx="3240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GROW WITH SAP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2498" y="3703320"/>
            <a:ext cx="3606698" cy="2423160"/>
          </a:xfrm>
          <a:prstGeom prst="rect">
            <a:avLst/>
          </a:prstGeom>
          <a:solidFill>
            <a:srgbClr val="F7F8FA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66818" y="3840480"/>
            <a:ext cx="305805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Public Cloud Edition of S/4HANA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Best for: mid-market &amp; net-new units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Customisation: limited, best-practice led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Integration: simpler, fewer touch-points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Innovation: quarterly continuous updates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Time-to-value: 3–9 months typical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Cost: lower TCO, subscription-based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Pre-configured industry processes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credential: SAP Gold Partner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82077" y="3200400"/>
            <a:ext cx="3606698" cy="50292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10677" y="3200400"/>
            <a:ext cx="3240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WE HELP YOU CHOOSE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82077" y="3703320"/>
            <a:ext cx="3606698" cy="2423160"/>
          </a:xfrm>
          <a:prstGeom prst="rect">
            <a:avLst/>
          </a:prstGeom>
          <a:solidFill>
            <a:srgbClr val="F7F8FA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56397" y="3840480"/>
            <a:ext cx="305805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2-week Pathway Assessment workshop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Maps your processes to standard SAP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Quantifies customisation gap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Reviews integration complexity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Models TCO for both options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Tests against regulatory constraints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Recommendation, with evidence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Vendor-agnostic — either is fine for us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Often: GROW for greenfield, RISE for core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Sometimes: both, for hybrid landscapes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900" dirty="0"/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4E62868D-1603-6F36-802D-C7B88A267143}"/>
              </a:ext>
            </a:extLst>
          </p:cNvPr>
          <p:cNvSpPr>
            <a:spLocks noChangeAspect="1"/>
          </p:cNvSpPr>
          <p:nvPr/>
        </p:nvSpPr>
        <p:spPr>
          <a:xfrm>
            <a:off x="11162371" y="145576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8E517381-0649-CBF5-4A6A-2B322A3C8495}"/>
              </a:ext>
            </a:extLst>
          </p:cNvPr>
          <p:cNvSpPr>
            <a:spLocks noChangeAspect="1"/>
          </p:cNvSpPr>
          <p:nvPr/>
        </p:nvSpPr>
        <p:spPr>
          <a:xfrm>
            <a:off x="10924478" y="398337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Shape 37">
            <a:extLst>
              <a:ext uri="{FF2B5EF4-FFF2-40B4-BE49-F238E27FC236}">
                <a16:creationId xmlns:a16="http://schemas.microsoft.com/office/drawing/2014/main" id="{B28AA634-F009-015F-7842-F7103D401ACF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8D5F2FD-6EF0-D613-D80D-27BED605A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8E4731-E16E-15E6-3A07-3CDDF509E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9FC95F38-ADFB-DCBF-37DE-3F6305D1DDF5}"/>
              </a:ext>
            </a:extLst>
          </p:cNvPr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 •  MIGRATIONS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E2D429D-F381-68CC-ECA4-3099C800F358}"/>
              </a:ext>
            </a:extLst>
          </p:cNvPr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Three migration approaches —</a:t>
            </a:r>
            <a:endParaRPr lang="en-US" sz="2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11A52FB-351A-9A98-D9E9-5D961389214A}"/>
              </a:ext>
            </a:extLst>
          </p:cNvPr>
          <p:cNvSpPr/>
          <p:nvPr/>
        </p:nvSpPr>
        <p:spPr>
          <a:xfrm>
            <a:off x="502920" y="1519795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3F75A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chosen by complexity, not convenience.</a:t>
            </a:r>
            <a:endParaRPr lang="en-US" sz="2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0D489EC-0CD5-674D-2927-528F8BE6102E}"/>
              </a:ext>
            </a:extLst>
          </p:cNvPr>
          <p:cNvSpPr/>
          <p:nvPr/>
        </p:nvSpPr>
        <p:spPr>
          <a:xfrm>
            <a:off x="502920" y="2112264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ECC to S/4HANA, on-premise to cloud, and brownfield to selective transition — we run the migration approach that fits your risk profile, regulatory constraints and timeline. Anchored by SAP-certified tooling, In2IT migration accelerators and the Syniti data migration practice.</a:t>
            </a:r>
            <a:endParaRPr lang="en-US" sz="13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BB63A50-F51B-D412-3334-F0CA7BD1F85E}"/>
              </a:ext>
            </a:extLst>
          </p:cNvPr>
          <p:cNvSpPr/>
          <p:nvPr/>
        </p:nvSpPr>
        <p:spPr>
          <a:xfrm>
            <a:off x="502920" y="2775205"/>
            <a:ext cx="3606698" cy="251460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15E9ED0-DD39-1FD4-CA22-3E735CC2CDA3}"/>
              </a:ext>
            </a:extLst>
          </p:cNvPr>
          <p:cNvSpPr/>
          <p:nvPr/>
        </p:nvSpPr>
        <p:spPr>
          <a:xfrm>
            <a:off x="777240" y="3003805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GREENFIELD</a:t>
            </a:r>
            <a:endParaRPr lang="en-US" sz="1000" dirty="0">
              <a:solidFill>
                <a:srgbClr val="94B8D0"/>
              </a:solidFill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417785E-5BDD-90AF-DCC3-5AC4BA49A683}"/>
              </a:ext>
            </a:extLst>
          </p:cNvPr>
          <p:cNvSpPr/>
          <p:nvPr/>
        </p:nvSpPr>
        <p:spPr>
          <a:xfrm>
            <a:off x="777240" y="3278125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Fresh implementation, new core</a:t>
            </a:r>
            <a:endParaRPr lang="en-US" sz="1700" dirty="0">
              <a:solidFill>
                <a:srgbClr val="FFFFFF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CD6D039-8DC5-6986-6E2A-DA372CD37932}"/>
              </a:ext>
            </a:extLst>
          </p:cNvPr>
          <p:cNvSpPr/>
          <p:nvPr/>
        </p:nvSpPr>
        <p:spPr>
          <a:xfrm>
            <a:off x="777240" y="4009645"/>
            <a:ext cx="31494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 S/4HANA tenant. Best for companies wanting a clean break from legacy customisation, post-merger consolidation or major process re-engineering.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FFAD67E-050A-31BC-7CE0-738CADA2597C}"/>
              </a:ext>
            </a:extLst>
          </p:cNvPr>
          <p:cNvSpPr/>
          <p:nvPr/>
        </p:nvSpPr>
        <p:spPr>
          <a:xfrm>
            <a:off x="777240" y="4832605"/>
            <a:ext cx="3058058" cy="0"/>
          </a:xfrm>
          <a:prstGeom prst="line">
            <a:avLst/>
          </a:prstGeom>
          <a:noFill/>
          <a:ln w="6350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4BED60C-918F-884D-C26F-3529FE03868B}"/>
              </a:ext>
            </a:extLst>
          </p:cNvPr>
          <p:cNvSpPr/>
          <p:nvPr/>
        </p:nvSpPr>
        <p:spPr>
          <a:xfrm>
            <a:off x="777240" y="4878325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Best-practice  ·  Clean core  ·  Re-engineered</a:t>
            </a:r>
            <a:endParaRPr lang="en-US" sz="950" dirty="0">
              <a:solidFill>
                <a:srgbClr val="94B8D0"/>
              </a:solidFill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425A38F-00EA-B5D6-9E83-EE658A2DD141}"/>
              </a:ext>
            </a:extLst>
          </p:cNvPr>
          <p:cNvSpPr/>
          <p:nvPr/>
        </p:nvSpPr>
        <p:spPr>
          <a:xfrm>
            <a:off x="4292498" y="2775205"/>
            <a:ext cx="3606698" cy="2514600"/>
          </a:xfrm>
          <a:prstGeom prst="rect">
            <a:avLst/>
          </a:prstGeom>
          <a:solidFill>
            <a:srgbClr val="3F74A2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A3CAFCF-3843-2145-468F-40989724E91C}"/>
              </a:ext>
            </a:extLst>
          </p:cNvPr>
          <p:cNvSpPr/>
          <p:nvPr/>
        </p:nvSpPr>
        <p:spPr>
          <a:xfrm>
            <a:off x="4566818" y="3003805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BROWNFIELD</a:t>
            </a:r>
            <a:endParaRPr lang="en-US" sz="1000" dirty="0">
              <a:solidFill>
                <a:srgbClr val="121E3B"/>
              </a:solidFill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2500DDD-1C6E-A4CE-3E8A-2BF7C58B2F92}"/>
              </a:ext>
            </a:extLst>
          </p:cNvPr>
          <p:cNvSpPr/>
          <p:nvPr/>
        </p:nvSpPr>
        <p:spPr>
          <a:xfrm>
            <a:off x="4566818" y="3278125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System conversion, history preserved</a:t>
            </a:r>
            <a:endParaRPr lang="en-US" sz="1700" dirty="0">
              <a:solidFill>
                <a:srgbClr val="FFFFFF"/>
              </a:solidFill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30D1C93-073E-4ABE-4E2A-95D770090D1D}"/>
              </a:ext>
            </a:extLst>
          </p:cNvPr>
          <p:cNvSpPr/>
          <p:nvPr/>
        </p:nvSpPr>
        <p:spPr>
          <a:xfrm>
            <a:off x="4566818" y="4009645"/>
            <a:ext cx="31494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Convert existing ECC system in place. Preserves customisations, history and integrations. Lowest disruption, fastest go-live for stable environments.</a:t>
            </a:r>
            <a:endParaRPr lang="en-US" sz="1100" dirty="0">
              <a:solidFill>
                <a:srgbClr val="121E3B"/>
              </a:solidFill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07D469EA-801D-1AEC-DDB2-49C627E5E48F}"/>
              </a:ext>
            </a:extLst>
          </p:cNvPr>
          <p:cNvSpPr/>
          <p:nvPr/>
        </p:nvSpPr>
        <p:spPr>
          <a:xfrm>
            <a:off x="4566818" y="4832605"/>
            <a:ext cx="3058058" cy="0"/>
          </a:xfrm>
          <a:prstGeom prst="line">
            <a:avLst/>
          </a:prstGeom>
          <a:noFill/>
          <a:ln w="6350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465FB01-EC35-05DD-5B43-22D6E083078F}"/>
              </a:ext>
            </a:extLst>
          </p:cNvPr>
          <p:cNvSpPr/>
          <p:nvPr/>
        </p:nvSpPr>
        <p:spPr>
          <a:xfrm>
            <a:off x="4566818" y="4878325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In-place  ·  History retained  ·  Lower risk</a:t>
            </a:r>
            <a:endParaRPr lang="en-US" sz="950" dirty="0">
              <a:solidFill>
                <a:srgbClr val="121E3B"/>
              </a:solidFill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B981C5A-6F75-FD82-E75A-E7CDF7600B21}"/>
              </a:ext>
            </a:extLst>
          </p:cNvPr>
          <p:cNvSpPr/>
          <p:nvPr/>
        </p:nvSpPr>
        <p:spPr>
          <a:xfrm>
            <a:off x="8082077" y="2775205"/>
            <a:ext cx="3606698" cy="2514600"/>
          </a:xfrm>
          <a:prstGeom prst="rect">
            <a:avLst/>
          </a:prstGeom>
          <a:solidFill>
            <a:srgbClr val="94B8D0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A2A28A2-9568-45E1-63BB-B3DCC94F107A}"/>
              </a:ext>
            </a:extLst>
          </p:cNvPr>
          <p:cNvSpPr/>
          <p:nvPr/>
        </p:nvSpPr>
        <p:spPr>
          <a:xfrm>
            <a:off x="8356397" y="3003805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SELECTIVE DATA TRANSITION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E743143-7579-3F49-E4FC-37CB99926F77}"/>
              </a:ext>
            </a:extLst>
          </p:cNvPr>
          <p:cNvSpPr/>
          <p:nvPr/>
        </p:nvSpPr>
        <p:spPr>
          <a:xfrm>
            <a:off x="8356397" y="3278125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Best of both worlds</a:t>
            </a:r>
            <a:endParaRPr lang="en-US" sz="1700" dirty="0">
              <a:solidFill>
                <a:srgbClr val="FFFFFF"/>
              </a:solidFill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22512A3-6C99-8C45-D09A-3818020BD306}"/>
              </a:ext>
            </a:extLst>
          </p:cNvPr>
          <p:cNvSpPr/>
          <p:nvPr/>
        </p:nvSpPr>
        <p:spPr>
          <a:xfrm>
            <a:off x="8356397" y="4009645"/>
            <a:ext cx="31494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Combine fresh core with selectively migrated data, customisations or company codes. Ideal for carve-outs, divestitures and consolidations.</a:t>
            </a:r>
            <a:endParaRPr lang="en-US" sz="11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0AE4B39-6A60-1B4C-B6BF-EB40919B933C}"/>
              </a:ext>
            </a:extLst>
          </p:cNvPr>
          <p:cNvSpPr/>
          <p:nvPr/>
        </p:nvSpPr>
        <p:spPr>
          <a:xfrm>
            <a:off x="8356397" y="4832605"/>
            <a:ext cx="3058058" cy="0"/>
          </a:xfrm>
          <a:prstGeom prst="line">
            <a:avLst/>
          </a:prstGeom>
          <a:noFill/>
          <a:ln w="6350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29BF074-07D1-F2D5-2142-C124843C143B}"/>
              </a:ext>
            </a:extLst>
          </p:cNvPr>
          <p:cNvSpPr/>
          <p:nvPr/>
        </p:nvSpPr>
        <p:spPr>
          <a:xfrm>
            <a:off x="8356397" y="4878325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Hybrid  ·  Carve-out  ·  Phased</a:t>
            </a:r>
            <a:endParaRPr lang="en-US" sz="9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DB3431C3-0C33-677C-C966-235CD840467E}"/>
              </a:ext>
            </a:extLst>
          </p:cNvPr>
          <p:cNvSpPr/>
          <p:nvPr/>
        </p:nvSpPr>
        <p:spPr>
          <a:xfrm>
            <a:off x="502920" y="5495545"/>
            <a:ext cx="11185855" cy="502920"/>
          </a:xfrm>
          <a:prstGeom prst="rect">
            <a:avLst/>
          </a:prstGeom>
          <a:solidFill>
            <a:srgbClr val="C1BC9C"/>
          </a:solidFill>
          <a:ln w="6350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6AD3D10-92B1-0B29-0395-7C7EA075A36C}"/>
              </a:ext>
            </a:extLst>
          </p:cNvPr>
          <p:cNvSpPr/>
          <p:nvPr/>
        </p:nvSpPr>
        <p:spPr>
          <a:xfrm>
            <a:off x="1417320" y="5495545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99.5%  </a:t>
            </a: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average data migration accuracy</a:t>
            </a:r>
            <a:endParaRPr lang="en-US" sz="1300" dirty="0">
              <a:solidFill>
                <a:srgbClr val="121E3B"/>
              </a:solidFill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87A90440-176E-A5D1-3CC9-E90CE0965F5D}"/>
              </a:ext>
            </a:extLst>
          </p:cNvPr>
          <p:cNvSpPr/>
          <p:nvPr/>
        </p:nvSpPr>
        <p:spPr>
          <a:xfrm>
            <a:off x="4841138" y="5495545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3+  </a:t>
            </a: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migration mock-load cycles per program</a:t>
            </a:r>
            <a:endParaRPr lang="en-US" sz="1300" dirty="0">
              <a:solidFill>
                <a:srgbClr val="121E3B"/>
              </a:solidFill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753DC9C6-365E-99D2-3B07-2A86CCC206B4}"/>
              </a:ext>
            </a:extLst>
          </p:cNvPr>
          <p:cNvSpPr/>
          <p:nvPr/>
        </p:nvSpPr>
        <p:spPr>
          <a:xfrm>
            <a:off x="8264957" y="5495545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100%  </a:t>
            </a: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successful cutover rate</a:t>
            </a:r>
            <a:endParaRPr lang="en-US" sz="1300" dirty="0">
              <a:solidFill>
                <a:srgbClr val="121E3B"/>
              </a:solidFill>
            </a:endParaRPr>
          </a:p>
          <a:p>
            <a:pPr marL="0" indent="0">
              <a:buNone/>
            </a:pPr>
            <a:r>
              <a:rPr lang="en-US" sz="700" i="1" dirty="0">
                <a:solidFill>
                  <a:srgbClr val="5A6478"/>
                </a:solidFill>
                <a:latin typeface="IBM Plex Sans" pitchFamily="34" charset="0"/>
              </a:rPr>
              <a:t>Source: In2IT EBS Syniti-anchored migration practice, across S/4HANA migration programs (2020–2026).</a:t>
            </a: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10D1658A-B8A7-41BE-087E-E632896BC31F}"/>
              </a:ext>
            </a:extLst>
          </p:cNvPr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E754E8F0-C2E8-F8FA-A37D-9517A02DEBAE}"/>
              </a:ext>
            </a:extLst>
          </p:cNvPr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900" dirty="0"/>
          </a:p>
        </p:txBody>
      </p:sp>
      <p:sp>
        <p:nvSpPr>
          <p:cNvPr id="41" name="Rectangle 6">
            <a:extLst>
              <a:ext uri="{FF2B5EF4-FFF2-40B4-BE49-F238E27FC236}">
                <a16:creationId xmlns:a16="http://schemas.microsoft.com/office/drawing/2014/main" id="{2D979F01-72C2-78BF-3DBA-CE8F9D368083}"/>
              </a:ext>
            </a:extLst>
          </p:cNvPr>
          <p:cNvSpPr>
            <a:spLocks noChangeAspect="1"/>
          </p:cNvSpPr>
          <p:nvPr/>
        </p:nvSpPr>
        <p:spPr>
          <a:xfrm>
            <a:off x="11162371" y="145576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6">
            <a:extLst>
              <a:ext uri="{FF2B5EF4-FFF2-40B4-BE49-F238E27FC236}">
                <a16:creationId xmlns:a16="http://schemas.microsoft.com/office/drawing/2014/main" id="{B10843EA-2BA4-ED20-8045-E419EA644247}"/>
              </a:ext>
            </a:extLst>
          </p:cNvPr>
          <p:cNvSpPr>
            <a:spLocks noChangeAspect="1"/>
          </p:cNvSpPr>
          <p:nvPr/>
        </p:nvSpPr>
        <p:spPr>
          <a:xfrm>
            <a:off x="10924478" y="398337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Shape 37">
            <a:extLst>
              <a:ext uri="{FF2B5EF4-FFF2-40B4-BE49-F238E27FC236}">
                <a16:creationId xmlns:a16="http://schemas.microsoft.com/office/drawing/2014/main" id="{B73E1ABF-7B96-C1D1-8F52-B7F1E5258901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B4F701C4-3D8A-A73D-A87C-5F3DE565F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sp>
        <p:nvSpPr>
          <p:cNvPr id="45" name="Rectangle 6">
            <a:extLst>
              <a:ext uri="{FF2B5EF4-FFF2-40B4-BE49-F238E27FC236}">
                <a16:creationId xmlns:a16="http://schemas.microsoft.com/office/drawing/2014/main" id="{E6C0803E-E3E1-7B6F-4462-0EA2E56A4035}"/>
              </a:ext>
            </a:extLst>
          </p:cNvPr>
          <p:cNvSpPr>
            <a:spLocks noChangeAspect="1"/>
          </p:cNvSpPr>
          <p:nvPr/>
        </p:nvSpPr>
        <p:spPr>
          <a:xfrm>
            <a:off x="11133771" y="2849579"/>
            <a:ext cx="463564" cy="4638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6">
            <a:extLst>
              <a:ext uri="{FF2B5EF4-FFF2-40B4-BE49-F238E27FC236}">
                <a16:creationId xmlns:a16="http://schemas.microsoft.com/office/drawing/2014/main" id="{524F5797-24AB-8011-18C4-7538BE3CE349}"/>
              </a:ext>
            </a:extLst>
          </p:cNvPr>
          <p:cNvSpPr>
            <a:spLocks noChangeAspect="1"/>
          </p:cNvSpPr>
          <p:nvPr/>
        </p:nvSpPr>
        <p:spPr>
          <a:xfrm>
            <a:off x="7344192" y="2849579"/>
            <a:ext cx="463564" cy="4638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6">
            <a:extLst>
              <a:ext uri="{FF2B5EF4-FFF2-40B4-BE49-F238E27FC236}">
                <a16:creationId xmlns:a16="http://schemas.microsoft.com/office/drawing/2014/main" id="{F220AAFB-56D2-7105-00C9-F362478C52C9}"/>
              </a:ext>
            </a:extLst>
          </p:cNvPr>
          <p:cNvSpPr>
            <a:spLocks noChangeAspect="1"/>
          </p:cNvSpPr>
          <p:nvPr/>
        </p:nvSpPr>
        <p:spPr>
          <a:xfrm>
            <a:off x="3554614" y="2849579"/>
            <a:ext cx="463564" cy="4638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275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8A13B1-B1A2-80F2-C597-89C1C1165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F70BE347-F20F-4113-BB89-D5696BB0D9FF}"/>
              </a:ext>
            </a:extLst>
          </p:cNvPr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 ·  ADVISORY SERVICES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9E1DB9D-0C05-7F5C-C24D-9A76C3FEA26E}"/>
              </a:ext>
            </a:extLst>
          </p:cNvPr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We help you decide</a:t>
            </a:r>
            <a:endParaRPr lang="en-US" sz="2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401DDF3-0488-B6B6-FAE8-8C999CB04B26}"/>
              </a:ext>
            </a:extLst>
          </p:cNvPr>
          <p:cNvSpPr/>
          <p:nvPr/>
        </p:nvSpPr>
        <p:spPr>
          <a:xfrm>
            <a:off x="502919" y="1519813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3F75A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before you commit.</a:t>
            </a:r>
            <a:endParaRPr lang="en-US" sz="2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C4CE4A5-5DDE-C782-BA9A-32BB23B26913}"/>
              </a:ext>
            </a:extLst>
          </p:cNvPr>
          <p:cNvSpPr/>
          <p:nvPr/>
        </p:nvSpPr>
        <p:spPr>
          <a:xfrm>
            <a:off x="502919" y="2413728"/>
            <a:ext cx="3513495" cy="1074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advisory engagements designed to de-risk the transformation decision — from initial product evaluation through to a board-ready roadmap.</a:t>
            </a:r>
          </a:p>
          <a:p>
            <a:pPr marL="0" indent="0" algn="just">
              <a:buNone/>
            </a:pPr>
            <a:endParaRPr lang="en-US" sz="1300" dirty="0">
              <a:solidFill>
                <a:srgbClr val="5A6478"/>
              </a:solidFill>
              <a:latin typeface="IBM Plex Sans" pitchFamily="34" charset="0"/>
            </a:endParaRPr>
          </a:p>
          <a:p>
            <a:pPr marL="0" indent="0" algn="just">
              <a:buNone/>
            </a:pPr>
            <a:endParaRPr lang="en-US" sz="1300" dirty="0">
              <a:solidFill>
                <a:srgbClr val="5A6478"/>
              </a:solidFill>
              <a:latin typeface="IBM Plex Sans" pitchFamily="34" charset="0"/>
            </a:endParaRPr>
          </a:p>
          <a:p>
            <a:pPr marL="0" indent="0" algn="just">
              <a:buNone/>
            </a:pPr>
            <a:endParaRPr lang="en-US" sz="1300" dirty="0"/>
          </a:p>
        </p:txBody>
      </p:sp>
      <p:sp>
        <p:nvSpPr>
          <p:cNvPr id="42" name="Text 34">
            <a:extLst>
              <a:ext uri="{FF2B5EF4-FFF2-40B4-BE49-F238E27FC236}">
                <a16:creationId xmlns:a16="http://schemas.microsoft.com/office/drawing/2014/main" id="{19C5BFAE-8617-C844-3583-D7F5DD56B4AE}"/>
              </a:ext>
            </a:extLst>
          </p:cNvPr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4D498092-BCA1-C003-9D6A-4D72A838A434}"/>
              </a:ext>
            </a:extLst>
          </p:cNvPr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900" dirty="0"/>
          </a:p>
        </p:txBody>
      </p:sp>
      <p:sp>
        <p:nvSpPr>
          <p:cNvPr id="44" name="Rectangle 6">
            <a:extLst>
              <a:ext uri="{FF2B5EF4-FFF2-40B4-BE49-F238E27FC236}">
                <a16:creationId xmlns:a16="http://schemas.microsoft.com/office/drawing/2014/main" id="{66C95EB9-6CBF-3336-51CB-C820728D9DD2}"/>
              </a:ext>
            </a:extLst>
          </p:cNvPr>
          <p:cNvSpPr>
            <a:spLocks noChangeAspect="1"/>
          </p:cNvSpPr>
          <p:nvPr/>
        </p:nvSpPr>
        <p:spPr>
          <a:xfrm>
            <a:off x="11162371" y="145576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6">
            <a:extLst>
              <a:ext uri="{FF2B5EF4-FFF2-40B4-BE49-F238E27FC236}">
                <a16:creationId xmlns:a16="http://schemas.microsoft.com/office/drawing/2014/main" id="{9236B98E-F263-B9A7-CF3E-000AAF3A955F}"/>
              </a:ext>
            </a:extLst>
          </p:cNvPr>
          <p:cNvSpPr>
            <a:spLocks noChangeAspect="1"/>
          </p:cNvSpPr>
          <p:nvPr/>
        </p:nvSpPr>
        <p:spPr>
          <a:xfrm>
            <a:off x="10924478" y="398337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Shape 37">
            <a:extLst>
              <a:ext uri="{FF2B5EF4-FFF2-40B4-BE49-F238E27FC236}">
                <a16:creationId xmlns:a16="http://schemas.microsoft.com/office/drawing/2014/main" id="{CE1817D1-E7B4-E148-EE28-EE05459DA39F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E8DE40F8-0A15-5A6B-63A8-4986A1EE1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8B6A2AEC-9AFB-C1A2-5FA4-7B7ACFEBD256}"/>
              </a:ext>
            </a:extLst>
          </p:cNvPr>
          <p:cNvSpPr txBox="1"/>
          <p:nvPr/>
        </p:nvSpPr>
        <p:spPr>
          <a:xfrm>
            <a:off x="502918" y="3374559"/>
            <a:ext cx="3513495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8450" indent="-285750" algn="just">
              <a:spcBef>
                <a:spcPts val="600"/>
              </a:spcBef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Wingdings" pitchFamily="2" charset="2"/>
              <a:buChar char="§"/>
              <a:tabLst>
                <a:tab pos="190500" algn="l"/>
              </a:tabLst>
              <a:defRPr sz="1400" spc="-5"/>
            </a:pPr>
            <a:r>
              <a:rPr lang="en-IN" sz="1300" spc="-5" dirty="0">
                <a:solidFill>
                  <a:srgbClr val="5A6478"/>
                </a:solidFill>
                <a:latin typeface="IBM Plex Sans" pitchFamily="34" charset="0"/>
              </a:rPr>
              <a:t>Full-lifecycle consulting and application management</a:t>
            </a:r>
          </a:p>
          <a:p>
            <a:pPr marL="298450" indent="-285750" algn="just">
              <a:spcBef>
                <a:spcPts val="600"/>
              </a:spcBef>
              <a:buClr>
                <a:srgbClr val="646464"/>
              </a:buClr>
              <a:buSzPct val="100000"/>
              <a:buFont typeface="Wingdings" pitchFamily="2" charset="2"/>
              <a:buChar char="§"/>
              <a:tabLst>
                <a:tab pos="190500" algn="l"/>
              </a:tabLst>
              <a:defRPr sz="1400" spc="-5"/>
            </a:pPr>
            <a:r>
              <a:rPr lang="en-IN" sz="1300" spc="-5" dirty="0">
                <a:solidFill>
                  <a:srgbClr val="5A6478"/>
                </a:solidFill>
                <a:latin typeface="IBM Plex Sans" pitchFamily="34" charset="0"/>
              </a:rPr>
              <a:t>Global footprint, local expertise</a:t>
            </a:r>
          </a:p>
          <a:p>
            <a:pPr marL="298450" indent="-285750">
              <a:spcBef>
                <a:spcPts val="600"/>
              </a:spcBef>
              <a:buClr>
                <a:srgbClr val="646464"/>
              </a:buClr>
              <a:buSzPct val="100000"/>
              <a:buFont typeface="Wingdings" pitchFamily="2" charset="2"/>
              <a:buChar char="§"/>
              <a:tabLst>
                <a:tab pos="190500" algn="l"/>
              </a:tabLst>
              <a:defRPr sz="1400" spc="-5"/>
            </a:pPr>
            <a:r>
              <a:rPr lang="en-IN" sz="1300" spc="-5" dirty="0">
                <a:solidFill>
                  <a:srgbClr val="5A6478"/>
                </a:solidFill>
                <a:latin typeface="IBM Plex Sans" pitchFamily="34" charset="0"/>
              </a:rPr>
              <a:t>Integrated commodity-to-premium services</a:t>
            </a:r>
          </a:p>
          <a:p>
            <a:pPr marL="298450" indent="-285750" algn="just">
              <a:spcBef>
                <a:spcPts val="600"/>
              </a:spcBef>
              <a:buClr>
                <a:srgbClr val="646464"/>
              </a:buClr>
              <a:buSzPct val="100000"/>
              <a:buFont typeface="Wingdings" pitchFamily="2" charset="2"/>
              <a:buChar char="§"/>
              <a:tabLst>
                <a:tab pos="190500" algn="l"/>
              </a:tabLst>
              <a:defRPr sz="1400" spc="-5"/>
            </a:pPr>
            <a:r>
              <a:rPr lang="en-IN" sz="1300" spc="-5" dirty="0">
                <a:solidFill>
                  <a:srgbClr val="5A6478"/>
                </a:solidFill>
                <a:latin typeface="IBM Plex Sans" pitchFamily="34" charset="0"/>
              </a:rPr>
              <a:t>Industry, technology and process assets in every engagement</a:t>
            </a:r>
          </a:p>
          <a:p>
            <a:pPr marL="298450" indent="-285750" algn="just">
              <a:spcBef>
                <a:spcPts val="600"/>
              </a:spcBef>
              <a:buClr>
                <a:srgbClr val="646464"/>
              </a:buClr>
              <a:buSzPct val="100000"/>
              <a:buFont typeface="Wingdings" pitchFamily="2" charset="2"/>
              <a:buChar char="§"/>
              <a:tabLst>
                <a:tab pos="190500" algn="l"/>
              </a:tabLst>
              <a:defRPr sz="1400" spc="-5"/>
            </a:pPr>
            <a:r>
              <a:rPr lang="en-IN" sz="1300" spc="-5" dirty="0">
                <a:solidFill>
                  <a:srgbClr val="5A6478"/>
                </a:solidFill>
                <a:latin typeface="IBM Plex Sans" pitchFamily="34" charset="0"/>
              </a:rPr>
              <a:t>Measurable business and IT outcomes</a:t>
            </a:r>
          </a:p>
          <a:p>
            <a:pPr marL="298450" indent="-285750" algn="just">
              <a:spcBef>
                <a:spcPts val="600"/>
              </a:spcBef>
              <a:buClr>
                <a:srgbClr val="646464"/>
              </a:buClr>
              <a:buSzPct val="100000"/>
              <a:buFont typeface="Wingdings" pitchFamily="2" charset="2"/>
              <a:buChar char="§"/>
              <a:tabLst>
                <a:tab pos="190500" algn="l"/>
              </a:tabLst>
              <a:defRPr sz="1400" spc="-5"/>
            </a:pPr>
            <a:r>
              <a:rPr lang="en-IN" sz="1300" spc="-5" dirty="0">
                <a:solidFill>
                  <a:srgbClr val="5A6478"/>
                </a:solidFill>
                <a:latin typeface="IBM Plex Sans" pitchFamily="34" charset="0"/>
              </a:rPr>
              <a:t>One global operating model — built for speed, quality and scale</a:t>
            </a:r>
          </a:p>
        </p:txBody>
      </p:sp>
      <p:sp>
        <p:nvSpPr>
          <p:cNvPr id="50" name="Shape 9">
            <a:extLst>
              <a:ext uri="{FF2B5EF4-FFF2-40B4-BE49-F238E27FC236}">
                <a16:creationId xmlns:a16="http://schemas.microsoft.com/office/drawing/2014/main" id="{770F9DAB-FB1A-032E-B8B7-1668F75DA729}"/>
              </a:ext>
            </a:extLst>
          </p:cNvPr>
          <p:cNvSpPr/>
          <p:nvPr/>
        </p:nvSpPr>
        <p:spPr>
          <a:xfrm>
            <a:off x="7505604" y="3076956"/>
            <a:ext cx="1673809" cy="82296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10">
            <a:extLst>
              <a:ext uri="{FF2B5EF4-FFF2-40B4-BE49-F238E27FC236}">
                <a16:creationId xmlns:a16="http://schemas.microsoft.com/office/drawing/2014/main" id="{A593FB62-A0AE-DA1D-BBC9-A2AB7E229EC3}"/>
              </a:ext>
            </a:extLst>
          </p:cNvPr>
          <p:cNvSpPr/>
          <p:nvPr/>
        </p:nvSpPr>
        <p:spPr>
          <a:xfrm>
            <a:off x="7505603" y="3257550"/>
            <a:ext cx="1673809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ewsreader Caption" pitchFamily="2" charset="77"/>
                <a:ea typeface="IBM Plex Sans" pitchFamily="34" charset="-122"/>
                <a:cs typeface="IBM Plex Sans" pitchFamily="34" charset="-120"/>
              </a:rPr>
              <a:t>Advisory Services</a:t>
            </a:r>
            <a:endParaRPr lang="en-US" sz="1400" dirty="0">
              <a:latin typeface="Newsreader Caption" pitchFamily="2" charset="77"/>
            </a:endParaRPr>
          </a:p>
        </p:txBody>
      </p:sp>
      <p:sp>
        <p:nvSpPr>
          <p:cNvPr id="54" name="Shape 9">
            <a:extLst>
              <a:ext uri="{FF2B5EF4-FFF2-40B4-BE49-F238E27FC236}">
                <a16:creationId xmlns:a16="http://schemas.microsoft.com/office/drawing/2014/main" id="{0860D61A-2AA6-B4D6-A6D7-2DAF630C4E2D}"/>
              </a:ext>
            </a:extLst>
          </p:cNvPr>
          <p:cNvSpPr/>
          <p:nvPr/>
        </p:nvSpPr>
        <p:spPr>
          <a:xfrm>
            <a:off x="7505602" y="1431480"/>
            <a:ext cx="1673809" cy="822960"/>
          </a:xfrm>
          <a:prstGeom prst="round2DiagRect">
            <a:avLst/>
          </a:prstGeom>
          <a:solidFill>
            <a:srgbClr val="94B8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9">
            <a:extLst>
              <a:ext uri="{FF2B5EF4-FFF2-40B4-BE49-F238E27FC236}">
                <a16:creationId xmlns:a16="http://schemas.microsoft.com/office/drawing/2014/main" id="{D85EC817-BAC9-B1A3-79D9-87586E90AD86}"/>
              </a:ext>
            </a:extLst>
          </p:cNvPr>
          <p:cNvSpPr/>
          <p:nvPr/>
        </p:nvSpPr>
        <p:spPr>
          <a:xfrm>
            <a:off x="5152415" y="2257814"/>
            <a:ext cx="1673809" cy="822960"/>
          </a:xfrm>
          <a:prstGeom prst="round2DiagRect">
            <a:avLst/>
          </a:prstGeom>
          <a:solidFill>
            <a:srgbClr val="94B8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83D9E251-393A-B5CA-A4A1-21F5E9B62BAF}"/>
              </a:ext>
            </a:extLst>
          </p:cNvPr>
          <p:cNvSpPr/>
          <p:nvPr/>
        </p:nvSpPr>
        <p:spPr>
          <a:xfrm>
            <a:off x="9858789" y="2254440"/>
            <a:ext cx="1673809" cy="822960"/>
          </a:xfrm>
          <a:prstGeom prst="round2DiagRect">
            <a:avLst/>
          </a:prstGeom>
          <a:solidFill>
            <a:srgbClr val="94B8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9">
            <a:extLst>
              <a:ext uri="{FF2B5EF4-FFF2-40B4-BE49-F238E27FC236}">
                <a16:creationId xmlns:a16="http://schemas.microsoft.com/office/drawing/2014/main" id="{69576775-888D-A15B-EE57-1ECDF16C4B73}"/>
              </a:ext>
            </a:extLst>
          </p:cNvPr>
          <p:cNvSpPr/>
          <p:nvPr/>
        </p:nvSpPr>
        <p:spPr>
          <a:xfrm>
            <a:off x="5152415" y="3902846"/>
            <a:ext cx="1673809" cy="822960"/>
          </a:xfrm>
          <a:prstGeom prst="round2DiagRect">
            <a:avLst/>
          </a:prstGeom>
          <a:solidFill>
            <a:srgbClr val="94B8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9">
            <a:extLst>
              <a:ext uri="{FF2B5EF4-FFF2-40B4-BE49-F238E27FC236}">
                <a16:creationId xmlns:a16="http://schemas.microsoft.com/office/drawing/2014/main" id="{AFE97E9E-9E91-1F6C-9AC2-08A87D230101}"/>
              </a:ext>
            </a:extLst>
          </p:cNvPr>
          <p:cNvSpPr/>
          <p:nvPr/>
        </p:nvSpPr>
        <p:spPr>
          <a:xfrm>
            <a:off x="9858789" y="3899472"/>
            <a:ext cx="1673809" cy="822960"/>
          </a:xfrm>
          <a:prstGeom prst="round2DiagRect">
            <a:avLst/>
          </a:prstGeom>
          <a:solidFill>
            <a:srgbClr val="94B8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9">
            <a:extLst>
              <a:ext uri="{FF2B5EF4-FFF2-40B4-BE49-F238E27FC236}">
                <a16:creationId xmlns:a16="http://schemas.microsoft.com/office/drawing/2014/main" id="{1C63CE23-9E23-C6B4-504C-3511E6C8FAF0}"/>
              </a:ext>
            </a:extLst>
          </p:cNvPr>
          <p:cNvSpPr/>
          <p:nvPr/>
        </p:nvSpPr>
        <p:spPr>
          <a:xfrm>
            <a:off x="7505602" y="4720967"/>
            <a:ext cx="1673809" cy="822960"/>
          </a:xfrm>
          <a:prstGeom prst="round2DiagRect">
            <a:avLst/>
          </a:prstGeom>
          <a:solidFill>
            <a:srgbClr val="94B8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11">
            <a:extLst>
              <a:ext uri="{FF2B5EF4-FFF2-40B4-BE49-F238E27FC236}">
                <a16:creationId xmlns:a16="http://schemas.microsoft.com/office/drawing/2014/main" id="{7ED6DBD7-91DE-C8CB-5EF7-9839804FF09A}"/>
              </a:ext>
            </a:extLst>
          </p:cNvPr>
          <p:cNvSpPr/>
          <p:nvPr/>
        </p:nvSpPr>
        <p:spPr>
          <a:xfrm>
            <a:off x="5205074" y="2505900"/>
            <a:ext cx="15684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 Assessments &amp; Evaluation</a:t>
            </a:r>
            <a:endParaRPr lang="en-US" sz="1300" dirty="0"/>
          </a:p>
        </p:txBody>
      </p:sp>
      <p:sp>
        <p:nvSpPr>
          <p:cNvPr id="4" name="Text 15">
            <a:extLst>
              <a:ext uri="{FF2B5EF4-FFF2-40B4-BE49-F238E27FC236}">
                <a16:creationId xmlns:a16="http://schemas.microsoft.com/office/drawing/2014/main" id="{FD1F4C8F-F10C-EB3F-28E8-4666D237F885}"/>
              </a:ext>
            </a:extLst>
          </p:cNvPr>
          <p:cNvSpPr/>
          <p:nvPr/>
        </p:nvSpPr>
        <p:spPr>
          <a:xfrm>
            <a:off x="7438480" y="1680622"/>
            <a:ext cx="18080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Proof of Concept </a:t>
            </a:r>
            <a:endParaRPr lang="en-US" sz="1300" dirty="0"/>
          </a:p>
        </p:txBody>
      </p:sp>
      <p:sp>
        <p:nvSpPr>
          <p:cNvPr id="5" name="Text 19">
            <a:extLst>
              <a:ext uri="{FF2B5EF4-FFF2-40B4-BE49-F238E27FC236}">
                <a16:creationId xmlns:a16="http://schemas.microsoft.com/office/drawing/2014/main" id="{0506AAAE-EC0B-DEB2-51A5-A900FFE97A65}"/>
              </a:ext>
            </a:extLst>
          </p:cNvPr>
          <p:cNvSpPr/>
          <p:nvPr/>
        </p:nvSpPr>
        <p:spPr>
          <a:xfrm>
            <a:off x="9716920" y="2505900"/>
            <a:ext cx="1971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Process Advisory</a:t>
            </a:r>
            <a:endParaRPr lang="en-US" sz="1300" dirty="0"/>
          </a:p>
        </p:txBody>
      </p:sp>
      <p:sp>
        <p:nvSpPr>
          <p:cNvPr id="6" name="Text 23">
            <a:extLst>
              <a:ext uri="{FF2B5EF4-FFF2-40B4-BE49-F238E27FC236}">
                <a16:creationId xmlns:a16="http://schemas.microsoft.com/office/drawing/2014/main" id="{715EBC30-460E-A196-EAC7-377E039C2A7D}"/>
              </a:ext>
            </a:extLst>
          </p:cNvPr>
          <p:cNvSpPr/>
          <p:nvPr/>
        </p:nvSpPr>
        <p:spPr>
          <a:xfrm>
            <a:off x="5087597" y="4150932"/>
            <a:ext cx="18034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Organisation Readiness Assessment</a:t>
            </a:r>
            <a:endParaRPr lang="en-US" sz="1050" dirty="0"/>
          </a:p>
        </p:txBody>
      </p:sp>
      <p:sp>
        <p:nvSpPr>
          <p:cNvPr id="11" name="Text 27">
            <a:extLst>
              <a:ext uri="{FF2B5EF4-FFF2-40B4-BE49-F238E27FC236}">
                <a16:creationId xmlns:a16="http://schemas.microsoft.com/office/drawing/2014/main" id="{5E12A268-EF57-A1D6-9119-F825D7E102AC}"/>
              </a:ext>
            </a:extLst>
          </p:cNvPr>
          <p:cNvSpPr/>
          <p:nvPr/>
        </p:nvSpPr>
        <p:spPr>
          <a:xfrm>
            <a:off x="7505602" y="4972427"/>
            <a:ext cx="16738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Maturity Assessment &amp; Roadmap</a:t>
            </a:r>
            <a:endParaRPr lang="en-US" sz="1300" dirty="0"/>
          </a:p>
        </p:txBody>
      </p:sp>
      <p:sp>
        <p:nvSpPr>
          <p:cNvPr id="12" name="Text 31">
            <a:extLst>
              <a:ext uri="{FF2B5EF4-FFF2-40B4-BE49-F238E27FC236}">
                <a16:creationId xmlns:a16="http://schemas.microsoft.com/office/drawing/2014/main" id="{1F48465B-0F14-58B1-DC0F-6F1A7163C44A}"/>
              </a:ext>
            </a:extLst>
          </p:cNvPr>
          <p:cNvSpPr/>
          <p:nvPr/>
        </p:nvSpPr>
        <p:spPr>
          <a:xfrm>
            <a:off x="9858789" y="4154053"/>
            <a:ext cx="16738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Discovery &amp; Design for Transformation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984096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7446AC-CC25-3CA9-BDB3-5DEC65BAA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5BDACC0E-662A-295B-62B7-2C3B04F620EF}"/>
              </a:ext>
            </a:extLst>
          </p:cNvPr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 ·  HUMAN EXPERIENCE MANAGEMENT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98B49CD-BD98-7187-6F25-4DCFE99397C1}"/>
              </a:ext>
            </a:extLst>
          </p:cNvPr>
          <p:cNvSpPr/>
          <p:nvPr/>
        </p:nvSpPr>
        <p:spPr>
          <a:xfrm>
            <a:off x="458081" y="1011133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Full-suite SAP SuccessFactors,</a:t>
            </a:r>
            <a:endParaRPr lang="en-US" sz="2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C4BDB0B-4BCA-20A6-6DD1-FBD933A4F659}"/>
              </a:ext>
            </a:extLst>
          </p:cNvPr>
          <p:cNvSpPr/>
          <p:nvPr/>
        </p:nvSpPr>
        <p:spPr>
          <a:xfrm>
            <a:off x="502920" y="1519795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3F75A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delivered at scale.</a:t>
            </a:r>
            <a:endParaRPr lang="en-US" sz="2800" dirty="0"/>
          </a:p>
        </p:txBody>
      </p:sp>
      <p:sp>
        <p:nvSpPr>
          <p:cNvPr id="68" name="Text 57">
            <a:extLst>
              <a:ext uri="{FF2B5EF4-FFF2-40B4-BE49-F238E27FC236}">
                <a16:creationId xmlns:a16="http://schemas.microsoft.com/office/drawing/2014/main" id="{F3ED5798-A7E4-CBD0-92C8-2213B9A956EE}"/>
              </a:ext>
            </a:extLst>
          </p:cNvPr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69" name="Text 58">
            <a:extLst>
              <a:ext uri="{FF2B5EF4-FFF2-40B4-BE49-F238E27FC236}">
                <a16:creationId xmlns:a16="http://schemas.microsoft.com/office/drawing/2014/main" id="{3C06CAD9-2633-0964-8993-26617C9F3338}"/>
              </a:ext>
            </a:extLst>
          </p:cNvPr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</a:t>
            </a:r>
            <a:endParaRPr lang="en-US" sz="900" dirty="0"/>
          </a:p>
        </p:txBody>
      </p:sp>
      <p:sp>
        <p:nvSpPr>
          <p:cNvPr id="70" name="Rectangle 6">
            <a:extLst>
              <a:ext uri="{FF2B5EF4-FFF2-40B4-BE49-F238E27FC236}">
                <a16:creationId xmlns:a16="http://schemas.microsoft.com/office/drawing/2014/main" id="{D361B36E-413E-022B-BC4F-5FDE94E171A8}"/>
              </a:ext>
            </a:extLst>
          </p:cNvPr>
          <p:cNvSpPr>
            <a:spLocks noChangeAspect="1"/>
          </p:cNvSpPr>
          <p:nvPr/>
        </p:nvSpPr>
        <p:spPr>
          <a:xfrm>
            <a:off x="11162371" y="145576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 6">
            <a:extLst>
              <a:ext uri="{FF2B5EF4-FFF2-40B4-BE49-F238E27FC236}">
                <a16:creationId xmlns:a16="http://schemas.microsoft.com/office/drawing/2014/main" id="{B0D9DA2A-FBB5-C73E-8E84-8ABD2199DF79}"/>
              </a:ext>
            </a:extLst>
          </p:cNvPr>
          <p:cNvSpPr>
            <a:spLocks noChangeAspect="1"/>
          </p:cNvSpPr>
          <p:nvPr/>
        </p:nvSpPr>
        <p:spPr>
          <a:xfrm>
            <a:off x="10924478" y="398337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Shape 37">
            <a:extLst>
              <a:ext uri="{FF2B5EF4-FFF2-40B4-BE49-F238E27FC236}">
                <a16:creationId xmlns:a16="http://schemas.microsoft.com/office/drawing/2014/main" id="{1360B28D-A4DE-4CFF-AFC1-74F7A82F3203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EA1FA500-FCF7-692A-BCD0-68E3EAEC3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sp>
        <p:nvSpPr>
          <p:cNvPr id="74" name="Shape 7">
            <a:extLst>
              <a:ext uri="{FF2B5EF4-FFF2-40B4-BE49-F238E27FC236}">
                <a16:creationId xmlns:a16="http://schemas.microsoft.com/office/drawing/2014/main" id="{3C569266-46A8-6F8E-68E8-0C13AC40E161}"/>
              </a:ext>
            </a:extLst>
          </p:cNvPr>
          <p:cNvSpPr/>
          <p:nvPr/>
        </p:nvSpPr>
        <p:spPr>
          <a:xfrm>
            <a:off x="441037" y="1664208"/>
            <a:ext cx="2944368" cy="100584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5" name="Shape 8">
            <a:extLst>
              <a:ext uri="{FF2B5EF4-FFF2-40B4-BE49-F238E27FC236}">
                <a16:creationId xmlns:a16="http://schemas.microsoft.com/office/drawing/2014/main" id="{4D7150F2-5EE2-5FDD-0C84-0E8EA08035E0}"/>
              </a:ext>
            </a:extLst>
          </p:cNvPr>
          <p:cNvSpPr/>
          <p:nvPr/>
        </p:nvSpPr>
        <p:spPr>
          <a:xfrm>
            <a:off x="441037" y="1664208"/>
            <a:ext cx="2944368" cy="45720"/>
          </a:xfrm>
          <a:prstGeom prst="rect">
            <a:avLst/>
          </a:prstGeom>
          <a:solidFill>
            <a:srgbClr val="C1BC9C"/>
          </a:solidFill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6" name="Text 9">
            <a:extLst>
              <a:ext uri="{FF2B5EF4-FFF2-40B4-BE49-F238E27FC236}">
                <a16:creationId xmlns:a16="http://schemas.microsoft.com/office/drawing/2014/main" id="{93F0E268-AFC0-186A-EC2D-65A2585D0F13}"/>
              </a:ext>
            </a:extLst>
          </p:cNvPr>
          <p:cNvSpPr/>
          <p:nvPr/>
        </p:nvSpPr>
        <p:spPr>
          <a:xfrm>
            <a:off x="669637" y="18288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125+</a:t>
            </a:r>
            <a:endParaRPr lang="en-US" sz="3600" dirty="0"/>
          </a:p>
        </p:txBody>
      </p:sp>
      <p:sp>
        <p:nvSpPr>
          <p:cNvPr id="77" name="Text 10">
            <a:extLst>
              <a:ext uri="{FF2B5EF4-FFF2-40B4-BE49-F238E27FC236}">
                <a16:creationId xmlns:a16="http://schemas.microsoft.com/office/drawing/2014/main" id="{B30A6098-8F2D-0DB3-2CED-AF5E713EC722}"/>
              </a:ext>
            </a:extLst>
          </p:cNvPr>
          <p:cNvSpPr/>
          <p:nvPr/>
        </p:nvSpPr>
        <p:spPr>
          <a:xfrm>
            <a:off x="1812637" y="1865376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B8D0"/>
                </a:solidFill>
                <a:latin typeface="Newsreader Caption" pitchFamily="2" charset="77"/>
                <a:ea typeface="Calibri" pitchFamily="34" charset="-122"/>
                <a:cs typeface="Calibri" pitchFamily="34" charset="-120"/>
              </a:rPr>
              <a:t>Projects delivered</a:t>
            </a:r>
            <a:endParaRPr lang="en-US" sz="1200" dirty="0">
              <a:solidFill>
                <a:srgbClr val="94B8D0"/>
              </a:solidFill>
              <a:latin typeface="Newsreader Caption" pitchFamily="2" charset="77"/>
            </a:endParaRPr>
          </a:p>
        </p:txBody>
      </p:sp>
      <p:sp>
        <p:nvSpPr>
          <p:cNvPr id="78" name="Text 11">
            <a:extLst>
              <a:ext uri="{FF2B5EF4-FFF2-40B4-BE49-F238E27FC236}">
                <a16:creationId xmlns:a16="http://schemas.microsoft.com/office/drawing/2014/main" id="{3A92C7D7-83B0-7C93-413B-69A0FE8F0F1B}"/>
              </a:ext>
            </a:extLst>
          </p:cNvPr>
          <p:cNvSpPr/>
          <p:nvPr/>
        </p:nvSpPr>
        <p:spPr>
          <a:xfrm>
            <a:off x="1794349" y="2249424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Globally across Core HR, Talent, Payroll, Workzone</a:t>
            </a:r>
            <a:endParaRPr lang="en-US" sz="950" dirty="0">
              <a:latin typeface="IBM Plex Sans" panose="020B0503050203000203" pitchFamily="34" charset="77"/>
            </a:endParaRPr>
          </a:p>
        </p:txBody>
      </p:sp>
      <p:sp>
        <p:nvSpPr>
          <p:cNvPr id="79" name="Shape 12">
            <a:extLst>
              <a:ext uri="{FF2B5EF4-FFF2-40B4-BE49-F238E27FC236}">
                <a16:creationId xmlns:a16="http://schemas.microsoft.com/office/drawing/2014/main" id="{3301E0B5-8D39-1199-6205-881436F64E0F}"/>
              </a:ext>
            </a:extLst>
          </p:cNvPr>
          <p:cNvSpPr/>
          <p:nvPr/>
        </p:nvSpPr>
        <p:spPr>
          <a:xfrm>
            <a:off x="3476845" y="1664208"/>
            <a:ext cx="2944368" cy="100584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80" name="Shape 13">
            <a:extLst>
              <a:ext uri="{FF2B5EF4-FFF2-40B4-BE49-F238E27FC236}">
                <a16:creationId xmlns:a16="http://schemas.microsoft.com/office/drawing/2014/main" id="{095B8808-9C40-1C49-3281-6F892F5E06E6}"/>
              </a:ext>
            </a:extLst>
          </p:cNvPr>
          <p:cNvSpPr/>
          <p:nvPr/>
        </p:nvSpPr>
        <p:spPr>
          <a:xfrm>
            <a:off x="3476845" y="1664208"/>
            <a:ext cx="2944368" cy="45720"/>
          </a:xfrm>
          <a:prstGeom prst="rect">
            <a:avLst/>
          </a:prstGeom>
          <a:solidFill>
            <a:srgbClr val="C1BC9C"/>
          </a:solidFill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81" name="Text 14">
            <a:extLst>
              <a:ext uri="{FF2B5EF4-FFF2-40B4-BE49-F238E27FC236}">
                <a16:creationId xmlns:a16="http://schemas.microsoft.com/office/drawing/2014/main" id="{D610AEC9-892C-EB94-2161-E91D058681A9}"/>
              </a:ext>
            </a:extLst>
          </p:cNvPr>
          <p:cNvSpPr/>
          <p:nvPr/>
        </p:nvSpPr>
        <p:spPr>
          <a:xfrm>
            <a:off x="3705445" y="18288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87+</a:t>
            </a:r>
            <a:endParaRPr lang="en-US" sz="3600" dirty="0"/>
          </a:p>
        </p:txBody>
      </p:sp>
      <p:sp>
        <p:nvSpPr>
          <p:cNvPr id="82" name="Text 15">
            <a:extLst>
              <a:ext uri="{FF2B5EF4-FFF2-40B4-BE49-F238E27FC236}">
                <a16:creationId xmlns:a16="http://schemas.microsoft.com/office/drawing/2014/main" id="{72AE75AE-ECC4-A294-B5C4-EF89552579D2}"/>
              </a:ext>
            </a:extLst>
          </p:cNvPr>
          <p:cNvSpPr/>
          <p:nvPr/>
        </p:nvSpPr>
        <p:spPr>
          <a:xfrm>
            <a:off x="4848445" y="1865376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B8D0"/>
                </a:solidFill>
                <a:latin typeface="Newsreader Caption" pitchFamily="2" charset="77"/>
                <a:ea typeface="Calibri" pitchFamily="34" charset="-122"/>
                <a:cs typeface="Calibri" pitchFamily="34" charset="-120"/>
              </a:rPr>
              <a:t>Certified HXM consultants</a:t>
            </a:r>
            <a:endParaRPr lang="en-US" sz="1200" dirty="0">
              <a:solidFill>
                <a:srgbClr val="94B8D0"/>
              </a:solidFill>
              <a:latin typeface="Newsreader Caption" pitchFamily="2" charset="77"/>
            </a:endParaRPr>
          </a:p>
        </p:txBody>
      </p:sp>
      <p:sp>
        <p:nvSpPr>
          <p:cNvPr id="83" name="Text 16">
            <a:extLst>
              <a:ext uri="{FF2B5EF4-FFF2-40B4-BE49-F238E27FC236}">
                <a16:creationId xmlns:a16="http://schemas.microsoft.com/office/drawing/2014/main" id="{C1928D42-2B1D-59CD-94C7-BE238445EFA2}"/>
              </a:ext>
            </a:extLst>
          </p:cNvPr>
          <p:cNvSpPr/>
          <p:nvPr/>
        </p:nvSpPr>
        <p:spPr>
          <a:xfrm>
            <a:off x="4830157" y="2225120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70% Associate · 30% Professional certified</a:t>
            </a:r>
            <a:endParaRPr lang="en-US" sz="950" dirty="0">
              <a:latin typeface="IBM Plex Sans" panose="020B0503050203000203" pitchFamily="34" charset="77"/>
            </a:endParaRPr>
          </a:p>
        </p:txBody>
      </p:sp>
      <p:sp>
        <p:nvSpPr>
          <p:cNvPr id="84" name="Shape 17">
            <a:extLst>
              <a:ext uri="{FF2B5EF4-FFF2-40B4-BE49-F238E27FC236}">
                <a16:creationId xmlns:a16="http://schemas.microsoft.com/office/drawing/2014/main" id="{3D5A332D-1AAE-21B5-3FAD-F7C5CA562BDE}"/>
              </a:ext>
            </a:extLst>
          </p:cNvPr>
          <p:cNvSpPr/>
          <p:nvPr/>
        </p:nvSpPr>
        <p:spPr>
          <a:xfrm>
            <a:off x="6512653" y="1664208"/>
            <a:ext cx="2944368" cy="100584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85" name="Shape 18">
            <a:extLst>
              <a:ext uri="{FF2B5EF4-FFF2-40B4-BE49-F238E27FC236}">
                <a16:creationId xmlns:a16="http://schemas.microsoft.com/office/drawing/2014/main" id="{4960B162-A3A7-43D4-86BF-F865DE4E504A}"/>
              </a:ext>
            </a:extLst>
          </p:cNvPr>
          <p:cNvSpPr/>
          <p:nvPr/>
        </p:nvSpPr>
        <p:spPr>
          <a:xfrm>
            <a:off x="6512653" y="1664208"/>
            <a:ext cx="2944368" cy="45720"/>
          </a:xfrm>
          <a:prstGeom prst="rect">
            <a:avLst/>
          </a:prstGeom>
          <a:solidFill>
            <a:srgbClr val="C1BC9C"/>
          </a:solidFill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7705582D-4984-396F-1CBD-42D709920DB3}"/>
              </a:ext>
            </a:extLst>
          </p:cNvPr>
          <p:cNvSpPr/>
          <p:nvPr/>
        </p:nvSpPr>
        <p:spPr>
          <a:xfrm>
            <a:off x="6741253" y="18288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3600" dirty="0"/>
          </a:p>
        </p:txBody>
      </p:sp>
      <p:sp>
        <p:nvSpPr>
          <p:cNvPr id="87" name="Text 20">
            <a:extLst>
              <a:ext uri="{FF2B5EF4-FFF2-40B4-BE49-F238E27FC236}">
                <a16:creationId xmlns:a16="http://schemas.microsoft.com/office/drawing/2014/main" id="{5ED8DD04-351A-0F21-C351-2238F315FF9F}"/>
              </a:ext>
            </a:extLst>
          </p:cNvPr>
          <p:cNvSpPr/>
          <p:nvPr/>
        </p:nvSpPr>
        <p:spPr>
          <a:xfrm>
            <a:off x="7884253" y="1865376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B8D0"/>
                </a:solidFill>
                <a:latin typeface="Newsreader Caption" pitchFamily="2" charset="77"/>
                <a:ea typeface="Calibri" pitchFamily="34" charset="-122"/>
                <a:cs typeface="Calibri" pitchFamily="34" charset="-120"/>
              </a:rPr>
              <a:t>Live proofs of concept</a:t>
            </a:r>
            <a:endParaRPr lang="en-US" sz="1200" dirty="0">
              <a:solidFill>
                <a:srgbClr val="94B8D0"/>
              </a:solidFill>
              <a:latin typeface="Newsreader Caption" pitchFamily="2" charset="77"/>
            </a:endParaRPr>
          </a:p>
        </p:txBody>
      </p:sp>
      <p:sp>
        <p:nvSpPr>
          <p:cNvPr id="88" name="Text 21">
            <a:extLst>
              <a:ext uri="{FF2B5EF4-FFF2-40B4-BE49-F238E27FC236}">
                <a16:creationId xmlns:a16="http://schemas.microsoft.com/office/drawing/2014/main" id="{55D2A247-133E-2BD2-6F21-502AFA3CE0D3}"/>
              </a:ext>
            </a:extLst>
          </p:cNvPr>
          <p:cNvSpPr/>
          <p:nvPr/>
        </p:nvSpPr>
        <p:spPr>
          <a:xfrm>
            <a:off x="7884253" y="2225120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Joule for HR, Talent Intelligence</a:t>
            </a:r>
            <a:endParaRPr lang="en-US" sz="950" dirty="0">
              <a:latin typeface="IBM Plex Sans" panose="020B0503050203000203" pitchFamily="34" charset="77"/>
            </a:endParaRPr>
          </a:p>
        </p:txBody>
      </p:sp>
      <p:sp>
        <p:nvSpPr>
          <p:cNvPr id="89" name="Shape 22">
            <a:extLst>
              <a:ext uri="{FF2B5EF4-FFF2-40B4-BE49-F238E27FC236}">
                <a16:creationId xmlns:a16="http://schemas.microsoft.com/office/drawing/2014/main" id="{E078989E-FC13-5AE8-7732-D849799A3A00}"/>
              </a:ext>
            </a:extLst>
          </p:cNvPr>
          <p:cNvSpPr/>
          <p:nvPr/>
        </p:nvSpPr>
        <p:spPr>
          <a:xfrm>
            <a:off x="441037" y="2788920"/>
            <a:ext cx="294436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0" name="Shape 23">
            <a:extLst>
              <a:ext uri="{FF2B5EF4-FFF2-40B4-BE49-F238E27FC236}">
                <a16:creationId xmlns:a16="http://schemas.microsoft.com/office/drawing/2014/main" id="{439DCF3D-2F11-B26D-9F12-FFB1B1AB27C7}"/>
              </a:ext>
            </a:extLst>
          </p:cNvPr>
          <p:cNvSpPr/>
          <p:nvPr/>
        </p:nvSpPr>
        <p:spPr>
          <a:xfrm>
            <a:off x="441037" y="2788920"/>
            <a:ext cx="73152" cy="1280160"/>
          </a:xfrm>
          <a:prstGeom prst="rect">
            <a:avLst/>
          </a:prstGeom>
          <a:solidFill>
            <a:srgbClr val="94B8D0"/>
          </a:solidFill>
          <a:ln w="12700">
            <a:solidFill>
              <a:srgbClr val="94B8D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1" name="Shape 24">
            <a:extLst>
              <a:ext uri="{FF2B5EF4-FFF2-40B4-BE49-F238E27FC236}">
                <a16:creationId xmlns:a16="http://schemas.microsoft.com/office/drawing/2014/main" id="{5ADD39F9-6516-BB13-F254-EB8DDD3689DA}"/>
              </a:ext>
            </a:extLst>
          </p:cNvPr>
          <p:cNvSpPr/>
          <p:nvPr/>
        </p:nvSpPr>
        <p:spPr>
          <a:xfrm>
            <a:off x="669637" y="2990088"/>
            <a:ext cx="502920" cy="50292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92" name="Image 0" descr="preencoded.png">
            <a:extLst>
              <a:ext uri="{FF2B5EF4-FFF2-40B4-BE49-F238E27FC236}">
                <a16:creationId xmlns:a16="http://schemas.microsoft.com/office/drawing/2014/main" id="{F44F1CC4-9A84-FF9A-C04B-B78DF615F9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789" y="3063240"/>
            <a:ext cx="356616" cy="356616"/>
          </a:xfrm>
          <a:prstGeom prst="rect">
            <a:avLst/>
          </a:prstGeom>
        </p:spPr>
      </p:pic>
      <p:sp>
        <p:nvSpPr>
          <p:cNvPr id="93" name="Text 25">
            <a:extLst>
              <a:ext uri="{FF2B5EF4-FFF2-40B4-BE49-F238E27FC236}">
                <a16:creationId xmlns:a16="http://schemas.microsoft.com/office/drawing/2014/main" id="{DAB8F155-6FBE-40AD-88BD-77C63C913C28}"/>
              </a:ext>
            </a:extLst>
          </p:cNvPr>
          <p:cNvSpPr/>
          <p:nvPr/>
        </p:nvSpPr>
        <p:spPr>
          <a:xfrm>
            <a:off x="1263997" y="2990088"/>
            <a:ext cx="198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F44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Core HR &amp; Talent</a:t>
            </a:r>
            <a:endParaRPr lang="en-US" sz="1300" dirty="0">
              <a:latin typeface="IBM Plex Sans" panose="020B0503050203000203" pitchFamily="34" charset="77"/>
            </a:endParaRPr>
          </a:p>
        </p:txBody>
      </p:sp>
      <p:sp>
        <p:nvSpPr>
          <p:cNvPr id="94" name="Text 26">
            <a:extLst>
              <a:ext uri="{FF2B5EF4-FFF2-40B4-BE49-F238E27FC236}">
                <a16:creationId xmlns:a16="http://schemas.microsoft.com/office/drawing/2014/main" id="{3D2CB1CA-78B0-8876-9C66-16B6AD8ADABE}"/>
              </a:ext>
            </a:extLst>
          </p:cNvPr>
          <p:cNvSpPr/>
          <p:nvPr/>
        </p:nvSpPr>
        <p:spPr>
          <a:xfrm>
            <a:off x="669637" y="3566160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Employee Central, Recruiting, Onboarding, Performance, Succession &amp; Career Development</a:t>
            </a:r>
            <a:endParaRPr lang="en-US" sz="1000" dirty="0">
              <a:latin typeface="IBM Plex Sans" panose="020B0503050203000203" pitchFamily="34" charset="77"/>
            </a:endParaRPr>
          </a:p>
        </p:txBody>
      </p:sp>
      <p:sp>
        <p:nvSpPr>
          <p:cNvPr id="95" name="Shape 27">
            <a:extLst>
              <a:ext uri="{FF2B5EF4-FFF2-40B4-BE49-F238E27FC236}">
                <a16:creationId xmlns:a16="http://schemas.microsoft.com/office/drawing/2014/main" id="{FF689401-2D20-6B39-CA03-E40AB5225EEC}"/>
              </a:ext>
            </a:extLst>
          </p:cNvPr>
          <p:cNvSpPr/>
          <p:nvPr/>
        </p:nvSpPr>
        <p:spPr>
          <a:xfrm>
            <a:off x="3476845" y="2788920"/>
            <a:ext cx="294436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6" name="Shape 28">
            <a:extLst>
              <a:ext uri="{FF2B5EF4-FFF2-40B4-BE49-F238E27FC236}">
                <a16:creationId xmlns:a16="http://schemas.microsoft.com/office/drawing/2014/main" id="{6A78CC2B-8DCB-E1E5-86D9-60E291E3B4C5}"/>
              </a:ext>
            </a:extLst>
          </p:cNvPr>
          <p:cNvSpPr/>
          <p:nvPr/>
        </p:nvSpPr>
        <p:spPr>
          <a:xfrm>
            <a:off x="3476845" y="2788920"/>
            <a:ext cx="73152" cy="1280160"/>
          </a:xfrm>
          <a:prstGeom prst="rect">
            <a:avLst/>
          </a:prstGeom>
          <a:solidFill>
            <a:srgbClr val="94B8D0"/>
          </a:solidFill>
          <a:ln w="12700">
            <a:solidFill>
              <a:srgbClr val="94B8D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7" name="Shape 29">
            <a:extLst>
              <a:ext uri="{FF2B5EF4-FFF2-40B4-BE49-F238E27FC236}">
                <a16:creationId xmlns:a16="http://schemas.microsoft.com/office/drawing/2014/main" id="{30A68FC9-015A-61AC-52A5-FDE1D712CBE0}"/>
              </a:ext>
            </a:extLst>
          </p:cNvPr>
          <p:cNvSpPr/>
          <p:nvPr/>
        </p:nvSpPr>
        <p:spPr>
          <a:xfrm>
            <a:off x="3705445" y="2990088"/>
            <a:ext cx="502920" cy="50292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98" name="Image 1" descr="preencoded.png">
            <a:extLst>
              <a:ext uri="{FF2B5EF4-FFF2-40B4-BE49-F238E27FC236}">
                <a16:creationId xmlns:a16="http://schemas.microsoft.com/office/drawing/2014/main" id="{D77575DF-7654-B5A9-1030-CA0B48B9F7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8597" y="3063240"/>
            <a:ext cx="356616" cy="356616"/>
          </a:xfrm>
          <a:prstGeom prst="rect">
            <a:avLst/>
          </a:prstGeom>
        </p:spPr>
      </p:pic>
      <p:sp>
        <p:nvSpPr>
          <p:cNvPr id="99" name="Text 30">
            <a:extLst>
              <a:ext uri="{FF2B5EF4-FFF2-40B4-BE49-F238E27FC236}">
                <a16:creationId xmlns:a16="http://schemas.microsoft.com/office/drawing/2014/main" id="{955D240D-90A7-69EE-B97C-F34342A6E631}"/>
              </a:ext>
            </a:extLst>
          </p:cNvPr>
          <p:cNvSpPr/>
          <p:nvPr/>
        </p:nvSpPr>
        <p:spPr>
          <a:xfrm>
            <a:off x="4299805" y="2990088"/>
            <a:ext cx="198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F44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Cloud Payroll &amp; Compensation</a:t>
            </a:r>
            <a:endParaRPr lang="en-US" sz="1300" dirty="0">
              <a:latin typeface="IBM Plex Sans" panose="020B0503050203000203" pitchFamily="34" charset="77"/>
            </a:endParaRPr>
          </a:p>
        </p:txBody>
      </p:sp>
      <p:sp>
        <p:nvSpPr>
          <p:cNvPr id="100" name="Text 31">
            <a:extLst>
              <a:ext uri="{FF2B5EF4-FFF2-40B4-BE49-F238E27FC236}">
                <a16:creationId xmlns:a16="http://schemas.microsoft.com/office/drawing/2014/main" id="{5450FE6A-1028-729D-666E-BFCE1FF4C92B}"/>
              </a:ext>
            </a:extLst>
          </p:cNvPr>
          <p:cNvSpPr/>
          <p:nvPr/>
        </p:nvSpPr>
        <p:spPr>
          <a:xfrm>
            <a:off x="3705445" y="3566160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Employee Central Payroll, Compensation Planning, Variable Pay, global statutory compliance</a:t>
            </a:r>
            <a:endParaRPr lang="en-US" sz="1000" dirty="0">
              <a:latin typeface="IBM Plex Sans" panose="020B0503050203000203" pitchFamily="34" charset="77"/>
            </a:endParaRPr>
          </a:p>
        </p:txBody>
      </p:sp>
      <p:sp>
        <p:nvSpPr>
          <p:cNvPr id="101" name="Shape 32">
            <a:extLst>
              <a:ext uri="{FF2B5EF4-FFF2-40B4-BE49-F238E27FC236}">
                <a16:creationId xmlns:a16="http://schemas.microsoft.com/office/drawing/2014/main" id="{E1E0AAC3-8D0B-2DED-68CC-BBDC2C87CD3A}"/>
              </a:ext>
            </a:extLst>
          </p:cNvPr>
          <p:cNvSpPr/>
          <p:nvPr/>
        </p:nvSpPr>
        <p:spPr>
          <a:xfrm>
            <a:off x="6512653" y="2788920"/>
            <a:ext cx="294436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02" name="Shape 33">
            <a:extLst>
              <a:ext uri="{FF2B5EF4-FFF2-40B4-BE49-F238E27FC236}">
                <a16:creationId xmlns:a16="http://schemas.microsoft.com/office/drawing/2014/main" id="{68796A42-AC44-7C6D-6B97-D1DDF4374109}"/>
              </a:ext>
            </a:extLst>
          </p:cNvPr>
          <p:cNvSpPr/>
          <p:nvPr/>
        </p:nvSpPr>
        <p:spPr>
          <a:xfrm>
            <a:off x="6512653" y="2788920"/>
            <a:ext cx="73152" cy="1280160"/>
          </a:xfrm>
          <a:prstGeom prst="rect">
            <a:avLst/>
          </a:prstGeom>
          <a:solidFill>
            <a:srgbClr val="94B8D0"/>
          </a:solidFill>
          <a:ln w="12700">
            <a:solidFill>
              <a:srgbClr val="94B8D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03" name="Shape 34">
            <a:extLst>
              <a:ext uri="{FF2B5EF4-FFF2-40B4-BE49-F238E27FC236}">
                <a16:creationId xmlns:a16="http://schemas.microsoft.com/office/drawing/2014/main" id="{FE5FCEA3-CBF1-1908-A63E-4A16FAAE1BD7}"/>
              </a:ext>
            </a:extLst>
          </p:cNvPr>
          <p:cNvSpPr/>
          <p:nvPr/>
        </p:nvSpPr>
        <p:spPr>
          <a:xfrm>
            <a:off x="6741253" y="2990088"/>
            <a:ext cx="502920" cy="50292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104" name="Image 2" descr="preencoded.png">
            <a:extLst>
              <a:ext uri="{FF2B5EF4-FFF2-40B4-BE49-F238E27FC236}">
                <a16:creationId xmlns:a16="http://schemas.microsoft.com/office/drawing/2014/main" id="{0EC9AF54-3902-CEB1-4BEB-CC05281396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4405" y="3063240"/>
            <a:ext cx="356616" cy="356616"/>
          </a:xfrm>
          <a:prstGeom prst="rect">
            <a:avLst/>
          </a:prstGeom>
        </p:spPr>
      </p:pic>
      <p:sp>
        <p:nvSpPr>
          <p:cNvPr id="105" name="Text 35">
            <a:extLst>
              <a:ext uri="{FF2B5EF4-FFF2-40B4-BE49-F238E27FC236}">
                <a16:creationId xmlns:a16="http://schemas.microsoft.com/office/drawing/2014/main" id="{AF47DE5A-8BF4-54EF-49B7-3396D94EF600}"/>
              </a:ext>
            </a:extLst>
          </p:cNvPr>
          <p:cNvSpPr/>
          <p:nvPr/>
        </p:nvSpPr>
        <p:spPr>
          <a:xfrm>
            <a:off x="7335613" y="2990088"/>
            <a:ext cx="198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F44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Time &amp; Attendance</a:t>
            </a:r>
            <a:endParaRPr lang="en-US" sz="1300" dirty="0">
              <a:latin typeface="IBM Plex Sans" panose="020B0503050203000203" pitchFamily="34" charset="77"/>
            </a:endParaRPr>
          </a:p>
        </p:txBody>
      </p:sp>
      <p:sp>
        <p:nvSpPr>
          <p:cNvPr id="106" name="Text 36">
            <a:extLst>
              <a:ext uri="{FF2B5EF4-FFF2-40B4-BE49-F238E27FC236}">
                <a16:creationId xmlns:a16="http://schemas.microsoft.com/office/drawing/2014/main" id="{281744A4-E8F9-1CF4-2EAE-BFE9413A11F7}"/>
              </a:ext>
            </a:extLst>
          </p:cNvPr>
          <p:cNvSpPr/>
          <p:nvPr/>
        </p:nvSpPr>
        <p:spPr>
          <a:xfrm>
            <a:off x="6741253" y="3566160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Time Management, Time Sheet, plus IN2IT's proprietary accelerator for complex time solutions</a:t>
            </a:r>
            <a:endParaRPr lang="en-US" sz="1000" dirty="0">
              <a:latin typeface="IBM Plex Sans" panose="020B0503050203000203" pitchFamily="34" charset="77"/>
            </a:endParaRPr>
          </a:p>
        </p:txBody>
      </p:sp>
      <p:sp>
        <p:nvSpPr>
          <p:cNvPr id="107" name="Shape 37">
            <a:extLst>
              <a:ext uri="{FF2B5EF4-FFF2-40B4-BE49-F238E27FC236}">
                <a16:creationId xmlns:a16="http://schemas.microsoft.com/office/drawing/2014/main" id="{0227C240-E601-33B7-5BD6-5B0A3A2EC2C9}"/>
              </a:ext>
            </a:extLst>
          </p:cNvPr>
          <p:cNvSpPr/>
          <p:nvPr/>
        </p:nvSpPr>
        <p:spPr>
          <a:xfrm>
            <a:off x="441037" y="4160520"/>
            <a:ext cx="294436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08" name="Shape 38">
            <a:extLst>
              <a:ext uri="{FF2B5EF4-FFF2-40B4-BE49-F238E27FC236}">
                <a16:creationId xmlns:a16="http://schemas.microsoft.com/office/drawing/2014/main" id="{DFD9378D-957D-319C-71FD-B7F54975C491}"/>
              </a:ext>
            </a:extLst>
          </p:cNvPr>
          <p:cNvSpPr/>
          <p:nvPr/>
        </p:nvSpPr>
        <p:spPr>
          <a:xfrm>
            <a:off x="441037" y="4160520"/>
            <a:ext cx="73152" cy="1280160"/>
          </a:xfrm>
          <a:prstGeom prst="rect">
            <a:avLst/>
          </a:prstGeom>
          <a:solidFill>
            <a:srgbClr val="94B8D0"/>
          </a:solidFill>
          <a:ln w="12700">
            <a:solidFill>
              <a:srgbClr val="94B8D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09" name="Shape 39">
            <a:extLst>
              <a:ext uri="{FF2B5EF4-FFF2-40B4-BE49-F238E27FC236}">
                <a16:creationId xmlns:a16="http://schemas.microsoft.com/office/drawing/2014/main" id="{4EB05F35-681D-179C-CF2A-921F34E0B2B0}"/>
              </a:ext>
            </a:extLst>
          </p:cNvPr>
          <p:cNvSpPr/>
          <p:nvPr/>
        </p:nvSpPr>
        <p:spPr>
          <a:xfrm>
            <a:off x="669637" y="4361688"/>
            <a:ext cx="502920" cy="50292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110" name="Image 3" descr="preencoded.png">
            <a:extLst>
              <a:ext uri="{FF2B5EF4-FFF2-40B4-BE49-F238E27FC236}">
                <a16:creationId xmlns:a16="http://schemas.microsoft.com/office/drawing/2014/main" id="{B5415AA3-5F47-CC98-C78E-EF7BD72D44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789" y="4434840"/>
            <a:ext cx="356616" cy="356616"/>
          </a:xfrm>
          <a:prstGeom prst="rect">
            <a:avLst/>
          </a:prstGeom>
        </p:spPr>
      </p:pic>
      <p:sp>
        <p:nvSpPr>
          <p:cNvPr id="111" name="Text 40">
            <a:extLst>
              <a:ext uri="{FF2B5EF4-FFF2-40B4-BE49-F238E27FC236}">
                <a16:creationId xmlns:a16="http://schemas.microsoft.com/office/drawing/2014/main" id="{CB4A9ECA-90B7-F2B6-4E6C-DA26DEC62526}"/>
              </a:ext>
            </a:extLst>
          </p:cNvPr>
          <p:cNvSpPr/>
          <p:nvPr/>
        </p:nvSpPr>
        <p:spPr>
          <a:xfrm>
            <a:off x="1263997" y="4361688"/>
            <a:ext cx="198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F44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Learning &amp; Talent Intelligence</a:t>
            </a:r>
            <a:endParaRPr lang="en-US" sz="1300" dirty="0">
              <a:latin typeface="IBM Plex Sans" panose="020B0503050203000203" pitchFamily="34" charset="77"/>
            </a:endParaRPr>
          </a:p>
        </p:txBody>
      </p:sp>
      <p:sp>
        <p:nvSpPr>
          <p:cNvPr id="112" name="Text 41">
            <a:extLst>
              <a:ext uri="{FF2B5EF4-FFF2-40B4-BE49-F238E27FC236}">
                <a16:creationId xmlns:a16="http://schemas.microsoft.com/office/drawing/2014/main" id="{AF7EE6EC-DC59-ABE4-185C-D802D7912461}"/>
              </a:ext>
            </a:extLst>
          </p:cNvPr>
          <p:cNvSpPr/>
          <p:nvPr/>
        </p:nvSpPr>
        <p:spPr>
          <a:xfrm>
            <a:off x="669637" y="4937760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LMS, Skills Ontology, Talent Intelligence Hub, AI-driven career and growth recommendations</a:t>
            </a:r>
            <a:endParaRPr lang="en-US" sz="1000" dirty="0">
              <a:latin typeface="IBM Plex Sans" panose="020B0503050203000203" pitchFamily="34" charset="77"/>
            </a:endParaRPr>
          </a:p>
        </p:txBody>
      </p:sp>
      <p:sp>
        <p:nvSpPr>
          <p:cNvPr id="113" name="Shape 42">
            <a:extLst>
              <a:ext uri="{FF2B5EF4-FFF2-40B4-BE49-F238E27FC236}">
                <a16:creationId xmlns:a16="http://schemas.microsoft.com/office/drawing/2014/main" id="{62FC37FB-8163-D6F5-E915-08ED205CB21A}"/>
              </a:ext>
            </a:extLst>
          </p:cNvPr>
          <p:cNvSpPr/>
          <p:nvPr/>
        </p:nvSpPr>
        <p:spPr>
          <a:xfrm>
            <a:off x="3476845" y="4160520"/>
            <a:ext cx="294436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14" name="Shape 43">
            <a:extLst>
              <a:ext uri="{FF2B5EF4-FFF2-40B4-BE49-F238E27FC236}">
                <a16:creationId xmlns:a16="http://schemas.microsoft.com/office/drawing/2014/main" id="{95434F97-B4C7-698B-DEDE-1BAD7D60C66B}"/>
              </a:ext>
            </a:extLst>
          </p:cNvPr>
          <p:cNvSpPr/>
          <p:nvPr/>
        </p:nvSpPr>
        <p:spPr>
          <a:xfrm>
            <a:off x="3476845" y="4160520"/>
            <a:ext cx="73152" cy="1280160"/>
          </a:xfrm>
          <a:prstGeom prst="rect">
            <a:avLst/>
          </a:prstGeom>
          <a:solidFill>
            <a:srgbClr val="94B8D0"/>
          </a:solidFill>
          <a:ln w="12700">
            <a:solidFill>
              <a:srgbClr val="94B8D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15" name="Shape 44">
            <a:extLst>
              <a:ext uri="{FF2B5EF4-FFF2-40B4-BE49-F238E27FC236}">
                <a16:creationId xmlns:a16="http://schemas.microsoft.com/office/drawing/2014/main" id="{2565BEB1-AC42-08E4-E9F1-43768BDCD0FB}"/>
              </a:ext>
            </a:extLst>
          </p:cNvPr>
          <p:cNvSpPr/>
          <p:nvPr/>
        </p:nvSpPr>
        <p:spPr>
          <a:xfrm>
            <a:off x="3705445" y="4361688"/>
            <a:ext cx="502920" cy="50292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116" name="Image 4" descr="preencoded.png">
            <a:extLst>
              <a:ext uri="{FF2B5EF4-FFF2-40B4-BE49-F238E27FC236}">
                <a16:creationId xmlns:a16="http://schemas.microsoft.com/office/drawing/2014/main" id="{D1A1A4D8-067F-1BB7-179E-7B91CBAE81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8597" y="4434840"/>
            <a:ext cx="356616" cy="356616"/>
          </a:xfrm>
          <a:prstGeom prst="rect">
            <a:avLst/>
          </a:prstGeom>
        </p:spPr>
      </p:pic>
      <p:sp>
        <p:nvSpPr>
          <p:cNvPr id="117" name="Text 45">
            <a:extLst>
              <a:ext uri="{FF2B5EF4-FFF2-40B4-BE49-F238E27FC236}">
                <a16:creationId xmlns:a16="http://schemas.microsoft.com/office/drawing/2014/main" id="{4C326AF7-02B0-4690-8342-C61DC3D930A8}"/>
              </a:ext>
            </a:extLst>
          </p:cNvPr>
          <p:cNvSpPr/>
          <p:nvPr/>
        </p:nvSpPr>
        <p:spPr>
          <a:xfrm>
            <a:off x="4299805" y="4361688"/>
            <a:ext cx="198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F44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Employee Experience</a:t>
            </a:r>
            <a:endParaRPr lang="en-US" sz="1300" dirty="0">
              <a:latin typeface="IBM Plex Sans" panose="020B0503050203000203" pitchFamily="34" charset="77"/>
            </a:endParaRPr>
          </a:p>
        </p:txBody>
      </p:sp>
      <p:sp>
        <p:nvSpPr>
          <p:cNvPr id="118" name="Text 46">
            <a:extLst>
              <a:ext uri="{FF2B5EF4-FFF2-40B4-BE49-F238E27FC236}">
                <a16:creationId xmlns:a16="http://schemas.microsoft.com/office/drawing/2014/main" id="{7606DF5B-409B-5897-FD4F-51A338FAF730}"/>
              </a:ext>
            </a:extLst>
          </p:cNvPr>
          <p:cNvSpPr/>
          <p:nvPr/>
        </p:nvSpPr>
        <p:spPr>
          <a:xfrm>
            <a:off x="3705445" y="4937760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HR Workzone digital front-door, Qualtrics EX listening, Concur Travel &amp; Expense integration</a:t>
            </a:r>
            <a:endParaRPr lang="en-US" sz="1000" dirty="0">
              <a:latin typeface="IBM Plex Sans" panose="020B0503050203000203" pitchFamily="34" charset="77"/>
            </a:endParaRPr>
          </a:p>
        </p:txBody>
      </p:sp>
      <p:sp>
        <p:nvSpPr>
          <p:cNvPr id="119" name="Shape 47">
            <a:extLst>
              <a:ext uri="{FF2B5EF4-FFF2-40B4-BE49-F238E27FC236}">
                <a16:creationId xmlns:a16="http://schemas.microsoft.com/office/drawing/2014/main" id="{5F6B2B69-B682-D7B3-3EE9-E95B9A7472AA}"/>
              </a:ext>
            </a:extLst>
          </p:cNvPr>
          <p:cNvSpPr/>
          <p:nvPr/>
        </p:nvSpPr>
        <p:spPr>
          <a:xfrm>
            <a:off x="6512653" y="4160520"/>
            <a:ext cx="294436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20" name="Shape 48">
            <a:extLst>
              <a:ext uri="{FF2B5EF4-FFF2-40B4-BE49-F238E27FC236}">
                <a16:creationId xmlns:a16="http://schemas.microsoft.com/office/drawing/2014/main" id="{98F25228-C719-B022-DA89-159B5EF91988}"/>
              </a:ext>
            </a:extLst>
          </p:cNvPr>
          <p:cNvSpPr/>
          <p:nvPr/>
        </p:nvSpPr>
        <p:spPr>
          <a:xfrm>
            <a:off x="6512653" y="4160520"/>
            <a:ext cx="73152" cy="1280160"/>
          </a:xfrm>
          <a:prstGeom prst="rect">
            <a:avLst/>
          </a:prstGeom>
          <a:solidFill>
            <a:srgbClr val="94B8D0"/>
          </a:solidFill>
          <a:ln w="12700">
            <a:solidFill>
              <a:srgbClr val="94B8D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21" name="Shape 49">
            <a:extLst>
              <a:ext uri="{FF2B5EF4-FFF2-40B4-BE49-F238E27FC236}">
                <a16:creationId xmlns:a16="http://schemas.microsoft.com/office/drawing/2014/main" id="{9B2D2619-B3FC-3872-1BB3-312227730DB3}"/>
              </a:ext>
            </a:extLst>
          </p:cNvPr>
          <p:cNvSpPr/>
          <p:nvPr/>
        </p:nvSpPr>
        <p:spPr>
          <a:xfrm>
            <a:off x="6741253" y="4361688"/>
            <a:ext cx="502920" cy="50292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122" name="Image 5" descr="preencoded.png">
            <a:extLst>
              <a:ext uri="{FF2B5EF4-FFF2-40B4-BE49-F238E27FC236}">
                <a16:creationId xmlns:a16="http://schemas.microsoft.com/office/drawing/2014/main" id="{CF2F9CAE-0E2F-4B1E-0B24-9543A6C6F5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4405" y="4434840"/>
            <a:ext cx="356616" cy="356616"/>
          </a:xfrm>
          <a:prstGeom prst="rect">
            <a:avLst/>
          </a:prstGeom>
        </p:spPr>
      </p:pic>
      <p:sp>
        <p:nvSpPr>
          <p:cNvPr id="123" name="Text 50">
            <a:extLst>
              <a:ext uri="{FF2B5EF4-FFF2-40B4-BE49-F238E27FC236}">
                <a16:creationId xmlns:a16="http://schemas.microsoft.com/office/drawing/2014/main" id="{6AF0F949-389A-3209-BA92-E9E393EED49D}"/>
              </a:ext>
            </a:extLst>
          </p:cNvPr>
          <p:cNvSpPr/>
          <p:nvPr/>
        </p:nvSpPr>
        <p:spPr>
          <a:xfrm>
            <a:off x="7335613" y="4361688"/>
            <a:ext cx="198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F44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People Analytics &amp; Planning</a:t>
            </a:r>
            <a:endParaRPr lang="en-US" sz="1300" dirty="0">
              <a:latin typeface="IBM Plex Sans" panose="020B0503050203000203" pitchFamily="34" charset="77"/>
            </a:endParaRPr>
          </a:p>
        </p:txBody>
      </p:sp>
      <p:sp>
        <p:nvSpPr>
          <p:cNvPr id="124" name="Text 51">
            <a:extLst>
              <a:ext uri="{FF2B5EF4-FFF2-40B4-BE49-F238E27FC236}">
                <a16:creationId xmlns:a16="http://schemas.microsoft.com/office/drawing/2014/main" id="{C6984903-F624-5118-D38C-A81BF34E3801}"/>
              </a:ext>
            </a:extLst>
          </p:cNvPr>
          <p:cNvSpPr/>
          <p:nvPr/>
        </p:nvSpPr>
        <p:spPr>
          <a:xfrm>
            <a:off x="6741253" y="4937760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Workforce Analytics, Headcount Planning, executive scorecards and predictive attrition models</a:t>
            </a:r>
            <a:endParaRPr lang="en-US" sz="1000" dirty="0">
              <a:latin typeface="IBM Plex Sans" panose="020B0503050203000203" pitchFamily="34" charset="77"/>
            </a:endParaRPr>
          </a:p>
        </p:txBody>
      </p:sp>
      <p:sp>
        <p:nvSpPr>
          <p:cNvPr id="125" name="Shape 52">
            <a:extLst>
              <a:ext uri="{FF2B5EF4-FFF2-40B4-BE49-F238E27FC236}">
                <a16:creationId xmlns:a16="http://schemas.microsoft.com/office/drawing/2014/main" id="{E208D6D3-C952-FD86-4D02-C66E960A510D}"/>
              </a:ext>
            </a:extLst>
          </p:cNvPr>
          <p:cNvSpPr/>
          <p:nvPr/>
        </p:nvSpPr>
        <p:spPr>
          <a:xfrm>
            <a:off x="441037" y="5577840"/>
            <a:ext cx="9006840" cy="822960"/>
          </a:xfrm>
          <a:prstGeom prst="rect">
            <a:avLst/>
          </a:prstGeom>
          <a:solidFill>
            <a:srgbClr val="3F74A2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27" name="Text 54">
            <a:extLst>
              <a:ext uri="{FF2B5EF4-FFF2-40B4-BE49-F238E27FC236}">
                <a16:creationId xmlns:a16="http://schemas.microsoft.com/office/drawing/2014/main" id="{A8C1B752-101C-344E-167C-9A8DBABBDDBE}"/>
              </a:ext>
            </a:extLst>
          </p:cNvPr>
          <p:cNvSpPr/>
          <p:nvPr/>
        </p:nvSpPr>
        <p:spPr>
          <a:xfrm>
            <a:off x="669637" y="5669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PARTNERSHIP FOCUS</a:t>
            </a:r>
            <a:endParaRPr lang="en-US" sz="1100" dirty="0">
              <a:solidFill>
                <a:srgbClr val="FFFFFF"/>
              </a:solidFill>
              <a:latin typeface="IBM Plex Sans" panose="020B0503050203000203" pitchFamily="34" charset="77"/>
            </a:endParaRPr>
          </a:p>
        </p:txBody>
      </p:sp>
      <p:sp>
        <p:nvSpPr>
          <p:cNvPr id="128" name="Text 55">
            <a:extLst>
              <a:ext uri="{FF2B5EF4-FFF2-40B4-BE49-F238E27FC236}">
                <a16:creationId xmlns:a16="http://schemas.microsoft.com/office/drawing/2014/main" id="{56B19055-B2CF-A4FD-ADF2-3DC25146DB51}"/>
              </a:ext>
            </a:extLst>
          </p:cNvPr>
          <p:cNvSpPr/>
          <p:nvPr/>
        </p:nvSpPr>
        <p:spPr>
          <a:xfrm>
            <a:off x="669637" y="59436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Proof-of-concept partner for SAP  ·  SuccessFactors extensions on BTP  ·  Proprietary Talent, Time &amp; HR solution  ·  Joint Joule pilots for HR personas</a:t>
            </a:r>
            <a:endParaRPr lang="en-US" sz="1100" dirty="0">
              <a:solidFill>
                <a:srgbClr val="FFFFFF"/>
              </a:solidFill>
              <a:latin typeface="IBM Plex Sans" panose="020B0503050203000203" pitchFamily="34" charset="77"/>
            </a:endParaRPr>
          </a:p>
        </p:txBody>
      </p:sp>
      <p:sp>
        <p:nvSpPr>
          <p:cNvPr id="129" name="Shape 56">
            <a:extLst>
              <a:ext uri="{FF2B5EF4-FFF2-40B4-BE49-F238E27FC236}">
                <a16:creationId xmlns:a16="http://schemas.microsoft.com/office/drawing/2014/main" id="{4082B83A-9EFA-9DA8-3D03-1DA50FD12FDD}"/>
              </a:ext>
            </a:extLst>
          </p:cNvPr>
          <p:cNvSpPr/>
          <p:nvPr/>
        </p:nvSpPr>
        <p:spPr>
          <a:xfrm>
            <a:off x="9493597" y="1664208"/>
            <a:ext cx="2286000" cy="474973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001">
              <a:latin typeface="Newsreader Caption" pitchFamily="2" charset="77"/>
            </a:endParaRPr>
          </a:p>
        </p:txBody>
      </p:sp>
      <p:sp>
        <p:nvSpPr>
          <p:cNvPr id="130" name="Shape 57">
            <a:extLst>
              <a:ext uri="{FF2B5EF4-FFF2-40B4-BE49-F238E27FC236}">
                <a16:creationId xmlns:a16="http://schemas.microsoft.com/office/drawing/2014/main" id="{EDE8DB36-843C-74E2-E44E-7FC0F4D78480}"/>
              </a:ext>
            </a:extLst>
          </p:cNvPr>
          <p:cNvSpPr/>
          <p:nvPr/>
        </p:nvSpPr>
        <p:spPr>
          <a:xfrm>
            <a:off x="9493597" y="1664208"/>
            <a:ext cx="2286000" cy="64008"/>
          </a:xfrm>
          <a:prstGeom prst="rect">
            <a:avLst/>
          </a:prstGeom>
          <a:solidFill>
            <a:srgbClr val="C1BC9C"/>
          </a:solidFill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31" name="Text 58">
            <a:extLst>
              <a:ext uri="{FF2B5EF4-FFF2-40B4-BE49-F238E27FC236}">
                <a16:creationId xmlns:a16="http://schemas.microsoft.com/office/drawing/2014/main" id="{FF57C2B4-BE3D-3C70-8F0A-81DA5ADC48D2}"/>
              </a:ext>
            </a:extLst>
          </p:cNvPr>
          <p:cNvSpPr/>
          <p:nvPr/>
        </p:nvSpPr>
        <p:spPr>
          <a:xfrm>
            <a:off x="9676477" y="18470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HIGHLIGHTS</a:t>
            </a:r>
            <a:endParaRPr lang="en-US" sz="1300" dirty="0">
              <a:latin typeface="IBM Plex Sans" panose="020B0503050203000203" pitchFamily="34" charset="77"/>
            </a:endParaRPr>
          </a:p>
        </p:txBody>
      </p:sp>
      <p:sp>
        <p:nvSpPr>
          <p:cNvPr id="132" name="Shape 59">
            <a:extLst>
              <a:ext uri="{FF2B5EF4-FFF2-40B4-BE49-F238E27FC236}">
                <a16:creationId xmlns:a16="http://schemas.microsoft.com/office/drawing/2014/main" id="{2AC966A1-0630-B915-76CC-06E57BF9698B}"/>
              </a:ext>
            </a:extLst>
          </p:cNvPr>
          <p:cNvSpPr/>
          <p:nvPr/>
        </p:nvSpPr>
        <p:spPr>
          <a:xfrm>
            <a:off x="9676477" y="2231136"/>
            <a:ext cx="411480" cy="0"/>
          </a:xfrm>
          <a:prstGeom prst="line">
            <a:avLst/>
          </a:prstGeom>
          <a:noFill/>
          <a:ln w="254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33" name="Text 60">
            <a:extLst>
              <a:ext uri="{FF2B5EF4-FFF2-40B4-BE49-F238E27FC236}">
                <a16:creationId xmlns:a16="http://schemas.microsoft.com/office/drawing/2014/main" id="{C1A5406B-DE2E-C10D-A2FA-0D3CE3A64EE6}"/>
              </a:ext>
            </a:extLst>
          </p:cNvPr>
          <p:cNvSpPr/>
          <p:nvPr/>
        </p:nvSpPr>
        <p:spPr>
          <a:xfrm>
            <a:off x="9676477" y="2377440"/>
            <a:ext cx="192024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Only partner to successfully deploy 2 HR Workzone instances</a:t>
            </a:r>
            <a:endParaRPr lang="en-US" sz="1000" dirty="0">
              <a:latin typeface="IBM Plex Sans" panose="020B0503050203000203" pitchFamily="34" charset="77"/>
            </a:endParaRPr>
          </a:p>
          <a:p>
            <a:pPr marL="0" indent="0" algn="l"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Largest certified SAP HXM consultant pool in region</a:t>
            </a:r>
            <a:endParaRPr lang="en-US" sz="1000" dirty="0">
              <a:latin typeface="IBM Plex Sans" panose="020B0503050203000203" pitchFamily="34" charset="77"/>
            </a:endParaRPr>
          </a:p>
          <a:p>
            <a:pPr marL="0" indent="0" algn="l"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Proprietary iTAM accelerator for Time &amp; Attendance</a:t>
            </a:r>
            <a:endParaRPr lang="en-US" sz="1000" dirty="0">
              <a:latin typeface="IBM Plex Sans" panose="020B0503050203000203" pitchFamily="34" charset="77"/>
            </a:endParaRPr>
          </a:p>
          <a:p>
            <a:pPr marL="0" indent="0" algn="l">
              <a:spcAft>
                <a:spcPts val="800"/>
              </a:spcAft>
              <a:buNone/>
            </a:pPr>
            <a:r>
              <a:rPr lang="en-US" sz="1000" dirty="0" err="1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EBSx</a:t>
            </a:r>
            <a:r>
              <a:rPr lang="en-US" sz="100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 rapid-deployment kit with leading practices</a:t>
            </a:r>
            <a:endParaRPr lang="en-US" sz="1000" dirty="0">
              <a:latin typeface="IBM Plex Sans" panose="020B0503050203000203" pitchFamily="34" charset="77"/>
            </a:endParaRPr>
          </a:p>
          <a:p>
            <a:pPr marL="0" indent="0" algn="l"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Joule-for-HR enablement playbook</a:t>
            </a:r>
            <a:endParaRPr lang="en-US" sz="1000" dirty="0">
              <a:latin typeface="IBM Plex Sans" panose="020B0503050203000203" pitchFamily="34" charset="77"/>
            </a:endParaRPr>
          </a:p>
          <a:p>
            <a:pPr marL="0" indent="0" algn="l"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100% success rate on HR transformation projects</a:t>
            </a:r>
            <a:endParaRPr lang="en-US" sz="1000" dirty="0">
              <a:latin typeface="IBM Plex Sans" panose="020B050305020300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143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CD89BE-7180-1491-840C-F8BCA58F7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B964D5FD-600E-9484-1903-C8FB1EB7723E}"/>
              </a:ext>
            </a:extLst>
          </p:cNvPr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 •  SUCCESSFACTORS  •  AI DIAGNOSTIC EXTENSION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73A3751-EFFE-9655-E461-BA036BAF19B2}"/>
              </a:ext>
            </a:extLst>
          </p:cNvPr>
          <p:cNvSpPr/>
          <p:nvPr/>
        </p:nvSpPr>
        <p:spPr>
          <a:xfrm>
            <a:off x="458081" y="1011133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AI-powered SuccessFactors diagnostic — </a:t>
            </a:r>
            <a:endParaRPr lang="en-US" sz="2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6445262-44E0-220C-4E63-D27D164555B6}"/>
              </a:ext>
            </a:extLst>
          </p:cNvPr>
          <p:cNvSpPr/>
          <p:nvPr/>
        </p:nvSpPr>
        <p:spPr>
          <a:xfrm>
            <a:off x="458080" y="1386037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3F75A3"/>
                </a:solidFill>
                <a:latin typeface="Newsreader" pitchFamily="34" charset="0"/>
              </a:rPr>
              <a:t>an extension to our SuccessFactors practice.</a:t>
            </a:r>
            <a:endParaRPr lang="en-US" sz="2800" dirty="0"/>
          </a:p>
        </p:txBody>
      </p:sp>
      <p:sp>
        <p:nvSpPr>
          <p:cNvPr id="68" name="Text 57">
            <a:extLst>
              <a:ext uri="{FF2B5EF4-FFF2-40B4-BE49-F238E27FC236}">
                <a16:creationId xmlns:a16="http://schemas.microsoft.com/office/drawing/2014/main" id="{3D77D2B8-6000-983F-F645-0881470A9613}"/>
              </a:ext>
            </a:extLst>
          </p:cNvPr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69" name="Text 58">
            <a:extLst>
              <a:ext uri="{FF2B5EF4-FFF2-40B4-BE49-F238E27FC236}">
                <a16:creationId xmlns:a16="http://schemas.microsoft.com/office/drawing/2014/main" id="{A0EE59DB-0718-6298-BF37-313668EF3BEB}"/>
              </a:ext>
            </a:extLst>
          </p:cNvPr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</a:t>
            </a:r>
            <a:endParaRPr lang="en-US" sz="900" dirty="0"/>
          </a:p>
        </p:txBody>
      </p:sp>
      <p:sp>
        <p:nvSpPr>
          <p:cNvPr id="70" name="Rectangle 6">
            <a:extLst>
              <a:ext uri="{FF2B5EF4-FFF2-40B4-BE49-F238E27FC236}">
                <a16:creationId xmlns:a16="http://schemas.microsoft.com/office/drawing/2014/main" id="{9C381A5C-29EC-9419-E729-7E166C3F36DF}"/>
              </a:ext>
            </a:extLst>
          </p:cNvPr>
          <p:cNvSpPr>
            <a:spLocks noChangeAspect="1"/>
          </p:cNvSpPr>
          <p:nvPr/>
        </p:nvSpPr>
        <p:spPr>
          <a:xfrm>
            <a:off x="11162371" y="145576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 6">
            <a:extLst>
              <a:ext uri="{FF2B5EF4-FFF2-40B4-BE49-F238E27FC236}">
                <a16:creationId xmlns:a16="http://schemas.microsoft.com/office/drawing/2014/main" id="{93043ED3-BA27-7C27-2206-39AFBF7285D7}"/>
              </a:ext>
            </a:extLst>
          </p:cNvPr>
          <p:cNvSpPr>
            <a:spLocks noChangeAspect="1"/>
          </p:cNvSpPr>
          <p:nvPr/>
        </p:nvSpPr>
        <p:spPr>
          <a:xfrm>
            <a:off x="10924478" y="398337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Shape 37">
            <a:extLst>
              <a:ext uri="{FF2B5EF4-FFF2-40B4-BE49-F238E27FC236}">
                <a16:creationId xmlns:a16="http://schemas.microsoft.com/office/drawing/2014/main" id="{1EE3E268-B06D-06BD-47CA-61F77DB2EDBE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4B8CEEA9-6145-6FF9-B1D6-209420731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sp>
        <p:nvSpPr>
          <p:cNvPr id="2" name="Shape 7">
            <a:extLst>
              <a:ext uri="{FF2B5EF4-FFF2-40B4-BE49-F238E27FC236}">
                <a16:creationId xmlns:a16="http://schemas.microsoft.com/office/drawing/2014/main" id="{E25E3AF6-6E30-26DC-4D53-129A014B92F5}"/>
              </a:ext>
            </a:extLst>
          </p:cNvPr>
          <p:cNvSpPr/>
          <p:nvPr/>
        </p:nvSpPr>
        <p:spPr>
          <a:xfrm>
            <a:off x="501057" y="2042247"/>
            <a:ext cx="2944368" cy="2468880"/>
          </a:xfrm>
          <a:prstGeom prst="rect">
            <a:avLst/>
          </a:prstGeom>
          <a:solidFill>
            <a:srgbClr val="121E3B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3" name="Shape 8">
            <a:extLst>
              <a:ext uri="{FF2B5EF4-FFF2-40B4-BE49-F238E27FC236}">
                <a16:creationId xmlns:a16="http://schemas.microsoft.com/office/drawing/2014/main" id="{AD2E7091-1358-ED7C-E55F-D195B849C2BE}"/>
              </a:ext>
            </a:extLst>
          </p:cNvPr>
          <p:cNvSpPr/>
          <p:nvPr/>
        </p:nvSpPr>
        <p:spPr>
          <a:xfrm>
            <a:off x="501057" y="2042247"/>
            <a:ext cx="2944368" cy="45720"/>
          </a:xfrm>
          <a:prstGeom prst="rect">
            <a:avLst/>
          </a:prstGeom>
          <a:solidFill>
            <a:srgbClr val="C1BC9C"/>
          </a:solidFill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6" name="Text 10">
            <a:extLst>
              <a:ext uri="{FF2B5EF4-FFF2-40B4-BE49-F238E27FC236}">
                <a16:creationId xmlns:a16="http://schemas.microsoft.com/office/drawing/2014/main" id="{233B412D-FCC2-704E-EED4-DEBCDE7F9F4C}"/>
              </a:ext>
            </a:extLst>
          </p:cNvPr>
          <p:cNvSpPr/>
          <p:nvPr/>
        </p:nvSpPr>
        <p:spPr>
          <a:xfrm>
            <a:off x="713232" y="2250078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AI-Powered Diagnostic</a:t>
            </a:r>
            <a:endParaRPr lang="en-US" sz="1400" dirty="0">
              <a:solidFill>
                <a:srgbClr val="FFFFFF"/>
              </a:solidFill>
              <a:latin typeface="IBM Plex Sans" panose="020B0503050203000203" pitchFamily="34" charset="77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00466025-F883-A87C-92AF-18200C699474}"/>
              </a:ext>
            </a:extLst>
          </p:cNvPr>
          <p:cNvSpPr/>
          <p:nvPr/>
        </p:nvSpPr>
        <p:spPr>
          <a:xfrm>
            <a:off x="713232" y="2551830"/>
            <a:ext cx="1938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B8D0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ML on your tenant, not opinions on a spreadsheet.</a:t>
            </a:r>
            <a:endParaRPr lang="en-US" sz="1000" dirty="0">
              <a:solidFill>
                <a:srgbClr val="94B8D0"/>
              </a:solidFill>
              <a:latin typeface="IBM Plex Sans" panose="020B0503050203000203" pitchFamily="34" charset="77"/>
            </a:endParaRPr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4DB2220D-AE72-5CB3-A57E-9F1E331CB774}"/>
              </a:ext>
            </a:extLst>
          </p:cNvPr>
          <p:cNvSpPr/>
          <p:nvPr/>
        </p:nvSpPr>
        <p:spPr>
          <a:xfrm>
            <a:off x="683937" y="3002367"/>
            <a:ext cx="2578608" cy="0"/>
          </a:xfrm>
          <a:prstGeom prst="line">
            <a:avLst/>
          </a:prstGeom>
          <a:noFill/>
          <a:ln w="635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5679F7C5-7332-DE29-9E02-3933DFE32FAF}"/>
              </a:ext>
            </a:extLst>
          </p:cNvPr>
          <p:cNvSpPr/>
          <p:nvPr/>
        </p:nvSpPr>
        <p:spPr>
          <a:xfrm>
            <a:off x="683937" y="3093807"/>
            <a:ext cx="2578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ML audit of configuration, RBP and business rules</a:t>
            </a:r>
            <a:endParaRPr lang="en-US" sz="1050" dirty="0">
              <a:solidFill>
                <a:srgbClr val="FFFFFF"/>
              </a:solidFill>
              <a:latin typeface="IBM Plex Sans" panose="020B0503050203000203" pitchFamily="34" charset="77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Anomaly detection across usage and audit logs</a:t>
            </a:r>
            <a:endParaRPr lang="en-US" sz="1050" dirty="0">
              <a:solidFill>
                <a:srgbClr val="FFFFFF"/>
              </a:solidFill>
              <a:latin typeface="IBM Plex Sans" panose="020B0503050203000203" pitchFamily="34" charset="77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Joule &amp; Talent Intelligence readiness scoring</a:t>
            </a:r>
            <a:endParaRPr lang="en-US" sz="1050" dirty="0">
              <a:solidFill>
                <a:srgbClr val="FFFFFF"/>
              </a:solidFill>
              <a:latin typeface="IBM Plex Sans" panose="020B0503050203000203" pitchFamily="34" charset="77"/>
            </a:endParaRP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0DAF885C-F056-06E9-8370-B76A8AA85F89}"/>
              </a:ext>
            </a:extLst>
          </p:cNvPr>
          <p:cNvSpPr/>
          <p:nvPr/>
        </p:nvSpPr>
        <p:spPr>
          <a:xfrm>
            <a:off x="3536865" y="2042247"/>
            <a:ext cx="2944368" cy="2468880"/>
          </a:xfrm>
          <a:prstGeom prst="rect">
            <a:avLst/>
          </a:prstGeom>
          <a:solidFill>
            <a:srgbClr val="121E3B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>
              <a:solidFill>
                <a:srgbClr val="94B8D0"/>
              </a:solidFill>
              <a:latin typeface="IBM Plex Sans" panose="020B0503050203000203" pitchFamily="34" charset="77"/>
            </a:endParaRPr>
          </a:p>
        </p:txBody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057F6673-EBC1-BC65-BA1C-62A9131C7C76}"/>
              </a:ext>
            </a:extLst>
          </p:cNvPr>
          <p:cNvSpPr/>
          <p:nvPr/>
        </p:nvSpPr>
        <p:spPr>
          <a:xfrm>
            <a:off x="3536865" y="2042247"/>
            <a:ext cx="2944368" cy="45720"/>
          </a:xfrm>
          <a:prstGeom prst="rect">
            <a:avLst/>
          </a:prstGeom>
          <a:solidFill>
            <a:srgbClr val="C1BC9C"/>
          </a:solidFill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35A93376-5EBF-D7D6-1BE7-6980F0FC5224}"/>
              </a:ext>
            </a:extLst>
          </p:cNvPr>
          <p:cNvSpPr/>
          <p:nvPr/>
        </p:nvSpPr>
        <p:spPr>
          <a:xfrm>
            <a:off x="3749040" y="2250078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Industry Best-Practice Benchmark</a:t>
            </a:r>
            <a:endParaRPr lang="en-US" sz="1400" dirty="0">
              <a:solidFill>
                <a:srgbClr val="FFFFFF"/>
              </a:solidFill>
              <a:latin typeface="IBM Plex Sans" panose="020B0503050203000203" pitchFamily="34" charset="77"/>
            </a:endParaRPr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539AF0DE-25C3-1E47-B422-7C306CBD5E36}"/>
              </a:ext>
            </a:extLst>
          </p:cNvPr>
          <p:cNvSpPr/>
          <p:nvPr/>
        </p:nvSpPr>
        <p:spPr>
          <a:xfrm>
            <a:off x="3749040" y="2551830"/>
            <a:ext cx="1938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B8D0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200+ peers across 12 industries.</a:t>
            </a:r>
            <a:endParaRPr lang="en-US" sz="1000" dirty="0">
              <a:solidFill>
                <a:srgbClr val="94B8D0"/>
              </a:solidFill>
              <a:latin typeface="IBM Plex Sans" panose="020B0503050203000203" pitchFamily="34" charset="77"/>
            </a:endParaRP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0383DC0E-6685-3DF7-CF7D-BFF4D9A16148}"/>
              </a:ext>
            </a:extLst>
          </p:cNvPr>
          <p:cNvSpPr/>
          <p:nvPr/>
        </p:nvSpPr>
        <p:spPr>
          <a:xfrm>
            <a:off x="3719745" y="3002367"/>
            <a:ext cx="2578608" cy="0"/>
          </a:xfrm>
          <a:prstGeom prst="line">
            <a:avLst/>
          </a:prstGeom>
          <a:noFill/>
          <a:ln w="635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2F03D12E-1776-B9BF-F448-46786F9C04D7}"/>
              </a:ext>
            </a:extLst>
          </p:cNvPr>
          <p:cNvSpPr/>
          <p:nvPr/>
        </p:nvSpPr>
        <p:spPr>
          <a:xfrm>
            <a:off x="3719745" y="3093807"/>
            <a:ext cx="2578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Process maturity vs sector top-quartile</a:t>
            </a:r>
            <a:endParaRPr lang="en-US" sz="1050" dirty="0">
              <a:solidFill>
                <a:srgbClr val="FFFFFF"/>
              </a:solidFill>
              <a:latin typeface="IBM Plex Sans" panose="020B0503050203000203" pitchFamily="34" charset="77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Adoption, NPS and time-to-value benchmarks</a:t>
            </a:r>
            <a:endParaRPr lang="en-US" sz="1050" dirty="0">
              <a:solidFill>
                <a:srgbClr val="FFFFFF"/>
              </a:solidFill>
              <a:latin typeface="IBM Plex Sans" panose="020B0503050203000203" pitchFamily="34" charset="77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Customization-to-standard ratio vs peers</a:t>
            </a:r>
            <a:endParaRPr lang="en-US" sz="1050" dirty="0">
              <a:solidFill>
                <a:srgbClr val="FFFFFF"/>
              </a:solidFill>
              <a:latin typeface="IBM Plex Sans" panose="020B0503050203000203" pitchFamily="34" charset="77"/>
            </a:endParaRP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F0AD2071-ECF1-5677-7AD1-B498D0837513}"/>
              </a:ext>
            </a:extLst>
          </p:cNvPr>
          <p:cNvSpPr/>
          <p:nvPr/>
        </p:nvSpPr>
        <p:spPr>
          <a:xfrm>
            <a:off x="6572673" y="2042247"/>
            <a:ext cx="2944368" cy="2468880"/>
          </a:xfrm>
          <a:prstGeom prst="rect">
            <a:avLst/>
          </a:prstGeom>
          <a:solidFill>
            <a:srgbClr val="121E3B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0BBA8D3D-A487-F8BD-117B-CC35B5125589}"/>
              </a:ext>
            </a:extLst>
          </p:cNvPr>
          <p:cNvSpPr/>
          <p:nvPr/>
        </p:nvSpPr>
        <p:spPr>
          <a:xfrm>
            <a:off x="6572673" y="2042247"/>
            <a:ext cx="2944368" cy="45720"/>
          </a:xfrm>
          <a:prstGeom prst="rect">
            <a:avLst/>
          </a:prstGeom>
          <a:solidFill>
            <a:srgbClr val="C1BC9C"/>
          </a:solidFill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27250C97-94FD-A6A2-F595-4323BC81DACA}"/>
              </a:ext>
            </a:extLst>
          </p:cNvPr>
          <p:cNvSpPr/>
          <p:nvPr/>
        </p:nvSpPr>
        <p:spPr>
          <a:xfrm>
            <a:off x="6784848" y="2250078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Outcome-Driven Roadmap</a:t>
            </a:r>
            <a:endParaRPr lang="en-US" sz="1400" dirty="0">
              <a:solidFill>
                <a:srgbClr val="FFFFFF"/>
              </a:solidFill>
              <a:latin typeface="IBM Plex Sans" panose="020B0503050203000203" pitchFamily="34" charset="77"/>
            </a:endParaRPr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5D3DCFA0-CB81-3969-C0F3-5A37835F144E}"/>
              </a:ext>
            </a:extLst>
          </p:cNvPr>
          <p:cNvSpPr/>
          <p:nvPr/>
        </p:nvSpPr>
        <p:spPr>
          <a:xfrm>
            <a:off x="6784848" y="2551830"/>
            <a:ext cx="1938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B8D0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Quantified value, not a 60-slide deck.</a:t>
            </a:r>
            <a:endParaRPr lang="en-US" sz="1000" dirty="0">
              <a:solidFill>
                <a:srgbClr val="94B8D0"/>
              </a:solidFill>
              <a:latin typeface="IBM Plex Sans" panose="020B0503050203000203" pitchFamily="34" charset="77"/>
            </a:endParaRPr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EB8E1301-1CAC-8AFB-26FC-088CACF153D9}"/>
              </a:ext>
            </a:extLst>
          </p:cNvPr>
          <p:cNvSpPr/>
          <p:nvPr/>
        </p:nvSpPr>
        <p:spPr>
          <a:xfrm>
            <a:off x="6755553" y="3002367"/>
            <a:ext cx="2578608" cy="0"/>
          </a:xfrm>
          <a:prstGeom prst="line">
            <a:avLst/>
          </a:prstGeom>
          <a:noFill/>
          <a:ln w="635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C6762FD2-5166-D7FD-EA57-BF0585044A27}"/>
              </a:ext>
            </a:extLst>
          </p:cNvPr>
          <p:cNvSpPr/>
          <p:nvPr/>
        </p:nvSpPr>
        <p:spPr>
          <a:xfrm>
            <a:off x="6755553" y="3093807"/>
            <a:ext cx="2578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Prioritized backlog with $ / FTE / hours saved</a:t>
            </a:r>
            <a:endParaRPr lang="en-US" sz="1050" dirty="0">
              <a:solidFill>
                <a:srgbClr val="FFFFFF"/>
              </a:solidFill>
              <a:latin typeface="IBM Plex Sans" panose="020B0503050203000203" pitchFamily="34" charset="77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Joule, GenAI and clean-core activation plan</a:t>
            </a:r>
            <a:endParaRPr lang="en-US" sz="1050" dirty="0">
              <a:solidFill>
                <a:srgbClr val="FFFFFF"/>
              </a:solidFill>
              <a:latin typeface="IBM Plex Sans" panose="020B0503050203000203" pitchFamily="34" charset="77"/>
            </a:endParaRPr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Executive-ready impact scorecard</a:t>
            </a:r>
            <a:endParaRPr lang="en-US" sz="1050" dirty="0">
              <a:solidFill>
                <a:srgbClr val="FFFFFF"/>
              </a:solidFill>
              <a:latin typeface="IBM Plex Sans" panose="020B0503050203000203" pitchFamily="34" charset="77"/>
            </a:endParaRPr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50F2597B-B306-333D-C99A-F7FD1FB3EF29}"/>
              </a:ext>
            </a:extLst>
          </p:cNvPr>
          <p:cNvSpPr/>
          <p:nvPr/>
        </p:nvSpPr>
        <p:spPr>
          <a:xfrm>
            <a:off x="502920" y="45207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3F74A2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MEASURABLE OUTCOMES</a:t>
            </a:r>
            <a:endParaRPr lang="en-US" sz="1200" dirty="0">
              <a:solidFill>
                <a:srgbClr val="3F74A2"/>
              </a:solidFill>
              <a:latin typeface="IBM Plex Sans" panose="020B0503050203000203" pitchFamily="34" charset="77"/>
            </a:endParaRPr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0C953B16-C5A0-863D-8243-C6DF98FC0E41}"/>
              </a:ext>
            </a:extLst>
          </p:cNvPr>
          <p:cNvSpPr/>
          <p:nvPr/>
        </p:nvSpPr>
        <p:spPr>
          <a:xfrm>
            <a:off x="502920" y="4752005"/>
            <a:ext cx="9006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475569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Typical impact from an IN2IT Health Check engagement</a:t>
            </a:r>
            <a:endParaRPr lang="en-US" sz="1050" dirty="0">
              <a:latin typeface="IBM Plex Sans" panose="020B0503050203000203" pitchFamily="34" charset="77"/>
            </a:endParaRPr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A91FBDBD-FD80-9809-C01B-E00CD40B36C3}"/>
              </a:ext>
            </a:extLst>
          </p:cNvPr>
          <p:cNvSpPr/>
          <p:nvPr/>
        </p:nvSpPr>
        <p:spPr>
          <a:xfrm>
            <a:off x="502920" y="5099810"/>
            <a:ext cx="2148840" cy="133435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32" name="Shape 31">
            <a:extLst>
              <a:ext uri="{FF2B5EF4-FFF2-40B4-BE49-F238E27FC236}">
                <a16:creationId xmlns:a16="http://schemas.microsoft.com/office/drawing/2014/main" id="{F0145905-84E3-FE46-F6E4-1A199A3AD4B4}"/>
              </a:ext>
            </a:extLst>
          </p:cNvPr>
          <p:cNvSpPr/>
          <p:nvPr/>
        </p:nvSpPr>
        <p:spPr>
          <a:xfrm>
            <a:off x="502920" y="5046954"/>
            <a:ext cx="2148840" cy="45719"/>
          </a:xfrm>
          <a:prstGeom prst="rect">
            <a:avLst/>
          </a:prstGeom>
          <a:solidFill>
            <a:srgbClr val="C1BC9C"/>
          </a:solidFill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4FDFC406-C158-A419-FB09-96181B9AB5F6}"/>
              </a:ext>
            </a:extLst>
          </p:cNvPr>
          <p:cNvSpPr/>
          <p:nvPr/>
        </p:nvSpPr>
        <p:spPr>
          <a:xfrm>
            <a:off x="640080" y="50292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1F44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30–40%</a:t>
            </a:r>
            <a:endParaRPr lang="en-US" sz="3000" dirty="0">
              <a:latin typeface="IBM Plex Sans" panose="020B0503050203000203" pitchFamily="34" charset="77"/>
            </a:endParaRPr>
          </a:p>
        </p:txBody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540801F9-6320-8E9A-12A0-4D447F7E0AB4}"/>
              </a:ext>
            </a:extLst>
          </p:cNvPr>
          <p:cNvSpPr/>
          <p:nvPr/>
        </p:nvSpPr>
        <p:spPr>
          <a:xfrm>
            <a:off x="640080" y="564184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1F44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Reduction in customization debt</a:t>
            </a:r>
            <a:endParaRPr lang="en-US" sz="1100" dirty="0">
              <a:latin typeface="IBM Plex Sans" panose="020B0503050203000203" pitchFamily="34" charset="77"/>
            </a:endParaRPr>
          </a:p>
        </p:txBody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3D683E0C-7C43-1E66-191D-9FFA1FD054C1}"/>
              </a:ext>
            </a:extLst>
          </p:cNvPr>
          <p:cNvSpPr/>
          <p:nvPr/>
        </p:nvSpPr>
        <p:spPr>
          <a:xfrm>
            <a:off x="640080" y="597103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fields, business rules and RBP rationalised against SAP best practice</a:t>
            </a:r>
            <a:endParaRPr lang="en-US" sz="950" dirty="0"/>
          </a:p>
        </p:txBody>
      </p:sp>
      <p:sp>
        <p:nvSpPr>
          <p:cNvPr id="36" name="Shape 35">
            <a:extLst>
              <a:ext uri="{FF2B5EF4-FFF2-40B4-BE49-F238E27FC236}">
                <a16:creationId xmlns:a16="http://schemas.microsoft.com/office/drawing/2014/main" id="{BC16AA4F-D249-B67C-DAF4-749A2037C5E0}"/>
              </a:ext>
            </a:extLst>
          </p:cNvPr>
          <p:cNvSpPr/>
          <p:nvPr/>
        </p:nvSpPr>
        <p:spPr>
          <a:xfrm>
            <a:off x="2788920" y="5092673"/>
            <a:ext cx="2148840" cy="13414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37" name="Shape 36">
            <a:extLst>
              <a:ext uri="{FF2B5EF4-FFF2-40B4-BE49-F238E27FC236}">
                <a16:creationId xmlns:a16="http://schemas.microsoft.com/office/drawing/2014/main" id="{373280D4-34BE-7A17-352C-C1CFAFF0786C}"/>
              </a:ext>
            </a:extLst>
          </p:cNvPr>
          <p:cNvSpPr/>
          <p:nvPr/>
        </p:nvSpPr>
        <p:spPr>
          <a:xfrm>
            <a:off x="2788920" y="5045616"/>
            <a:ext cx="2148840" cy="45720"/>
          </a:xfrm>
          <a:prstGeom prst="rect">
            <a:avLst/>
          </a:prstGeom>
          <a:solidFill>
            <a:srgbClr val="C1BC9C"/>
          </a:solidFill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38" name="Text 37">
            <a:extLst>
              <a:ext uri="{FF2B5EF4-FFF2-40B4-BE49-F238E27FC236}">
                <a16:creationId xmlns:a16="http://schemas.microsoft.com/office/drawing/2014/main" id="{B33E313D-8795-3CF8-0142-D88E1F28DD75}"/>
              </a:ext>
            </a:extLst>
          </p:cNvPr>
          <p:cNvSpPr/>
          <p:nvPr/>
        </p:nvSpPr>
        <p:spPr>
          <a:xfrm>
            <a:off x="2926080" y="50292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1F44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25%</a:t>
            </a:r>
            <a:endParaRPr lang="en-US" sz="3000" dirty="0">
              <a:latin typeface="IBM Plex Sans" panose="020B0503050203000203" pitchFamily="34" charset="77"/>
            </a:endParaRPr>
          </a:p>
        </p:txBody>
      </p:sp>
      <p:sp>
        <p:nvSpPr>
          <p:cNvPr id="39" name="Text 38">
            <a:extLst>
              <a:ext uri="{FF2B5EF4-FFF2-40B4-BE49-F238E27FC236}">
                <a16:creationId xmlns:a16="http://schemas.microsoft.com/office/drawing/2014/main" id="{C54411E0-C9AB-023F-DBE7-9C76684B9F55}"/>
              </a:ext>
            </a:extLst>
          </p:cNvPr>
          <p:cNvSpPr/>
          <p:nvPr/>
        </p:nvSpPr>
        <p:spPr>
          <a:xfrm>
            <a:off x="2926080" y="564184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1F44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Lift in monthly active users</a:t>
            </a:r>
            <a:endParaRPr lang="en-US" sz="1100" dirty="0">
              <a:latin typeface="IBM Plex Sans" panose="020B0503050203000203" pitchFamily="34" charset="77"/>
            </a:endParaRPr>
          </a:p>
        </p:txBody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5A98A912-E2B5-DB99-DEA3-9175E02AD042}"/>
              </a:ext>
            </a:extLst>
          </p:cNvPr>
          <p:cNvSpPr/>
          <p:nvPr/>
        </p:nvSpPr>
        <p:spPr>
          <a:xfrm>
            <a:off x="2926080" y="597103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uplift from UX cleanup and Joule-enabled self-service</a:t>
            </a:r>
            <a:endParaRPr lang="en-US" sz="950" dirty="0"/>
          </a:p>
        </p:txBody>
      </p:sp>
      <p:sp>
        <p:nvSpPr>
          <p:cNvPr id="41" name="Shape 40">
            <a:extLst>
              <a:ext uri="{FF2B5EF4-FFF2-40B4-BE49-F238E27FC236}">
                <a16:creationId xmlns:a16="http://schemas.microsoft.com/office/drawing/2014/main" id="{1841C220-9A19-4BB9-2A4C-141A823A9015}"/>
              </a:ext>
            </a:extLst>
          </p:cNvPr>
          <p:cNvSpPr/>
          <p:nvPr/>
        </p:nvSpPr>
        <p:spPr>
          <a:xfrm>
            <a:off x="5074920" y="5091336"/>
            <a:ext cx="2148840" cy="134282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42" name="Shape 41">
            <a:extLst>
              <a:ext uri="{FF2B5EF4-FFF2-40B4-BE49-F238E27FC236}">
                <a16:creationId xmlns:a16="http://schemas.microsoft.com/office/drawing/2014/main" id="{DFE54413-7807-5E31-8AFF-3DBD0BFD7DAB}"/>
              </a:ext>
            </a:extLst>
          </p:cNvPr>
          <p:cNvSpPr/>
          <p:nvPr/>
        </p:nvSpPr>
        <p:spPr>
          <a:xfrm>
            <a:off x="5074920" y="5045616"/>
            <a:ext cx="2148840" cy="45720"/>
          </a:xfrm>
          <a:prstGeom prst="rect">
            <a:avLst/>
          </a:prstGeom>
          <a:solidFill>
            <a:srgbClr val="C1BC9C"/>
          </a:solidFill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43" name="Text 42">
            <a:extLst>
              <a:ext uri="{FF2B5EF4-FFF2-40B4-BE49-F238E27FC236}">
                <a16:creationId xmlns:a16="http://schemas.microsoft.com/office/drawing/2014/main" id="{BDA22F4E-777D-27EF-21D3-D39734014944}"/>
              </a:ext>
            </a:extLst>
          </p:cNvPr>
          <p:cNvSpPr/>
          <p:nvPr/>
        </p:nvSpPr>
        <p:spPr>
          <a:xfrm>
            <a:off x="5212080" y="50292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1F44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2×</a:t>
            </a:r>
            <a:endParaRPr lang="en-US" sz="3000" dirty="0">
              <a:latin typeface="IBM Plex Sans" panose="020B0503050203000203" pitchFamily="34" charset="77"/>
            </a:endParaRPr>
          </a:p>
        </p:txBody>
      </p:sp>
      <p:sp>
        <p:nvSpPr>
          <p:cNvPr id="44" name="Text 43">
            <a:extLst>
              <a:ext uri="{FF2B5EF4-FFF2-40B4-BE49-F238E27FC236}">
                <a16:creationId xmlns:a16="http://schemas.microsoft.com/office/drawing/2014/main" id="{FE1D247D-9795-C8A5-1958-D7CAAE2B3732}"/>
              </a:ext>
            </a:extLst>
          </p:cNvPr>
          <p:cNvSpPr/>
          <p:nvPr/>
        </p:nvSpPr>
        <p:spPr>
          <a:xfrm>
            <a:off x="5212080" y="564184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1F44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Faster Joule / AI activation</a:t>
            </a:r>
            <a:endParaRPr lang="en-US" sz="1100" dirty="0">
              <a:latin typeface="IBM Plex Sans" panose="020B0503050203000203" pitchFamily="34" charset="77"/>
            </a:endParaRPr>
          </a:p>
        </p:txBody>
      </p:sp>
      <p:sp>
        <p:nvSpPr>
          <p:cNvPr id="45" name="Text 44">
            <a:extLst>
              <a:ext uri="{FF2B5EF4-FFF2-40B4-BE49-F238E27FC236}">
                <a16:creationId xmlns:a16="http://schemas.microsoft.com/office/drawing/2014/main" id="{E83D1346-1ED5-FB8B-9E26-A1D326F14912}"/>
              </a:ext>
            </a:extLst>
          </p:cNvPr>
          <p:cNvSpPr/>
          <p:nvPr/>
        </p:nvSpPr>
        <p:spPr>
          <a:xfrm>
            <a:off x="5212080" y="597103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pre-checks compress time-to-value for GenAI scenarios</a:t>
            </a:r>
            <a:endParaRPr lang="en-US" sz="950" dirty="0"/>
          </a:p>
        </p:txBody>
      </p:sp>
      <p:sp>
        <p:nvSpPr>
          <p:cNvPr id="46" name="Shape 45">
            <a:extLst>
              <a:ext uri="{FF2B5EF4-FFF2-40B4-BE49-F238E27FC236}">
                <a16:creationId xmlns:a16="http://schemas.microsoft.com/office/drawing/2014/main" id="{7D587F85-9502-05A4-5D67-9F016627E41C}"/>
              </a:ext>
            </a:extLst>
          </p:cNvPr>
          <p:cNvSpPr/>
          <p:nvPr/>
        </p:nvSpPr>
        <p:spPr>
          <a:xfrm>
            <a:off x="7360920" y="5099810"/>
            <a:ext cx="2148840" cy="133435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47" name="Shape 46">
            <a:extLst>
              <a:ext uri="{FF2B5EF4-FFF2-40B4-BE49-F238E27FC236}">
                <a16:creationId xmlns:a16="http://schemas.microsoft.com/office/drawing/2014/main" id="{E75DB7FA-4F59-E983-1201-4F781E4385EC}"/>
              </a:ext>
            </a:extLst>
          </p:cNvPr>
          <p:cNvSpPr/>
          <p:nvPr/>
        </p:nvSpPr>
        <p:spPr>
          <a:xfrm>
            <a:off x="7360920" y="5045616"/>
            <a:ext cx="2148840" cy="45720"/>
          </a:xfrm>
          <a:prstGeom prst="rect">
            <a:avLst/>
          </a:prstGeom>
          <a:solidFill>
            <a:srgbClr val="C1BC9C"/>
          </a:solidFill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48" name="Text 47">
            <a:extLst>
              <a:ext uri="{FF2B5EF4-FFF2-40B4-BE49-F238E27FC236}">
                <a16:creationId xmlns:a16="http://schemas.microsoft.com/office/drawing/2014/main" id="{D9DDEDD6-3621-FC41-F779-F2EE301EE15F}"/>
              </a:ext>
            </a:extLst>
          </p:cNvPr>
          <p:cNvSpPr/>
          <p:nvPr/>
        </p:nvSpPr>
        <p:spPr>
          <a:xfrm>
            <a:off x="7498080" y="50292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1F44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4–6 wk</a:t>
            </a:r>
            <a:endParaRPr lang="en-US" sz="3000" dirty="0">
              <a:latin typeface="IBM Plex Sans" panose="020B0503050203000203" pitchFamily="34" charset="77"/>
            </a:endParaRPr>
          </a:p>
        </p:txBody>
      </p:sp>
      <p:sp>
        <p:nvSpPr>
          <p:cNvPr id="49" name="Text 48">
            <a:extLst>
              <a:ext uri="{FF2B5EF4-FFF2-40B4-BE49-F238E27FC236}">
                <a16:creationId xmlns:a16="http://schemas.microsoft.com/office/drawing/2014/main" id="{4DDE70C9-7296-A866-9B5E-7FE7866602A7}"/>
              </a:ext>
            </a:extLst>
          </p:cNvPr>
          <p:cNvSpPr/>
          <p:nvPr/>
        </p:nvSpPr>
        <p:spPr>
          <a:xfrm>
            <a:off x="7498080" y="564184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1F44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Typical engagement duration</a:t>
            </a:r>
            <a:endParaRPr lang="en-US" sz="1100" dirty="0">
              <a:latin typeface="IBM Plex Sans" panose="020B0503050203000203" pitchFamily="34" charset="77"/>
            </a:endParaRPr>
          </a:p>
        </p:txBody>
      </p:sp>
      <p:sp>
        <p:nvSpPr>
          <p:cNvPr id="50" name="Text 49">
            <a:extLst>
              <a:ext uri="{FF2B5EF4-FFF2-40B4-BE49-F238E27FC236}">
                <a16:creationId xmlns:a16="http://schemas.microsoft.com/office/drawing/2014/main" id="{75FB4B7D-9BEA-262C-7727-A4CB2C621860}"/>
              </a:ext>
            </a:extLst>
          </p:cNvPr>
          <p:cNvSpPr/>
          <p:nvPr/>
        </p:nvSpPr>
        <p:spPr>
          <a:xfrm>
            <a:off x="7498080" y="597103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AI-driven analysis, benchmarking and executive readout</a:t>
            </a:r>
            <a:endParaRPr lang="en-US" sz="950" dirty="0"/>
          </a:p>
        </p:txBody>
      </p:sp>
      <p:sp>
        <p:nvSpPr>
          <p:cNvPr id="51" name="Shape 50">
            <a:extLst>
              <a:ext uri="{FF2B5EF4-FFF2-40B4-BE49-F238E27FC236}">
                <a16:creationId xmlns:a16="http://schemas.microsoft.com/office/drawing/2014/main" id="{1B576A95-3537-60D8-ECF6-C8C283CF4975}"/>
              </a:ext>
            </a:extLst>
          </p:cNvPr>
          <p:cNvSpPr/>
          <p:nvPr/>
        </p:nvSpPr>
        <p:spPr>
          <a:xfrm>
            <a:off x="9555480" y="2087967"/>
            <a:ext cx="2286000" cy="4346196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2" name="Shape 51">
            <a:extLst>
              <a:ext uri="{FF2B5EF4-FFF2-40B4-BE49-F238E27FC236}">
                <a16:creationId xmlns:a16="http://schemas.microsoft.com/office/drawing/2014/main" id="{5FA502FB-EF09-94DE-A4AD-6E9735D3C6D9}"/>
              </a:ext>
            </a:extLst>
          </p:cNvPr>
          <p:cNvSpPr/>
          <p:nvPr/>
        </p:nvSpPr>
        <p:spPr>
          <a:xfrm>
            <a:off x="9557542" y="2019388"/>
            <a:ext cx="2286000" cy="64008"/>
          </a:xfrm>
          <a:prstGeom prst="rect">
            <a:avLst/>
          </a:prstGeom>
          <a:solidFill>
            <a:srgbClr val="C1BC9C"/>
          </a:solidFill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3" name="Text 52">
            <a:extLst>
              <a:ext uri="{FF2B5EF4-FFF2-40B4-BE49-F238E27FC236}">
                <a16:creationId xmlns:a16="http://schemas.microsoft.com/office/drawing/2014/main" id="{C6936868-E089-1A18-AA0F-290DA9F27CA8}"/>
              </a:ext>
            </a:extLst>
          </p:cNvPr>
          <p:cNvSpPr/>
          <p:nvPr/>
        </p:nvSpPr>
        <p:spPr>
          <a:xfrm>
            <a:off x="9723695" y="2128470"/>
            <a:ext cx="1920240" cy="302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HIGHLIGHTS</a:t>
            </a:r>
            <a:endParaRPr lang="en-US" sz="1300" dirty="0">
              <a:latin typeface="IBM Plex Sans" panose="020B0503050203000203" pitchFamily="34" charset="77"/>
            </a:endParaRPr>
          </a:p>
        </p:txBody>
      </p:sp>
      <p:sp>
        <p:nvSpPr>
          <p:cNvPr id="54" name="Shape 53">
            <a:extLst>
              <a:ext uri="{FF2B5EF4-FFF2-40B4-BE49-F238E27FC236}">
                <a16:creationId xmlns:a16="http://schemas.microsoft.com/office/drawing/2014/main" id="{BC338AB0-41A4-C6D6-F1EA-F8D08EC418C1}"/>
              </a:ext>
            </a:extLst>
          </p:cNvPr>
          <p:cNvSpPr/>
          <p:nvPr/>
        </p:nvSpPr>
        <p:spPr>
          <a:xfrm>
            <a:off x="9723695" y="2495350"/>
            <a:ext cx="411480" cy="0"/>
          </a:xfrm>
          <a:prstGeom prst="line">
            <a:avLst/>
          </a:prstGeom>
          <a:noFill/>
          <a:ln w="254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55" name="Text 54">
            <a:extLst>
              <a:ext uri="{FF2B5EF4-FFF2-40B4-BE49-F238E27FC236}">
                <a16:creationId xmlns:a16="http://schemas.microsoft.com/office/drawing/2014/main" id="{10789BCC-8376-D3F5-F371-1CC2994BCC39}"/>
              </a:ext>
            </a:extLst>
          </p:cNvPr>
          <p:cNvSpPr/>
          <p:nvPr/>
        </p:nvSpPr>
        <p:spPr>
          <a:xfrm>
            <a:off x="9738360" y="2704786"/>
            <a:ext cx="1920240" cy="3677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Proprietary Health Check 360 framework with AI accelerator</a:t>
            </a:r>
            <a:endParaRPr lang="en-US" sz="1000" dirty="0">
              <a:latin typeface="IBM Plex Sans" panose="020B0503050203000203" pitchFamily="34" charset="77"/>
            </a:endParaRPr>
          </a:p>
          <a:p>
            <a:pPr marL="0" indent="0" algn="l"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ML-driven configuration &amp; adoption analytics</a:t>
            </a:r>
            <a:endParaRPr lang="en-US" sz="1000" dirty="0">
              <a:latin typeface="IBM Plex Sans" panose="020B0503050203000203" pitchFamily="34" charset="77"/>
            </a:endParaRPr>
          </a:p>
          <a:p>
            <a:pPr marL="0" indent="0" algn="l"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Industry benchmark dataset — 200+ companies, 12 sectors</a:t>
            </a:r>
            <a:endParaRPr lang="en-US" sz="1000" dirty="0">
              <a:latin typeface="IBM Plex Sans" panose="020B0503050203000203" pitchFamily="34" charset="77"/>
            </a:endParaRPr>
          </a:p>
          <a:p>
            <a:pPr marL="0" indent="0" algn="l"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Joule and Talent Intelligence readiness scorecard</a:t>
            </a:r>
            <a:endParaRPr lang="en-US" sz="1000" dirty="0">
              <a:latin typeface="IBM Plex Sans" panose="020B0503050203000203" pitchFamily="34" charset="77"/>
            </a:endParaRPr>
          </a:p>
          <a:p>
            <a:pPr marL="0" indent="0" algn="l"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Senior SuccessFactors architects in every engagement</a:t>
            </a:r>
            <a:endParaRPr lang="en-US" sz="1000" dirty="0">
              <a:latin typeface="IBM Plex Sans" panose="020B0503050203000203" pitchFamily="34" charset="77"/>
            </a:endParaRPr>
          </a:p>
          <a:p>
            <a:pPr marL="0" indent="0" algn="l"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Executive-ready output with quantified $ / FTE impact</a:t>
            </a:r>
            <a:endParaRPr lang="en-US" sz="1000" dirty="0">
              <a:latin typeface="IBM Plex Sans" panose="020B0503050203000203" pitchFamily="34" charset="77"/>
            </a:endParaRPr>
          </a:p>
          <a:p>
            <a:pPr marL="0" indent="0" algn="l"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Optional remediation roadmap &amp; AMS handover</a:t>
            </a:r>
            <a:endParaRPr lang="en-US" sz="1000" dirty="0">
              <a:latin typeface="IBM Plex Sans" panose="020B050305020300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2356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ED19EC-FC6E-9EB7-9DAD-49E7CC9EE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D0402945-1BE0-F9D6-EC64-F864104E4347}"/>
              </a:ext>
            </a:extLst>
          </p:cNvPr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 ·  CONCUR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BC7DC58-A347-C10D-E9F2-A5222A988A31}"/>
              </a:ext>
            </a:extLst>
          </p:cNvPr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End-to-end Concur,</a:t>
            </a:r>
            <a:endParaRPr lang="en-US" sz="2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6231C0C-EF2A-D42F-073A-75D31BDEC5F9}"/>
              </a:ext>
            </a:extLst>
          </p:cNvPr>
          <p:cNvSpPr/>
          <p:nvPr/>
        </p:nvSpPr>
        <p:spPr>
          <a:xfrm>
            <a:off x="502920" y="1495044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3F75A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with the integrations to match.</a:t>
            </a:r>
            <a:endParaRPr lang="en-US" sz="2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D45C31D-5FFD-E3AB-B614-BD8B9F85F7A7}"/>
              </a:ext>
            </a:extLst>
          </p:cNvPr>
          <p:cNvSpPr/>
          <p:nvPr/>
        </p:nvSpPr>
        <p:spPr>
          <a:xfrm>
            <a:off x="502920" y="1922723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Concur pillars — Expense, Travel, Invoice — implemented and integrated with leading ERPs, CRMs and finance platforms.</a:t>
            </a:r>
            <a:endParaRPr lang="en-US" sz="130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FC71EC95-8514-E493-345D-37F8F10FCCB7}"/>
              </a:ext>
            </a:extLst>
          </p:cNvPr>
          <p:cNvSpPr/>
          <p:nvPr/>
        </p:nvSpPr>
        <p:spPr>
          <a:xfrm>
            <a:off x="503072" y="4478078"/>
            <a:ext cx="11185855" cy="77724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D54484C7-31F3-01C7-2D01-DA9FD9688410}"/>
              </a:ext>
            </a:extLst>
          </p:cNvPr>
          <p:cNvSpPr/>
          <p:nvPr/>
        </p:nvSpPr>
        <p:spPr>
          <a:xfrm>
            <a:off x="777392" y="452379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INTEGRATED WITH</a:t>
            </a:r>
            <a:endParaRPr lang="en-US" sz="1000" dirty="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1F4AFA7A-DD42-725E-079A-467A5A851BE6}"/>
              </a:ext>
            </a:extLst>
          </p:cNvPr>
          <p:cNvSpPr/>
          <p:nvPr/>
        </p:nvSpPr>
        <p:spPr>
          <a:xfrm>
            <a:off x="777392" y="4798118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ERP/Finance: SAP S/4HANA • Oracle EBS • Microsoft Dynamics 365 • NetSuite • Intacct • QuickBooks   |   HR/Workforce: SuccessFactors • Workday • Oracle HCM   |   Travel/Card: Identity providers • Corporate card feeds</a:t>
            </a:r>
            <a:endParaRPr lang="en-US" sz="1300" dirty="0"/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18FB2693-229E-A64B-50C9-AE39A8C1C84D}"/>
              </a:ext>
            </a:extLst>
          </p:cNvPr>
          <p:cNvSpPr/>
          <p:nvPr/>
        </p:nvSpPr>
        <p:spPr>
          <a:xfrm>
            <a:off x="503072" y="5561709"/>
            <a:ext cx="11185855" cy="502920"/>
          </a:xfrm>
          <a:prstGeom prst="rect">
            <a:avLst/>
          </a:prstGeom>
          <a:solidFill>
            <a:srgbClr val="C1BC9C"/>
          </a:solidFill>
          <a:ln w="6350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4F7BF837-B0D8-404E-44CF-2CD83FA48978}"/>
              </a:ext>
            </a:extLst>
          </p:cNvPr>
          <p:cNvSpPr/>
          <p:nvPr/>
        </p:nvSpPr>
        <p:spPr>
          <a:xfrm>
            <a:off x="1417472" y="5561709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25+  </a:t>
            </a: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Concur implementations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29057923-2247-6AF2-FCA8-F18CCEDD0ACE}"/>
              </a:ext>
            </a:extLst>
          </p:cNvPr>
          <p:cNvSpPr/>
          <p:nvPr/>
        </p:nvSpPr>
        <p:spPr>
          <a:xfrm>
            <a:off x="4841290" y="5561709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12wk  </a:t>
            </a: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average go-live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6AF3163C-C574-375D-291E-277C13A92BED}"/>
              </a:ext>
            </a:extLst>
          </p:cNvPr>
          <p:cNvSpPr/>
          <p:nvPr/>
        </p:nvSpPr>
        <p:spPr>
          <a:xfrm>
            <a:off x="8265109" y="5561709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 </a:t>
            </a: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country tax configs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36" name="Text 31">
            <a:extLst>
              <a:ext uri="{FF2B5EF4-FFF2-40B4-BE49-F238E27FC236}">
                <a16:creationId xmlns:a16="http://schemas.microsoft.com/office/drawing/2014/main" id="{A6500CB5-275A-9003-E29A-B2365AD9E654}"/>
              </a:ext>
            </a:extLst>
          </p:cNvPr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37" name="Text 32">
            <a:extLst>
              <a:ext uri="{FF2B5EF4-FFF2-40B4-BE49-F238E27FC236}">
                <a16:creationId xmlns:a16="http://schemas.microsoft.com/office/drawing/2014/main" id="{01C0DE17-1239-D7AD-7F9C-89B598DA9E2B}"/>
              </a:ext>
            </a:extLst>
          </p:cNvPr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</a:t>
            </a:r>
            <a:endParaRPr lang="en-US" sz="900" dirty="0"/>
          </a:p>
        </p:txBody>
      </p:sp>
      <p:sp>
        <p:nvSpPr>
          <p:cNvPr id="38" name="Rectangle 6">
            <a:extLst>
              <a:ext uri="{FF2B5EF4-FFF2-40B4-BE49-F238E27FC236}">
                <a16:creationId xmlns:a16="http://schemas.microsoft.com/office/drawing/2014/main" id="{498A0FB4-4020-2E5D-0E0F-4642C5212A67}"/>
              </a:ext>
            </a:extLst>
          </p:cNvPr>
          <p:cNvSpPr>
            <a:spLocks noChangeAspect="1"/>
          </p:cNvSpPr>
          <p:nvPr/>
        </p:nvSpPr>
        <p:spPr>
          <a:xfrm>
            <a:off x="11162371" y="145576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6">
            <a:extLst>
              <a:ext uri="{FF2B5EF4-FFF2-40B4-BE49-F238E27FC236}">
                <a16:creationId xmlns:a16="http://schemas.microsoft.com/office/drawing/2014/main" id="{F060CC07-7DC4-F1F4-F23A-87CFFA1FD79B}"/>
              </a:ext>
            </a:extLst>
          </p:cNvPr>
          <p:cNvSpPr>
            <a:spLocks noChangeAspect="1"/>
          </p:cNvSpPr>
          <p:nvPr/>
        </p:nvSpPr>
        <p:spPr>
          <a:xfrm>
            <a:off x="10924478" y="398337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7E102758-A5EC-F8C9-3412-51D8201E58F9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4EBCC61-9257-BCFA-E760-97829469C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sp>
        <p:nvSpPr>
          <p:cNvPr id="42" name="Shape 9">
            <a:extLst>
              <a:ext uri="{FF2B5EF4-FFF2-40B4-BE49-F238E27FC236}">
                <a16:creationId xmlns:a16="http://schemas.microsoft.com/office/drawing/2014/main" id="{FEBA12B7-5EC5-1B75-3134-1FB794B369DA}"/>
              </a:ext>
            </a:extLst>
          </p:cNvPr>
          <p:cNvSpPr/>
          <p:nvPr/>
        </p:nvSpPr>
        <p:spPr>
          <a:xfrm>
            <a:off x="502920" y="2396318"/>
            <a:ext cx="3606698" cy="177864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3" name="Shape 16">
            <a:extLst>
              <a:ext uri="{FF2B5EF4-FFF2-40B4-BE49-F238E27FC236}">
                <a16:creationId xmlns:a16="http://schemas.microsoft.com/office/drawing/2014/main" id="{78103F19-5637-485C-A721-54805240E8A4}"/>
              </a:ext>
            </a:extLst>
          </p:cNvPr>
          <p:cNvSpPr/>
          <p:nvPr/>
        </p:nvSpPr>
        <p:spPr>
          <a:xfrm>
            <a:off x="4292498" y="2396318"/>
            <a:ext cx="3606698" cy="1778640"/>
          </a:xfrm>
          <a:prstGeom prst="rect">
            <a:avLst/>
          </a:prstGeom>
          <a:solidFill>
            <a:srgbClr val="3F74A2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23">
            <a:extLst>
              <a:ext uri="{FF2B5EF4-FFF2-40B4-BE49-F238E27FC236}">
                <a16:creationId xmlns:a16="http://schemas.microsoft.com/office/drawing/2014/main" id="{64E7587D-76A3-6284-D458-5340384F47ED}"/>
              </a:ext>
            </a:extLst>
          </p:cNvPr>
          <p:cNvSpPr/>
          <p:nvPr/>
        </p:nvSpPr>
        <p:spPr>
          <a:xfrm>
            <a:off x="8082077" y="2396318"/>
            <a:ext cx="3606698" cy="1778640"/>
          </a:xfrm>
          <a:prstGeom prst="rect">
            <a:avLst/>
          </a:prstGeom>
          <a:solidFill>
            <a:srgbClr val="94B8D0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">
            <a:extLst>
              <a:ext uri="{FF2B5EF4-FFF2-40B4-BE49-F238E27FC236}">
                <a16:creationId xmlns:a16="http://schemas.microsoft.com/office/drawing/2014/main" id="{482A28B6-E7F4-86E5-0B5E-D0CD40FAC7E2}"/>
              </a:ext>
            </a:extLst>
          </p:cNvPr>
          <p:cNvSpPr/>
          <p:nvPr/>
        </p:nvSpPr>
        <p:spPr>
          <a:xfrm>
            <a:off x="708660" y="2630857"/>
            <a:ext cx="502920" cy="6465"/>
          </a:xfrm>
          <a:prstGeom prst="line">
            <a:avLst/>
          </a:prstGeom>
          <a:noFill/>
          <a:ln w="57150">
            <a:solidFill>
              <a:srgbClr val="A3CBE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">
            <a:extLst>
              <a:ext uri="{FF2B5EF4-FFF2-40B4-BE49-F238E27FC236}">
                <a16:creationId xmlns:a16="http://schemas.microsoft.com/office/drawing/2014/main" id="{035114E4-AFFE-E807-CE12-B5152B6DE9A8}"/>
              </a:ext>
            </a:extLst>
          </p:cNvPr>
          <p:cNvSpPr/>
          <p:nvPr/>
        </p:nvSpPr>
        <p:spPr>
          <a:xfrm>
            <a:off x="4494597" y="2624392"/>
            <a:ext cx="502920" cy="6465"/>
          </a:xfrm>
          <a:prstGeom prst="line">
            <a:avLst/>
          </a:prstGeom>
          <a:noFill/>
          <a:ln w="57150">
            <a:solidFill>
              <a:schemeClr val="bg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">
            <a:extLst>
              <a:ext uri="{FF2B5EF4-FFF2-40B4-BE49-F238E27FC236}">
                <a16:creationId xmlns:a16="http://schemas.microsoft.com/office/drawing/2014/main" id="{FA42D31C-9764-3049-2FC2-3594E210C004}"/>
              </a:ext>
            </a:extLst>
          </p:cNvPr>
          <p:cNvSpPr/>
          <p:nvPr/>
        </p:nvSpPr>
        <p:spPr>
          <a:xfrm>
            <a:off x="8264956" y="2617927"/>
            <a:ext cx="502920" cy="6465"/>
          </a:xfrm>
          <a:prstGeom prst="line">
            <a:avLst/>
          </a:prstGeom>
          <a:noFill/>
          <a:ln w="57150">
            <a:solidFill>
              <a:srgbClr val="121E3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11">
            <a:extLst>
              <a:ext uri="{FF2B5EF4-FFF2-40B4-BE49-F238E27FC236}">
                <a16:creationId xmlns:a16="http://schemas.microsoft.com/office/drawing/2014/main" id="{1550CEB5-170A-2679-6BDF-F168AC1B9E9C}"/>
              </a:ext>
            </a:extLst>
          </p:cNvPr>
          <p:cNvSpPr/>
          <p:nvPr/>
        </p:nvSpPr>
        <p:spPr>
          <a:xfrm>
            <a:off x="960120" y="2846001"/>
            <a:ext cx="2692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Expense</a:t>
            </a: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F0D2D157-30F7-D5A8-22FF-86177BC61A83}"/>
              </a:ext>
            </a:extLst>
          </p:cNvPr>
          <p:cNvSpPr/>
          <p:nvPr/>
        </p:nvSpPr>
        <p:spPr>
          <a:xfrm>
            <a:off x="960120" y="3184329"/>
            <a:ext cx="26922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Automated capture, approvals and policy enforcement. Mobile receipts, corporate card feeds, intelligent audit.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51" name="Text 15">
            <a:extLst>
              <a:ext uri="{FF2B5EF4-FFF2-40B4-BE49-F238E27FC236}">
                <a16:creationId xmlns:a16="http://schemas.microsoft.com/office/drawing/2014/main" id="{51AA3C6D-1A6B-BC89-1CC8-E2EA0F6A1B2F}"/>
              </a:ext>
            </a:extLst>
          </p:cNvPr>
          <p:cNvSpPr/>
          <p:nvPr/>
        </p:nvSpPr>
        <p:spPr>
          <a:xfrm>
            <a:off x="4749698" y="2846001"/>
            <a:ext cx="2692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Travel</a:t>
            </a: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52" name="Text 16">
            <a:extLst>
              <a:ext uri="{FF2B5EF4-FFF2-40B4-BE49-F238E27FC236}">
                <a16:creationId xmlns:a16="http://schemas.microsoft.com/office/drawing/2014/main" id="{B8C40CBD-8E60-2AD9-392A-29141A9E1E4B}"/>
              </a:ext>
            </a:extLst>
          </p:cNvPr>
          <p:cNvSpPr/>
          <p:nvPr/>
        </p:nvSpPr>
        <p:spPr>
          <a:xfrm>
            <a:off x="4749698" y="3184329"/>
            <a:ext cx="26922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Online booking, traveller policy management, duty-of-care reporting and integrated supplier content.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53" name="Text 19">
            <a:extLst>
              <a:ext uri="{FF2B5EF4-FFF2-40B4-BE49-F238E27FC236}">
                <a16:creationId xmlns:a16="http://schemas.microsoft.com/office/drawing/2014/main" id="{9C7D884E-ECE3-5034-81DF-FDE0C36915CF}"/>
              </a:ext>
            </a:extLst>
          </p:cNvPr>
          <p:cNvSpPr/>
          <p:nvPr/>
        </p:nvSpPr>
        <p:spPr>
          <a:xfrm>
            <a:off x="8539277" y="2846001"/>
            <a:ext cx="2692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Invoice</a:t>
            </a: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86A5AC53-E211-04BC-0CF3-C5A252474544}"/>
              </a:ext>
            </a:extLst>
          </p:cNvPr>
          <p:cNvSpPr/>
          <p:nvPr/>
        </p:nvSpPr>
        <p:spPr>
          <a:xfrm>
            <a:off x="8539277" y="3184329"/>
            <a:ext cx="26922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Supplier invoice capture, three-way match, payment processing and AP automation at scale.</a:t>
            </a:r>
            <a:endParaRPr lang="en-US" sz="11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8470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FC4BC7-1951-D8A0-7708-DE361A32D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08CD9174-CF29-DABF-3C00-3EB773B98074}"/>
              </a:ext>
            </a:extLst>
          </p:cNvPr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 ·  ARIBA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FED5C77-638B-545C-A100-59FDAA7EC8B2}"/>
              </a:ext>
            </a:extLst>
          </p:cNvPr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Source-to-Pay,</a:t>
            </a:r>
            <a:endParaRPr lang="en-US" sz="2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A886665-F580-88AF-0D36-05FFBF5B0EF7}"/>
              </a:ext>
            </a:extLst>
          </p:cNvPr>
          <p:cNvSpPr/>
          <p:nvPr/>
        </p:nvSpPr>
        <p:spPr>
          <a:xfrm>
            <a:off x="502920" y="148590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3F75A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automated end-to-end.</a:t>
            </a:r>
            <a:endParaRPr lang="en-US" sz="2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B7ECCF1-5828-7986-6DA1-9AB350FBB29A}"/>
              </a:ext>
            </a:extLst>
          </p:cNvPr>
          <p:cNvSpPr/>
          <p:nvPr/>
        </p:nvSpPr>
        <p:spPr>
          <a:xfrm>
            <a:off x="502920" y="205740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 implement the full SAP Ariba suite — from supplier discovery through invoice automation — integrated cleanly with SAP S/4HANA, Concur, and downstream finance systems.</a:t>
            </a:r>
            <a:endParaRPr lang="en-US" sz="13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CD62489-19A3-7211-A3CF-8FEC4D730FCB}"/>
              </a:ext>
            </a:extLst>
          </p:cNvPr>
          <p:cNvSpPr/>
          <p:nvPr/>
        </p:nvSpPr>
        <p:spPr>
          <a:xfrm>
            <a:off x="447305" y="2706624"/>
            <a:ext cx="2054291" cy="77724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FBF1F49-739F-E58F-FDC8-A8F83FB88DF9}"/>
              </a:ext>
            </a:extLst>
          </p:cNvPr>
          <p:cNvSpPr/>
          <p:nvPr/>
        </p:nvSpPr>
        <p:spPr>
          <a:xfrm>
            <a:off x="447305" y="2752344"/>
            <a:ext cx="2054291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AF33803-98E5-76DA-1B88-75D49F3AC021}"/>
              </a:ext>
            </a:extLst>
          </p:cNvPr>
          <p:cNvSpPr/>
          <p:nvPr/>
        </p:nvSpPr>
        <p:spPr>
          <a:xfrm>
            <a:off x="447305" y="3134106"/>
            <a:ext cx="20542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Discovery &amp; Strategic</a:t>
            </a:r>
            <a:endParaRPr lang="en-US" sz="9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943F12B-E5D3-5F63-FD4A-A0E3691ED5B7}"/>
              </a:ext>
            </a:extLst>
          </p:cNvPr>
          <p:cNvSpPr/>
          <p:nvPr/>
        </p:nvSpPr>
        <p:spPr>
          <a:xfrm>
            <a:off x="2501596" y="2706624"/>
            <a:ext cx="228600" cy="777240"/>
          </a:xfrm>
          <a:prstGeom prst="chevron">
            <a:avLst/>
          </a:prstGeom>
          <a:solidFill>
            <a:srgbClr val="C1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5510556-EC4E-459B-46A5-1D8E66463CB0}"/>
              </a:ext>
            </a:extLst>
          </p:cNvPr>
          <p:cNvSpPr/>
          <p:nvPr/>
        </p:nvSpPr>
        <p:spPr>
          <a:xfrm>
            <a:off x="2730196" y="2706624"/>
            <a:ext cx="2054291" cy="777240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D5ADFA8-9567-AAFD-ED83-277E99F2EB4E}"/>
              </a:ext>
            </a:extLst>
          </p:cNvPr>
          <p:cNvSpPr/>
          <p:nvPr/>
        </p:nvSpPr>
        <p:spPr>
          <a:xfrm>
            <a:off x="2730196" y="2752344"/>
            <a:ext cx="2054291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Contract</a:t>
            </a: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56A774A-2BBB-6ED7-B4D5-331CBE1D8A2C}"/>
              </a:ext>
            </a:extLst>
          </p:cNvPr>
          <p:cNvSpPr/>
          <p:nvPr/>
        </p:nvSpPr>
        <p:spPr>
          <a:xfrm>
            <a:off x="2730196" y="3134106"/>
            <a:ext cx="20542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Lifecycle Management</a:t>
            </a:r>
            <a:endParaRPr lang="en-US" sz="9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9EFFD26-51D0-E1BE-BE28-4CD4A57B55A2}"/>
              </a:ext>
            </a:extLst>
          </p:cNvPr>
          <p:cNvSpPr/>
          <p:nvPr/>
        </p:nvSpPr>
        <p:spPr>
          <a:xfrm>
            <a:off x="4784487" y="2706624"/>
            <a:ext cx="228600" cy="777240"/>
          </a:xfrm>
          <a:prstGeom prst="chevron">
            <a:avLst/>
          </a:prstGeom>
          <a:solidFill>
            <a:srgbClr val="C1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023C80A-0EAE-9A9F-367C-690A8F6CE598}"/>
              </a:ext>
            </a:extLst>
          </p:cNvPr>
          <p:cNvSpPr/>
          <p:nvPr/>
        </p:nvSpPr>
        <p:spPr>
          <a:xfrm>
            <a:off x="5013087" y="2706624"/>
            <a:ext cx="2054291" cy="77724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CA291F6-0174-51B1-FC0A-84AC19393892}"/>
              </a:ext>
            </a:extLst>
          </p:cNvPr>
          <p:cNvSpPr/>
          <p:nvPr/>
        </p:nvSpPr>
        <p:spPr>
          <a:xfrm>
            <a:off x="5013087" y="2752344"/>
            <a:ext cx="2054291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Procure</a:t>
            </a: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36C2AA6-FAB6-8001-5A9C-ED35ACE8E842}"/>
              </a:ext>
            </a:extLst>
          </p:cNvPr>
          <p:cNvSpPr/>
          <p:nvPr/>
        </p:nvSpPr>
        <p:spPr>
          <a:xfrm>
            <a:off x="5013087" y="3134106"/>
            <a:ext cx="20542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Buying &amp; Catalogs</a:t>
            </a:r>
            <a:endParaRPr lang="en-US" sz="9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D3F8FC8-9C4F-0A54-DE44-F0FAF3D7427D}"/>
              </a:ext>
            </a:extLst>
          </p:cNvPr>
          <p:cNvSpPr/>
          <p:nvPr/>
        </p:nvSpPr>
        <p:spPr>
          <a:xfrm>
            <a:off x="7067378" y="2706624"/>
            <a:ext cx="228600" cy="777240"/>
          </a:xfrm>
          <a:prstGeom prst="chevron">
            <a:avLst/>
          </a:prstGeom>
          <a:solidFill>
            <a:srgbClr val="C1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C50C5702-D60E-C20C-CFE3-24F3204BCDF1}"/>
              </a:ext>
            </a:extLst>
          </p:cNvPr>
          <p:cNvSpPr/>
          <p:nvPr/>
        </p:nvSpPr>
        <p:spPr>
          <a:xfrm>
            <a:off x="7295978" y="2706624"/>
            <a:ext cx="2054291" cy="777240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18B006D-8E32-785D-079A-9C1E6569663C}"/>
              </a:ext>
            </a:extLst>
          </p:cNvPr>
          <p:cNvSpPr/>
          <p:nvPr/>
        </p:nvSpPr>
        <p:spPr>
          <a:xfrm>
            <a:off x="7295978" y="2752344"/>
            <a:ext cx="2054291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Invoice</a:t>
            </a:r>
            <a:endParaRPr lang="en-US" sz="1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4524A02-3442-7008-6EC4-D4C7F90B770A}"/>
              </a:ext>
            </a:extLst>
          </p:cNvPr>
          <p:cNvSpPr/>
          <p:nvPr/>
        </p:nvSpPr>
        <p:spPr>
          <a:xfrm>
            <a:off x="7295978" y="3134106"/>
            <a:ext cx="20542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 automation</a:t>
            </a:r>
            <a:endParaRPr lang="en-US" sz="9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8715D3DC-5224-3726-DE21-E83909775FE1}"/>
              </a:ext>
            </a:extLst>
          </p:cNvPr>
          <p:cNvSpPr/>
          <p:nvPr/>
        </p:nvSpPr>
        <p:spPr>
          <a:xfrm>
            <a:off x="9350269" y="2706624"/>
            <a:ext cx="228600" cy="777240"/>
          </a:xfrm>
          <a:prstGeom prst="chevron">
            <a:avLst/>
          </a:prstGeom>
          <a:solidFill>
            <a:srgbClr val="C1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8CD2D214-E158-7E94-4042-F0139F27E5D0}"/>
              </a:ext>
            </a:extLst>
          </p:cNvPr>
          <p:cNvSpPr/>
          <p:nvPr/>
        </p:nvSpPr>
        <p:spPr>
          <a:xfrm>
            <a:off x="9578869" y="2706624"/>
            <a:ext cx="2054291" cy="77724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28A0E76-C5A6-75D4-AE7E-75A5ACDF32D1}"/>
              </a:ext>
            </a:extLst>
          </p:cNvPr>
          <p:cNvSpPr/>
          <p:nvPr/>
        </p:nvSpPr>
        <p:spPr>
          <a:xfrm>
            <a:off x="9578869" y="2752344"/>
            <a:ext cx="2054291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Pay</a:t>
            </a:r>
            <a:endParaRPr lang="en-US" sz="12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E219F3D-31E9-9620-C232-4850AE6D1566}"/>
              </a:ext>
            </a:extLst>
          </p:cNvPr>
          <p:cNvSpPr/>
          <p:nvPr/>
        </p:nvSpPr>
        <p:spPr>
          <a:xfrm>
            <a:off x="9578869" y="3134106"/>
            <a:ext cx="20542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Settlement</a:t>
            </a:r>
            <a:endParaRPr lang="en-US" sz="9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8F3ED598-4282-5211-D9F1-B389F9CA7E8C}"/>
              </a:ext>
            </a:extLst>
          </p:cNvPr>
          <p:cNvSpPr/>
          <p:nvPr/>
        </p:nvSpPr>
        <p:spPr>
          <a:xfrm>
            <a:off x="447305" y="3799529"/>
            <a:ext cx="2673020" cy="1645920"/>
          </a:xfrm>
          <a:prstGeom prst="rect">
            <a:avLst/>
          </a:prstGeom>
          <a:solidFill>
            <a:srgbClr val="94B8D0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07D4D512-A02A-9A27-1519-159F56764CCD}"/>
              </a:ext>
            </a:extLst>
          </p:cNvPr>
          <p:cNvSpPr/>
          <p:nvPr/>
        </p:nvSpPr>
        <p:spPr>
          <a:xfrm>
            <a:off x="675905" y="3964121"/>
            <a:ext cx="18957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Sourcing</a:t>
            </a:r>
            <a:endParaRPr lang="en-US" sz="1300" dirty="0">
              <a:solidFill>
                <a:srgbClr val="121E3B"/>
              </a:solidFill>
            </a:endParaRPr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1F73588A-652E-4689-2301-5806BD58EE7B}"/>
              </a:ext>
            </a:extLst>
          </p:cNvPr>
          <p:cNvSpPr/>
          <p:nvPr/>
        </p:nvSpPr>
        <p:spPr>
          <a:xfrm>
            <a:off x="675905" y="4439609"/>
            <a:ext cx="23072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Spend analysis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Strategic sourcing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Supplier discovery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Auctions &amp; RFx</a:t>
            </a:r>
            <a:endParaRPr lang="en-US" sz="1000" dirty="0">
              <a:solidFill>
                <a:srgbClr val="121E3B"/>
              </a:solidFill>
            </a:endParaRPr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D8CB59B3-F944-E592-65B0-E04082B8AD53}"/>
              </a:ext>
            </a:extLst>
          </p:cNvPr>
          <p:cNvSpPr/>
          <p:nvPr/>
        </p:nvSpPr>
        <p:spPr>
          <a:xfrm>
            <a:off x="3284917" y="3799529"/>
            <a:ext cx="2673020" cy="1645920"/>
          </a:xfrm>
          <a:prstGeom prst="rect">
            <a:avLst/>
          </a:prstGeom>
          <a:solidFill>
            <a:srgbClr val="94B8D0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BC6C6BA0-4AEC-950A-E1EB-9FB3A2C8D29F}"/>
              </a:ext>
            </a:extLst>
          </p:cNvPr>
          <p:cNvSpPr/>
          <p:nvPr/>
        </p:nvSpPr>
        <p:spPr>
          <a:xfrm>
            <a:off x="3513517" y="3964121"/>
            <a:ext cx="18957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Contracts</a:t>
            </a:r>
            <a:endParaRPr lang="en-US" sz="1300" dirty="0">
              <a:solidFill>
                <a:srgbClr val="121E3B"/>
              </a:solidFill>
            </a:endParaRPr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3158D07F-595D-DE01-D530-22043BA493B4}"/>
              </a:ext>
            </a:extLst>
          </p:cNvPr>
          <p:cNvSpPr/>
          <p:nvPr/>
        </p:nvSpPr>
        <p:spPr>
          <a:xfrm>
            <a:off x="3513517" y="4439609"/>
            <a:ext cx="23072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Contract authoring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Workflow &amp; approvals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Compliance tracking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Clause library</a:t>
            </a:r>
            <a:endParaRPr lang="en-US" sz="1000" dirty="0">
              <a:solidFill>
                <a:srgbClr val="121E3B"/>
              </a:solidFill>
            </a:endParaRPr>
          </a:p>
        </p:txBody>
      </p:sp>
      <p:sp>
        <p:nvSpPr>
          <p:cNvPr id="40" name="Shape 36">
            <a:extLst>
              <a:ext uri="{FF2B5EF4-FFF2-40B4-BE49-F238E27FC236}">
                <a16:creationId xmlns:a16="http://schemas.microsoft.com/office/drawing/2014/main" id="{053AD9CA-F2E7-FFC0-F4AF-1C9B06A69E5E}"/>
              </a:ext>
            </a:extLst>
          </p:cNvPr>
          <p:cNvSpPr/>
          <p:nvPr/>
        </p:nvSpPr>
        <p:spPr>
          <a:xfrm>
            <a:off x="6122529" y="3799529"/>
            <a:ext cx="2673020" cy="1645920"/>
          </a:xfrm>
          <a:prstGeom prst="rect">
            <a:avLst/>
          </a:prstGeom>
          <a:solidFill>
            <a:srgbClr val="94B8D0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4A8E0E1B-CFD0-D695-2370-FE909B9E6E3A}"/>
              </a:ext>
            </a:extLst>
          </p:cNvPr>
          <p:cNvSpPr/>
          <p:nvPr/>
        </p:nvSpPr>
        <p:spPr>
          <a:xfrm>
            <a:off x="6351129" y="3959308"/>
            <a:ext cx="18957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Procurement</a:t>
            </a:r>
            <a:endParaRPr lang="en-US" sz="1300" dirty="0">
              <a:solidFill>
                <a:srgbClr val="121E3B"/>
              </a:solidFill>
            </a:endParaRPr>
          </a:p>
        </p:txBody>
      </p:sp>
      <p:sp>
        <p:nvSpPr>
          <p:cNvPr id="44" name="Text 39">
            <a:extLst>
              <a:ext uri="{FF2B5EF4-FFF2-40B4-BE49-F238E27FC236}">
                <a16:creationId xmlns:a16="http://schemas.microsoft.com/office/drawing/2014/main" id="{63D42922-822C-B8DB-531B-4CEDF3B03C18}"/>
              </a:ext>
            </a:extLst>
          </p:cNvPr>
          <p:cNvSpPr/>
          <p:nvPr/>
        </p:nvSpPr>
        <p:spPr>
          <a:xfrm>
            <a:off x="6351129" y="4439609"/>
            <a:ext cx="23072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Guided buying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Catalog management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Punchout integrations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Mobile approvals</a:t>
            </a:r>
            <a:endParaRPr lang="en-US" sz="1000" dirty="0">
              <a:solidFill>
                <a:srgbClr val="121E3B"/>
              </a:solidFill>
            </a:endParaRPr>
          </a:p>
        </p:txBody>
      </p:sp>
      <p:sp>
        <p:nvSpPr>
          <p:cNvPr id="45" name="Shape 40">
            <a:extLst>
              <a:ext uri="{FF2B5EF4-FFF2-40B4-BE49-F238E27FC236}">
                <a16:creationId xmlns:a16="http://schemas.microsoft.com/office/drawing/2014/main" id="{5C8DCE3C-0F8B-8F42-E127-2271AB7BD718}"/>
              </a:ext>
            </a:extLst>
          </p:cNvPr>
          <p:cNvSpPr/>
          <p:nvPr/>
        </p:nvSpPr>
        <p:spPr>
          <a:xfrm>
            <a:off x="8960140" y="3799529"/>
            <a:ext cx="2673020" cy="1645920"/>
          </a:xfrm>
          <a:prstGeom prst="rect">
            <a:avLst/>
          </a:prstGeom>
          <a:solidFill>
            <a:srgbClr val="94B8D0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2">
            <a:extLst>
              <a:ext uri="{FF2B5EF4-FFF2-40B4-BE49-F238E27FC236}">
                <a16:creationId xmlns:a16="http://schemas.microsoft.com/office/drawing/2014/main" id="{87040E3B-47D8-DC81-51BE-6609DA5EE64D}"/>
              </a:ext>
            </a:extLst>
          </p:cNvPr>
          <p:cNvSpPr/>
          <p:nvPr/>
        </p:nvSpPr>
        <p:spPr>
          <a:xfrm>
            <a:off x="9188740" y="3967489"/>
            <a:ext cx="18957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Supplier Network</a:t>
            </a:r>
            <a:endParaRPr lang="en-US" sz="1300" dirty="0">
              <a:solidFill>
                <a:srgbClr val="121E3B"/>
              </a:solidFill>
            </a:endParaRPr>
          </a:p>
        </p:txBody>
      </p:sp>
      <p:sp>
        <p:nvSpPr>
          <p:cNvPr id="49" name="Text 43">
            <a:extLst>
              <a:ext uri="{FF2B5EF4-FFF2-40B4-BE49-F238E27FC236}">
                <a16:creationId xmlns:a16="http://schemas.microsoft.com/office/drawing/2014/main" id="{FF249F9D-3564-F61E-1E3B-8A902BD7481E}"/>
              </a:ext>
            </a:extLst>
          </p:cNvPr>
          <p:cNvSpPr/>
          <p:nvPr/>
        </p:nvSpPr>
        <p:spPr>
          <a:xfrm>
            <a:off x="9188740" y="4439609"/>
            <a:ext cx="23072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6M+ suppliers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 collaboration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Invoice exchange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 management</a:t>
            </a:r>
            <a:endParaRPr lang="en-US" sz="1000" dirty="0">
              <a:solidFill>
                <a:srgbClr val="121E3B"/>
              </a:solidFill>
            </a:endParaRPr>
          </a:p>
        </p:txBody>
      </p:sp>
      <p:sp>
        <p:nvSpPr>
          <p:cNvPr id="50" name="Shape 44">
            <a:extLst>
              <a:ext uri="{FF2B5EF4-FFF2-40B4-BE49-F238E27FC236}">
                <a16:creationId xmlns:a16="http://schemas.microsoft.com/office/drawing/2014/main" id="{EF11D617-FC74-8CDC-A5C5-308F99CDB2C0}"/>
              </a:ext>
            </a:extLst>
          </p:cNvPr>
          <p:cNvSpPr/>
          <p:nvPr/>
        </p:nvSpPr>
        <p:spPr>
          <a:xfrm>
            <a:off x="447304" y="5660464"/>
            <a:ext cx="11185855" cy="502920"/>
          </a:xfrm>
          <a:prstGeom prst="rect">
            <a:avLst/>
          </a:prstGeom>
          <a:solidFill>
            <a:srgbClr val="C1BC9C"/>
          </a:solidFill>
          <a:ln w="6350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7">
            <a:extLst>
              <a:ext uri="{FF2B5EF4-FFF2-40B4-BE49-F238E27FC236}">
                <a16:creationId xmlns:a16="http://schemas.microsoft.com/office/drawing/2014/main" id="{0F3058C3-D236-EA9D-6F90-7D4A7BF447CF}"/>
              </a:ext>
            </a:extLst>
          </p:cNvPr>
          <p:cNvSpPr/>
          <p:nvPr/>
        </p:nvSpPr>
        <p:spPr>
          <a:xfrm>
            <a:off x="1361704" y="5660464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15+  </a:t>
            </a: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Ariba programs delivered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54" name="Text 48">
            <a:extLst>
              <a:ext uri="{FF2B5EF4-FFF2-40B4-BE49-F238E27FC236}">
                <a16:creationId xmlns:a16="http://schemas.microsoft.com/office/drawing/2014/main" id="{AA52FEE0-7EA3-C9CC-DBD2-C8FBF6238CBE}"/>
              </a:ext>
            </a:extLst>
          </p:cNvPr>
          <p:cNvSpPr/>
          <p:nvPr/>
        </p:nvSpPr>
        <p:spPr>
          <a:xfrm>
            <a:off x="4785522" y="5660464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40%  </a:t>
            </a: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avg P2P cycle-time cut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55" name="Text 49">
            <a:extLst>
              <a:ext uri="{FF2B5EF4-FFF2-40B4-BE49-F238E27FC236}">
                <a16:creationId xmlns:a16="http://schemas.microsoft.com/office/drawing/2014/main" id="{202D41AC-0739-F87E-1627-398203560628}"/>
              </a:ext>
            </a:extLst>
          </p:cNvPr>
          <p:cNvSpPr/>
          <p:nvPr/>
        </p:nvSpPr>
        <p:spPr>
          <a:xfrm>
            <a:off x="8209341" y="5660464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S/4  </a:t>
            </a: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native integration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57" name="Text 51">
            <a:extLst>
              <a:ext uri="{FF2B5EF4-FFF2-40B4-BE49-F238E27FC236}">
                <a16:creationId xmlns:a16="http://schemas.microsoft.com/office/drawing/2014/main" id="{B0BECFDC-6F83-B442-1F7F-D7FC9AD6938A}"/>
              </a:ext>
            </a:extLst>
          </p:cNvPr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58" name="Text 52">
            <a:extLst>
              <a:ext uri="{FF2B5EF4-FFF2-40B4-BE49-F238E27FC236}">
                <a16:creationId xmlns:a16="http://schemas.microsoft.com/office/drawing/2014/main" id="{95CF3385-CD5C-4851-A3DC-911E1C8D642A}"/>
              </a:ext>
            </a:extLst>
          </p:cNvPr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</a:t>
            </a:r>
            <a:endParaRPr lang="en-US" sz="900" dirty="0"/>
          </a:p>
        </p:txBody>
      </p:sp>
      <p:sp>
        <p:nvSpPr>
          <p:cNvPr id="59" name="Rectangle 6">
            <a:extLst>
              <a:ext uri="{FF2B5EF4-FFF2-40B4-BE49-F238E27FC236}">
                <a16:creationId xmlns:a16="http://schemas.microsoft.com/office/drawing/2014/main" id="{58C1FE71-B0F2-DEFE-ECA9-D1AED4A08C4B}"/>
              </a:ext>
            </a:extLst>
          </p:cNvPr>
          <p:cNvSpPr>
            <a:spLocks noChangeAspect="1"/>
          </p:cNvSpPr>
          <p:nvPr/>
        </p:nvSpPr>
        <p:spPr>
          <a:xfrm>
            <a:off x="11343040" y="145576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Rectangle 6">
            <a:extLst>
              <a:ext uri="{FF2B5EF4-FFF2-40B4-BE49-F238E27FC236}">
                <a16:creationId xmlns:a16="http://schemas.microsoft.com/office/drawing/2014/main" id="{B9DD3CCD-6F3C-09A8-7B6E-57183BF3083F}"/>
              </a:ext>
            </a:extLst>
          </p:cNvPr>
          <p:cNvSpPr>
            <a:spLocks noChangeAspect="1"/>
          </p:cNvSpPr>
          <p:nvPr/>
        </p:nvSpPr>
        <p:spPr>
          <a:xfrm>
            <a:off x="11105147" y="398337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Shape 37">
            <a:extLst>
              <a:ext uri="{FF2B5EF4-FFF2-40B4-BE49-F238E27FC236}">
                <a16:creationId xmlns:a16="http://schemas.microsoft.com/office/drawing/2014/main" id="{5E09CC1D-122A-3401-337B-798CB9328580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04C1A4F5-5EE5-F2A9-B481-F8339A377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sp>
        <p:nvSpPr>
          <p:cNvPr id="63" name="Rectangle 6">
            <a:extLst>
              <a:ext uri="{FF2B5EF4-FFF2-40B4-BE49-F238E27FC236}">
                <a16:creationId xmlns:a16="http://schemas.microsoft.com/office/drawing/2014/main" id="{662A7F96-E8C1-6B19-0652-29B4FD7D2F6C}"/>
              </a:ext>
            </a:extLst>
          </p:cNvPr>
          <p:cNvSpPr>
            <a:spLocks noChangeAspect="1"/>
          </p:cNvSpPr>
          <p:nvPr/>
        </p:nvSpPr>
        <p:spPr>
          <a:xfrm>
            <a:off x="2663125" y="3863078"/>
            <a:ext cx="365760" cy="366022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">
            <a:extLst>
              <a:ext uri="{FF2B5EF4-FFF2-40B4-BE49-F238E27FC236}">
                <a16:creationId xmlns:a16="http://schemas.microsoft.com/office/drawing/2014/main" id="{621198A4-D039-1FC1-835E-DD43088CDD7C}"/>
              </a:ext>
            </a:extLst>
          </p:cNvPr>
          <p:cNvSpPr>
            <a:spLocks noChangeAspect="1"/>
          </p:cNvSpPr>
          <p:nvPr/>
        </p:nvSpPr>
        <p:spPr>
          <a:xfrm>
            <a:off x="5500737" y="3865440"/>
            <a:ext cx="365760" cy="366022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">
            <a:extLst>
              <a:ext uri="{FF2B5EF4-FFF2-40B4-BE49-F238E27FC236}">
                <a16:creationId xmlns:a16="http://schemas.microsoft.com/office/drawing/2014/main" id="{1AF3CE67-BB69-C557-82E6-4F5A89850FDB}"/>
              </a:ext>
            </a:extLst>
          </p:cNvPr>
          <p:cNvSpPr>
            <a:spLocks noChangeAspect="1"/>
          </p:cNvSpPr>
          <p:nvPr/>
        </p:nvSpPr>
        <p:spPr>
          <a:xfrm>
            <a:off x="8338349" y="3858572"/>
            <a:ext cx="365760" cy="366022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">
            <a:extLst>
              <a:ext uri="{FF2B5EF4-FFF2-40B4-BE49-F238E27FC236}">
                <a16:creationId xmlns:a16="http://schemas.microsoft.com/office/drawing/2014/main" id="{74ECBF2F-B5B0-FA8E-D795-FD38F2B2C548}"/>
              </a:ext>
            </a:extLst>
          </p:cNvPr>
          <p:cNvSpPr>
            <a:spLocks noChangeAspect="1"/>
          </p:cNvSpPr>
          <p:nvPr/>
        </p:nvSpPr>
        <p:spPr>
          <a:xfrm>
            <a:off x="11175960" y="3865440"/>
            <a:ext cx="365760" cy="366022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4075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511037-DBAC-CFD1-B171-BC1F8417F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0BB04B84-17F3-9CCF-2C5C-409ABDCC6C71}"/>
              </a:ext>
            </a:extLst>
          </p:cNvPr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 •  JOULE CAPABILITIES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2100906-3D2E-227D-A383-F0FEA12A9940}"/>
              </a:ext>
            </a:extLst>
          </p:cNvPr>
          <p:cNvSpPr/>
          <p:nvPr/>
        </p:nvSpPr>
        <p:spPr>
          <a:xfrm>
            <a:off x="502921" y="1218828"/>
            <a:ext cx="3132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SAP Joule — </a:t>
            </a:r>
            <a:endParaRPr lang="en-US" sz="2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31B3168-9D9C-2848-CEC6-9FECE337BCDC}"/>
              </a:ext>
            </a:extLst>
          </p:cNvPr>
          <p:cNvSpPr/>
          <p:nvPr/>
        </p:nvSpPr>
        <p:spPr>
          <a:xfrm>
            <a:off x="502920" y="2064648"/>
            <a:ext cx="31323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3F75A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embedded across every SAP cloud application.</a:t>
            </a:r>
            <a:endParaRPr lang="en-US" sz="2400" dirty="0"/>
          </a:p>
        </p:txBody>
      </p:sp>
      <p:sp>
        <p:nvSpPr>
          <p:cNvPr id="57" name="Text 51">
            <a:extLst>
              <a:ext uri="{FF2B5EF4-FFF2-40B4-BE49-F238E27FC236}">
                <a16:creationId xmlns:a16="http://schemas.microsoft.com/office/drawing/2014/main" id="{212B4464-675B-091E-CA61-08E07AFA8FBE}"/>
              </a:ext>
            </a:extLst>
          </p:cNvPr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58" name="Text 52">
            <a:extLst>
              <a:ext uri="{FF2B5EF4-FFF2-40B4-BE49-F238E27FC236}">
                <a16:creationId xmlns:a16="http://schemas.microsoft.com/office/drawing/2014/main" id="{AC73637D-96A2-DBDE-924B-D3AF117B9CAC}"/>
              </a:ext>
            </a:extLst>
          </p:cNvPr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</a:t>
            </a:r>
            <a:endParaRPr lang="en-US" sz="900" dirty="0"/>
          </a:p>
        </p:txBody>
      </p:sp>
      <p:sp>
        <p:nvSpPr>
          <p:cNvPr id="59" name="Rectangle 6">
            <a:extLst>
              <a:ext uri="{FF2B5EF4-FFF2-40B4-BE49-F238E27FC236}">
                <a16:creationId xmlns:a16="http://schemas.microsoft.com/office/drawing/2014/main" id="{1B7318C3-349E-9579-799F-718BBE8E0241}"/>
              </a:ext>
            </a:extLst>
          </p:cNvPr>
          <p:cNvSpPr>
            <a:spLocks noChangeAspect="1"/>
          </p:cNvSpPr>
          <p:nvPr/>
        </p:nvSpPr>
        <p:spPr>
          <a:xfrm>
            <a:off x="11343040" y="145576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Rectangle 6">
            <a:extLst>
              <a:ext uri="{FF2B5EF4-FFF2-40B4-BE49-F238E27FC236}">
                <a16:creationId xmlns:a16="http://schemas.microsoft.com/office/drawing/2014/main" id="{91CF70A1-B657-EC05-C629-A8AEEF1B0C41}"/>
              </a:ext>
            </a:extLst>
          </p:cNvPr>
          <p:cNvSpPr>
            <a:spLocks noChangeAspect="1"/>
          </p:cNvSpPr>
          <p:nvPr/>
        </p:nvSpPr>
        <p:spPr>
          <a:xfrm>
            <a:off x="11105147" y="398337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Shape 37">
            <a:extLst>
              <a:ext uri="{FF2B5EF4-FFF2-40B4-BE49-F238E27FC236}">
                <a16:creationId xmlns:a16="http://schemas.microsoft.com/office/drawing/2014/main" id="{852187C5-A936-253B-D20B-22E4D8D69E5C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19431F8C-8852-9037-02C3-9DE1A9EC5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sp>
        <p:nvSpPr>
          <p:cNvPr id="2" name="Text 43">
            <a:extLst>
              <a:ext uri="{FF2B5EF4-FFF2-40B4-BE49-F238E27FC236}">
                <a16:creationId xmlns:a16="http://schemas.microsoft.com/office/drawing/2014/main" id="{B8D7B9B1-A4F1-5200-D35E-240A40CF11B5}"/>
              </a:ext>
            </a:extLst>
          </p:cNvPr>
          <p:cNvSpPr/>
          <p:nvPr/>
        </p:nvSpPr>
        <p:spPr>
          <a:xfrm>
            <a:off x="502920" y="2926080"/>
            <a:ext cx="2988425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</a:rPr>
              <a:t>Early-adopter partner for SAP Joule &amp; Joule Studio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</a:rPr>
              <a:t>Production Joule agents for HR self-service and ticket triage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</a:rPr>
              <a:t>Joule + (OpenAI, Claude) integration patterns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</a:rPr>
              <a:t>Custom skill library for Concur, Ariba, SuccessFactors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</a:rPr>
              <a:t>Responsible-AI guardrails and prompt governance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</a:rPr>
              <a:t>Adoption playbook to drive Joule usage across personas</a:t>
            </a:r>
          </a:p>
        </p:txBody>
      </p:sp>
      <p:sp>
        <p:nvSpPr>
          <p:cNvPr id="93" name="Shape 7">
            <a:extLst>
              <a:ext uri="{FF2B5EF4-FFF2-40B4-BE49-F238E27FC236}">
                <a16:creationId xmlns:a16="http://schemas.microsoft.com/office/drawing/2014/main" id="{533AB991-A65C-02E6-855B-4DEF132A291C}"/>
              </a:ext>
            </a:extLst>
          </p:cNvPr>
          <p:cNvSpPr/>
          <p:nvPr/>
        </p:nvSpPr>
        <p:spPr>
          <a:xfrm>
            <a:off x="3792458" y="1257292"/>
            <a:ext cx="5950584" cy="1143000"/>
          </a:xfrm>
          <a:prstGeom prst="rect">
            <a:avLst/>
          </a:prstGeom>
          <a:solidFill>
            <a:srgbClr val="121E3B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94" name="Shape 8">
            <a:extLst>
              <a:ext uri="{FF2B5EF4-FFF2-40B4-BE49-F238E27FC236}">
                <a16:creationId xmlns:a16="http://schemas.microsoft.com/office/drawing/2014/main" id="{FB45BB2E-AED5-FD18-6F7F-B7797489DA25}"/>
              </a:ext>
            </a:extLst>
          </p:cNvPr>
          <p:cNvSpPr/>
          <p:nvPr/>
        </p:nvSpPr>
        <p:spPr>
          <a:xfrm flipV="1">
            <a:off x="3792458" y="1211572"/>
            <a:ext cx="5950584" cy="45720"/>
          </a:xfrm>
          <a:prstGeom prst="rect">
            <a:avLst/>
          </a:prstGeom>
          <a:solidFill>
            <a:srgbClr val="C1BC9C"/>
          </a:solidFill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95" name="Text 9">
            <a:extLst>
              <a:ext uri="{FF2B5EF4-FFF2-40B4-BE49-F238E27FC236}">
                <a16:creationId xmlns:a16="http://schemas.microsoft.com/office/drawing/2014/main" id="{FB0A7AA6-91F3-7856-04CA-37DE4C56AD94}"/>
              </a:ext>
            </a:extLst>
          </p:cNvPr>
          <p:cNvSpPr/>
          <p:nvPr/>
        </p:nvSpPr>
        <p:spPr>
          <a:xfrm>
            <a:off x="4025882" y="13715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94B8D0"/>
                </a:solidFill>
                <a:latin typeface="Newsreader Caption" pitchFamily="2" charset="77"/>
                <a:ea typeface="Calibri" pitchFamily="34" charset="-122"/>
                <a:cs typeface="Calibri" pitchFamily="34" charset="-120"/>
              </a:rPr>
              <a:t>Deployment Experience</a:t>
            </a:r>
            <a:endParaRPr lang="en-US" sz="1300" dirty="0">
              <a:solidFill>
                <a:srgbClr val="94B8D0"/>
              </a:solidFill>
              <a:latin typeface="Newsreader Caption" pitchFamily="2" charset="77"/>
            </a:endParaRPr>
          </a:p>
        </p:txBody>
      </p:sp>
      <p:sp>
        <p:nvSpPr>
          <p:cNvPr id="96" name="Text 10">
            <a:extLst>
              <a:ext uri="{FF2B5EF4-FFF2-40B4-BE49-F238E27FC236}">
                <a16:creationId xmlns:a16="http://schemas.microsoft.com/office/drawing/2014/main" id="{A9D49A59-1189-BD87-DB66-C523D626F78A}"/>
              </a:ext>
            </a:extLst>
          </p:cNvPr>
          <p:cNvSpPr/>
          <p:nvPr/>
        </p:nvSpPr>
        <p:spPr>
          <a:xfrm>
            <a:off x="4025882" y="16642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10+</a:t>
            </a:r>
            <a:r>
              <a:rPr lang="en-US" sz="115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  Joule rollouts across SuccessFactors, S/4HANA Cloud and SAC</a:t>
            </a:r>
            <a:endParaRPr lang="en-US" sz="1600" dirty="0">
              <a:solidFill>
                <a:srgbClr val="FFFFFF"/>
              </a:solidFill>
              <a:latin typeface="IBM Plex Sans" panose="020B0503050203000203" pitchFamily="34" charset="77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15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  Custom Joule Studio agents &amp; skills in production</a:t>
            </a:r>
            <a:endParaRPr lang="en-US" sz="1600" dirty="0">
              <a:solidFill>
                <a:srgbClr val="FFFFFF"/>
              </a:solidFill>
              <a:latin typeface="IBM Plex Sans" panose="020B0503050203000203" pitchFamily="34" charset="77"/>
            </a:endParaRPr>
          </a:p>
        </p:txBody>
      </p:sp>
      <p:sp>
        <p:nvSpPr>
          <p:cNvPr id="97" name="Shape 11">
            <a:extLst>
              <a:ext uri="{FF2B5EF4-FFF2-40B4-BE49-F238E27FC236}">
                <a16:creationId xmlns:a16="http://schemas.microsoft.com/office/drawing/2014/main" id="{612177D1-80DE-E533-83D5-7FA262F498BD}"/>
              </a:ext>
            </a:extLst>
          </p:cNvPr>
          <p:cNvSpPr/>
          <p:nvPr/>
        </p:nvSpPr>
        <p:spPr>
          <a:xfrm>
            <a:off x="9852770" y="1211572"/>
            <a:ext cx="2212848" cy="1188720"/>
          </a:xfrm>
          <a:prstGeom prst="rect">
            <a:avLst/>
          </a:prstGeom>
          <a:solidFill>
            <a:srgbClr val="121E3B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98" name="Shape 12">
            <a:extLst>
              <a:ext uri="{FF2B5EF4-FFF2-40B4-BE49-F238E27FC236}">
                <a16:creationId xmlns:a16="http://schemas.microsoft.com/office/drawing/2014/main" id="{97CF1B3F-6BEC-DFEF-66C7-DC167A06A5F2}"/>
              </a:ext>
            </a:extLst>
          </p:cNvPr>
          <p:cNvSpPr/>
          <p:nvPr/>
        </p:nvSpPr>
        <p:spPr>
          <a:xfrm>
            <a:off x="9852770" y="1211572"/>
            <a:ext cx="2212848" cy="45720"/>
          </a:xfrm>
          <a:prstGeom prst="rect">
            <a:avLst/>
          </a:prstGeom>
          <a:solidFill>
            <a:srgbClr val="C1BC9C"/>
          </a:solidFill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99" name="Text 13">
            <a:extLst>
              <a:ext uri="{FF2B5EF4-FFF2-40B4-BE49-F238E27FC236}">
                <a16:creationId xmlns:a16="http://schemas.microsoft.com/office/drawing/2014/main" id="{10359228-CCB2-B7D3-DEF5-B1A59BB7E015}"/>
              </a:ext>
            </a:extLst>
          </p:cNvPr>
          <p:cNvSpPr/>
          <p:nvPr/>
        </p:nvSpPr>
        <p:spPr>
          <a:xfrm>
            <a:off x="9937226" y="13715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94B8D0"/>
                </a:solidFill>
                <a:latin typeface="Newsreader Caption" pitchFamily="2" charset="77"/>
                <a:ea typeface="Calibri" pitchFamily="34" charset="-122"/>
                <a:cs typeface="Calibri" pitchFamily="34" charset="-120"/>
              </a:rPr>
              <a:t>Joule Practitioners</a:t>
            </a:r>
            <a:endParaRPr lang="en-US" sz="1300" dirty="0">
              <a:solidFill>
                <a:srgbClr val="94B8D0"/>
              </a:solidFill>
              <a:latin typeface="Newsreader Caption" pitchFamily="2" charset="77"/>
            </a:endParaRPr>
          </a:p>
        </p:txBody>
      </p:sp>
      <p:sp>
        <p:nvSpPr>
          <p:cNvPr id="100" name="Text 14">
            <a:extLst>
              <a:ext uri="{FF2B5EF4-FFF2-40B4-BE49-F238E27FC236}">
                <a16:creationId xmlns:a16="http://schemas.microsoft.com/office/drawing/2014/main" id="{02D7EA40-35F8-97D8-048D-E91E8AC92D37}"/>
              </a:ext>
            </a:extLst>
          </p:cNvPr>
          <p:cNvSpPr/>
          <p:nvPr/>
        </p:nvSpPr>
        <p:spPr>
          <a:xfrm>
            <a:off x="9989930" y="162305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60+</a:t>
            </a:r>
            <a:endParaRPr lang="en-US" sz="3800" dirty="0">
              <a:solidFill>
                <a:srgbClr val="FFFFFF"/>
              </a:solidFill>
              <a:latin typeface="IBM Plex Sans" panose="020B0503050203000203" pitchFamily="34" charset="77"/>
            </a:endParaRPr>
          </a:p>
        </p:txBody>
      </p:sp>
      <p:sp>
        <p:nvSpPr>
          <p:cNvPr id="101" name="Shape 15">
            <a:extLst>
              <a:ext uri="{FF2B5EF4-FFF2-40B4-BE49-F238E27FC236}">
                <a16:creationId xmlns:a16="http://schemas.microsoft.com/office/drawing/2014/main" id="{B25BB18C-2F1D-3D41-32EA-732E79D23338}"/>
              </a:ext>
            </a:extLst>
          </p:cNvPr>
          <p:cNvSpPr/>
          <p:nvPr/>
        </p:nvSpPr>
        <p:spPr>
          <a:xfrm>
            <a:off x="3792458" y="2482588"/>
            <a:ext cx="1965960" cy="2331720"/>
          </a:xfrm>
          <a:prstGeom prst="rect">
            <a:avLst/>
          </a:prstGeom>
          <a:solidFill>
            <a:srgbClr val="94B8D0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102" name="Shape 16">
            <a:extLst>
              <a:ext uri="{FF2B5EF4-FFF2-40B4-BE49-F238E27FC236}">
                <a16:creationId xmlns:a16="http://schemas.microsoft.com/office/drawing/2014/main" id="{4A67BC1B-3CB6-F8E7-D9D4-6DB0BD262CDE}"/>
              </a:ext>
            </a:extLst>
          </p:cNvPr>
          <p:cNvSpPr/>
          <p:nvPr/>
        </p:nvSpPr>
        <p:spPr>
          <a:xfrm>
            <a:off x="3792458" y="2482588"/>
            <a:ext cx="1965960" cy="45720"/>
          </a:xfrm>
          <a:prstGeom prst="rect">
            <a:avLst/>
          </a:prstGeom>
          <a:solidFill>
            <a:srgbClr val="121E3B"/>
          </a:solidFill>
          <a:ln w="12700">
            <a:solidFill>
              <a:srgbClr val="121E3B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103" name="Shape 17">
            <a:extLst>
              <a:ext uri="{FF2B5EF4-FFF2-40B4-BE49-F238E27FC236}">
                <a16:creationId xmlns:a16="http://schemas.microsoft.com/office/drawing/2014/main" id="{14A6031D-A6E0-A0A0-7B30-997E54D51B85}"/>
              </a:ext>
            </a:extLst>
          </p:cNvPr>
          <p:cNvSpPr/>
          <p:nvPr/>
        </p:nvSpPr>
        <p:spPr>
          <a:xfrm>
            <a:off x="3975338" y="2665468"/>
            <a:ext cx="594360" cy="59436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pPr algn="ctr"/>
            <a:r>
              <a:rPr lang="en-US" sz="1400" dirty="0">
                <a:solidFill>
                  <a:srgbClr val="C1BC9C"/>
                </a:solidFill>
                <a:latin typeface="IBM Plex Sans" panose="020B0503050203000203" pitchFamily="34" charset="77"/>
              </a:rPr>
              <a:t>01</a:t>
            </a:r>
            <a:endParaRPr lang="en-001" sz="1400">
              <a:solidFill>
                <a:srgbClr val="C1BC9C"/>
              </a:solidFill>
              <a:latin typeface="IBM Plex Sans" panose="020B0503050203000203" pitchFamily="34" charset="77"/>
            </a:endParaRPr>
          </a:p>
        </p:txBody>
      </p:sp>
      <p:sp>
        <p:nvSpPr>
          <p:cNvPr id="104" name="Text 18">
            <a:extLst>
              <a:ext uri="{FF2B5EF4-FFF2-40B4-BE49-F238E27FC236}">
                <a16:creationId xmlns:a16="http://schemas.microsoft.com/office/drawing/2014/main" id="{729E9A58-7640-A27B-8104-C2998A4F014A}"/>
              </a:ext>
            </a:extLst>
          </p:cNvPr>
          <p:cNvSpPr/>
          <p:nvPr/>
        </p:nvSpPr>
        <p:spPr>
          <a:xfrm>
            <a:off x="3929618" y="33512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1E3B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Joule for Business Users</a:t>
            </a:r>
            <a:endParaRPr lang="en-US" sz="1300" dirty="0">
              <a:solidFill>
                <a:srgbClr val="121E3B"/>
              </a:solidFill>
              <a:latin typeface="IBM Plex Sans" panose="020B0503050203000203" pitchFamily="34" charset="77"/>
            </a:endParaRPr>
          </a:p>
        </p:txBody>
      </p:sp>
      <p:sp>
        <p:nvSpPr>
          <p:cNvPr id="105" name="Text 19">
            <a:extLst>
              <a:ext uri="{FF2B5EF4-FFF2-40B4-BE49-F238E27FC236}">
                <a16:creationId xmlns:a16="http://schemas.microsoft.com/office/drawing/2014/main" id="{7C1B93E0-395B-9520-116D-DD9CA054455D}"/>
              </a:ext>
            </a:extLst>
          </p:cNvPr>
          <p:cNvSpPr/>
          <p:nvPr/>
        </p:nvSpPr>
        <p:spPr>
          <a:xfrm>
            <a:off x="3929618" y="394562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Natural-language access to HR, Finance, Supply Chain and CX data inside SAP apps</a:t>
            </a:r>
            <a:endParaRPr lang="en-US" sz="1050" dirty="0">
              <a:solidFill>
                <a:srgbClr val="FFFFFF"/>
              </a:solidFill>
              <a:latin typeface="IBM Plex Sans" panose="020B0503050203000203" pitchFamily="34" charset="77"/>
            </a:endParaRPr>
          </a:p>
        </p:txBody>
      </p:sp>
      <p:sp>
        <p:nvSpPr>
          <p:cNvPr id="106" name="Shape 20">
            <a:extLst>
              <a:ext uri="{FF2B5EF4-FFF2-40B4-BE49-F238E27FC236}">
                <a16:creationId xmlns:a16="http://schemas.microsoft.com/office/drawing/2014/main" id="{654BC0FD-17A5-EE9A-A285-3AECF6FC8A26}"/>
              </a:ext>
            </a:extLst>
          </p:cNvPr>
          <p:cNvSpPr/>
          <p:nvPr/>
        </p:nvSpPr>
        <p:spPr>
          <a:xfrm>
            <a:off x="5895218" y="2482588"/>
            <a:ext cx="1965600" cy="2331720"/>
          </a:xfrm>
          <a:prstGeom prst="rect">
            <a:avLst/>
          </a:prstGeom>
          <a:solidFill>
            <a:srgbClr val="94B8D0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107" name="Shape 21">
            <a:extLst>
              <a:ext uri="{FF2B5EF4-FFF2-40B4-BE49-F238E27FC236}">
                <a16:creationId xmlns:a16="http://schemas.microsoft.com/office/drawing/2014/main" id="{5BD19B7A-A131-B740-0BE6-E80AD64D72B9}"/>
              </a:ext>
            </a:extLst>
          </p:cNvPr>
          <p:cNvSpPr/>
          <p:nvPr/>
        </p:nvSpPr>
        <p:spPr>
          <a:xfrm>
            <a:off x="5895218" y="2482588"/>
            <a:ext cx="1965600" cy="45720"/>
          </a:xfrm>
          <a:prstGeom prst="rect">
            <a:avLst/>
          </a:prstGeom>
          <a:solidFill>
            <a:srgbClr val="121E3B"/>
          </a:solidFill>
          <a:ln w="12700">
            <a:solidFill>
              <a:srgbClr val="121E3B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108" name="Shape 22">
            <a:extLst>
              <a:ext uri="{FF2B5EF4-FFF2-40B4-BE49-F238E27FC236}">
                <a16:creationId xmlns:a16="http://schemas.microsoft.com/office/drawing/2014/main" id="{F2366FFF-22C4-761A-28CA-33957FA61D76}"/>
              </a:ext>
            </a:extLst>
          </p:cNvPr>
          <p:cNvSpPr/>
          <p:nvPr/>
        </p:nvSpPr>
        <p:spPr>
          <a:xfrm>
            <a:off x="6188186" y="2665468"/>
            <a:ext cx="594360" cy="59436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pPr algn="ctr"/>
            <a:r>
              <a:rPr lang="en-US" sz="1400" dirty="0">
                <a:solidFill>
                  <a:srgbClr val="C1BC9C"/>
                </a:solidFill>
                <a:latin typeface="IBM Plex Sans" panose="020B0503050203000203" pitchFamily="34" charset="77"/>
              </a:rPr>
              <a:t>02</a:t>
            </a:r>
            <a:endParaRPr lang="en-001" sz="1400">
              <a:solidFill>
                <a:srgbClr val="C1BC9C"/>
              </a:solidFill>
              <a:latin typeface="IBM Plex Sans" panose="020B0503050203000203" pitchFamily="34" charset="77"/>
            </a:endParaRPr>
          </a:p>
        </p:txBody>
      </p:sp>
      <p:sp>
        <p:nvSpPr>
          <p:cNvPr id="109" name="Text 23">
            <a:extLst>
              <a:ext uri="{FF2B5EF4-FFF2-40B4-BE49-F238E27FC236}">
                <a16:creationId xmlns:a16="http://schemas.microsoft.com/office/drawing/2014/main" id="{7C0E78AE-38FD-73F3-3796-B9135AB27031}"/>
              </a:ext>
            </a:extLst>
          </p:cNvPr>
          <p:cNvSpPr/>
          <p:nvPr/>
        </p:nvSpPr>
        <p:spPr>
          <a:xfrm>
            <a:off x="6029361" y="33512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1E3B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Joule Studio</a:t>
            </a:r>
            <a:endParaRPr lang="en-US" sz="1300" dirty="0">
              <a:solidFill>
                <a:srgbClr val="121E3B"/>
              </a:solidFill>
              <a:latin typeface="IBM Plex Sans" panose="020B0503050203000203" pitchFamily="34" charset="77"/>
            </a:endParaRPr>
          </a:p>
        </p:txBody>
      </p:sp>
      <p:sp>
        <p:nvSpPr>
          <p:cNvPr id="110" name="Text 24">
            <a:extLst>
              <a:ext uri="{FF2B5EF4-FFF2-40B4-BE49-F238E27FC236}">
                <a16:creationId xmlns:a16="http://schemas.microsoft.com/office/drawing/2014/main" id="{BC66F4B5-7C13-255D-2B61-60E25E1CEFCC}"/>
              </a:ext>
            </a:extLst>
          </p:cNvPr>
          <p:cNvSpPr/>
          <p:nvPr/>
        </p:nvSpPr>
        <p:spPr>
          <a:xfrm>
            <a:off x="6029361" y="3945628"/>
            <a:ext cx="1523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Build custom AI skills and agents that plug Joule into your specific workflows</a:t>
            </a:r>
            <a:endParaRPr lang="en-US" sz="1050" dirty="0">
              <a:solidFill>
                <a:srgbClr val="FFFFFF"/>
              </a:solidFill>
              <a:latin typeface="IBM Plex Sans" panose="020B0503050203000203" pitchFamily="34" charset="77"/>
            </a:endParaRPr>
          </a:p>
        </p:txBody>
      </p:sp>
      <p:sp>
        <p:nvSpPr>
          <p:cNvPr id="111" name="Shape 25">
            <a:extLst>
              <a:ext uri="{FF2B5EF4-FFF2-40B4-BE49-F238E27FC236}">
                <a16:creationId xmlns:a16="http://schemas.microsoft.com/office/drawing/2014/main" id="{9B43924F-3219-8424-6495-425291E96600}"/>
              </a:ext>
            </a:extLst>
          </p:cNvPr>
          <p:cNvSpPr/>
          <p:nvPr/>
        </p:nvSpPr>
        <p:spPr>
          <a:xfrm>
            <a:off x="7997618" y="2482588"/>
            <a:ext cx="1965600" cy="2331720"/>
          </a:xfrm>
          <a:prstGeom prst="rect">
            <a:avLst/>
          </a:prstGeom>
          <a:solidFill>
            <a:srgbClr val="94B8D0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112" name="Shape 26">
            <a:extLst>
              <a:ext uri="{FF2B5EF4-FFF2-40B4-BE49-F238E27FC236}">
                <a16:creationId xmlns:a16="http://schemas.microsoft.com/office/drawing/2014/main" id="{8E977D47-6A85-5CE1-B819-10DDE1BDF861}"/>
              </a:ext>
            </a:extLst>
          </p:cNvPr>
          <p:cNvSpPr/>
          <p:nvPr/>
        </p:nvSpPr>
        <p:spPr>
          <a:xfrm>
            <a:off x="7997618" y="2482588"/>
            <a:ext cx="1965600" cy="45720"/>
          </a:xfrm>
          <a:prstGeom prst="rect">
            <a:avLst/>
          </a:prstGeom>
          <a:solidFill>
            <a:srgbClr val="121E3B"/>
          </a:solidFill>
          <a:ln w="12700">
            <a:solidFill>
              <a:srgbClr val="121E3B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113" name="Shape 27">
            <a:extLst>
              <a:ext uri="{FF2B5EF4-FFF2-40B4-BE49-F238E27FC236}">
                <a16:creationId xmlns:a16="http://schemas.microsoft.com/office/drawing/2014/main" id="{DCFAE791-97B4-C416-2787-035D98A08886}"/>
              </a:ext>
            </a:extLst>
          </p:cNvPr>
          <p:cNvSpPr/>
          <p:nvPr/>
        </p:nvSpPr>
        <p:spPr>
          <a:xfrm>
            <a:off x="8154146" y="2665468"/>
            <a:ext cx="594360" cy="59436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pPr algn="ctr"/>
            <a:r>
              <a:rPr lang="en-US" sz="1400" dirty="0">
                <a:solidFill>
                  <a:srgbClr val="C1BC9C"/>
                </a:solidFill>
                <a:latin typeface="IBM Plex Sans" panose="020B0503050203000203" pitchFamily="34" charset="77"/>
              </a:rPr>
              <a:t>03</a:t>
            </a:r>
            <a:endParaRPr lang="en-001" sz="1400">
              <a:solidFill>
                <a:srgbClr val="C1BC9C"/>
              </a:solidFill>
              <a:latin typeface="IBM Plex Sans" panose="020B0503050203000203" pitchFamily="34" charset="77"/>
            </a:endParaRPr>
          </a:p>
        </p:txBody>
      </p:sp>
      <p:sp>
        <p:nvSpPr>
          <p:cNvPr id="114" name="Text 28">
            <a:extLst>
              <a:ext uri="{FF2B5EF4-FFF2-40B4-BE49-F238E27FC236}">
                <a16:creationId xmlns:a16="http://schemas.microsoft.com/office/drawing/2014/main" id="{DB2A8D19-09A7-6847-52D4-D8935F1AAAE9}"/>
              </a:ext>
            </a:extLst>
          </p:cNvPr>
          <p:cNvSpPr/>
          <p:nvPr/>
        </p:nvSpPr>
        <p:spPr>
          <a:xfrm>
            <a:off x="8108426" y="33512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1E3B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Joule Agents</a:t>
            </a:r>
            <a:endParaRPr lang="en-US" sz="1300" dirty="0">
              <a:solidFill>
                <a:srgbClr val="121E3B"/>
              </a:solidFill>
              <a:latin typeface="IBM Plex Sans" panose="020B0503050203000203" pitchFamily="34" charset="77"/>
            </a:endParaRPr>
          </a:p>
        </p:txBody>
      </p:sp>
      <p:sp>
        <p:nvSpPr>
          <p:cNvPr id="115" name="Text 29">
            <a:extLst>
              <a:ext uri="{FF2B5EF4-FFF2-40B4-BE49-F238E27FC236}">
                <a16:creationId xmlns:a16="http://schemas.microsoft.com/office/drawing/2014/main" id="{37B612A1-C329-977B-3991-5FD3BE7056BD}"/>
              </a:ext>
            </a:extLst>
          </p:cNvPr>
          <p:cNvSpPr/>
          <p:nvPr/>
        </p:nvSpPr>
        <p:spPr>
          <a:xfrm>
            <a:off x="8108426" y="3945628"/>
            <a:ext cx="141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Autonomous cross-app agents for Concur, Ariba, Fieldglass and ITSM scenarios</a:t>
            </a:r>
            <a:endParaRPr lang="en-US" sz="1050" dirty="0">
              <a:solidFill>
                <a:srgbClr val="FFFFFF"/>
              </a:solidFill>
              <a:latin typeface="IBM Plex Sans" panose="020B0503050203000203" pitchFamily="34" charset="77"/>
            </a:endParaRPr>
          </a:p>
        </p:txBody>
      </p:sp>
      <p:sp>
        <p:nvSpPr>
          <p:cNvPr id="116" name="Shape 30">
            <a:extLst>
              <a:ext uri="{FF2B5EF4-FFF2-40B4-BE49-F238E27FC236}">
                <a16:creationId xmlns:a16="http://schemas.microsoft.com/office/drawing/2014/main" id="{9CD96C88-6833-306F-6177-64180A7374CC}"/>
              </a:ext>
            </a:extLst>
          </p:cNvPr>
          <p:cNvSpPr/>
          <p:nvPr/>
        </p:nvSpPr>
        <p:spPr>
          <a:xfrm>
            <a:off x="10100018" y="2482588"/>
            <a:ext cx="1965600" cy="2331720"/>
          </a:xfrm>
          <a:prstGeom prst="rect">
            <a:avLst/>
          </a:prstGeom>
          <a:solidFill>
            <a:srgbClr val="94B8D0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117" name="Shape 31">
            <a:extLst>
              <a:ext uri="{FF2B5EF4-FFF2-40B4-BE49-F238E27FC236}">
                <a16:creationId xmlns:a16="http://schemas.microsoft.com/office/drawing/2014/main" id="{DDB1586C-CA74-7A7E-CB9E-7395D7EB1407}"/>
              </a:ext>
            </a:extLst>
          </p:cNvPr>
          <p:cNvSpPr/>
          <p:nvPr/>
        </p:nvSpPr>
        <p:spPr>
          <a:xfrm>
            <a:off x="10100018" y="2482588"/>
            <a:ext cx="1965600" cy="45720"/>
          </a:xfrm>
          <a:prstGeom prst="rect">
            <a:avLst/>
          </a:prstGeom>
          <a:solidFill>
            <a:srgbClr val="121E3B"/>
          </a:solidFill>
          <a:ln w="12700">
            <a:solidFill>
              <a:srgbClr val="121E3B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118" name="Shape 32">
            <a:extLst>
              <a:ext uri="{FF2B5EF4-FFF2-40B4-BE49-F238E27FC236}">
                <a16:creationId xmlns:a16="http://schemas.microsoft.com/office/drawing/2014/main" id="{47EABE05-8916-13C5-D5A6-27A8140AB181}"/>
              </a:ext>
            </a:extLst>
          </p:cNvPr>
          <p:cNvSpPr/>
          <p:nvPr/>
        </p:nvSpPr>
        <p:spPr>
          <a:xfrm>
            <a:off x="10282538" y="2665468"/>
            <a:ext cx="594360" cy="59436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pPr algn="ctr"/>
            <a:r>
              <a:rPr lang="en-US" sz="1400" dirty="0">
                <a:solidFill>
                  <a:srgbClr val="C1BC9C"/>
                </a:solidFill>
                <a:latin typeface="IBM Plex Sans" panose="020B0503050203000203" pitchFamily="34" charset="77"/>
              </a:rPr>
              <a:t>04</a:t>
            </a:r>
            <a:endParaRPr lang="en-001" sz="1400">
              <a:solidFill>
                <a:srgbClr val="C1BC9C"/>
              </a:solidFill>
              <a:latin typeface="IBM Plex Sans" panose="020B0503050203000203" pitchFamily="34" charset="77"/>
            </a:endParaRPr>
          </a:p>
        </p:txBody>
      </p:sp>
      <p:sp>
        <p:nvSpPr>
          <p:cNvPr id="119" name="Text 33">
            <a:extLst>
              <a:ext uri="{FF2B5EF4-FFF2-40B4-BE49-F238E27FC236}">
                <a16:creationId xmlns:a16="http://schemas.microsoft.com/office/drawing/2014/main" id="{A578024A-7EC1-4DAA-53F8-D9829F5D9691}"/>
              </a:ext>
            </a:extLst>
          </p:cNvPr>
          <p:cNvSpPr/>
          <p:nvPr/>
        </p:nvSpPr>
        <p:spPr>
          <a:xfrm>
            <a:off x="10236818" y="33512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1E3B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Joule for Developers</a:t>
            </a:r>
            <a:endParaRPr lang="en-US" sz="1300" dirty="0">
              <a:solidFill>
                <a:srgbClr val="121E3B"/>
              </a:solidFill>
              <a:latin typeface="IBM Plex Sans" panose="020B0503050203000203" pitchFamily="34" charset="77"/>
            </a:endParaRPr>
          </a:p>
        </p:txBody>
      </p:sp>
      <p:sp>
        <p:nvSpPr>
          <p:cNvPr id="120" name="Text 34">
            <a:extLst>
              <a:ext uri="{FF2B5EF4-FFF2-40B4-BE49-F238E27FC236}">
                <a16:creationId xmlns:a16="http://schemas.microsoft.com/office/drawing/2014/main" id="{5E53A5E7-2B89-8371-C7A4-E2AB2E888757}"/>
              </a:ext>
            </a:extLst>
          </p:cNvPr>
          <p:cNvSpPr/>
          <p:nvPr/>
        </p:nvSpPr>
        <p:spPr>
          <a:xfrm>
            <a:off x="10236818" y="3945628"/>
            <a:ext cx="13747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ABAP / CAP code generation, unit-test scaffolding and dev acceleration</a:t>
            </a:r>
            <a:endParaRPr lang="en-US" sz="1050" dirty="0">
              <a:solidFill>
                <a:srgbClr val="FFFFFF"/>
              </a:solidFill>
              <a:latin typeface="IBM Plex Sans" panose="020B0503050203000203" pitchFamily="34" charset="77"/>
            </a:endParaRPr>
          </a:p>
        </p:txBody>
      </p:sp>
      <p:sp>
        <p:nvSpPr>
          <p:cNvPr id="121" name="Shape 35">
            <a:extLst>
              <a:ext uri="{FF2B5EF4-FFF2-40B4-BE49-F238E27FC236}">
                <a16:creationId xmlns:a16="http://schemas.microsoft.com/office/drawing/2014/main" id="{75F19573-D6A1-329E-4775-253C9A593385}"/>
              </a:ext>
            </a:extLst>
          </p:cNvPr>
          <p:cNvSpPr/>
          <p:nvPr/>
        </p:nvSpPr>
        <p:spPr>
          <a:xfrm>
            <a:off x="3792458" y="4951468"/>
            <a:ext cx="8273160" cy="960120"/>
          </a:xfrm>
          <a:prstGeom prst="rect">
            <a:avLst/>
          </a:prstGeom>
          <a:solidFill>
            <a:srgbClr val="3F74A2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122" name="Shape 36">
            <a:extLst>
              <a:ext uri="{FF2B5EF4-FFF2-40B4-BE49-F238E27FC236}">
                <a16:creationId xmlns:a16="http://schemas.microsoft.com/office/drawing/2014/main" id="{5854D3C1-8AEB-5E1B-3B25-8B7FA135903E}"/>
              </a:ext>
            </a:extLst>
          </p:cNvPr>
          <p:cNvSpPr/>
          <p:nvPr/>
        </p:nvSpPr>
        <p:spPr>
          <a:xfrm>
            <a:off x="3792458" y="4951468"/>
            <a:ext cx="8273160" cy="45720"/>
          </a:xfrm>
          <a:prstGeom prst="rect">
            <a:avLst/>
          </a:prstGeom>
          <a:solidFill>
            <a:srgbClr val="C1BC9C"/>
          </a:solidFill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123" name="Text 37">
            <a:extLst>
              <a:ext uri="{FF2B5EF4-FFF2-40B4-BE49-F238E27FC236}">
                <a16:creationId xmlns:a16="http://schemas.microsoft.com/office/drawing/2014/main" id="{8BF88D74-2B20-E05B-4469-DBBEA5D15D71}"/>
              </a:ext>
            </a:extLst>
          </p:cNvPr>
          <p:cNvSpPr/>
          <p:nvPr/>
        </p:nvSpPr>
        <p:spPr>
          <a:xfrm>
            <a:off x="3929618" y="500176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SOLUTIONS AND OFFERINGS</a:t>
            </a:r>
            <a:endParaRPr lang="en-US" sz="1300" dirty="0">
              <a:solidFill>
                <a:srgbClr val="FFFFFF"/>
              </a:solidFill>
              <a:latin typeface="IBM Plex Sans" panose="020B0503050203000203" pitchFamily="34" charset="77"/>
            </a:endParaRPr>
          </a:p>
        </p:txBody>
      </p:sp>
      <p:sp>
        <p:nvSpPr>
          <p:cNvPr id="124" name="Text 38">
            <a:extLst>
              <a:ext uri="{FF2B5EF4-FFF2-40B4-BE49-F238E27FC236}">
                <a16:creationId xmlns:a16="http://schemas.microsoft.com/office/drawing/2014/main" id="{973392AC-B133-0D8E-7F0B-6477A2ADE8F9}"/>
              </a:ext>
            </a:extLst>
          </p:cNvPr>
          <p:cNvSpPr/>
          <p:nvPr/>
        </p:nvSpPr>
        <p:spPr>
          <a:xfrm>
            <a:off x="3929618" y="5308084"/>
            <a:ext cx="813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Joule activation for SF &amp; S/4HANA  ·  Joule Studio custom agents  ·  Joule + Claude interop  ·  Adoption &amp; change management for AI assistants</a:t>
            </a:r>
            <a:endParaRPr lang="en-US" sz="1150" dirty="0">
              <a:solidFill>
                <a:srgbClr val="FFFFFF"/>
              </a:solidFill>
              <a:latin typeface="IBM Plex Sans" panose="020B050305020300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911047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90F397-C975-4F45-083F-5E0EC9345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5E0635EB-B875-F2C8-A2CE-4CD5215856F8}"/>
              </a:ext>
            </a:extLst>
          </p:cNvPr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 •  CLEAN CORE EXTENSIBILITY CAPABILITIES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5B75F6A-C69D-BCE9-6038-591AC1B3A23F}"/>
              </a:ext>
            </a:extLst>
          </p:cNvPr>
          <p:cNvSpPr/>
          <p:nvPr/>
        </p:nvSpPr>
        <p:spPr>
          <a:xfrm>
            <a:off x="458081" y="1011133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Extending SAP,</a:t>
            </a:r>
            <a:endParaRPr lang="en-US" sz="2800" dirty="0"/>
          </a:p>
        </p:txBody>
      </p:sp>
      <p:sp>
        <p:nvSpPr>
          <p:cNvPr id="68" name="Text 57">
            <a:extLst>
              <a:ext uri="{FF2B5EF4-FFF2-40B4-BE49-F238E27FC236}">
                <a16:creationId xmlns:a16="http://schemas.microsoft.com/office/drawing/2014/main" id="{5913BFE3-0D14-8428-051C-E0B8E5A7EE0A}"/>
              </a:ext>
            </a:extLst>
          </p:cNvPr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69" name="Text 58">
            <a:extLst>
              <a:ext uri="{FF2B5EF4-FFF2-40B4-BE49-F238E27FC236}">
                <a16:creationId xmlns:a16="http://schemas.microsoft.com/office/drawing/2014/main" id="{42746599-C538-2491-1A3B-18BCCCEBA8CE}"/>
              </a:ext>
            </a:extLst>
          </p:cNvPr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</a:t>
            </a:r>
            <a:endParaRPr lang="en-US" sz="900" dirty="0"/>
          </a:p>
        </p:txBody>
      </p:sp>
      <p:sp>
        <p:nvSpPr>
          <p:cNvPr id="70" name="Rectangle 6">
            <a:extLst>
              <a:ext uri="{FF2B5EF4-FFF2-40B4-BE49-F238E27FC236}">
                <a16:creationId xmlns:a16="http://schemas.microsoft.com/office/drawing/2014/main" id="{9CC6DF55-3C07-D144-2D34-C9FF8FA7AAB4}"/>
              </a:ext>
            </a:extLst>
          </p:cNvPr>
          <p:cNvSpPr>
            <a:spLocks noChangeAspect="1"/>
          </p:cNvSpPr>
          <p:nvPr/>
        </p:nvSpPr>
        <p:spPr>
          <a:xfrm>
            <a:off x="11162371" y="145576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 6">
            <a:extLst>
              <a:ext uri="{FF2B5EF4-FFF2-40B4-BE49-F238E27FC236}">
                <a16:creationId xmlns:a16="http://schemas.microsoft.com/office/drawing/2014/main" id="{CA545FC3-D122-8D92-680E-EC7418D7B594}"/>
              </a:ext>
            </a:extLst>
          </p:cNvPr>
          <p:cNvSpPr>
            <a:spLocks noChangeAspect="1"/>
          </p:cNvSpPr>
          <p:nvPr/>
        </p:nvSpPr>
        <p:spPr>
          <a:xfrm>
            <a:off x="10924478" y="398337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Shape 37">
            <a:extLst>
              <a:ext uri="{FF2B5EF4-FFF2-40B4-BE49-F238E27FC236}">
                <a16:creationId xmlns:a16="http://schemas.microsoft.com/office/drawing/2014/main" id="{403A79FD-1610-34F1-B72E-560F991E9888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B7574667-F367-460C-9C7A-01DE80343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sp>
        <p:nvSpPr>
          <p:cNvPr id="2" name="Text 7">
            <a:extLst>
              <a:ext uri="{FF2B5EF4-FFF2-40B4-BE49-F238E27FC236}">
                <a16:creationId xmlns:a16="http://schemas.microsoft.com/office/drawing/2014/main" id="{C9042CEF-FEBD-D66C-0197-794A62A6FD1E}"/>
              </a:ext>
            </a:extLst>
          </p:cNvPr>
          <p:cNvSpPr/>
          <p:nvPr/>
        </p:nvSpPr>
        <p:spPr>
          <a:xfrm>
            <a:off x="458080" y="1444684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3F75A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Without modifying the core.</a:t>
            </a:r>
            <a:endParaRPr lang="en-US" sz="2800" dirty="0"/>
          </a:p>
        </p:txBody>
      </p:sp>
      <p:sp>
        <p:nvSpPr>
          <p:cNvPr id="4" name="Shape 9">
            <a:extLst>
              <a:ext uri="{FF2B5EF4-FFF2-40B4-BE49-F238E27FC236}">
                <a16:creationId xmlns:a16="http://schemas.microsoft.com/office/drawing/2014/main" id="{F25C05B4-3EB3-8013-8633-C4C3E6D19509}"/>
              </a:ext>
            </a:extLst>
          </p:cNvPr>
          <p:cNvSpPr/>
          <p:nvPr/>
        </p:nvSpPr>
        <p:spPr>
          <a:xfrm>
            <a:off x="502920" y="2359016"/>
            <a:ext cx="4434840" cy="3794828"/>
          </a:xfrm>
          <a:prstGeom prst="rect">
            <a:avLst/>
          </a:prstGeom>
          <a:solidFill>
            <a:srgbClr val="94B8D0"/>
          </a:solidFill>
          <a:ln w="9525">
            <a:noFill/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" name="Shape 13">
            <a:extLst>
              <a:ext uri="{FF2B5EF4-FFF2-40B4-BE49-F238E27FC236}">
                <a16:creationId xmlns:a16="http://schemas.microsoft.com/office/drawing/2014/main" id="{36EBF66C-5CE6-2504-6642-E20FCF5C5487}"/>
              </a:ext>
            </a:extLst>
          </p:cNvPr>
          <p:cNvSpPr/>
          <p:nvPr/>
        </p:nvSpPr>
        <p:spPr>
          <a:xfrm>
            <a:off x="5074920" y="2359016"/>
            <a:ext cx="4297680" cy="3794828"/>
          </a:xfrm>
          <a:prstGeom prst="rect">
            <a:avLst/>
          </a:prstGeom>
          <a:solidFill>
            <a:srgbClr val="94B8D0"/>
          </a:solidFill>
          <a:ln w="9525">
            <a:noFill/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0" name="Shape 17">
            <a:extLst>
              <a:ext uri="{FF2B5EF4-FFF2-40B4-BE49-F238E27FC236}">
                <a16:creationId xmlns:a16="http://schemas.microsoft.com/office/drawing/2014/main" id="{0F91FC28-10C7-3C98-B834-A4CAA0FA4448}"/>
              </a:ext>
            </a:extLst>
          </p:cNvPr>
          <p:cNvSpPr/>
          <p:nvPr/>
        </p:nvSpPr>
        <p:spPr>
          <a:xfrm>
            <a:off x="9541725" y="2350858"/>
            <a:ext cx="2286000" cy="3804018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1" name="Shape 18">
            <a:extLst>
              <a:ext uri="{FF2B5EF4-FFF2-40B4-BE49-F238E27FC236}">
                <a16:creationId xmlns:a16="http://schemas.microsoft.com/office/drawing/2014/main" id="{F03C6B41-55CE-12DB-D851-607FFD199567}"/>
              </a:ext>
            </a:extLst>
          </p:cNvPr>
          <p:cNvSpPr/>
          <p:nvPr/>
        </p:nvSpPr>
        <p:spPr>
          <a:xfrm>
            <a:off x="9540815" y="2347865"/>
            <a:ext cx="2286000" cy="64008"/>
          </a:xfrm>
          <a:prstGeom prst="rect">
            <a:avLst/>
          </a:prstGeom>
          <a:solidFill>
            <a:srgbClr val="C1BC9C"/>
          </a:solidFill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2" name="Text 19">
            <a:extLst>
              <a:ext uri="{FF2B5EF4-FFF2-40B4-BE49-F238E27FC236}">
                <a16:creationId xmlns:a16="http://schemas.microsoft.com/office/drawing/2014/main" id="{2E4FEEB2-BB31-1CA6-C188-5FDAF4C74FDD}"/>
              </a:ext>
            </a:extLst>
          </p:cNvPr>
          <p:cNvSpPr/>
          <p:nvPr/>
        </p:nvSpPr>
        <p:spPr>
          <a:xfrm>
            <a:off x="9723695" y="2613983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HIGHLIGHTS</a:t>
            </a:r>
            <a:endParaRPr lang="en-US" sz="1300" dirty="0">
              <a:latin typeface="IBM Plex Sans" panose="020B0503050203000203" pitchFamily="34" charset="77"/>
            </a:endParaRPr>
          </a:p>
        </p:txBody>
      </p:sp>
      <p:sp>
        <p:nvSpPr>
          <p:cNvPr id="13" name="Shape 20">
            <a:extLst>
              <a:ext uri="{FF2B5EF4-FFF2-40B4-BE49-F238E27FC236}">
                <a16:creationId xmlns:a16="http://schemas.microsoft.com/office/drawing/2014/main" id="{4EB7723E-6966-3D00-B153-1C91EB853182}"/>
              </a:ext>
            </a:extLst>
          </p:cNvPr>
          <p:cNvSpPr/>
          <p:nvPr/>
        </p:nvSpPr>
        <p:spPr>
          <a:xfrm>
            <a:off x="9723695" y="2998031"/>
            <a:ext cx="411480" cy="0"/>
          </a:xfrm>
          <a:prstGeom prst="line">
            <a:avLst/>
          </a:prstGeom>
          <a:noFill/>
          <a:ln w="254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4" name="Text 21">
            <a:extLst>
              <a:ext uri="{FF2B5EF4-FFF2-40B4-BE49-F238E27FC236}">
                <a16:creationId xmlns:a16="http://schemas.microsoft.com/office/drawing/2014/main" id="{D235A39A-8A5B-FF2B-7786-64F0700337FF}"/>
              </a:ext>
            </a:extLst>
          </p:cNvPr>
          <p:cNvSpPr/>
          <p:nvPr/>
        </p:nvSpPr>
        <p:spPr>
          <a:xfrm>
            <a:off x="9724605" y="3136133"/>
            <a:ext cx="1920240" cy="2909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8+ proprietary BTP-based extensions in production</a:t>
            </a:r>
            <a:endParaRPr lang="en-US" sz="1000" dirty="0">
              <a:latin typeface="IBM Plex Sans" panose="020B0503050203000203" pitchFamily="34" charset="77"/>
            </a:endParaRPr>
          </a:p>
          <a:p>
            <a:pPr marL="0" indent="0" algn="l"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Clean-core certified delivery approach</a:t>
            </a:r>
            <a:endParaRPr lang="en-US" sz="1000" dirty="0">
              <a:latin typeface="IBM Plex Sans" panose="020B0503050203000203" pitchFamily="34" charset="77"/>
            </a:endParaRPr>
          </a:p>
          <a:p>
            <a:pPr marL="0" indent="0" algn="l"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Extension accelerators reduce time-to-value by 40%</a:t>
            </a:r>
            <a:endParaRPr lang="en-US" sz="1000" dirty="0">
              <a:latin typeface="IBM Plex Sans" panose="020B0503050203000203" pitchFamily="34" charset="77"/>
            </a:endParaRPr>
          </a:p>
          <a:p>
            <a:pPr marL="0" indent="0" algn="l"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Joint Proof-of-Concept partner with SAP</a:t>
            </a:r>
            <a:endParaRPr lang="en-US" sz="1000" dirty="0">
              <a:latin typeface="IBM Plex Sans" panose="020B0503050203000203" pitchFamily="34" charset="77"/>
            </a:endParaRPr>
          </a:p>
          <a:p>
            <a:pPr marL="0" indent="0" algn="l"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Cross-stack team: ABAP, CAP, Fiori, Node, Java</a:t>
            </a:r>
            <a:endParaRPr lang="en-US" sz="1000" dirty="0">
              <a:latin typeface="IBM Plex Sans" panose="020B0503050203000203" pitchFamily="34" charset="77"/>
            </a:endParaRPr>
          </a:p>
          <a:p>
            <a:pPr marL="0" indent="0" algn="l"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DevOps-enabled CI/CD pipelines for SAP extensions</a:t>
            </a:r>
            <a:endParaRPr lang="en-US" sz="1000" dirty="0">
              <a:latin typeface="IBM Plex Sans" panose="020B0503050203000203" pitchFamily="34" charset="77"/>
            </a:endParaRPr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51B5FE23-FA4B-5B7E-33F2-D0725E5EE642}"/>
              </a:ext>
            </a:extLst>
          </p:cNvPr>
          <p:cNvSpPr/>
          <p:nvPr/>
        </p:nvSpPr>
        <p:spPr>
          <a:xfrm>
            <a:off x="800100" y="2522543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1E3B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SuccessFactors Extensions</a:t>
            </a:r>
            <a:endParaRPr lang="en-US" sz="1600" dirty="0">
              <a:solidFill>
                <a:srgbClr val="121E3B"/>
              </a:solidFill>
              <a:latin typeface="IBM Plex Sans" panose="020B0503050203000203" pitchFamily="34" charset="77"/>
            </a:endParaRPr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7E14A0C2-D921-9DF4-9880-CA4996FC4AC2}"/>
              </a:ext>
            </a:extLst>
          </p:cNvPr>
          <p:cNvSpPr/>
          <p:nvPr/>
        </p:nvSpPr>
        <p:spPr>
          <a:xfrm>
            <a:off x="626325" y="3136393"/>
            <a:ext cx="40690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1150" dirty="0">
                <a:solidFill>
                  <a:schemeClr val="bg1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Custom UI extensions using SAPUI5 / Fiori on BTP</a:t>
            </a:r>
            <a:endParaRPr lang="en-US" sz="1150" dirty="0">
              <a:solidFill>
                <a:schemeClr val="bg1"/>
              </a:solidFill>
              <a:latin typeface="IBM Plex Sans" panose="020B0503050203000203" pitchFamily="34" charset="77"/>
            </a:endParaRPr>
          </a:p>
          <a:p>
            <a:pPr marL="342900" indent="-342900"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1150" dirty="0">
                <a:solidFill>
                  <a:schemeClr val="bg1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Workzone for HR — digital front-door experience</a:t>
            </a:r>
            <a:endParaRPr lang="en-US" sz="1150" dirty="0">
              <a:solidFill>
                <a:schemeClr val="bg1"/>
              </a:solidFill>
              <a:latin typeface="IBM Plex Sans" panose="020B0503050203000203" pitchFamily="34" charset="77"/>
            </a:endParaRPr>
          </a:p>
          <a:p>
            <a:pPr marL="342900" indent="-342900"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1150" dirty="0">
                <a:solidFill>
                  <a:schemeClr val="bg1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Visa &amp; Permit Management proprietary solution</a:t>
            </a:r>
            <a:endParaRPr lang="en-US" sz="1150" dirty="0">
              <a:solidFill>
                <a:schemeClr val="bg1"/>
              </a:solidFill>
              <a:latin typeface="IBM Plex Sans" panose="020B0503050203000203" pitchFamily="34" charset="77"/>
            </a:endParaRPr>
          </a:p>
          <a:p>
            <a:pPr marL="342900" indent="-342900"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1150" dirty="0">
                <a:solidFill>
                  <a:schemeClr val="bg1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Shift Scheduling and Rostering applications</a:t>
            </a:r>
            <a:endParaRPr lang="en-US" sz="1150" dirty="0">
              <a:solidFill>
                <a:schemeClr val="bg1"/>
              </a:solidFill>
              <a:latin typeface="IBM Plex Sans" panose="020B0503050203000203" pitchFamily="34" charset="77"/>
            </a:endParaRPr>
          </a:p>
          <a:p>
            <a:pPr marL="342900" indent="-342900"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1150" dirty="0">
                <a:solidFill>
                  <a:schemeClr val="bg1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iTAM — proprietary Time &amp; Attendance extension</a:t>
            </a:r>
            <a:endParaRPr lang="en-US" sz="1150" dirty="0">
              <a:solidFill>
                <a:schemeClr val="bg1"/>
              </a:solidFill>
              <a:latin typeface="IBM Plex Sans" panose="020B0503050203000203" pitchFamily="34" charset="77"/>
            </a:endParaRPr>
          </a:p>
          <a:p>
            <a:pPr marL="342900" indent="-342900"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1150" dirty="0">
                <a:solidFill>
                  <a:schemeClr val="bg1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Integrations to payroll, finance and 3rd-party HRMS</a:t>
            </a:r>
            <a:endParaRPr lang="en-US" sz="1150" dirty="0">
              <a:solidFill>
                <a:schemeClr val="bg1"/>
              </a:solidFill>
              <a:latin typeface="IBM Plex Sans" panose="020B0503050203000203" pitchFamily="34" charset="77"/>
            </a:endParaRPr>
          </a:p>
          <a:p>
            <a:pPr marL="342900" indent="-342900"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1150" dirty="0">
                <a:solidFill>
                  <a:schemeClr val="bg1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Side-by-side apps via Cloud Foundry and Kyma runtimes</a:t>
            </a:r>
            <a:endParaRPr lang="en-US" sz="1150" dirty="0">
              <a:solidFill>
                <a:schemeClr val="bg1"/>
              </a:solidFill>
              <a:latin typeface="IBM Plex Sans" panose="020B0503050203000203" pitchFamily="34" charset="77"/>
            </a:endParaRP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3220D9B9-FD41-68DA-7474-5BD89777EF91}"/>
              </a:ext>
            </a:extLst>
          </p:cNvPr>
          <p:cNvSpPr/>
          <p:nvPr/>
        </p:nvSpPr>
        <p:spPr>
          <a:xfrm>
            <a:off x="5326380" y="2522543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1E3B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S/4HANA Extensions</a:t>
            </a:r>
            <a:endParaRPr lang="en-US" sz="1600" dirty="0">
              <a:solidFill>
                <a:srgbClr val="121E3B"/>
              </a:solidFill>
              <a:latin typeface="IBM Plex Sans" panose="020B0503050203000203" pitchFamily="34" charset="77"/>
            </a:endParaRPr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E9F75331-12FF-708A-B6E3-BDBE378BC1FC}"/>
              </a:ext>
            </a:extLst>
          </p:cNvPr>
          <p:cNvSpPr/>
          <p:nvPr/>
        </p:nvSpPr>
        <p:spPr>
          <a:xfrm>
            <a:off x="5198325" y="3136393"/>
            <a:ext cx="39319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1150" dirty="0">
                <a:solidFill>
                  <a:schemeClr val="bg1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Clean-core extensibility — ABAP Cloud, RAP, key-user tools</a:t>
            </a:r>
            <a:endParaRPr lang="en-US" sz="1150" dirty="0">
              <a:solidFill>
                <a:schemeClr val="bg1"/>
              </a:solidFill>
              <a:latin typeface="IBM Plex Sans" panose="020B0503050203000203" pitchFamily="34" charset="77"/>
            </a:endParaRPr>
          </a:p>
          <a:p>
            <a:pPr marL="342900" indent="-342900"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1150" dirty="0">
                <a:solidFill>
                  <a:schemeClr val="bg1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Side-by-side apps on BTP using CAP (Node.js / Java)</a:t>
            </a:r>
            <a:endParaRPr lang="en-US" sz="1150" dirty="0">
              <a:solidFill>
                <a:schemeClr val="bg1"/>
              </a:solidFill>
              <a:latin typeface="IBM Plex Sans" panose="020B0503050203000203" pitchFamily="34" charset="77"/>
            </a:endParaRPr>
          </a:p>
          <a:p>
            <a:pPr marL="342900" indent="-342900"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1150" dirty="0">
                <a:solidFill>
                  <a:schemeClr val="bg1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Fiori app development and custom analytical apps</a:t>
            </a:r>
            <a:endParaRPr lang="en-US" sz="1150" dirty="0">
              <a:solidFill>
                <a:schemeClr val="bg1"/>
              </a:solidFill>
              <a:latin typeface="IBM Plex Sans" panose="020B0503050203000203" pitchFamily="34" charset="77"/>
            </a:endParaRPr>
          </a:p>
          <a:p>
            <a:pPr marL="342900" indent="-342900"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1150" dirty="0">
                <a:solidFill>
                  <a:schemeClr val="bg1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Event-driven integration via SAP Event Mesh</a:t>
            </a:r>
            <a:endParaRPr lang="en-US" sz="1150" dirty="0">
              <a:solidFill>
                <a:schemeClr val="bg1"/>
              </a:solidFill>
              <a:latin typeface="IBM Plex Sans" panose="020B0503050203000203" pitchFamily="34" charset="77"/>
            </a:endParaRPr>
          </a:p>
          <a:p>
            <a:pPr marL="342900" indent="-342900"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1150" dirty="0">
                <a:solidFill>
                  <a:schemeClr val="bg1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Process automation with SAP Build Process Automation</a:t>
            </a:r>
            <a:endParaRPr lang="en-US" sz="1150" dirty="0">
              <a:solidFill>
                <a:schemeClr val="bg1"/>
              </a:solidFill>
              <a:latin typeface="IBM Plex Sans" panose="020B0503050203000203" pitchFamily="34" charset="77"/>
            </a:endParaRPr>
          </a:p>
          <a:p>
            <a:pPr marL="342900" indent="-342900"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1150" dirty="0">
                <a:solidFill>
                  <a:schemeClr val="bg1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Master-data harmonization across S/4 and SF</a:t>
            </a:r>
            <a:endParaRPr lang="en-US" sz="1150" dirty="0">
              <a:solidFill>
                <a:schemeClr val="bg1"/>
              </a:solidFill>
              <a:latin typeface="IBM Plex Sans" panose="020B0503050203000203" pitchFamily="34" charset="77"/>
            </a:endParaRPr>
          </a:p>
          <a:p>
            <a:pPr marL="342900" indent="-342900"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1150" dirty="0">
                <a:solidFill>
                  <a:schemeClr val="bg1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Migration of classic ABAP enhancements to BTP side-by-side</a:t>
            </a:r>
            <a:endParaRPr lang="en-US" sz="1150" dirty="0">
              <a:solidFill>
                <a:schemeClr val="bg1"/>
              </a:solidFill>
              <a:latin typeface="IBM Plex Sans" panose="020B050305020300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57475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5ADDE5-CDE0-54DF-F19B-59350492B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EAC2F4CA-E679-A713-BE85-CC37007F3C94}"/>
              </a:ext>
            </a:extLst>
          </p:cNvPr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 ·  SYNITI DATA MANAGEMENT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0ACEDB4-444E-4DF9-DC93-2873FBBD6030}"/>
              </a:ext>
            </a:extLst>
          </p:cNvPr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Data migration is the</a:t>
            </a:r>
            <a:endParaRPr lang="en-US" sz="2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8E3939E-C7ED-BC7C-F6DE-EB3FAAB703A7}"/>
              </a:ext>
            </a:extLst>
          </p:cNvPr>
          <p:cNvSpPr/>
          <p:nvPr/>
        </p:nvSpPr>
        <p:spPr>
          <a:xfrm>
            <a:off x="493314" y="148590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3F75A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real risk in S/4HANA.</a:t>
            </a:r>
            <a:endParaRPr lang="en-US" sz="2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10B67CE-E8DD-F4DB-3DDC-34D8522C6FB1}"/>
              </a:ext>
            </a:extLst>
          </p:cNvPr>
          <p:cNvSpPr/>
          <p:nvPr/>
        </p:nvSpPr>
        <p:spPr>
          <a:xfrm>
            <a:off x="492964" y="2066741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70% of SAP transformations slip because of data, not technology. Our Syniti practice combines SAP Advanced Data Migration (by Syniti) credentials with a proven five-stage migration approach.</a:t>
            </a:r>
            <a:endParaRPr lang="en-US" sz="13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3427E57-0743-C1DD-6ED0-62C2682EDB42}"/>
              </a:ext>
            </a:extLst>
          </p:cNvPr>
          <p:cNvSpPr/>
          <p:nvPr/>
        </p:nvSpPr>
        <p:spPr>
          <a:xfrm>
            <a:off x="492964" y="2713482"/>
            <a:ext cx="2054291" cy="77724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8D95B67-B38F-4F97-58B7-3548C2845C8A}"/>
              </a:ext>
            </a:extLst>
          </p:cNvPr>
          <p:cNvSpPr/>
          <p:nvPr/>
        </p:nvSpPr>
        <p:spPr>
          <a:xfrm>
            <a:off x="492964" y="2759202"/>
            <a:ext cx="2054291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Profile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417A25B-2266-EB0D-5E30-1B3425FF5970}"/>
              </a:ext>
            </a:extLst>
          </p:cNvPr>
          <p:cNvSpPr/>
          <p:nvPr/>
        </p:nvSpPr>
        <p:spPr>
          <a:xfrm>
            <a:off x="492964" y="3140964"/>
            <a:ext cx="20542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Assess source</a:t>
            </a:r>
            <a:endParaRPr lang="en-US" sz="9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3521E4B-E51A-FD2A-0646-924BD3BDFD98}"/>
              </a:ext>
            </a:extLst>
          </p:cNvPr>
          <p:cNvSpPr/>
          <p:nvPr/>
        </p:nvSpPr>
        <p:spPr>
          <a:xfrm>
            <a:off x="2547255" y="2713482"/>
            <a:ext cx="228600" cy="777240"/>
          </a:xfrm>
          <a:prstGeom prst="chevron">
            <a:avLst/>
          </a:prstGeom>
          <a:solidFill>
            <a:srgbClr val="C1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058B099-C74D-DCA5-B461-48820EBF9216}"/>
              </a:ext>
            </a:extLst>
          </p:cNvPr>
          <p:cNvSpPr/>
          <p:nvPr/>
        </p:nvSpPr>
        <p:spPr>
          <a:xfrm>
            <a:off x="2775855" y="2713482"/>
            <a:ext cx="2054291" cy="777240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FA4BD02-17B1-F9CD-958D-90AC9A26A924}"/>
              </a:ext>
            </a:extLst>
          </p:cNvPr>
          <p:cNvSpPr/>
          <p:nvPr/>
        </p:nvSpPr>
        <p:spPr>
          <a:xfrm>
            <a:off x="2775855" y="2759202"/>
            <a:ext cx="2054291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Cleanse</a:t>
            </a: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82E3986-EBC6-53BA-0380-129956383DFD}"/>
              </a:ext>
            </a:extLst>
          </p:cNvPr>
          <p:cNvSpPr/>
          <p:nvPr/>
        </p:nvSpPr>
        <p:spPr>
          <a:xfrm>
            <a:off x="2775855" y="3140964"/>
            <a:ext cx="20542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Fix at source</a:t>
            </a:r>
            <a:endParaRPr lang="en-US" sz="9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7E3BF72-779E-84C3-E091-C3171E3E3B72}"/>
              </a:ext>
            </a:extLst>
          </p:cNvPr>
          <p:cNvSpPr/>
          <p:nvPr/>
        </p:nvSpPr>
        <p:spPr>
          <a:xfrm>
            <a:off x="4830146" y="2713482"/>
            <a:ext cx="228600" cy="777240"/>
          </a:xfrm>
          <a:prstGeom prst="chevron">
            <a:avLst/>
          </a:prstGeom>
          <a:solidFill>
            <a:srgbClr val="C1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58E57C1-8BBD-6884-1348-793030CF5D3A}"/>
              </a:ext>
            </a:extLst>
          </p:cNvPr>
          <p:cNvSpPr/>
          <p:nvPr/>
        </p:nvSpPr>
        <p:spPr>
          <a:xfrm>
            <a:off x="5058746" y="2713482"/>
            <a:ext cx="2054291" cy="77724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F875E75-8C62-45BB-9770-63F7DE6EC3A7}"/>
              </a:ext>
            </a:extLst>
          </p:cNvPr>
          <p:cNvSpPr/>
          <p:nvPr/>
        </p:nvSpPr>
        <p:spPr>
          <a:xfrm>
            <a:off x="5058746" y="2759202"/>
            <a:ext cx="2054291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Construct</a:t>
            </a: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FDCF891-71EC-6979-CA2A-5307CE6AB01D}"/>
              </a:ext>
            </a:extLst>
          </p:cNvPr>
          <p:cNvSpPr/>
          <p:nvPr/>
        </p:nvSpPr>
        <p:spPr>
          <a:xfrm>
            <a:off x="5058746" y="3140964"/>
            <a:ext cx="20542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&amp; map</a:t>
            </a:r>
            <a:endParaRPr lang="en-US" sz="9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9226C70-23A2-CDD1-F761-4A4757B866DF}"/>
              </a:ext>
            </a:extLst>
          </p:cNvPr>
          <p:cNvSpPr/>
          <p:nvPr/>
        </p:nvSpPr>
        <p:spPr>
          <a:xfrm>
            <a:off x="7113037" y="2713482"/>
            <a:ext cx="228600" cy="777240"/>
          </a:xfrm>
          <a:prstGeom prst="chevron">
            <a:avLst/>
          </a:prstGeom>
          <a:solidFill>
            <a:srgbClr val="C1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ED326E72-B52F-6AA2-46CB-92DD71239081}"/>
              </a:ext>
            </a:extLst>
          </p:cNvPr>
          <p:cNvSpPr/>
          <p:nvPr/>
        </p:nvSpPr>
        <p:spPr>
          <a:xfrm>
            <a:off x="7341637" y="2713482"/>
            <a:ext cx="2054291" cy="777240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D16C5D7-4300-C4B7-7F9F-6ACBFB9EC16F}"/>
              </a:ext>
            </a:extLst>
          </p:cNvPr>
          <p:cNvSpPr/>
          <p:nvPr/>
        </p:nvSpPr>
        <p:spPr>
          <a:xfrm>
            <a:off x="7341637" y="2759202"/>
            <a:ext cx="2054291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Migrate</a:t>
            </a:r>
            <a:endParaRPr lang="en-US" sz="1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C907B23-74D5-3188-15AB-8F34EE095396}"/>
              </a:ext>
            </a:extLst>
          </p:cNvPr>
          <p:cNvSpPr/>
          <p:nvPr/>
        </p:nvSpPr>
        <p:spPr>
          <a:xfrm>
            <a:off x="7341637" y="3140964"/>
            <a:ext cx="20542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Load &amp; validate</a:t>
            </a:r>
            <a:endParaRPr lang="en-US" sz="9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DA0A05FD-A6F1-31CE-54DD-A09B0487C7C4}"/>
              </a:ext>
            </a:extLst>
          </p:cNvPr>
          <p:cNvSpPr/>
          <p:nvPr/>
        </p:nvSpPr>
        <p:spPr>
          <a:xfrm>
            <a:off x="9395928" y="2713482"/>
            <a:ext cx="228600" cy="777240"/>
          </a:xfrm>
          <a:prstGeom prst="chevron">
            <a:avLst/>
          </a:prstGeom>
          <a:solidFill>
            <a:srgbClr val="C1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E8329BB-1469-EE45-A987-96BAE391758B}"/>
              </a:ext>
            </a:extLst>
          </p:cNvPr>
          <p:cNvSpPr/>
          <p:nvPr/>
        </p:nvSpPr>
        <p:spPr>
          <a:xfrm>
            <a:off x="9624528" y="2713482"/>
            <a:ext cx="2054291" cy="77724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D82FBF0-9637-D5CD-CBBB-E86DC9623B61}"/>
              </a:ext>
            </a:extLst>
          </p:cNvPr>
          <p:cNvSpPr/>
          <p:nvPr/>
        </p:nvSpPr>
        <p:spPr>
          <a:xfrm>
            <a:off x="9624528" y="2759202"/>
            <a:ext cx="2054291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</a:t>
            </a:r>
            <a:endParaRPr lang="en-US" sz="12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C25757B-32F1-E75E-1843-DA50FA0487D1}"/>
              </a:ext>
            </a:extLst>
          </p:cNvPr>
          <p:cNvSpPr/>
          <p:nvPr/>
        </p:nvSpPr>
        <p:spPr>
          <a:xfrm>
            <a:off x="9624528" y="3140964"/>
            <a:ext cx="20542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MDG &amp; stewardship</a:t>
            </a:r>
            <a:endParaRPr lang="en-US" sz="9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D82663C9-CF94-2863-EDED-EF32F0504D98}"/>
              </a:ext>
            </a:extLst>
          </p:cNvPr>
          <p:cNvSpPr/>
          <p:nvPr/>
        </p:nvSpPr>
        <p:spPr>
          <a:xfrm>
            <a:off x="492964" y="3808279"/>
            <a:ext cx="3606698" cy="169164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7CA53E59-23AD-7BBD-29C5-85FEDDE365BE}"/>
              </a:ext>
            </a:extLst>
          </p:cNvPr>
          <p:cNvSpPr/>
          <p:nvPr/>
        </p:nvSpPr>
        <p:spPr>
          <a:xfrm>
            <a:off x="492964" y="3808279"/>
            <a:ext cx="64008" cy="1691640"/>
          </a:xfrm>
          <a:prstGeom prst="rect">
            <a:avLst/>
          </a:prstGeom>
          <a:solidFill>
            <a:srgbClr val="C1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A64A5A96-EF9B-EB9A-2240-5AE4DAD7552F}"/>
              </a:ext>
            </a:extLst>
          </p:cNvPr>
          <p:cNvSpPr/>
          <p:nvPr/>
        </p:nvSpPr>
        <p:spPr>
          <a:xfrm>
            <a:off x="721564" y="3972871"/>
            <a:ext cx="2783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Migration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16EDBB47-F5B4-422C-8B52-419CE77D0E0C}"/>
              </a:ext>
            </a:extLst>
          </p:cNvPr>
          <p:cNvSpPr/>
          <p:nvPr/>
        </p:nvSpPr>
        <p:spPr>
          <a:xfrm>
            <a:off x="721564" y="4366062"/>
            <a:ext cx="32409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Advanced Data Migration (by Syniti)</a:t>
            </a:r>
            <a:endParaRPr lang="en-US" sz="1000" dirty="0">
              <a:solidFill>
                <a:srgbClr val="FFFFFF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Pre-built ETL templates</a:t>
            </a:r>
            <a:endParaRPr lang="en-US" sz="1000" dirty="0">
              <a:solidFill>
                <a:srgbClr val="FFFFFF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ECC → S/4HANA conversion</a:t>
            </a:r>
            <a:endParaRPr lang="en-US" sz="1000" dirty="0">
              <a:solidFill>
                <a:srgbClr val="FFFFFF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Mock-load cycles &amp; cutover orchestration</a:t>
            </a:r>
            <a:endParaRPr lang="en-US" sz="1000" dirty="0">
              <a:solidFill>
                <a:srgbClr val="FFFFFF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Reconciliation reporting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5C1B8307-D923-CEE6-47FE-9A0C2F26EA7B}"/>
              </a:ext>
            </a:extLst>
          </p:cNvPr>
          <p:cNvSpPr/>
          <p:nvPr/>
        </p:nvSpPr>
        <p:spPr>
          <a:xfrm>
            <a:off x="4282542" y="3808279"/>
            <a:ext cx="3606698" cy="1691640"/>
          </a:xfrm>
          <a:prstGeom prst="rect">
            <a:avLst/>
          </a:prstGeom>
          <a:solidFill>
            <a:srgbClr val="3F74A2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AB82BCAC-455D-2F66-9AAB-65A70D124A6C}"/>
              </a:ext>
            </a:extLst>
          </p:cNvPr>
          <p:cNvSpPr/>
          <p:nvPr/>
        </p:nvSpPr>
        <p:spPr>
          <a:xfrm>
            <a:off x="4282542" y="3808279"/>
            <a:ext cx="64008" cy="1691640"/>
          </a:xfrm>
          <a:prstGeom prst="rect">
            <a:avLst/>
          </a:prstGeom>
          <a:solidFill>
            <a:srgbClr val="C1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7C811FD8-11F0-5221-748E-665CC2865D8E}"/>
              </a:ext>
            </a:extLst>
          </p:cNvPr>
          <p:cNvSpPr/>
          <p:nvPr/>
        </p:nvSpPr>
        <p:spPr>
          <a:xfrm>
            <a:off x="4529430" y="3972871"/>
            <a:ext cx="2783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Quality &amp; MDG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6B66C2E2-1C26-54C9-6C30-CA26496D4E8B}"/>
              </a:ext>
            </a:extLst>
          </p:cNvPr>
          <p:cNvSpPr/>
          <p:nvPr/>
        </p:nvSpPr>
        <p:spPr>
          <a:xfrm>
            <a:off x="4511142" y="4366062"/>
            <a:ext cx="32409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Syniti Knowledge Platform</a:t>
            </a:r>
            <a:endParaRPr lang="en-US" sz="1000" dirty="0">
              <a:solidFill>
                <a:srgbClr val="FFFFFF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Master Data Governance</a:t>
            </a:r>
            <a:endParaRPr lang="en-US" sz="1000" dirty="0">
              <a:solidFill>
                <a:srgbClr val="FFFFFF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Cleansing rules &amp; dashboards</a:t>
            </a:r>
            <a:endParaRPr lang="en-US" sz="1000" dirty="0">
              <a:solidFill>
                <a:srgbClr val="FFFFFF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Match &amp; merge</a:t>
            </a:r>
            <a:endParaRPr lang="en-US" sz="1000" dirty="0">
              <a:solidFill>
                <a:srgbClr val="FFFFFF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Ongoing stewardship workflows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40" name="Shape 36">
            <a:extLst>
              <a:ext uri="{FF2B5EF4-FFF2-40B4-BE49-F238E27FC236}">
                <a16:creationId xmlns:a16="http://schemas.microsoft.com/office/drawing/2014/main" id="{75DFE807-B551-2FE6-D197-D32CAF83FD26}"/>
              </a:ext>
            </a:extLst>
          </p:cNvPr>
          <p:cNvSpPr/>
          <p:nvPr/>
        </p:nvSpPr>
        <p:spPr>
          <a:xfrm>
            <a:off x="8072121" y="3808279"/>
            <a:ext cx="3606698" cy="1691640"/>
          </a:xfrm>
          <a:prstGeom prst="rect">
            <a:avLst/>
          </a:prstGeom>
          <a:solidFill>
            <a:srgbClr val="94B8D0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7">
            <a:extLst>
              <a:ext uri="{FF2B5EF4-FFF2-40B4-BE49-F238E27FC236}">
                <a16:creationId xmlns:a16="http://schemas.microsoft.com/office/drawing/2014/main" id="{30809796-904B-45E4-06B6-0C605D0714EE}"/>
              </a:ext>
            </a:extLst>
          </p:cNvPr>
          <p:cNvSpPr/>
          <p:nvPr/>
        </p:nvSpPr>
        <p:spPr>
          <a:xfrm>
            <a:off x="8072121" y="3808279"/>
            <a:ext cx="64008" cy="1691640"/>
          </a:xfrm>
          <a:prstGeom prst="rect">
            <a:avLst/>
          </a:prstGeom>
          <a:solidFill>
            <a:srgbClr val="C1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EE68AB56-A0CA-74F2-BB31-0C7D87470130}"/>
              </a:ext>
            </a:extLst>
          </p:cNvPr>
          <p:cNvSpPr/>
          <p:nvPr/>
        </p:nvSpPr>
        <p:spPr>
          <a:xfrm>
            <a:off x="8321409" y="3972871"/>
            <a:ext cx="2783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Information Governance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44" name="Text 39">
            <a:extLst>
              <a:ext uri="{FF2B5EF4-FFF2-40B4-BE49-F238E27FC236}">
                <a16:creationId xmlns:a16="http://schemas.microsoft.com/office/drawing/2014/main" id="{AE75F251-7537-215E-88A4-7FCD60B181AC}"/>
              </a:ext>
            </a:extLst>
          </p:cNvPr>
          <p:cNvSpPr/>
          <p:nvPr/>
        </p:nvSpPr>
        <p:spPr>
          <a:xfrm>
            <a:off x="8287005" y="4366062"/>
            <a:ext cx="32409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strategy &amp; operating model</a:t>
            </a:r>
            <a:endParaRPr lang="en-US" sz="1000" dirty="0">
              <a:solidFill>
                <a:srgbClr val="FFFFFF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Policy &amp; standards</a:t>
            </a:r>
            <a:endParaRPr lang="en-US" sz="1000" dirty="0">
              <a:solidFill>
                <a:srgbClr val="FFFFFF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Data-quality scorecards</a:t>
            </a:r>
            <a:endParaRPr lang="en-US" sz="1000" dirty="0">
              <a:solidFill>
                <a:srgbClr val="FFFFFF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Stewardship enablement</a:t>
            </a:r>
            <a:endParaRPr lang="en-US" sz="1000" dirty="0">
              <a:solidFill>
                <a:srgbClr val="FFFFFF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Master-data lifecycle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45" name="Shape 40">
            <a:extLst>
              <a:ext uri="{FF2B5EF4-FFF2-40B4-BE49-F238E27FC236}">
                <a16:creationId xmlns:a16="http://schemas.microsoft.com/office/drawing/2014/main" id="{9ED032C7-1455-2B79-85E0-888EE399D402}"/>
              </a:ext>
            </a:extLst>
          </p:cNvPr>
          <p:cNvSpPr/>
          <p:nvPr/>
        </p:nvSpPr>
        <p:spPr>
          <a:xfrm>
            <a:off x="492963" y="5737860"/>
            <a:ext cx="11185855" cy="502920"/>
          </a:xfrm>
          <a:prstGeom prst="rect">
            <a:avLst/>
          </a:prstGeom>
          <a:solidFill>
            <a:srgbClr val="C1BC9C"/>
          </a:solidFill>
          <a:ln w="6350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8" name="Text 43">
            <a:extLst>
              <a:ext uri="{FF2B5EF4-FFF2-40B4-BE49-F238E27FC236}">
                <a16:creationId xmlns:a16="http://schemas.microsoft.com/office/drawing/2014/main" id="{6EA9EC19-86C3-CEF6-8998-39BCE73DAB30}"/>
              </a:ext>
            </a:extLst>
          </p:cNvPr>
          <p:cNvSpPr/>
          <p:nvPr/>
        </p:nvSpPr>
        <p:spPr>
          <a:xfrm>
            <a:off x="1407363" y="5737860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20+  </a:t>
            </a: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ECC→S/4 migrations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49" name="Text 44">
            <a:extLst>
              <a:ext uri="{FF2B5EF4-FFF2-40B4-BE49-F238E27FC236}">
                <a16:creationId xmlns:a16="http://schemas.microsoft.com/office/drawing/2014/main" id="{95CC4CA1-2DAD-01F1-E3BD-313836027E26}"/>
              </a:ext>
            </a:extLst>
          </p:cNvPr>
          <p:cNvSpPr/>
          <p:nvPr/>
        </p:nvSpPr>
        <p:spPr>
          <a:xfrm>
            <a:off x="4831181" y="5737860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99.5%  </a:t>
            </a: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integrity at cutover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50" name="Text 45">
            <a:extLst>
              <a:ext uri="{FF2B5EF4-FFF2-40B4-BE49-F238E27FC236}">
                <a16:creationId xmlns:a16="http://schemas.microsoft.com/office/drawing/2014/main" id="{96950D93-2AB5-01BA-1C0D-74EE9C0445FA}"/>
              </a:ext>
            </a:extLst>
          </p:cNvPr>
          <p:cNvSpPr/>
          <p:nvPr/>
        </p:nvSpPr>
        <p:spPr>
          <a:xfrm>
            <a:off x="8255000" y="5737860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3x  </a:t>
            </a: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faster than manual ETL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52" name="Text 47">
            <a:extLst>
              <a:ext uri="{FF2B5EF4-FFF2-40B4-BE49-F238E27FC236}">
                <a16:creationId xmlns:a16="http://schemas.microsoft.com/office/drawing/2014/main" id="{9897E1C4-DDDA-59EC-57E1-4A42F0717AA3}"/>
              </a:ext>
            </a:extLst>
          </p:cNvPr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53" name="Text 48">
            <a:extLst>
              <a:ext uri="{FF2B5EF4-FFF2-40B4-BE49-F238E27FC236}">
                <a16:creationId xmlns:a16="http://schemas.microsoft.com/office/drawing/2014/main" id="{96982AE0-D968-01BF-D508-1A4B0AFF9CC7}"/>
              </a:ext>
            </a:extLst>
          </p:cNvPr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</a:t>
            </a:r>
            <a:endParaRPr lang="en-US" sz="900" dirty="0"/>
          </a:p>
        </p:txBody>
      </p:sp>
      <p:sp>
        <p:nvSpPr>
          <p:cNvPr id="54" name="Rectangle 6">
            <a:extLst>
              <a:ext uri="{FF2B5EF4-FFF2-40B4-BE49-F238E27FC236}">
                <a16:creationId xmlns:a16="http://schemas.microsoft.com/office/drawing/2014/main" id="{8B83E260-C350-B39B-4E24-524B71A5D72A}"/>
              </a:ext>
            </a:extLst>
          </p:cNvPr>
          <p:cNvSpPr>
            <a:spLocks noChangeAspect="1"/>
          </p:cNvSpPr>
          <p:nvPr/>
        </p:nvSpPr>
        <p:spPr>
          <a:xfrm>
            <a:off x="11343040" y="145576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6">
            <a:extLst>
              <a:ext uri="{FF2B5EF4-FFF2-40B4-BE49-F238E27FC236}">
                <a16:creationId xmlns:a16="http://schemas.microsoft.com/office/drawing/2014/main" id="{13592266-71E9-8AD8-7207-372813702B32}"/>
              </a:ext>
            </a:extLst>
          </p:cNvPr>
          <p:cNvSpPr>
            <a:spLocks noChangeAspect="1"/>
          </p:cNvSpPr>
          <p:nvPr/>
        </p:nvSpPr>
        <p:spPr>
          <a:xfrm>
            <a:off x="11105147" y="398337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Shape 37">
            <a:extLst>
              <a:ext uri="{FF2B5EF4-FFF2-40B4-BE49-F238E27FC236}">
                <a16:creationId xmlns:a16="http://schemas.microsoft.com/office/drawing/2014/main" id="{BED2F8AE-E804-4F4F-510F-8CA940713862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EEFC3887-88AC-8F75-45FC-F2753826D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5499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288A79-50D5-22F3-F23F-B750FF487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ound Diagonal Corner of Rectangle 95">
            <a:extLst>
              <a:ext uri="{FF2B5EF4-FFF2-40B4-BE49-F238E27FC236}">
                <a16:creationId xmlns:a16="http://schemas.microsoft.com/office/drawing/2014/main" id="{12808EF7-F0F1-0548-94D0-8760E350F59F}"/>
              </a:ext>
            </a:extLst>
          </p:cNvPr>
          <p:cNvSpPr/>
          <p:nvPr/>
        </p:nvSpPr>
        <p:spPr>
          <a:xfrm>
            <a:off x="5857103" y="1472177"/>
            <a:ext cx="5885209" cy="3783054"/>
          </a:xfrm>
          <a:prstGeom prst="round2DiagRect">
            <a:avLst/>
          </a:prstGeom>
          <a:solidFill>
            <a:srgbClr val="F7F8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825D5D2-A8A2-05E8-3D4A-9390B6922E0A}"/>
              </a:ext>
            </a:extLst>
          </p:cNvPr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 ·  ANALYTICS CLOUD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2680899-A4DF-E9B9-FA38-4E259AB2E29A}"/>
              </a:ext>
            </a:extLst>
          </p:cNvPr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Analytics, planning, prediction —</a:t>
            </a:r>
            <a:endParaRPr lang="en-US" sz="2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CCC868C-3480-0814-BD04-C18634AD08A9}"/>
              </a:ext>
            </a:extLst>
          </p:cNvPr>
          <p:cNvSpPr/>
          <p:nvPr/>
        </p:nvSpPr>
        <p:spPr>
          <a:xfrm>
            <a:off x="502917" y="1545328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3F75A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 a single SAP platform.</a:t>
            </a:r>
            <a:endParaRPr lang="en-US" sz="2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7343717-17DB-2A21-F715-E63A871F6764}"/>
              </a:ext>
            </a:extLst>
          </p:cNvPr>
          <p:cNvSpPr/>
          <p:nvPr/>
        </p:nvSpPr>
        <p:spPr>
          <a:xfrm>
            <a:off x="502917" y="2422963"/>
            <a:ext cx="47308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 implement SAP Analytics Cloud as the front door to enterprise data across every function — Finance, Sales, Operations, HR, Supply Chain, Procurement and Executive reporting. Combines business intelligence, planning and predictive analytics in one experience.</a:t>
            </a:r>
            <a:endParaRPr lang="en-US" sz="1300" dirty="0"/>
          </a:p>
        </p:txBody>
      </p:sp>
      <p:sp>
        <p:nvSpPr>
          <p:cNvPr id="41" name="Text 35">
            <a:extLst>
              <a:ext uri="{FF2B5EF4-FFF2-40B4-BE49-F238E27FC236}">
                <a16:creationId xmlns:a16="http://schemas.microsoft.com/office/drawing/2014/main" id="{DBB16458-F466-89D9-5AA7-256B96F85E7E}"/>
              </a:ext>
            </a:extLst>
          </p:cNvPr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42" name="Text 36">
            <a:extLst>
              <a:ext uri="{FF2B5EF4-FFF2-40B4-BE49-F238E27FC236}">
                <a16:creationId xmlns:a16="http://schemas.microsoft.com/office/drawing/2014/main" id="{9A5D3654-13FE-F75F-A5E9-98D577A2F0DE}"/>
              </a:ext>
            </a:extLst>
          </p:cNvPr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</a:t>
            </a:r>
            <a:endParaRPr lang="en-US" sz="900" dirty="0"/>
          </a:p>
        </p:txBody>
      </p:sp>
      <p:sp>
        <p:nvSpPr>
          <p:cNvPr id="43" name="Rectangle 6">
            <a:extLst>
              <a:ext uri="{FF2B5EF4-FFF2-40B4-BE49-F238E27FC236}">
                <a16:creationId xmlns:a16="http://schemas.microsoft.com/office/drawing/2014/main" id="{33186EB8-509B-ECC8-E93C-063BAF3DB811}"/>
              </a:ext>
            </a:extLst>
          </p:cNvPr>
          <p:cNvSpPr>
            <a:spLocks noChangeAspect="1"/>
          </p:cNvSpPr>
          <p:nvPr/>
        </p:nvSpPr>
        <p:spPr>
          <a:xfrm>
            <a:off x="11343040" y="145576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6">
            <a:extLst>
              <a:ext uri="{FF2B5EF4-FFF2-40B4-BE49-F238E27FC236}">
                <a16:creationId xmlns:a16="http://schemas.microsoft.com/office/drawing/2014/main" id="{1E447B71-C6CD-6B5B-BD3C-D7C30A5B2801}"/>
              </a:ext>
            </a:extLst>
          </p:cNvPr>
          <p:cNvSpPr>
            <a:spLocks noChangeAspect="1"/>
          </p:cNvSpPr>
          <p:nvPr/>
        </p:nvSpPr>
        <p:spPr>
          <a:xfrm>
            <a:off x="11105147" y="398337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Shape 37">
            <a:extLst>
              <a:ext uri="{FF2B5EF4-FFF2-40B4-BE49-F238E27FC236}">
                <a16:creationId xmlns:a16="http://schemas.microsoft.com/office/drawing/2014/main" id="{76CCA9FA-4D41-C5FC-3638-58BCB8B544BD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6B59ACD1-0C44-6155-B641-177264F73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BCF4B24-0DC4-3091-9F44-0BD01557FF3D}"/>
              </a:ext>
            </a:extLst>
          </p:cNvPr>
          <p:cNvCxnSpPr>
            <a:cxnSpLocks/>
          </p:cNvCxnSpPr>
          <p:nvPr/>
        </p:nvCxnSpPr>
        <p:spPr>
          <a:xfrm>
            <a:off x="9071476" y="1066779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19BECD77-AD4E-FE97-7140-4FBD3BCE2355}"/>
              </a:ext>
            </a:extLst>
          </p:cNvPr>
          <p:cNvSpPr>
            <a:spLocks noChangeAspect="1"/>
          </p:cNvSpPr>
          <p:nvPr/>
        </p:nvSpPr>
        <p:spPr>
          <a:xfrm>
            <a:off x="6119781" y="2617239"/>
            <a:ext cx="457074" cy="457196"/>
          </a:xfrm>
          <a:prstGeom prst="ellipse">
            <a:avLst/>
          </a:pr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latin typeface="IBM Plex Sans" panose="020B0503050203000203" pitchFamily="34" charset="77"/>
              </a:rPr>
              <a:t>01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DCBB63E9-9FE0-ECF7-B6D5-11D0F451826A}"/>
              </a:ext>
            </a:extLst>
          </p:cNvPr>
          <p:cNvSpPr>
            <a:spLocks noChangeAspect="1"/>
          </p:cNvSpPr>
          <p:nvPr/>
        </p:nvSpPr>
        <p:spPr>
          <a:xfrm>
            <a:off x="6119781" y="3290022"/>
            <a:ext cx="457074" cy="457196"/>
          </a:xfrm>
          <a:prstGeom prst="ellipse">
            <a:avLst/>
          </a:pr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latin typeface="IBM Plex Sans" panose="020B0503050203000203" pitchFamily="34" charset="77"/>
              </a:rPr>
              <a:t>02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74E95D61-446A-1938-C089-DB09AC065174}"/>
              </a:ext>
            </a:extLst>
          </p:cNvPr>
          <p:cNvSpPr>
            <a:spLocks noChangeAspect="1"/>
          </p:cNvSpPr>
          <p:nvPr/>
        </p:nvSpPr>
        <p:spPr>
          <a:xfrm>
            <a:off x="6119781" y="3952762"/>
            <a:ext cx="457074" cy="457196"/>
          </a:xfrm>
          <a:prstGeom prst="ellipse">
            <a:avLst/>
          </a:pr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latin typeface="IBM Plex Sans" panose="020B0503050203000203" pitchFamily="34" charset="77"/>
              </a:rPr>
              <a:t>03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CCE6F027-2B59-4251-755E-1FA9E1DE6A6B}"/>
              </a:ext>
            </a:extLst>
          </p:cNvPr>
          <p:cNvSpPr>
            <a:spLocks noChangeAspect="1"/>
          </p:cNvSpPr>
          <p:nvPr/>
        </p:nvSpPr>
        <p:spPr>
          <a:xfrm>
            <a:off x="6119781" y="4588353"/>
            <a:ext cx="457074" cy="457196"/>
          </a:xfrm>
          <a:prstGeom prst="ellipse">
            <a:avLst/>
          </a:pr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latin typeface="IBM Plex Sans" panose="020B0503050203000203" pitchFamily="34" charset="77"/>
              </a:rPr>
              <a:t>04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41FFB8C-4F9B-A846-77A4-4DD4DE584BE3}"/>
              </a:ext>
            </a:extLst>
          </p:cNvPr>
          <p:cNvSpPr>
            <a:spLocks noChangeAspect="1"/>
          </p:cNvSpPr>
          <p:nvPr/>
        </p:nvSpPr>
        <p:spPr>
          <a:xfrm>
            <a:off x="8949018" y="2691049"/>
            <a:ext cx="457074" cy="457196"/>
          </a:xfrm>
          <a:prstGeom prst="ellipse">
            <a:avLst/>
          </a:pr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latin typeface="IBM Plex Sans" panose="020B0503050203000203" pitchFamily="34" charset="77"/>
              </a:rPr>
              <a:t>05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575E1BA-3B44-AE17-9573-1717883CD1D3}"/>
              </a:ext>
            </a:extLst>
          </p:cNvPr>
          <p:cNvSpPr>
            <a:spLocks noChangeAspect="1"/>
          </p:cNvSpPr>
          <p:nvPr/>
        </p:nvSpPr>
        <p:spPr>
          <a:xfrm>
            <a:off x="8949018" y="3629488"/>
            <a:ext cx="457074" cy="457196"/>
          </a:xfrm>
          <a:prstGeom prst="ellipse">
            <a:avLst/>
          </a:pr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latin typeface="IBM Plex Sans" panose="020B0503050203000203" pitchFamily="34" charset="77"/>
              </a:rPr>
              <a:t>06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129FD03-8A06-CCBD-BB68-58CB1F19492D}"/>
              </a:ext>
            </a:extLst>
          </p:cNvPr>
          <p:cNvSpPr>
            <a:spLocks noChangeAspect="1"/>
          </p:cNvSpPr>
          <p:nvPr/>
        </p:nvSpPr>
        <p:spPr>
          <a:xfrm>
            <a:off x="8949018" y="4545625"/>
            <a:ext cx="457074" cy="457196"/>
          </a:xfrm>
          <a:prstGeom prst="ellipse">
            <a:avLst/>
          </a:pr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latin typeface="IBM Plex Sans" panose="020B0503050203000203" pitchFamily="34" charset="77"/>
              </a:rPr>
              <a:t>07</a:t>
            </a:r>
          </a:p>
        </p:txBody>
      </p:sp>
      <p:sp>
        <p:nvSpPr>
          <p:cNvPr id="78" name="Text 8">
            <a:extLst>
              <a:ext uri="{FF2B5EF4-FFF2-40B4-BE49-F238E27FC236}">
                <a16:creationId xmlns:a16="http://schemas.microsoft.com/office/drawing/2014/main" id="{CD9A075E-CC66-2CBA-FBEE-13B4841E245C}"/>
              </a:ext>
            </a:extLst>
          </p:cNvPr>
          <p:cNvSpPr/>
          <p:nvPr/>
        </p:nvSpPr>
        <p:spPr>
          <a:xfrm>
            <a:off x="719485" y="3248055"/>
            <a:ext cx="4514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Cross-functional BI, planning &amp; prediction in one tool</a:t>
            </a:r>
            <a:endParaRPr lang="en-US" sz="1300" dirty="0"/>
          </a:p>
        </p:txBody>
      </p:sp>
      <p:sp>
        <p:nvSpPr>
          <p:cNvPr id="79" name="Text 8">
            <a:extLst>
              <a:ext uri="{FF2B5EF4-FFF2-40B4-BE49-F238E27FC236}">
                <a16:creationId xmlns:a16="http://schemas.microsoft.com/office/drawing/2014/main" id="{3BFD93A6-633F-CCF5-DABF-BE880F832842}"/>
              </a:ext>
            </a:extLst>
          </p:cNvPr>
          <p:cNvSpPr/>
          <p:nvPr/>
        </p:nvSpPr>
        <p:spPr>
          <a:xfrm>
            <a:off x="719485" y="3887938"/>
            <a:ext cx="4514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Scenario simulation and rolling forecasts at line-of-business level</a:t>
            </a:r>
          </a:p>
        </p:txBody>
      </p:sp>
      <p:sp>
        <p:nvSpPr>
          <p:cNvPr id="80" name="Text 8">
            <a:extLst>
              <a:ext uri="{FF2B5EF4-FFF2-40B4-BE49-F238E27FC236}">
                <a16:creationId xmlns:a16="http://schemas.microsoft.com/office/drawing/2014/main" id="{DF84E1B7-FE1F-A1F3-4835-9F6F9754C4B4}"/>
              </a:ext>
            </a:extLst>
          </p:cNvPr>
          <p:cNvSpPr/>
          <p:nvPr/>
        </p:nvSpPr>
        <p:spPr>
          <a:xfrm>
            <a:off x="719485" y="4418289"/>
            <a:ext cx="4514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Self-service collaboration without spreadsheet sprawl</a:t>
            </a:r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62A0B7FB-FA89-9A71-6988-E5C473EBB5A3}"/>
              </a:ext>
            </a:extLst>
          </p:cNvPr>
          <p:cNvSpPr/>
          <p:nvPr/>
        </p:nvSpPr>
        <p:spPr>
          <a:xfrm>
            <a:off x="719485" y="4946405"/>
            <a:ext cx="4514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Native connectivity to S/4HANA, Datasphere, BW/4HANA &amp; non-SAP</a:t>
            </a:r>
          </a:p>
        </p:txBody>
      </p:sp>
      <p:sp>
        <p:nvSpPr>
          <p:cNvPr id="82" name="Shape 4">
            <a:extLst>
              <a:ext uri="{FF2B5EF4-FFF2-40B4-BE49-F238E27FC236}">
                <a16:creationId xmlns:a16="http://schemas.microsoft.com/office/drawing/2014/main" id="{76FB9BF7-D3AF-C700-A805-7F0E0B427F4D}"/>
              </a:ext>
            </a:extLst>
          </p:cNvPr>
          <p:cNvSpPr/>
          <p:nvPr/>
        </p:nvSpPr>
        <p:spPr>
          <a:xfrm>
            <a:off x="339889" y="3389726"/>
            <a:ext cx="326056" cy="7287"/>
          </a:xfrm>
          <a:prstGeom prst="line">
            <a:avLst/>
          </a:prstGeom>
          <a:noFill/>
          <a:ln w="57150">
            <a:solidFill>
              <a:srgbClr val="C1BC9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4">
            <a:extLst>
              <a:ext uri="{FF2B5EF4-FFF2-40B4-BE49-F238E27FC236}">
                <a16:creationId xmlns:a16="http://schemas.microsoft.com/office/drawing/2014/main" id="{80021C7E-186D-74CC-E73D-63361EC4EBB6}"/>
              </a:ext>
            </a:extLst>
          </p:cNvPr>
          <p:cNvSpPr/>
          <p:nvPr/>
        </p:nvSpPr>
        <p:spPr>
          <a:xfrm>
            <a:off x="339889" y="4109251"/>
            <a:ext cx="326056" cy="7287"/>
          </a:xfrm>
          <a:prstGeom prst="line">
            <a:avLst/>
          </a:prstGeom>
          <a:noFill/>
          <a:ln w="57150">
            <a:solidFill>
              <a:srgbClr val="C1BC9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4">
            <a:extLst>
              <a:ext uri="{FF2B5EF4-FFF2-40B4-BE49-F238E27FC236}">
                <a16:creationId xmlns:a16="http://schemas.microsoft.com/office/drawing/2014/main" id="{4FFC3ECA-3C04-DE3D-D637-8749CFA6CA11}"/>
              </a:ext>
            </a:extLst>
          </p:cNvPr>
          <p:cNvSpPr/>
          <p:nvPr/>
        </p:nvSpPr>
        <p:spPr>
          <a:xfrm>
            <a:off x="339889" y="4635122"/>
            <a:ext cx="326056" cy="7287"/>
          </a:xfrm>
          <a:prstGeom prst="line">
            <a:avLst/>
          </a:prstGeom>
          <a:noFill/>
          <a:ln w="57150">
            <a:solidFill>
              <a:srgbClr val="C1BC9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4">
            <a:extLst>
              <a:ext uri="{FF2B5EF4-FFF2-40B4-BE49-F238E27FC236}">
                <a16:creationId xmlns:a16="http://schemas.microsoft.com/office/drawing/2014/main" id="{7260649E-63DF-61B7-5C8D-17047AA40DC8}"/>
              </a:ext>
            </a:extLst>
          </p:cNvPr>
          <p:cNvSpPr/>
          <p:nvPr/>
        </p:nvSpPr>
        <p:spPr>
          <a:xfrm>
            <a:off x="339889" y="5167718"/>
            <a:ext cx="326056" cy="7287"/>
          </a:xfrm>
          <a:prstGeom prst="line">
            <a:avLst/>
          </a:prstGeom>
          <a:noFill/>
          <a:ln w="57150">
            <a:solidFill>
              <a:srgbClr val="C1BC9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FCC3D31-B511-0E3E-101E-B3918F68D6CF}"/>
              </a:ext>
            </a:extLst>
          </p:cNvPr>
          <p:cNvSpPr txBox="1"/>
          <p:nvPr/>
        </p:nvSpPr>
        <p:spPr>
          <a:xfrm>
            <a:off x="6644762" y="2712489"/>
            <a:ext cx="19925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121E3B"/>
                </a:solidFill>
                <a:latin typeface="IBM Plex Sans" panose="020B0503050203000203" pitchFamily="34" charset="77"/>
              </a:rPr>
              <a:t>Finance: planning, consolidation, P&amp;L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4AA7DF3-1ECB-0D93-C4CD-C7BCA26557E1}"/>
              </a:ext>
            </a:extLst>
          </p:cNvPr>
          <p:cNvSpPr txBox="1"/>
          <p:nvPr/>
        </p:nvSpPr>
        <p:spPr>
          <a:xfrm>
            <a:off x="6643093" y="3248426"/>
            <a:ext cx="2144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121E3B"/>
                </a:solidFill>
                <a:latin typeface="IBM Plex Sans" panose="020B0503050203000203" pitchFamily="34" charset="77"/>
              </a:rPr>
              <a:t>Sales: pipeline, quota, forecast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06E0A5F-3886-1038-AFF7-CD614E1838E3}"/>
              </a:ext>
            </a:extLst>
          </p:cNvPr>
          <p:cNvSpPr txBox="1"/>
          <p:nvPr/>
        </p:nvSpPr>
        <p:spPr>
          <a:xfrm>
            <a:off x="6642920" y="3919075"/>
            <a:ext cx="2306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121E3B"/>
                </a:solidFill>
                <a:latin typeface="IBM Plex Sans" panose="020B0503050203000203" pitchFamily="34" charset="77"/>
              </a:rPr>
              <a:t>Operations: KPIs, throughput, OEE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FBF3A5E-223E-DEEB-D23F-8A0D53E5A349}"/>
              </a:ext>
            </a:extLst>
          </p:cNvPr>
          <p:cNvSpPr txBox="1"/>
          <p:nvPr/>
        </p:nvSpPr>
        <p:spPr>
          <a:xfrm>
            <a:off x="6642920" y="4663062"/>
            <a:ext cx="2306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121E3B"/>
                </a:solidFill>
                <a:latin typeface="IBM Plex Sans" panose="020B0503050203000203" pitchFamily="34" charset="77"/>
              </a:rPr>
              <a:t>HR: workforce planning, attrition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CAC9511-C668-F0E5-C150-192D1E5147E1}"/>
              </a:ext>
            </a:extLst>
          </p:cNvPr>
          <p:cNvSpPr txBox="1"/>
          <p:nvPr/>
        </p:nvSpPr>
        <p:spPr>
          <a:xfrm>
            <a:off x="9398232" y="2768492"/>
            <a:ext cx="2306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121E3B"/>
                </a:solidFill>
                <a:latin typeface="IBM Plex Sans" panose="020B0503050203000203" pitchFamily="34" charset="77"/>
              </a:rPr>
              <a:t>Supply Chain: inventory, logistics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2EF07E5-0BE7-597C-8505-DD30C7A11A17}"/>
              </a:ext>
            </a:extLst>
          </p:cNvPr>
          <p:cNvSpPr txBox="1"/>
          <p:nvPr/>
        </p:nvSpPr>
        <p:spPr>
          <a:xfrm>
            <a:off x="9398232" y="3700030"/>
            <a:ext cx="2306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121E3B"/>
                </a:solidFill>
                <a:latin typeface="IBM Plex Sans" panose="020B0503050203000203" pitchFamily="34" charset="77"/>
              </a:rPr>
              <a:t>Procurement: spend, vendors, savings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BF6043C-3367-2B45-7F4C-AF24E182C39C}"/>
              </a:ext>
            </a:extLst>
          </p:cNvPr>
          <p:cNvSpPr txBox="1"/>
          <p:nvPr/>
        </p:nvSpPr>
        <p:spPr>
          <a:xfrm>
            <a:off x="9398232" y="4507901"/>
            <a:ext cx="2306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121E3B"/>
                </a:solidFill>
                <a:latin typeface="IBM Plex Sans" panose="020B0503050203000203" pitchFamily="34" charset="77"/>
              </a:rPr>
              <a:t>Executive: board-ready dashboards</a:t>
            </a:r>
          </a:p>
        </p:txBody>
      </p:sp>
      <p:sp>
        <p:nvSpPr>
          <p:cNvPr id="104" name="Shape 25">
            <a:extLst>
              <a:ext uri="{FF2B5EF4-FFF2-40B4-BE49-F238E27FC236}">
                <a16:creationId xmlns:a16="http://schemas.microsoft.com/office/drawing/2014/main" id="{609E7505-635F-A626-D301-625ADADBD051}"/>
              </a:ext>
            </a:extLst>
          </p:cNvPr>
          <p:cNvSpPr/>
          <p:nvPr/>
        </p:nvSpPr>
        <p:spPr>
          <a:xfrm>
            <a:off x="518474" y="5506935"/>
            <a:ext cx="11185855" cy="82296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Text 26">
            <a:extLst>
              <a:ext uri="{FF2B5EF4-FFF2-40B4-BE49-F238E27FC236}">
                <a16:creationId xmlns:a16="http://schemas.microsoft.com/office/drawing/2014/main" id="{47A704CD-A1C1-A1EC-5124-B9DDF1076BC9}"/>
              </a:ext>
            </a:extLst>
          </p:cNvPr>
          <p:cNvSpPr/>
          <p:nvPr/>
        </p:nvSpPr>
        <p:spPr>
          <a:xfrm>
            <a:off x="792794" y="5552655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IN2IT DELIVERS SAC</a:t>
            </a:r>
            <a:endParaRPr lang="en-US" sz="1000" dirty="0"/>
          </a:p>
        </p:txBody>
      </p:sp>
      <p:sp>
        <p:nvSpPr>
          <p:cNvPr id="106" name="Text 27">
            <a:extLst>
              <a:ext uri="{FF2B5EF4-FFF2-40B4-BE49-F238E27FC236}">
                <a16:creationId xmlns:a16="http://schemas.microsoft.com/office/drawing/2014/main" id="{0A2B4CEE-98B9-B655-9281-421AA3A53103}"/>
              </a:ext>
            </a:extLst>
          </p:cNvPr>
          <p:cNvSpPr/>
          <p:nvPr/>
        </p:nvSpPr>
        <p:spPr>
          <a:xfrm>
            <a:off x="792794" y="5826975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Pre-built dashboard accelerators  ·  </a:t>
            </a:r>
            <a:r>
              <a:rPr lang="en-US" sz="1200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connection patterns to S/4HANA, BW/4HANA, Datasphere  ·  planning templates for FP&amp;A, sales, workforce  ·  </a:t>
            </a:r>
            <a:r>
              <a:rPr lang="en-US" sz="1200" i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average first-dashboard in 3 weeks</a:t>
            </a:r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3DD8F0-B0A8-EBFC-D0B1-F2B85A9DB2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4827" y="78303"/>
            <a:ext cx="2768600" cy="264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5761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 ·  ABAP FACTORY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RICEFW, industrialised.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offshore ABAP factory built around Reports, Interfaces, Conversions, Enhancements, Forms and Workflow — delivered through a leveraged service-centre model with predictable throughput. 5,000+ RICEFW objects delivered • 30+ enterprise clients served • avg. 40 objects per sprint.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880360"/>
            <a:ext cx="3618890" cy="1280160"/>
          </a:xfrm>
          <a:prstGeom prst="rect">
            <a:avLst/>
          </a:prstGeom>
          <a:solidFill>
            <a:srgbClr val="F7F8FA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2880360"/>
            <a:ext cx="64008" cy="1280160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297180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3F75A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1508760" y="3063240"/>
            <a:ext cx="24301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3429000"/>
            <a:ext cx="24301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 development of reports beyond SAP standard.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86402" y="2880360"/>
            <a:ext cx="3618890" cy="1280160"/>
          </a:xfrm>
          <a:prstGeom prst="rect">
            <a:avLst/>
          </a:prstGeom>
          <a:solidFill>
            <a:srgbClr val="F7F8FA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86402" y="2880360"/>
            <a:ext cx="64008" cy="1280160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69282" y="297180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3F75A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5292242" y="3063240"/>
            <a:ext cx="24301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Interfaces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92242" y="3429000"/>
            <a:ext cx="24301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IDoc, ALE, file transfer, XML, REST/SOAP APIs.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69885" y="2880360"/>
            <a:ext cx="3618890" cy="1280160"/>
          </a:xfrm>
          <a:prstGeom prst="rect">
            <a:avLst/>
          </a:prstGeom>
          <a:solidFill>
            <a:srgbClr val="F7F8FA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069885" y="2880360"/>
            <a:ext cx="64008" cy="1280160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52765" y="297180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3F75A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9075725" y="3063240"/>
            <a:ext cx="24301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Conversions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75725" y="3429000"/>
            <a:ext cx="24301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BAPI, LSMW, BDC tooling for one-time data migration.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4325112"/>
            <a:ext cx="3618890" cy="1280160"/>
          </a:xfrm>
          <a:prstGeom prst="rect">
            <a:avLst/>
          </a:prstGeom>
          <a:solidFill>
            <a:srgbClr val="F7F8FA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02920" y="4325112"/>
            <a:ext cx="64008" cy="1280160"/>
          </a:xfrm>
          <a:prstGeom prst="rect">
            <a:avLst/>
          </a:prstGeom>
          <a:solidFill>
            <a:srgbClr val="A3CB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" y="4416552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A3CBE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</a:t>
            </a:r>
            <a:endParaRPr lang="en-US" sz="5200" dirty="0"/>
          </a:p>
        </p:txBody>
      </p:sp>
      <p:sp>
        <p:nvSpPr>
          <p:cNvPr id="28" name="Text 26"/>
          <p:cNvSpPr/>
          <p:nvPr/>
        </p:nvSpPr>
        <p:spPr>
          <a:xfrm>
            <a:off x="1508760" y="4507992"/>
            <a:ext cx="24301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Enhancements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08760" y="4873752"/>
            <a:ext cx="24301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BAdI, User Exit, Implicit / Explicit Enhancement framework.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86402" y="4325112"/>
            <a:ext cx="3618890" cy="1280160"/>
          </a:xfrm>
          <a:prstGeom prst="rect">
            <a:avLst/>
          </a:prstGeom>
          <a:solidFill>
            <a:srgbClr val="F7F8FA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286402" y="4325112"/>
            <a:ext cx="64008" cy="1280160"/>
          </a:xfrm>
          <a:prstGeom prst="rect">
            <a:avLst/>
          </a:prstGeom>
          <a:solidFill>
            <a:srgbClr val="A3CB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469282" y="4416552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A3CBE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</a:t>
            </a:r>
            <a:endParaRPr lang="en-US" sz="5200" dirty="0"/>
          </a:p>
        </p:txBody>
      </p:sp>
      <p:sp>
        <p:nvSpPr>
          <p:cNvPr id="33" name="Text 31"/>
          <p:cNvSpPr/>
          <p:nvPr/>
        </p:nvSpPr>
        <p:spPr>
          <a:xfrm>
            <a:off x="5292242" y="4507992"/>
            <a:ext cx="24301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92242" y="4873752"/>
            <a:ext cx="24301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ABAP Script, Smart Forms, Adobe Forms, PDF output.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069885" y="4325112"/>
            <a:ext cx="3618890" cy="1280160"/>
          </a:xfrm>
          <a:prstGeom prst="rect">
            <a:avLst/>
          </a:prstGeom>
          <a:solidFill>
            <a:srgbClr val="F7F8FA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069885" y="4325112"/>
            <a:ext cx="64008" cy="1280160"/>
          </a:xfrm>
          <a:prstGeom prst="rect">
            <a:avLst/>
          </a:prstGeom>
          <a:solidFill>
            <a:srgbClr val="A3CB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252765" y="4416552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A3CBE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</a:t>
            </a:r>
            <a:endParaRPr lang="en-US" sz="5200" dirty="0"/>
          </a:p>
        </p:txBody>
      </p:sp>
      <p:sp>
        <p:nvSpPr>
          <p:cNvPr id="38" name="Text 36"/>
          <p:cNvSpPr/>
          <p:nvPr/>
        </p:nvSpPr>
        <p:spPr>
          <a:xfrm>
            <a:off x="9075725" y="4507992"/>
            <a:ext cx="24301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Workflow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075725" y="4873752"/>
            <a:ext cx="24301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Repeatable approval processes wired to business events.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21</a:t>
            </a:r>
            <a:endParaRPr lang="en-US" sz="900" dirty="0"/>
          </a:p>
        </p:txBody>
      </p:sp>
      <p:sp>
        <p:nvSpPr>
          <p:cNvPr id="49" name="Rectangle 6">
            <a:extLst>
              <a:ext uri="{FF2B5EF4-FFF2-40B4-BE49-F238E27FC236}">
                <a16:creationId xmlns:a16="http://schemas.microsoft.com/office/drawing/2014/main" id="{3C1B2122-24BA-A5D8-24C0-2ADDD2E750DB}"/>
              </a:ext>
            </a:extLst>
          </p:cNvPr>
          <p:cNvSpPr>
            <a:spLocks noChangeAspect="1"/>
          </p:cNvSpPr>
          <p:nvPr/>
        </p:nvSpPr>
        <p:spPr>
          <a:xfrm>
            <a:off x="11343040" y="145576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6">
            <a:extLst>
              <a:ext uri="{FF2B5EF4-FFF2-40B4-BE49-F238E27FC236}">
                <a16:creationId xmlns:a16="http://schemas.microsoft.com/office/drawing/2014/main" id="{875BB0DF-A724-B877-7BBE-B953794AEAC6}"/>
              </a:ext>
            </a:extLst>
          </p:cNvPr>
          <p:cNvSpPr>
            <a:spLocks noChangeAspect="1"/>
          </p:cNvSpPr>
          <p:nvPr/>
        </p:nvSpPr>
        <p:spPr>
          <a:xfrm>
            <a:off x="11105147" y="398337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Shape 37">
            <a:extLst>
              <a:ext uri="{FF2B5EF4-FFF2-40B4-BE49-F238E27FC236}">
                <a16:creationId xmlns:a16="http://schemas.microsoft.com/office/drawing/2014/main" id="{F6E20E40-A9B0-8B2B-67F5-CAFDCF298A2D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10961C72-D83A-027B-F883-6DD1411E3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D9B489-A85A-3113-BC68-5FEBDD963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EB027478-50A7-3535-B3A2-F59CDE874B67}"/>
              </a:ext>
            </a:extLst>
          </p:cNvPr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 ·  THE IN2IT EBS POINT OF VIEW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0A67E0C-E9F4-EFEF-8F24-8BE0FFD01CFF}"/>
              </a:ext>
            </a:extLst>
          </p:cNvPr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Converged Intelligence Stack</a:t>
            </a:r>
            <a:endParaRPr lang="en-US" sz="2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D0A1D3D-654D-EF78-1634-AAADE87B5CCC}"/>
              </a:ext>
            </a:extLst>
          </p:cNvPr>
          <p:cNvSpPr/>
          <p:nvPr/>
        </p:nvSpPr>
        <p:spPr>
          <a:xfrm>
            <a:off x="502919" y="1719071"/>
            <a:ext cx="711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</a:rPr>
              <a:t>We emphasize on bringing SuccessFactors, Joule, BTP AI, and extensions into one operating model    </a:t>
            </a:r>
            <a:endParaRPr lang="en-US" sz="1300" dirty="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1D807CDF-1885-277C-5AF4-DCEDFA6798CF}"/>
              </a:ext>
            </a:extLst>
          </p:cNvPr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509D8D23-4BA8-6CAC-F8D0-A82DDF2E15C0}"/>
              </a:ext>
            </a:extLst>
          </p:cNvPr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22</a:t>
            </a:r>
            <a:endParaRPr lang="en-US" sz="900" dirty="0"/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494B3454-C987-B3DA-755B-5243D4CD44FB}"/>
              </a:ext>
            </a:extLst>
          </p:cNvPr>
          <p:cNvSpPr>
            <a:spLocks noChangeAspect="1"/>
          </p:cNvSpPr>
          <p:nvPr/>
        </p:nvSpPr>
        <p:spPr>
          <a:xfrm>
            <a:off x="11343040" y="145576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6">
            <a:extLst>
              <a:ext uri="{FF2B5EF4-FFF2-40B4-BE49-F238E27FC236}">
                <a16:creationId xmlns:a16="http://schemas.microsoft.com/office/drawing/2014/main" id="{0000A4F3-2255-3FEB-7127-E01A5017DFA2}"/>
              </a:ext>
            </a:extLst>
          </p:cNvPr>
          <p:cNvSpPr>
            <a:spLocks noChangeAspect="1"/>
          </p:cNvSpPr>
          <p:nvPr/>
        </p:nvSpPr>
        <p:spPr>
          <a:xfrm>
            <a:off x="11105147" y="398337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071248AE-AF30-5DEE-70AE-DAC96E585329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0C33593-029C-1E14-6C06-775ACA5D4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C71D6F94-D59D-7675-A2A2-5FBD07405A9C}"/>
              </a:ext>
            </a:extLst>
          </p:cNvPr>
          <p:cNvSpPr/>
          <p:nvPr/>
        </p:nvSpPr>
        <p:spPr>
          <a:xfrm>
            <a:off x="502919" y="5330951"/>
            <a:ext cx="6492240" cy="914400"/>
          </a:xfrm>
          <a:prstGeom prst="rect">
            <a:avLst/>
          </a:prstGeom>
          <a:solidFill>
            <a:srgbClr val="121E3B"/>
          </a:solidFill>
          <a:ln w="12700">
            <a:noFill/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24193D51-BD83-F22D-946F-20AAD74BE4A3}"/>
              </a:ext>
            </a:extLst>
          </p:cNvPr>
          <p:cNvSpPr/>
          <p:nvPr/>
        </p:nvSpPr>
        <p:spPr>
          <a:xfrm>
            <a:off x="6922007" y="5330951"/>
            <a:ext cx="73152" cy="914400"/>
          </a:xfrm>
          <a:prstGeom prst="rect">
            <a:avLst/>
          </a:prstGeom>
          <a:solidFill>
            <a:srgbClr val="C1BC9C"/>
          </a:solidFill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2EADEC4B-3C47-D2CD-6B72-59EBC85C0AD5}"/>
              </a:ext>
            </a:extLst>
          </p:cNvPr>
          <p:cNvSpPr/>
          <p:nvPr/>
        </p:nvSpPr>
        <p:spPr>
          <a:xfrm>
            <a:off x="777239" y="5440679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4B8D0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DATA &amp; PROCESS CORE</a:t>
            </a:r>
            <a:endParaRPr lang="en-US" sz="1300" dirty="0">
              <a:solidFill>
                <a:srgbClr val="94B8D0"/>
              </a:solidFill>
              <a:latin typeface="IBM Plex Sans" panose="020B0503050203000203" pitchFamily="34" charset="77"/>
            </a:endParaRPr>
          </a:p>
        </p:txBody>
      </p:sp>
      <p:sp>
        <p:nvSpPr>
          <p:cNvPr id="6" name="Text 10">
            <a:extLst>
              <a:ext uri="{FF2B5EF4-FFF2-40B4-BE49-F238E27FC236}">
                <a16:creationId xmlns:a16="http://schemas.microsoft.com/office/drawing/2014/main" id="{B32DC972-B716-B880-76F9-E1EE19AE950F}"/>
              </a:ext>
            </a:extLst>
          </p:cNvPr>
          <p:cNvSpPr/>
          <p:nvPr/>
        </p:nvSpPr>
        <p:spPr>
          <a:xfrm>
            <a:off x="777239" y="5751575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S/4HANA · SuccessFactors · Ariba · Concur · 3rd-party systems</a:t>
            </a:r>
            <a:endParaRPr lang="en-US" sz="1100" dirty="0">
              <a:latin typeface="IBM Plex Sans" panose="020B0503050203000203" pitchFamily="34" charset="77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CE05355-422E-F732-88E5-D72BFD41977C}"/>
              </a:ext>
            </a:extLst>
          </p:cNvPr>
          <p:cNvSpPr/>
          <p:nvPr/>
        </p:nvSpPr>
        <p:spPr>
          <a:xfrm>
            <a:off x="502919" y="4325111"/>
            <a:ext cx="6492240" cy="914400"/>
          </a:xfrm>
          <a:prstGeom prst="rect">
            <a:avLst/>
          </a:prstGeom>
          <a:solidFill>
            <a:srgbClr val="121E3B"/>
          </a:solidFill>
          <a:ln w="12700">
            <a:noFill/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8F6035A5-D0C8-191F-9429-E6D14DBF4AD6}"/>
              </a:ext>
            </a:extLst>
          </p:cNvPr>
          <p:cNvSpPr/>
          <p:nvPr/>
        </p:nvSpPr>
        <p:spPr>
          <a:xfrm>
            <a:off x="6922007" y="4325111"/>
            <a:ext cx="73152" cy="914400"/>
          </a:xfrm>
          <a:prstGeom prst="rect">
            <a:avLst/>
          </a:prstGeom>
          <a:solidFill>
            <a:srgbClr val="C1BC9C"/>
          </a:solidFill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C7F87972-6D84-20CA-28DE-89DBFD0B635B}"/>
              </a:ext>
            </a:extLst>
          </p:cNvPr>
          <p:cNvSpPr/>
          <p:nvPr/>
        </p:nvSpPr>
        <p:spPr>
          <a:xfrm>
            <a:off x="777239" y="4434839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4B8D0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INTELLIGENCE FABRIC</a:t>
            </a:r>
            <a:endParaRPr lang="en-US" sz="1300" dirty="0">
              <a:solidFill>
                <a:srgbClr val="94B8D0"/>
              </a:solidFill>
              <a:latin typeface="IBM Plex Sans" panose="020B0503050203000203" pitchFamily="34" charset="77"/>
            </a:endParaRPr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384A51BB-BB35-BF84-F64E-D5A97C0D5BD3}"/>
              </a:ext>
            </a:extLst>
          </p:cNvPr>
          <p:cNvSpPr/>
          <p:nvPr/>
        </p:nvSpPr>
        <p:spPr>
          <a:xfrm>
            <a:off x="777239" y="4745735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SAP BTP · AI Core · HANA Vector · Foundation Models · Event Mesh</a:t>
            </a:r>
            <a:endParaRPr lang="en-US" sz="1100" dirty="0">
              <a:latin typeface="IBM Plex Sans" panose="020B0503050203000203" pitchFamily="34" charset="77"/>
            </a:endParaRPr>
          </a:p>
        </p:txBody>
      </p:sp>
      <p:sp>
        <p:nvSpPr>
          <p:cNvPr id="31" name="Shape 15">
            <a:extLst>
              <a:ext uri="{FF2B5EF4-FFF2-40B4-BE49-F238E27FC236}">
                <a16:creationId xmlns:a16="http://schemas.microsoft.com/office/drawing/2014/main" id="{9152EE08-5E5F-DEE4-B6B5-97C6E77463A8}"/>
              </a:ext>
            </a:extLst>
          </p:cNvPr>
          <p:cNvSpPr/>
          <p:nvPr/>
        </p:nvSpPr>
        <p:spPr>
          <a:xfrm>
            <a:off x="502919" y="3319271"/>
            <a:ext cx="6492240" cy="914400"/>
          </a:xfrm>
          <a:prstGeom prst="rect">
            <a:avLst/>
          </a:prstGeom>
          <a:solidFill>
            <a:srgbClr val="121E3B"/>
          </a:solidFill>
          <a:ln w="12700">
            <a:noFill/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32" name="Shape 16">
            <a:extLst>
              <a:ext uri="{FF2B5EF4-FFF2-40B4-BE49-F238E27FC236}">
                <a16:creationId xmlns:a16="http://schemas.microsoft.com/office/drawing/2014/main" id="{06CFD674-AAA6-D28D-3343-DB5EDD2A9EE7}"/>
              </a:ext>
            </a:extLst>
          </p:cNvPr>
          <p:cNvSpPr/>
          <p:nvPr/>
        </p:nvSpPr>
        <p:spPr>
          <a:xfrm>
            <a:off x="6922007" y="3319271"/>
            <a:ext cx="73152" cy="914400"/>
          </a:xfrm>
          <a:prstGeom prst="rect">
            <a:avLst/>
          </a:prstGeom>
          <a:solidFill>
            <a:srgbClr val="C1BC9C"/>
          </a:solidFill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2C7ADE37-9ACE-90D3-926A-3906167A7F02}"/>
              </a:ext>
            </a:extLst>
          </p:cNvPr>
          <p:cNvSpPr/>
          <p:nvPr/>
        </p:nvSpPr>
        <p:spPr>
          <a:xfrm>
            <a:off x="777239" y="3428999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4B8D0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ASSISTED EXPERIENCE</a:t>
            </a:r>
            <a:endParaRPr lang="en-US" sz="1300" dirty="0">
              <a:solidFill>
                <a:srgbClr val="94B8D0"/>
              </a:solidFill>
              <a:latin typeface="IBM Plex Sans" panose="020B0503050203000203" pitchFamily="34" charset="77"/>
            </a:endParaRPr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46C310BD-0110-ED12-A2F8-CF6F9284C786}"/>
              </a:ext>
            </a:extLst>
          </p:cNvPr>
          <p:cNvSpPr/>
          <p:nvPr/>
        </p:nvSpPr>
        <p:spPr>
          <a:xfrm>
            <a:off x="777239" y="3739895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SAP Joule · Joule Studio · Joule Agents · Custom skills</a:t>
            </a:r>
            <a:endParaRPr lang="en-US" sz="1100" dirty="0">
              <a:latin typeface="IBM Plex Sans" panose="020B0503050203000203" pitchFamily="34" charset="77"/>
            </a:endParaRPr>
          </a:p>
        </p:txBody>
      </p:sp>
      <p:sp>
        <p:nvSpPr>
          <p:cNvPr id="35" name="Shape 19">
            <a:extLst>
              <a:ext uri="{FF2B5EF4-FFF2-40B4-BE49-F238E27FC236}">
                <a16:creationId xmlns:a16="http://schemas.microsoft.com/office/drawing/2014/main" id="{0154CD58-0B4D-5DD4-BEA9-6EDF5EF0E4FB}"/>
              </a:ext>
            </a:extLst>
          </p:cNvPr>
          <p:cNvSpPr/>
          <p:nvPr/>
        </p:nvSpPr>
        <p:spPr>
          <a:xfrm>
            <a:off x="502919" y="2313431"/>
            <a:ext cx="6492240" cy="914400"/>
          </a:xfrm>
          <a:prstGeom prst="rect">
            <a:avLst/>
          </a:prstGeom>
          <a:solidFill>
            <a:srgbClr val="121E3B"/>
          </a:solidFill>
          <a:ln w="12700">
            <a:noFill/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36" name="Shape 20">
            <a:extLst>
              <a:ext uri="{FF2B5EF4-FFF2-40B4-BE49-F238E27FC236}">
                <a16:creationId xmlns:a16="http://schemas.microsoft.com/office/drawing/2014/main" id="{3212F861-922A-1270-442D-A6821FA3F140}"/>
              </a:ext>
            </a:extLst>
          </p:cNvPr>
          <p:cNvSpPr/>
          <p:nvPr/>
        </p:nvSpPr>
        <p:spPr>
          <a:xfrm>
            <a:off x="6922007" y="2313431"/>
            <a:ext cx="73152" cy="914400"/>
          </a:xfrm>
          <a:prstGeom prst="rect">
            <a:avLst/>
          </a:prstGeom>
          <a:solidFill>
            <a:srgbClr val="C1BC9C"/>
          </a:solidFill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48C452A3-03B0-1980-CC03-0E4ABD455C3D}"/>
              </a:ext>
            </a:extLst>
          </p:cNvPr>
          <p:cNvSpPr/>
          <p:nvPr/>
        </p:nvSpPr>
        <p:spPr>
          <a:xfrm>
            <a:off x="777239" y="2423159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4B8D0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BUSINESS OUTCOMES</a:t>
            </a:r>
            <a:endParaRPr lang="en-US" sz="1300" dirty="0">
              <a:solidFill>
                <a:srgbClr val="94B8D0"/>
              </a:solidFill>
              <a:latin typeface="IBM Plex Sans" panose="020B0503050203000203" pitchFamily="34" charset="77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4BA96604-D237-4B8C-7885-B63BE46B92E4}"/>
              </a:ext>
            </a:extLst>
          </p:cNvPr>
          <p:cNvSpPr/>
          <p:nvPr/>
        </p:nvSpPr>
        <p:spPr>
          <a:xfrm>
            <a:off x="777239" y="2734055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Employee XP · Customer XP · Finance velocity · Supply resilience</a:t>
            </a:r>
            <a:endParaRPr lang="en-US" sz="1100" dirty="0">
              <a:solidFill>
                <a:srgbClr val="FFFFFF"/>
              </a:solidFill>
              <a:latin typeface="IBM Plex Sans" panose="020B0503050203000203" pitchFamily="34" charset="77"/>
            </a:endParaRPr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E05C4B36-E0BE-D06D-B1B5-F57E9A581688}"/>
              </a:ext>
            </a:extLst>
          </p:cNvPr>
          <p:cNvSpPr/>
          <p:nvPr/>
        </p:nvSpPr>
        <p:spPr>
          <a:xfrm>
            <a:off x="7086599" y="2313431"/>
            <a:ext cx="50292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001">
              <a:latin typeface="IBM Plex Sans" panose="020B0503050203000203" pitchFamily="34" charset="77"/>
            </a:endParaRPr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4AA5489D-975D-9ECB-A491-54C5CDE91D30}"/>
              </a:ext>
            </a:extLst>
          </p:cNvPr>
          <p:cNvSpPr/>
          <p:nvPr/>
        </p:nvSpPr>
        <p:spPr>
          <a:xfrm rot="16200000">
            <a:off x="5486399" y="4096511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121E3B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EXTENSIONS · INTEGRATION · GOVERNANCE</a:t>
            </a:r>
            <a:endParaRPr lang="en-US" sz="900" dirty="0">
              <a:solidFill>
                <a:srgbClr val="121E3B"/>
              </a:solidFill>
              <a:latin typeface="IBM Plex Sans" panose="020B0503050203000203" pitchFamily="34" charset="77"/>
            </a:endParaRPr>
          </a:p>
        </p:txBody>
      </p:sp>
      <p:sp>
        <p:nvSpPr>
          <p:cNvPr id="51" name="Text 28">
            <a:extLst>
              <a:ext uri="{FF2B5EF4-FFF2-40B4-BE49-F238E27FC236}">
                <a16:creationId xmlns:a16="http://schemas.microsoft.com/office/drawing/2014/main" id="{CA6770A7-5E4A-D37B-924E-13B5B8F9F6A3}"/>
              </a:ext>
            </a:extLst>
          </p:cNvPr>
          <p:cNvSpPr/>
          <p:nvPr/>
        </p:nvSpPr>
        <p:spPr>
          <a:xfrm>
            <a:off x="7894014" y="143560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E3B"/>
                </a:solidFill>
                <a:latin typeface="Newsreader Caption" pitchFamily="2" charset="77"/>
                <a:ea typeface="Calibri" pitchFamily="34" charset="-122"/>
                <a:cs typeface="Calibri" pitchFamily="34" charset="-120"/>
              </a:rPr>
              <a:t>Three converging forces — one operating model.</a:t>
            </a:r>
            <a:endParaRPr lang="en-US" sz="1400" dirty="0">
              <a:solidFill>
                <a:srgbClr val="121E3B"/>
              </a:solidFill>
              <a:latin typeface="Newsreader Caption" pitchFamily="2" charset="77"/>
            </a:endParaRPr>
          </a:p>
        </p:txBody>
      </p:sp>
      <p:sp>
        <p:nvSpPr>
          <p:cNvPr id="52" name="Shape 29">
            <a:extLst>
              <a:ext uri="{FF2B5EF4-FFF2-40B4-BE49-F238E27FC236}">
                <a16:creationId xmlns:a16="http://schemas.microsoft.com/office/drawing/2014/main" id="{CF617882-4344-AB1C-FB76-C1DC974B1486}"/>
              </a:ext>
            </a:extLst>
          </p:cNvPr>
          <p:cNvSpPr/>
          <p:nvPr/>
        </p:nvSpPr>
        <p:spPr>
          <a:xfrm>
            <a:off x="7894014" y="1993391"/>
            <a:ext cx="40690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3" name="Shape 30">
            <a:extLst>
              <a:ext uri="{FF2B5EF4-FFF2-40B4-BE49-F238E27FC236}">
                <a16:creationId xmlns:a16="http://schemas.microsoft.com/office/drawing/2014/main" id="{EDD9C93F-A108-3A8A-A3A6-D4EE38E3D89E}"/>
              </a:ext>
            </a:extLst>
          </p:cNvPr>
          <p:cNvSpPr/>
          <p:nvPr/>
        </p:nvSpPr>
        <p:spPr>
          <a:xfrm>
            <a:off x="7894014" y="1993391"/>
            <a:ext cx="91440" cy="1051560"/>
          </a:xfrm>
          <a:prstGeom prst="rect">
            <a:avLst/>
          </a:prstGeom>
          <a:solidFill>
            <a:srgbClr val="3F74A2"/>
          </a:solidFill>
          <a:ln w="12700">
            <a:solidFill>
              <a:srgbClr val="3F74A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4" name="Shape 31">
            <a:extLst>
              <a:ext uri="{FF2B5EF4-FFF2-40B4-BE49-F238E27FC236}">
                <a16:creationId xmlns:a16="http://schemas.microsoft.com/office/drawing/2014/main" id="{85892BE6-242F-2248-211B-E0E593035AC9}"/>
              </a:ext>
            </a:extLst>
          </p:cNvPr>
          <p:cNvSpPr/>
          <p:nvPr/>
        </p:nvSpPr>
        <p:spPr>
          <a:xfrm>
            <a:off x="8122614" y="2221991"/>
            <a:ext cx="548640" cy="54864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55" name="Image 0" descr="preencoded.png">
            <a:extLst>
              <a:ext uri="{FF2B5EF4-FFF2-40B4-BE49-F238E27FC236}">
                <a16:creationId xmlns:a16="http://schemas.microsoft.com/office/drawing/2014/main" id="{E3968A86-3F16-3C54-28A6-708DD4052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5766" y="2295143"/>
            <a:ext cx="402336" cy="402336"/>
          </a:xfrm>
          <a:prstGeom prst="rect">
            <a:avLst/>
          </a:prstGeom>
        </p:spPr>
      </p:pic>
      <p:sp>
        <p:nvSpPr>
          <p:cNvPr id="56" name="Text 32">
            <a:extLst>
              <a:ext uri="{FF2B5EF4-FFF2-40B4-BE49-F238E27FC236}">
                <a16:creationId xmlns:a16="http://schemas.microsoft.com/office/drawing/2014/main" id="{E112F5AF-516A-6536-B055-77590DA2BE25}"/>
              </a:ext>
            </a:extLst>
          </p:cNvPr>
          <p:cNvSpPr/>
          <p:nvPr/>
        </p:nvSpPr>
        <p:spPr>
          <a:xfrm>
            <a:off x="8808414" y="2194559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1F44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Composable</a:t>
            </a:r>
            <a:endParaRPr lang="en-US" sz="1400" dirty="0">
              <a:latin typeface="IBM Plex Sans" panose="020B0503050203000203" pitchFamily="34" charset="77"/>
            </a:endParaRPr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03121103-6297-06AB-3287-285604BD8B6B}"/>
              </a:ext>
            </a:extLst>
          </p:cNvPr>
          <p:cNvSpPr/>
          <p:nvPr/>
        </p:nvSpPr>
        <p:spPr>
          <a:xfrm>
            <a:off x="8808414" y="2487167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Clean core, side-by-side extensions — swap components without re-platforming.</a:t>
            </a:r>
            <a:endParaRPr lang="en-US" sz="1050" dirty="0">
              <a:latin typeface="IBM Plex Sans" panose="020B0503050203000203" pitchFamily="34" charset="77"/>
            </a:endParaRPr>
          </a:p>
        </p:txBody>
      </p:sp>
      <p:sp>
        <p:nvSpPr>
          <p:cNvPr id="58" name="Shape 34">
            <a:extLst>
              <a:ext uri="{FF2B5EF4-FFF2-40B4-BE49-F238E27FC236}">
                <a16:creationId xmlns:a16="http://schemas.microsoft.com/office/drawing/2014/main" id="{B7F57429-5251-5743-65BB-8A4F0189A21E}"/>
              </a:ext>
            </a:extLst>
          </p:cNvPr>
          <p:cNvSpPr/>
          <p:nvPr/>
        </p:nvSpPr>
        <p:spPr>
          <a:xfrm>
            <a:off x="7894014" y="3136391"/>
            <a:ext cx="40690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9" name="Shape 35">
            <a:extLst>
              <a:ext uri="{FF2B5EF4-FFF2-40B4-BE49-F238E27FC236}">
                <a16:creationId xmlns:a16="http://schemas.microsoft.com/office/drawing/2014/main" id="{9022138C-1A32-33E3-E716-D5E6D7EA2E6A}"/>
              </a:ext>
            </a:extLst>
          </p:cNvPr>
          <p:cNvSpPr/>
          <p:nvPr/>
        </p:nvSpPr>
        <p:spPr>
          <a:xfrm>
            <a:off x="7894014" y="3136391"/>
            <a:ext cx="91440" cy="1051560"/>
          </a:xfrm>
          <a:prstGeom prst="rect">
            <a:avLst/>
          </a:prstGeom>
          <a:solidFill>
            <a:srgbClr val="3F74A2"/>
          </a:solidFill>
          <a:ln w="12700">
            <a:solidFill>
              <a:srgbClr val="3F74A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0" name="Shape 36">
            <a:extLst>
              <a:ext uri="{FF2B5EF4-FFF2-40B4-BE49-F238E27FC236}">
                <a16:creationId xmlns:a16="http://schemas.microsoft.com/office/drawing/2014/main" id="{364B9109-E021-56A2-3A12-F0DE4267200C}"/>
              </a:ext>
            </a:extLst>
          </p:cNvPr>
          <p:cNvSpPr/>
          <p:nvPr/>
        </p:nvSpPr>
        <p:spPr>
          <a:xfrm>
            <a:off x="8122614" y="3364991"/>
            <a:ext cx="548640" cy="54864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61" name="Image 1" descr="preencoded.png">
            <a:extLst>
              <a:ext uri="{FF2B5EF4-FFF2-40B4-BE49-F238E27FC236}">
                <a16:creationId xmlns:a16="http://schemas.microsoft.com/office/drawing/2014/main" id="{DE7E5FA4-66C5-9D3E-588C-0644058CF0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5766" y="3438143"/>
            <a:ext cx="402336" cy="402336"/>
          </a:xfrm>
          <a:prstGeom prst="rect">
            <a:avLst/>
          </a:prstGeom>
        </p:spPr>
      </p:pic>
      <p:sp>
        <p:nvSpPr>
          <p:cNvPr id="62" name="Text 37">
            <a:extLst>
              <a:ext uri="{FF2B5EF4-FFF2-40B4-BE49-F238E27FC236}">
                <a16:creationId xmlns:a16="http://schemas.microsoft.com/office/drawing/2014/main" id="{FF5F1E27-03F4-D649-F88A-046529F17CC6}"/>
              </a:ext>
            </a:extLst>
          </p:cNvPr>
          <p:cNvSpPr/>
          <p:nvPr/>
        </p:nvSpPr>
        <p:spPr>
          <a:xfrm>
            <a:off x="8808414" y="3337559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1F44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Intelligent</a:t>
            </a:r>
            <a:endParaRPr lang="en-US" sz="1400" dirty="0">
              <a:latin typeface="IBM Plex Sans" panose="020B0503050203000203" pitchFamily="34" charset="77"/>
            </a:endParaRPr>
          </a:p>
        </p:txBody>
      </p:sp>
      <p:sp>
        <p:nvSpPr>
          <p:cNvPr id="63" name="Text 38">
            <a:extLst>
              <a:ext uri="{FF2B5EF4-FFF2-40B4-BE49-F238E27FC236}">
                <a16:creationId xmlns:a16="http://schemas.microsoft.com/office/drawing/2014/main" id="{FE94D512-8958-EEDA-11F8-E3C79F8E4B2E}"/>
              </a:ext>
            </a:extLst>
          </p:cNvPr>
          <p:cNvSpPr/>
          <p:nvPr/>
        </p:nvSpPr>
        <p:spPr>
          <a:xfrm>
            <a:off x="8808414" y="3630167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GenAI, ML and Joule embedded into every persona's daily flow of work.</a:t>
            </a:r>
            <a:endParaRPr lang="en-US" sz="1050" dirty="0">
              <a:latin typeface="IBM Plex Sans" panose="020B0503050203000203" pitchFamily="34" charset="77"/>
            </a:endParaRPr>
          </a:p>
        </p:txBody>
      </p:sp>
      <p:sp>
        <p:nvSpPr>
          <p:cNvPr id="64" name="Shape 39">
            <a:extLst>
              <a:ext uri="{FF2B5EF4-FFF2-40B4-BE49-F238E27FC236}">
                <a16:creationId xmlns:a16="http://schemas.microsoft.com/office/drawing/2014/main" id="{5B712A2D-6F86-498A-A26F-0138DBD8F7DC}"/>
              </a:ext>
            </a:extLst>
          </p:cNvPr>
          <p:cNvSpPr/>
          <p:nvPr/>
        </p:nvSpPr>
        <p:spPr>
          <a:xfrm>
            <a:off x="7894014" y="4279391"/>
            <a:ext cx="40690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5" name="Shape 40">
            <a:extLst>
              <a:ext uri="{FF2B5EF4-FFF2-40B4-BE49-F238E27FC236}">
                <a16:creationId xmlns:a16="http://schemas.microsoft.com/office/drawing/2014/main" id="{2EE416C2-F4B4-FE18-EFCB-57BFCD1376BA}"/>
              </a:ext>
            </a:extLst>
          </p:cNvPr>
          <p:cNvSpPr/>
          <p:nvPr/>
        </p:nvSpPr>
        <p:spPr>
          <a:xfrm>
            <a:off x="7894014" y="4279391"/>
            <a:ext cx="91440" cy="1051560"/>
          </a:xfrm>
          <a:prstGeom prst="rect">
            <a:avLst/>
          </a:prstGeom>
          <a:solidFill>
            <a:srgbClr val="3F74A2"/>
          </a:solidFill>
          <a:ln w="12700">
            <a:solidFill>
              <a:srgbClr val="3F74A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6" name="Shape 41">
            <a:extLst>
              <a:ext uri="{FF2B5EF4-FFF2-40B4-BE49-F238E27FC236}">
                <a16:creationId xmlns:a16="http://schemas.microsoft.com/office/drawing/2014/main" id="{D53F2CC4-4F5F-3212-B10C-BC09091A9301}"/>
              </a:ext>
            </a:extLst>
          </p:cNvPr>
          <p:cNvSpPr/>
          <p:nvPr/>
        </p:nvSpPr>
        <p:spPr>
          <a:xfrm>
            <a:off x="8122614" y="4507991"/>
            <a:ext cx="548640" cy="54864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67" name="Image 2" descr="preencoded.png">
            <a:extLst>
              <a:ext uri="{FF2B5EF4-FFF2-40B4-BE49-F238E27FC236}">
                <a16:creationId xmlns:a16="http://schemas.microsoft.com/office/drawing/2014/main" id="{DDA281B0-F7B5-BB4F-679F-9F460F7334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5766" y="4581143"/>
            <a:ext cx="402336" cy="402336"/>
          </a:xfrm>
          <a:prstGeom prst="rect">
            <a:avLst/>
          </a:prstGeom>
        </p:spPr>
      </p:pic>
      <p:sp>
        <p:nvSpPr>
          <p:cNvPr id="68" name="Text 42">
            <a:extLst>
              <a:ext uri="{FF2B5EF4-FFF2-40B4-BE49-F238E27FC236}">
                <a16:creationId xmlns:a16="http://schemas.microsoft.com/office/drawing/2014/main" id="{E491DA7D-47AA-963D-A1E9-310A105095FD}"/>
              </a:ext>
            </a:extLst>
          </p:cNvPr>
          <p:cNvSpPr/>
          <p:nvPr/>
        </p:nvSpPr>
        <p:spPr>
          <a:xfrm>
            <a:off x="8808414" y="4480559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1F44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Continuous</a:t>
            </a:r>
            <a:endParaRPr lang="en-US" sz="1400" dirty="0">
              <a:latin typeface="IBM Plex Sans" panose="020B0503050203000203" pitchFamily="34" charset="77"/>
            </a:endParaRPr>
          </a:p>
        </p:txBody>
      </p:sp>
      <p:sp>
        <p:nvSpPr>
          <p:cNvPr id="69" name="Text 43">
            <a:extLst>
              <a:ext uri="{FF2B5EF4-FFF2-40B4-BE49-F238E27FC236}">
                <a16:creationId xmlns:a16="http://schemas.microsoft.com/office/drawing/2014/main" id="{22CCB36A-0C31-425B-C043-153828C3ECDD}"/>
              </a:ext>
            </a:extLst>
          </p:cNvPr>
          <p:cNvSpPr/>
          <p:nvPr/>
        </p:nvSpPr>
        <p:spPr>
          <a:xfrm>
            <a:off x="8808414" y="4773167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Advisory, telemetry and lifecycle management keep value compounding.</a:t>
            </a:r>
            <a:endParaRPr lang="en-US" sz="1050" dirty="0">
              <a:latin typeface="IBM Plex Sans" panose="020B0503050203000203" pitchFamily="34" charset="77"/>
            </a:endParaRPr>
          </a:p>
        </p:txBody>
      </p:sp>
      <p:sp>
        <p:nvSpPr>
          <p:cNvPr id="70" name="Shape 44">
            <a:extLst>
              <a:ext uri="{FF2B5EF4-FFF2-40B4-BE49-F238E27FC236}">
                <a16:creationId xmlns:a16="http://schemas.microsoft.com/office/drawing/2014/main" id="{6B773CD2-9406-FA63-727A-18BEC1CC24BE}"/>
              </a:ext>
            </a:extLst>
          </p:cNvPr>
          <p:cNvSpPr/>
          <p:nvPr/>
        </p:nvSpPr>
        <p:spPr>
          <a:xfrm>
            <a:off x="7894014" y="5468111"/>
            <a:ext cx="406908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1" name="Shape 45">
            <a:extLst>
              <a:ext uri="{FF2B5EF4-FFF2-40B4-BE49-F238E27FC236}">
                <a16:creationId xmlns:a16="http://schemas.microsoft.com/office/drawing/2014/main" id="{17272532-D219-795D-2357-3660DF6F23FA}"/>
              </a:ext>
            </a:extLst>
          </p:cNvPr>
          <p:cNvSpPr/>
          <p:nvPr/>
        </p:nvSpPr>
        <p:spPr>
          <a:xfrm>
            <a:off x="7894014" y="5468111"/>
            <a:ext cx="91440" cy="777240"/>
          </a:xfrm>
          <a:prstGeom prst="rect">
            <a:avLst/>
          </a:prstGeom>
          <a:solidFill>
            <a:srgbClr val="3F74A2"/>
          </a:solidFill>
          <a:ln w="12700">
            <a:solidFill>
              <a:srgbClr val="3F74A2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2" name="Text 46">
            <a:extLst>
              <a:ext uri="{FF2B5EF4-FFF2-40B4-BE49-F238E27FC236}">
                <a16:creationId xmlns:a16="http://schemas.microsoft.com/office/drawing/2014/main" id="{0548DEE3-3033-B807-46F2-F3F5235784D2}"/>
              </a:ext>
            </a:extLst>
          </p:cNvPr>
          <p:cNvSpPr/>
          <p:nvPr/>
        </p:nvSpPr>
        <p:spPr>
          <a:xfrm>
            <a:off x="8122614" y="5513831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1E3B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"</a:t>
            </a:r>
            <a:r>
              <a:rPr lang="en-US" sz="1050" i="1" dirty="0">
                <a:solidFill>
                  <a:srgbClr val="121E3B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Convergence is where SAP investments turn into measurable business outcomes.</a:t>
            </a:r>
            <a:r>
              <a:rPr lang="en-US" sz="1800" b="1" dirty="0">
                <a:solidFill>
                  <a:srgbClr val="121E3B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"</a:t>
            </a:r>
            <a:endParaRPr lang="en-US" sz="1800" dirty="0">
              <a:solidFill>
                <a:srgbClr val="121E3B"/>
              </a:solidFill>
              <a:latin typeface="IBM Plex Sans" panose="020B050305020300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578966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A3CBE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A2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50292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SUB-PRACTICE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Salesforce Services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4160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Reimagining the customer experience — Sales, Service, Marketing, Commerce, and Industry Clouds.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9525">
            <a:solidFill>
              <a:srgbClr val="2A3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23</a:t>
            </a:r>
            <a:endParaRPr lang="en-US" sz="900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EE4B53F6-8CA9-328A-F19D-DF93A341B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5639" y="347471"/>
            <a:ext cx="2070410" cy="64456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86DCFC-F95D-085A-5941-79892CBBF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1E8FA5AD-CEED-F173-00CC-417D81207BEE}"/>
              </a:ext>
            </a:extLst>
          </p:cNvPr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SALESFORCE  ·  CAPABILITY OVERVIEW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741C8C9-F40B-9C6B-CACD-CF34B3AB7F57}"/>
              </a:ext>
            </a:extLst>
          </p:cNvPr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Reimagining customer</a:t>
            </a:r>
            <a:endParaRPr lang="en-US" sz="2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184D439-1E4C-413F-512F-3C60267ECA04}"/>
              </a:ext>
            </a:extLst>
          </p:cNvPr>
          <p:cNvSpPr/>
          <p:nvPr/>
        </p:nvSpPr>
        <p:spPr>
          <a:xfrm>
            <a:off x="502919" y="148415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3F75A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experience, end to end.</a:t>
            </a:r>
            <a:endParaRPr lang="en-US" sz="2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A529972-6622-BF88-9FE7-6B3F1128CA09}"/>
              </a:ext>
            </a:extLst>
          </p:cNvPr>
          <p:cNvSpPr/>
          <p:nvPr/>
        </p:nvSpPr>
        <p:spPr>
          <a:xfrm>
            <a:off x="502918" y="2276856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 help enterprises transform their customer-facing functions — sales, service, marketing, commerce and field operations — using Salesforce as the digital backbone. 30+ Salesforce-certified consultants • 40+ implementations • 15+ active clients across BFSI, Manufacturing &amp; Professional Services.</a:t>
            </a:r>
            <a:endParaRPr lang="en-US" sz="13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4BD943B-B8A3-D4BE-9A9B-ED0959CD929C}"/>
              </a:ext>
            </a:extLst>
          </p:cNvPr>
          <p:cNvSpPr/>
          <p:nvPr/>
        </p:nvSpPr>
        <p:spPr>
          <a:xfrm>
            <a:off x="2740089" y="2932402"/>
            <a:ext cx="2237171" cy="457200"/>
          </a:xfrm>
          <a:prstGeom prst="rect">
            <a:avLst/>
          </a:prstGeom>
          <a:solidFill>
            <a:srgbClr val="A3CB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70AFBFD-68EA-6C55-DDA8-F0704C7EFA41}"/>
              </a:ext>
            </a:extLst>
          </p:cNvPr>
          <p:cNvSpPr/>
          <p:nvPr/>
        </p:nvSpPr>
        <p:spPr>
          <a:xfrm>
            <a:off x="2740089" y="2932402"/>
            <a:ext cx="22371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Engage</a:t>
            </a:r>
            <a:endParaRPr lang="en-US" sz="12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19E0A92-77A9-6B3D-E03F-9CE556E803F4}"/>
              </a:ext>
            </a:extLst>
          </p:cNvPr>
          <p:cNvSpPr/>
          <p:nvPr/>
        </p:nvSpPr>
        <p:spPr>
          <a:xfrm>
            <a:off x="4977260" y="2932402"/>
            <a:ext cx="2237171" cy="457200"/>
          </a:xfrm>
          <a:prstGeom prst="rect">
            <a:avLst/>
          </a:prstGeom>
          <a:solidFill>
            <a:srgbClr val="A3CB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4883FEB-20F7-92AA-D4C7-97758F8DE6D8}"/>
              </a:ext>
            </a:extLst>
          </p:cNvPr>
          <p:cNvSpPr/>
          <p:nvPr/>
        </p:nvSpPr>
        <p:spPr>
          <a:xfrm>
            <a:off x="4977260" y="2932402"/>
            <a:ext cx="22371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Convert</a:t>
            </a:r>
            <a:endParaRPr lang="en-US" sz="12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71D9302-C631-CA3A-CD2F-D3B57FED31E2}"/>
              </a:ext>
            </a:extLst>
          </p:cNvPr>
          <p:cNvSpPr/>
          <p:nvPr/>
        </p:nvSpPr>
        <p:spPr>
          <a:xfrm>
            <a:off x="7214431" y="2932402"/>
            <a:ext cx="2237171" cy="457200"/>
          </a:xfrm>
          <a:prstGeom prst="rect">
            <a:avLst/>
          </a:prstGeom>
          <a:solidFill>
            <a:srgbClr val="A3CB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619D81C-4AF8-568E-D3A8-2BA5324D7C8E}"/>
              </a:ext>
            </a:extLst>
          </p:cNvPr>
          <p:cNvSpPr/>
          <p:nvPr/>
        </p:nvSpPr>
        <p:spPr>
          <a:xfrm>
            <a:off x="7214431" y="2932402"/>
            <a:ext cx="22371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Serve</a:t>
            </a:r>
            <a:endParaRPr lang="en-US" sz="12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3655080-6507-BDA8-4E48-8317A8AC7FC0}"/>
              </a:ext>
            </a:extLst>
          </p:cNvPr>
          <p:cNvSpPr/>
          <p:nvPr/>
        </p:nvSpPr>
        <p:spPr>
          <a:xfrm>
            <a:off x="9451602" y="2932402"/>
            <a:ext cx="2237171" cy="457200"/>
          </a:xfrm>
          <a:prstGeom prst="homePlate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3F6FF04-1468-B902-1A61-C105C4C0EAAF}"/>
              </a:ext>
            </a:extLst>
          </p:cNvPr>
          <p:cNvSpPr/>
          <p:nvPr/>
        </p:nvSpPr>
        <p:spPr>
          <a:xfrm>
            <a:off x="9451602" y="2932402"/>
            <a:ext cx="22371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Retain</a:t>
            </a:r>
            <a:endParaRPr lang="en-US" sz="12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B865C27-779A-A79B-D4B1-3C5C24E4D28E}"/>
              </a:ext>
            </a:extLst>
          </p:cNvPr>
          <p:cNvSpPr/>
          <p:nvPr/>
        </p:nvSpPr>
        <p:spPr>
          <a:xfrm>
            <a:off x="667512" y="3749040"/>
            <a:ext cx="3618890" cy="105156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CBC93E1C-9ADE-0522-6521-5AF1458AC81D}"/>
              </a:ext>
            </a:extLst>
          </p:cNvPr>
          <p:cNvSpPr/>
          <p:nvPr/>
        </p:nvSpPr>
        <p:spPr>
          <a:xfrm>
            <a:off x="1444752" y="3913632"/>
            <a:ext cx="27044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Sales Cloud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FA1A00FD-B88A-40D6-9DFC-C61EEADA2FBF}"/>
              </a:ext>
            </a:extLst>
          </p:cNvPr>
          <p:cNvSpPr/>
          <p:nvPr/>
        </p:nvSpPr>
        <p:spPr>
          <a:xfrm>
            <a:off x="1444752" y="4251960"/>
            <a:ext cx="2704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Pipeline acceleration, forecasting, partner enablement.</a:t>
            </a:r>
            <a:endParaRPr lang="en-US" sz="1050" dirty="0">
              <a:solidFill>
                <a:srgbClr val="94B8D0"/>
              </a:solidFill>
            </a:endParaRPr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817076A5-AEFA-AABA-656E-F13AA3A286E6}"/>
              </a:ext>
            </a:extLst>
          </p:cNvPr>
          <p:cNvSpPr/>
          <p:nvPr/>
        </p:nvSpPr>
        <p:spPr>
          <a:xfrm>
            <a:off x="4286402" y="3749040"/>
            <a:ext cx="3618890" cy="105156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F708A001-4633-DE30-C7E9-4CDC81DFA1E7}"/>
              </a:ext>
            </a:extLst>
          </p:cNvPr>
          <p:cNvSpPr/>
          <p:nvPr/>
        </p:nvSpPr>
        <p:spPr>
          <a:xfrm>
            <a:off x="5063642" y="3913632"/>
            <a:ext cx="27044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 Cloud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7C620563-2275-761D-AB4A-A86F68B8CD48}"/>
              </a:ext>
            </a:extLst>
          </p:cNvPr>
          <p:cNvSpPr/>
          <p:nvPr/>
        </p:nvSpPr>
        <p:spPr>
          <a:xfrm>
            <a:off x="5063642" y="4251960"/>
            <a:ext cx="2704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Omni-channel case management, knowledge, AI resolution.</a:t>
            </a:r>
            <a:endParaRPr lang="en-US" sz="1050" dirty="0">
              <a:solidFill>
                <a:srgbClr val="94B8D0"/>
              </a:solidFill>
            </a:endParaRPr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3D1C0566-2130-3169-F450-EDCEE9621238}"/>
              </a:ext>
            </a:extLst>
          </p:cNvPr>
          <p:cNvSpPr/>
          <p:nvPr/>
        </p:nvSpPr>
        <p:spPr>
          <a:xfrm>
            <a:off x="7905292" y="3749040"/>
            <a:ext cx="3618890" cy="105156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09B89DBC-2CAE-7C8C-81AC-7D96908CBB6D}"/>
              </a:ext>
            </a:extLst>
          </p:cNvPr>
          <p:cNvSpPr/>
          <p:nvPr/>
        </p:nvSpPr>
        <p:spPr>
          <a:xfrm>
            <a:off x="8682532" y="3913632"/>
            <a:ext cx="27044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Marketing Cloud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8BDF3730-2E57-A0D7-9FEF-FCB0DE18C323}"/>
              </a:ext>
            </a:extLst>
          </p:cNvPr>
          <p:cNvSpPr/>
          <p:nvPr/>
        </p:nvSpPr>
        <p:spPr>
          <a:xfrm>
            <a:off x="8682532" y="4251960"/>
            <a:ext cx="2704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Campaign, journey, personalisation across digital channels.</a:t>
            </a:r>
            <a:endParaRPr lang="en-US" sz="1050" dirty="0">
              <a:solidFill>
                <a:srgbClr val="94B8D0"/>
              </a:solidFill>
            </a:endParaRP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8092291F-5121-A9E4-3EFE-FA9E04501934}"/>
              </a:ext>
            </a:extLst>
          </p:cNvPr>
          <p:cNvSpPr/>
          <p:nvPr/>
        </p:nvSpPr>
        <p:spPr>
          <a:xfrm>
            <a:off x="667512" y="4800600"/>
            <a:ext cx="3618890" cy="105156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26BE2741-96FC-123A-3649-DA0CCF8685A6}"/>
              </a:ext>
            </a:extLst>
          </p:cNvPr>
          <p:cNvSpPr/>
          <p:nvPr/>
        </p:nvSpPr>
        <p:spPr>
          <a:xfrm>
            <a:off x="1444752" y="4965192"/>
            <a:ext cx="27044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Commerce Cloud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3D107301-3513-91E8-C05A-6BFF8FEC0497}"/>
              </a:ext>
            </a:extLst>
          </p:cNvPr>
          <p:cNvSpPr/>
          <p:nvPr/>
        </p:nvSpPr>
        <p:spPr>
          <a:xfrm>
            <a:off x="1444752" y="5303520"/>
            <a:ext cx="2704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Digital storefronts, B2B/B2C commerce, partner portals.</a:t>
            </a:r>
            <a:endParaRPr lang="en-US" sz="1050" dirty="0">
              <a:solidFill>
                <a:srgbClr val="94B8D0"/>
              </a:solidFill>
            </a:endParaRPr>
          </a:p>
        </p:txBody>
      </p:sp>
      <p:sp>
        <p:nvSpPr>
          <p:cNvPr id="41" name="Shape 35">
            <a:extLst>
              <a:ext uri="{FF2B5EF4-FFF2-40B4-BE49-F238E27FC236}">
                <a16:creationId xmlns:a16="http://schemas.microsoft.com/office/drawing/2014/main" id="{04F5BDA4-FC2C-23BC-0460-709540C62CBF}"/>
              </a:ext>
            </a:extLst>
          </p:cNvPr>
          <p:cNvSpPr/>
          <p:nvPr/>
        </p:nvSpPr>
        <p:spPr>
          <a:xfrm>
            <a:off x="4286402" y="4800600"/>
            <a:ext cx="3618890" cy="105156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7">
            <a:extLst>
              <a:ext uri="{FF2B5EF4-FFF2-40B4-BE49-F238E27FC236}">
                <a16:creationId xmlns:a16="http://schemas.microsoft.com/office/drawing/2014/main" id="{2D1CA165-4CAC-B229-AFA2-659C3CA0A8E5}"/>
              </a:ext>
            </a:extLst>
          </p:cNvPr>
          <p:cNvSpPr/>
          <p:nvPr/>
        </p:nvSpPr>
        <p:spPr>
          <a:xfrm>
            <a:off x="5063642" y="4965192"/>
            <a:ext cx="27044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Industry Clouds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45" name="Text 38">
            <a:extLst>
              <a:ext uri="{FF2B5EF4-FFF2-40B4-BE49-F238E27FC236}">
                <a16:creationId xmlns:a16="http://schemas.microsoft.com/office/drawing/2014/main" id="{BD1EBEBE-E0B8-8137-F7AA-0664DECF6F77}"/>
              </a:ext>
            </a:extLst>
          </p:cNvPr>
          <p:cNvSpPr/>
          <p:nvPr/>
        </p:nvSpPr>
        <p:spPr>
          <a:xfrm>
            <a:off x="5063642" y="5303520"/>
            <a:ext cx="2704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Financial Services, Health, Communications and other verticals.</a:t>
            </a:r>
            <a:endParaRPr lang="en-US" sz="1050" dirty="0">
              <a:solidFill>
                <a:srgbClr val="94B8D0"/>
              </a:solidFill>
            </a:endParaRPr>
          </a:p>
        </p:txBody>
      </p:sp>
      <p:sp>
        <p:nvSpPr>
          <p:cNvPr id="46" name="Shape 39">
            <a:extLst>
              <a:ext uri="{FF2B5EF4-FFF2-40B4-BE49-F238E27FC236}">
                <a16:creationId xmlns:a16="http://schemas.microsoft.com/office/drawing/2014/main" id="{C672531F-3FA1-20DB-2159-DE715061243E}"/>
              </a:ext>
            </a:extLst>
          </p:cNvPr>
          <p:cNvSpPr/>
          <p:nvPr/>
        </p:nvSpPr>
        <p:spPr>
          <a:xfrm>
            <a:off x="7905292" y="4800600"/>
            <a:ext cx="3618890" cy="105156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1">
            <a:extLst>
              <a:ext uri="{FF2B5EF4-FFF2-40B4-BE49-F238E27FC236}">
                <a16:creationId xmlns:a16="http://schemas.microsoft.com/office/drawing/2014/main" id="{A1A2756B-0493-0F38-54C7-C23EA7096396}"/>
              </a:ext>
            </a:extLst>
          </p:cNvPr>
          <p:cNvSpPr/>
          <p:nvPr/>
        </p:nvSpPr>
        <p:spPr>
          <a:xfrm>
            <a:off x="8682532" y="4965192"/>
            <a:ext cx="27044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Einstein + Platform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50" name="Text 42">
            <a:extLst>
              <a:ext uri="{FF2B5EF4-FFF2-40B4-BE49-F238E27FC236}">
                <a16:creationId xmlns:a16="http://schemas.microsoft.com/office/drawing/2014/main" id="{E9CEF77A-693D-D36E-7AC9-0C2F8880ED3A}"/>
              </a:ext>
            </a:extLst>
          </p:cNvPr>
          <p:cNvSpPr/>
          <p:nvPr/>
        </p:nvSpPr>
        <p:spPr>
          <a:xfrm>
            <a:off x="8682532" y="5303520"/>
            <a:ext cx="2704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Predictive sales/service, Lightning extensions, custom Apex.</a:t>
            </a:r>
            <a:endParaRPr lang="en-US" sz="1050" dirty="0">
              <a:solidFill>
                <a:srgbClr val="94B8D0"/>
              </a:solidFill>
            </a:endParaRPr>
          </a:p>
        </p:txBody>
      </p:sp>
      <p:sp>
        <p:nvSpPr>
          <p:cNvPr id="52" name="Text 44">
            <a:extLst>
              <a:ext uri="{FF2B5EF4-FFF2-40B4-BE49-F238E27FC236}">
                <a16:creationId xmlns:a16="http://schemas.microsoft.com/office/drawing/2014/main" id="{34F014BF-D13F-58FE-0FF9-290AA048594E}"/>
              </a:ext>
            </a:extLst>
          </p:cNvPr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53" name="Text 45">
            <a:extLst>
              <a:ext uri="{FF2B5EF4-FFF2-40B4-BE49-F238E27FC236}">
                <a16:creationId xmlns:a16="http://schemas.microsoft.com/office/drawing/2014/main" id="{944B00F0-6BD8-A86A-B005-028B6C5A6189}"/>
              </a:ext>
            </a:extLst>
          </p:cNvPr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</a:t>
            </a:r>
            <a:endParaRPr lang="en-US" sz="900" dirty="0"/>
          </a:p>
        </p:txBody>
      </p:sp>
      <p:sp>
        <p:nvSpPr>
          <p:cNvPr id="54" name="Rectangle 6">
            <a:extLst>
              <a:ext uri="{FF2B5EF4-FFF2-40B4-BE49-F238E27FC236}">
                <a16:creationId xmlns:a16="http://schemas.microsoft.com/office/drawing/2014/main" id="{2D2DFE55-AC2F-FED5-75CA-F4D30FF78085}"/>
              </a:ext>
            </a:extLst>
          </p:cNvPr>
          <p:cNvSpPr>
            <a:spLocks noChangeAspect="1"/>
          </p:cNvSpPr>
          <p:nvPr/>
        </p:nvSpPr>
        <p:spPr>
          <a:xfrm>
            <a:off x="11343040" y="145576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6">
            <a:extLst>
              <a:ext uri="{FF2B5EF4-FFF2-40B4-BE49-F238E27FC236}">
                <a16:creationId xmlns:a16="http://schemas.microsoft.com/office/drawing/2014/main" id="{F084007B-780A-D3CF-667D-365DAFAEBB27}"/>
              </a:ext>
            </a:extLst>
          </p:cNvPr>
          <p:cNvSpPr>
            <a:spLocks noChangeAspect="1"/>
          </p:cNvSpPr>
          <p:nvPr/>
        </p:nvSpPr>
        <p:spPr>
          <a:xfrm>
            <a:off x="11105147" y="398337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Shape 37">
            <a:extLst>
              <a:ext uri="{FF2B5EF4-FFF2-40B4-BE49-F238E27FC236}">
                <a16:creationId xmlns:a16="http://schemas.microsoft.com/office/drawing/2014/main" id="{AA43E3B7-0368-3AE2-BE79-34018D5D075C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34A66645-0EBF-7D54-B69E-FD0AA9CC8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sp>
        <p:nvSpPr>
          <p:cNvPr id="11" name="Shape 9">
            <a:extLst>
              <a:ext uri="{FF2B5EF4-FFF2-40B4-BE49-F238E27FC236}">
                <a16:creationId xmlns:a16="http://schemas.microsoft.com/office/drawing/2014/main" id="{137F5DAD-5444-4FB9-8145-62510896A8AE}"/>
              </a:ext>
            </a:extLst>
          </p:cNvPr>
          <p:cNvSpPr/>
          <p:nvPr/>
        </p:nvSpPr>
        <p:spPr>
          <a:xfrm>
            <a:off x="502918" y="2932402"/>
            <a:ext cx="2457996" cy="457200"/>
          </a:xfrm>
          <a:prstGeom prst="homePlate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052FF7F-40E1-F375-38D6-29AC9A631B65}"/>
              </a:ext>
            </a:extLst>
          </p:cNvPr>
          <p:cNvSpPr/>
          <p:nvPr/>
        </p:nvSpPr>
        <p:spPr>
          <a:xfrm>
            <a:off x="502918" y="2932402"/>
            <a:ext cx="22371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Acquire</a:t>
            </a:r>
            <a:endParaRPr lang="en-US" sz="120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F1FA925-7C14-E894-254E-D95B2B76236D}"/>
              </a:ext>
            </a:extLst>
          </p:cNvPr>
          <p:cNvSpPr>
            <a:spLocks noChangeAspect="1"/>
          </p:cNvSpPr>
          <p:nvPr/>
        </p:nvSpPr>
        <p:spPr>
          <a:xfrm>
            <a:off x="804978" y="3873120"/>
            <a:ext cx="457074" cy="457196"/>
          </a:xfrm>
          <a:prstGeom prst="ellipse">
            <a:avLst/>
          </a:prstGeom>
          <a:solidFill>
            <a:srgbClr val="C1BC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latin typeface="IBM Plex Sans" panose="020B0503050203000203" pitchFamily="34" charset="77"/>
              </a:rPr>
              <a:t>01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C76D65D1-9128-DB52-1887-58D46B463843}"/>
              </a:ext>
            </a:extLst>
          </p:cNvPr>
          <p:cNvSpPr>
            <a:spLocks noChangeAspect="1"/>
          </p:cNvSpPr>
          <p:nvPr/>
        </p:nvSpPr>
        <p:spPr>
          <a:xfrm>
            <a:off x="4423562" y="3873120"/>
            <a:ext cx="457074" cy="457196"/>
          </a:xfrm>
          <a:prstGeom prst="ellipse">
            <a:avLst/>
          </a:prstGeom>
          <a:solidFill>
            <a:srgbClr val="C1BC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latin typeface="IBM Plex Sans" panose="020B0503050203000203" pitchFamily="34" charset="77"/>
              </a:rPr>
              <a:t>02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2BB026E-6EAF-DBF6-1A88-D9D4B375B911}"/>
              </a:ext>
            </a:extLst>
          </p:cNvPr>
          <p:cNvSpPr>
            <a:spLocks noChangeAspect="1"/>
          </p:cNvSpPr>
          <p:nvPr/>
        </p:nvSpPr>
        <p:spPr>
          <a:xfrm>
            <a:off x="8042452" y="3849150"/>
            <a:ext cx="457074" cy="457196"/>
          </a:xfrm>
          <a:prstGeom prst="ellipse">
            <a:avLst/>
          </a:prstGeom>
          <a:solidFill>
            <a:srgbClr val="C1BC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latin typeface="IBM Plex Sans" panose="020B0503050203000203" pitchFamily="34" charset="77"/>
              </a:rPr>
              <a:t>03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65C9830E-1C46-8C27-C320-0356344E909B}"/>
              </a:ext>
            </a:extLst>
          </p:cNvPr>
          <p:cNvSpPr>
            <a:spLocks noChangeAspect="1"/>
          </p:cNvSpPr>
          <p:nvPr/>
        </p:nvSpPr>
        <p:spPr>
          <a:xfrm>
            <a:off x="804978" y="4924680"/>
            <a:ext cx="457074" cy="457196"/>
          </a:xfrm>
          <a:prstGeom prst="ellipse">
            <a:avLst/>
          </a:prstGeom>
          <a:solidFill>
            <a:srgbClr val="C1BC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latin typeface="IBM Plex Sans" panose="020B0503050203000203" pitchFamily="34" charset="77"/>
              </a:rPr>
              <a:t>04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3B5D3565-7C2E-1B1F-F7EF-779D5CABE7ED}"/>
              </a:ext>
            </a:extLst>
          </p:cNvPr>
          <p:cNvSpPr>
            <a:spLocks noChangeAspect="1"/>
          </p:cNvSpPr>
          <p:nvPr/>
        </p:nvSpPr>
        <p:spPr>
          <a:xfrm>
            <a:off x="4422497" y="4924680"/>
            <a:ext cx="457074" cy="457196"/>
          </a:xfrm>
          <a:prstGeom prst="ellipse">
            <a:avLst/>
          </a:prstGeom>
          <a:solidFill>
            <a:srgbClr val="C1BC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latin typeface="IBM Plex Sans" panose="020B0503050203000203" pitchFamily="34" charset="77"/>
              </a:rPr>
              <a:t>05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128ABD1-97A8-B1C6-105E-6E9138C57B48}"/>
              </a:ext>
            </a:extLst>
          </p:cNvPr>
          <p:cNvSpPr>
            <a:spLocks noChangeAspect="1"/>
          </p:cNvSpPr>
          <p:nvPr/>
        </p:nvSpPr>
        <p:spPr>
          <a:xfrm>
            <a:off x="8042452" y="4919472"/>
            <a:ext cx="457074" cy="457196"/>
          </a:xfrm>
          <a:prstGeom prst="ellipse">
            <a:avLst/>
          </a:prstGeom>
          <a:solidFill>
            <a:srgbClr val="C1BC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latin typeface="IBM Plex Sans" panose="020B0503050203000203" pitchFamily="34" charset="77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3647731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DFFFDE-59DF-8435-1251-18128331C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AB6CA017-5E61-84B9-F3BD-5698160B96F0}"/>
              </a:ext>
            </a:extLst>
          </p:cNvPr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SALESFORCE  ·  HOW WE ENGAGE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F34FBE7-3484-E1D1-FB97-127884CA547B}"/>
              </a:ext>
            </a:extLst>
          </p:cNvPr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From strategy to steady state.</a:t>
            </a:r>
            <a:endParaRPr lang="en-US" sz="3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7E50778-27BE-D268-85D9-69F5561720D8}"/>
              </a:ext>
            </a:extLst>
          </p:cNvPr>
          <p:cNvSpPr/>
          <p:nvPr/>
        </p:nvSpPr>
        <p:spPr>
          <a:xfrm>
            <a:off x="502920" y="17830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engagement types covering the full Salesforce lifecycle — used independently or chained into a multi-year transformation programme.</a:t>
            </a:r>
            <a:endParaRPr lang="en-US" sz="1300" dirty="0"/>
          </a:p>
        </p:txBody>
      </p:sp>
      <p:sp>
        <p:nvSpPr>
          <p:cNvPr id="42" name="Text 35">
            <a:extLst>
              <a:ext uri="{FF2B5EF4-FFF2-40B4-BE49-F238E27FC236}">
                <a16:creationId xmlns:a16="http://schemas.microsoft.com/office/drawing/2014/main" id="{3E10B3E1-73D5-EB96-054F-92B404C891B8}"/>
              </a:ext>
            </a:extLst>
          </p:cNvPr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43" name="Text 36">
            <a:extLst>
              <a:ext uri="{FF2B5EF4-FFF2-40B4-BE49-F238E27FC236}">
                <a16:creationId xmlns:a16="http://schemas.microsoft.com/office/drawing/2014/main" id="{65871230-48C2-8CE5-D2C5-DDABE107CCC8}"/>
              </a:ext>
            </a:extLst>
          </p:cNvPr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25</a:t>
            </a:r>
            <a:endParaRPr lang="en-US" sz="900" dirty="0"/>
          </a:p>
        </p:txBody>
      </p:sp>
      <p:sp>
        <p:nvSpPr>
          <p:cNvPr id="44" name="Rectangle 6">
            <a:extLst>
              <a:ext uri="{FF2B5EF4-FFF2-40B4-BE49-F238E27FC236}">
                <a16:creationId xmlns:a16="http://schemas.microsoft.com/office/drawing/2014/main" id="{2CD6C870-B4C8-8D15-69EE-BF5E45368132}"/>
              </a:ext>
            </a:extLst>
          </p:cNvPr>
          <p:cNvSpPr>
            <a:spLocks noChangeAspect="1"/>
          </p:cNvSpPr>
          <p:nvPr/>
        </p:nvSpPr>
        <p:spPr>
          <a:xfrm>
            <a:off x="11343040" y="145576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6">
            <a:extLst>
              <a:ext uri="{FF2B5EF4-FFF2-40B4-BE49-F238E27FC236}">
                <a16:creationId xmlns:a16="http://schemas.microsoft.com/office/drawing/2014/main" id="{5DC90095-5C11-747F-85CA-5D44F7A057C3}"/>
              </a:ext>
            </a:extLst>
          </p:cNvPr>
          <p:cNvSpPr>
            <a:spLocks noChangeAspect="1"/>
          </p:cNvSpPr>
          <p:nvPr/>
        </p:nvSpPr>
        <p:spPr>
          <a:xfrm>
            <a:off x="11105147" y="398337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Shape 37">
            <a:extLst>
              <a:ext uri="{FF2B5EF4-FFF2-40B4-BE49-F238E27FC236}">
                <a16:creationId xmlns:a16="http://schemas.microsoft.com/office/drawing/2014/main" id="{7031DADB-FA92-9975-F514-D45FA6FCAEB0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73EBEC1-2545-598D-1F3C-7051FD009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sp>
        <p:nvSpPr>
          <p:cNvPr id="78" name="Rectangle 77">
            <a:extLst>
              <a:ext uri="{FF2B5EF4-FFF2-40B4-BE49-F238E27FC236}">
                <a16:creationId xmlns:a16="http://schemas.microsoft.com/office/drawing/2014/main" id="{53041761-E665-D989-E330-9496FEF2387F}"/>
              </a:ext>
            </a:extLst>
          </p:cNvPr>
          <p:cNvSpPr/>
          <p:nvPr/>
        </p:nvSpPr>
        <p:spPr>
          <a:xfrm>
            <a:off x="5252203" y="3312245"/>
            <a:ext cx="1687286" cy="2889596"/>
          </a:xfrm>
          <a:prstGeom prst="rect">
            <a:avLst/>
          </a:pr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CBD633C-8CBA-16D0-F910-85A9F5DF1321}"/>
              </a:ext>
            </a:extLst>
          </p:cNvPr>
          <p:cNvGrpSpPr>
            <a:grpSpLocks noChangeAspect="1"/>
          </p:cNvGrpSpPr>
          <p:nvPr/>
        </p:nvGrpSpPr>
        <p:grpSpPr>
          <a:xfrm>
            <a:off x="5377339" y="2313431"/>
            <a:ext cx="1437015" cy="1437015"/>
            <a:chOff x="7948494" y="778805"/>
            <a:chExt cx="1764000" cy="1764000"/>
          </a:xfrm>
        </p:grpSpPr>
        <p:sp>
          <p:nvSpPr>
            <p:cNvPr id="48" name="Pie 47">
              <a:extLst>
                <a:ext uri="{FF2B5EF4-FFF2-40B4-BE49-F238E27FC236}">
                  <a16:creationId xmlns:a16="http://schemas.microsoft.com/office/drawing/2014/main" id="{4504F459-650F-3F10-6C28-F792401163B3}"/>
                </a:ext>
              </a:extLst>
            </p:cNvPr>
            <p:cNvSpPr>
              <a:spLocks noChangeAspect="1"/>
            </p:cNvSpPr>
            <p:nvPr/>
          </p:nvSpPr>
          <p:spPr>
            <a:xfrm rot="1864400">
              <a:off x="7948494" y="778805"/>
              <a:ext cx="1764000" cy="1764000"/>
            </a:xfrm>
            <a:prstGeom prst="pie">
              <a:avLst>
                <a:gd name="adj1" fmla="val 20574874"/>
                <a:gd name="adj2" fmla="val 8212021"/>
              </a:avLst>
            </a:prstGeom>
            <a:solidFill>
              <a:srgbClr val="C1BC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DEDAD65-2FDD-D652-0F7E-2960FC1776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24712" y="854807"/>
              <a:ext cx="1611567" cy="1611998"/>
            </a:xfrm>
            <a:prstGeom prst="ellipse">
              <a:avLst/>
            </a:prstGeom>
            <a:solidFill>
              <a:srgbClr val="121E3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845495E-5024-8F75-EEE4-F21EF4D9EF97}"/>
                </a:ext>
              </a:extLst>
            </p:cNvPr>
            <p:cNvSpPr txBox="1"/>
            <p:nvPr/>
          </p:nvSpPr>
          <p:spPr>
            <a:xfrm>
              <a:off x="8139801" y="1446399"/>
              <a:ext cx="1381384" cy="3116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Newsreader Caption" pitchFamily="2" charset="77"/>
                </a:rPr>
                <a:t>Integration</a:t>
              </a:r>
            </a:p>
          </p:txBody>
        </p:sp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BC4D8900-4EAC-4659-7CFE-F503417A4533}"/>
              </a:ext>
            </a:extLst>
          </p:cNvPr>
          <p:cNvSpPr/>
          <p:nvPr/>
        </p:nvSpPr>
        <p:spPr>
          <a:xfrm>
            <a:off x="377784" y="3312245"/>
            <a:ext cx="1687286" cy="2889596"/>
          </a:xfrm>
          <a:prstGeom prst="rect">
            <a:avLst/>
          </a:pr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67D1FA1-21CA-1ABD-8737-60B670B01725}"/>
              </a:ext>
            </a:extLst>
          </p:cNvPr>
          <p:cNvGrpSpPr>
            <a:grpSpLocks noChangeAspect="1"/>
          </p:cNvGrpSpPr>
          <p:nvPr/>
        </p:nvGrpSpPr>
        <p:grpSpPr>
          <a:xfrm>
            <a:off x="502920" y="2334403"/>
            <a:ext cx="1437015" cy="1437015"/>
            <a:chOff x="7948494" y="778805"/>
            <a:chExt cx="1764000" cy="1764000"/>
          </a:xfrm>
        </p:grpSpPr>
        <p:sp>
          <p:nvSpPr>
            <p:cNvPr id="61" name="Pie 60">
              <a:extLst>
                <a:ext uri="{FF2B5EF4-FFF2-40B4-BE49-F238E27FC236}">
                  <a16:creationId xmlns:a16="http://schemas.microsoft.com/office/drawing/2014/main" id="{B43E584E-0502-8B9B-65DE-0946C98235A5}"/>
                </a:ext>
              </a:extLst>
            </p:cNvPr>
            <p:cNvSpPr>
              <a:spLocks noChangeAspect="1"/>
            </p:cNvSpPr>
            <p:nvPr/>
          </p:nvSpPr>
          <p:spPr>
            <a:xfrm rot="1864400">
              <a:off x="7948494" y="778805"/>
              <a:ext cx="1764000" cy="1764000"/>
            </a:xfrm>
            <a:prstGeom prst="pie">
              <a:avLst>
                <a:gd name="adj1" fmla="val 20574874"/>
                <a:gd name="adj2" fmla="val 8212021"/>
              </a:avLst>
            </a:prstGeom>
            <a:solidFill>
              <a:srgbClr val="C1BC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2EB4D5E8-1602-9AA1-8771-ADE06CC4E3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24712" y="854807"/>
              <a:ext cx="1611567" cy="1611998"/>
            </a:xfrm>
            <a:prstGeom prst="ellipse">
              <a:avLst/>
            </a:prstGeom>
            <a:solidFill>
              <a:srgbClr val="121E3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725693A-BBCB-F981-2806-3F6F8A79F4FC}"/>
                </a:ext>
              </a:extLst>
            </p:cNvPr>
            <p:cNvSpPr txBox="1"/>
            <p:nvPr/>
          </p:nvSpPr>
          <p:spPr>
            <a:xfrm>
              <a:off x="8233135" y="1475891"/>
              <a:ext cx="1151197" cy="3116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Newsreader Caption" pitchFamily="2" charset="77"/>
                </a:rPr>
                <a:t>Advisory</a:t>
              </a:r>
            </a:p>
          </p:txBody>
        </p:sp>
      </p:grpSp>
      <p:sp>
        <p:nvSpPr>
          <p:cNvPr id="80" name="Rectangle 79">
            <a:extLst>
              <a:ext uri="{FF2B5EF4-FFF2-40B4-BE49-F238E27FC236}">
                <a16:creationId xmlns:a16="http://schemas.microsoft.com/office/drawing/2014/main" id="{6946E2D3-6AB4-80B9-9D44-DA50578397C4}"/>
              </a:ext>
            </a:extLst>
          </p:cNvPr>
          <p:cNvSpPr/>
          <p:nvPr/>
        </p:nvSpPr>
        <p:spPr>
          <a:xfrm>
            <a:off x="10152226" y="3317450"/>
            <a:ext cx="1687286" cy="2889596"/>
          </a:xfrm>
          <a:prstGeom prst="rect">
            <a:avLst/>
          </a:pr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4D83A20-32E8-9F28-6F09-3BBBD7E4032E}"/>
              </a:ext>
            </a:extLst>
          </p:cNvPr>
          <p:cNvGrpSpPr>
            <a:grpSpLocks noChangeAspect="1"/>
          </p:cNvGrpSpPr>
          <p:nvPr/>
        </p:nvGrpSpPr>
        <p:grpSpPr>
          <a:xfrm>
            <a:off x="10267314" y="2307306"/>
            <a:ext cx="1437015" cy="1437015"/>
            <a:chOff x="7948494" y="778805"/>
            <a:chExt cx="1764000" cy="1764000"/>
          </a:xfrm>
        </p:grpSpPr>
        <p:sp>
          <p:nvSpPr>
            <p:cNvPr id="65" name="Pie 64">
              <a:extLst>
                <a:ext uri="{FF2B5EF4-FFF2-40B4-BE49-F238E27FC236}">
                  <a16:creationId xmlns:a16="http://schemas.microsoft.com/office/drawing/2014/main" id="{EA7B2143-4E69-9A12-0574-5AF76D9ECC81}"/>
                </a:ext>
              </a:extLst>
            </p:cNvPr>
            <p:cNvSpPr>
              <a:spLocks noChangeAspect="1"/>
            </p:cNvSpPr>
            <p:nvPr/>
          </p:nvSpPr>
          <p:spPr>
            <a:xfrm rot="1864400">
              <a:off x="7948494" y="778805"/>
              <a:ext cx="1764000" cy="1764000"/>
            </a:xfrm>
            <a:prstGeom prst="pie">
              <a:avLst>
                <a:gd name="adj1" fmla="val 20574874"/>
                <a:gd name="adj2" fmla="val 8212021"/>
              </a:avLst>
            </a:prstGeom>
            <a:solidFill>
              <a:srgbClr val="C1BC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F5C2458-27E5-602A-38BE-38850E5464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24712" y="854807"/>
              <a:ext cx="1611567" cy="1611998"/>
            </a:xfrm>
            <a:prstGeom prst="ellipse">
              <a:avLst/>
            </a:prstGeom>
            <a:solidFill>
              <a:srgbClr val="121E3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78D38DA-1189-727E-7267-321BABF80294}"/>
                </a:ext>
              </a:extLst>
            </p:cNvPr>
            <p:cNvSpPr txBox="1"/>
            <p:nvPr/>
          </p:nvSpPr>
          <p:spPr>
            <a:xfrm>
              <a:off x="8254895" y="1332358"/>
              <a:ext cx="1151197" cy="5100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Newsreader Caption" pitchFamily="2" charset="77"/>
                </a:rPr>
                <a:t>Managed Services</a:t>
              </a:r>
            </a:p>
          </p:txBody>
        </p: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E4B21438-C665-A89A-A8A8-C132B92618A5}"/>
              </a:ext>
            </a:extLst>
          </p:cNvPr>
          <p:cNvSpPr/>
          <p:nvPr/>
        </p:nvSpPr>
        <p:spPr>
          <a:xfrm>
            <a:off x="2802244" y="3312245"/>
            <a:ext cx="1687286" cy="2889596"/>
          </a:xfrm>
          <a:prstGeom prst="rect">
            <a:avLst/>
          </a:pr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EF3048F-DABE-C881-FCD4-A0A1A9FC1189}"/>
              </a:ext>
            </a:extLst>
          </p:cNvPr>
          <p:cNvGrpSpPr>
            <a:grpSpLocks noChangeAspect="1"/>
          </p:cNvGrpSpPr>
          <p:nvPr/>
        </p:nvGrpSpPr>
        <p:grpSpPr>
          <a:xfrm>
            <a:off x="2922405" y="2313428"/>
            <a:ext cx="1468788" cy="1437015"/>
            <a:chOff x="7948494" y="778805"/>
            <a:chExt cx="1803002" cy="1764000"/>
          </a:xfrm>
        </p:grpSpPr>
        <p:sp>
          <p:nvSpPr>
            <p:cNvPr id="69" name="Pie 68">
              <a:extLst>
                <a:ext uri="{FF2B5EF4-FFF2-40B4-BE49-F238E27FC236}">
                  <a16:creationId xmlns:a16="http://schemas.microsoft.com/office/drawing/2014/main" id="{2F842B50-BBBF-7587-E175-522F4477D139}"/>
                </a:ext>
              </a:extLst>
            </p:cNvPr>
            <p:cNvSpPr>
              <a:spLocks noChangeAspect="1"/>
            </p:cNvSpPr>
            <p:nvPr/>
          </p:nvSpPr>
          <p:spPr>
            <a:xfrm rot="1864400">
              <a:off x="7948494" y="778805"/>
              <a:ext cx="1764000" cy="1764000"/>
            </a:xfrm>
            <a:prstGeom prst="pie">
              <a:avLst>
                <a:gd name="adj1" fmla="val 20574874"/>
                <a:gd name="adj2" fmla="val 8212021"/>
              </a:avLst>
            </a:prstGeom>
            <a:solidFill>
              <a:srgbClr val="C1BC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B842312F-EEB7-DCEA-B74D-FC33306F2D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24712" y="854807"/>
              <a:ext cx="1611567" cy="1611998"/>
            </a:xfrm>
            <a:prstGeom prst="ellipse">
              <a:avLst/>
            </a:prstGeom>
            <a:solidFill>
              <a:srgbClr val="121E3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CCB4F57-C6DC-5B28-472F-D76F994079ED}"/>
                </a:ext>
              </a:extLst>
            </p:cNvPr>
            <p:cNvSpPr txBox="1"/>
            <p:nvPr/>
          </p:nvSpPr>
          <p:spPr>
            <a:xfrm>
              <a:off x="7953013" y="1474739"/>
              <a:ext cx="1798483" cy="2833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Newsreader Caption" pitchFamily="2" charset="77"/>
                </a:rPr>
                <a:t>Implementation</a:t>
              </a:r>
            </a:p>
          </p:txBody>
        </p: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4DE16FD1-B3D4-0F00-32F3-9CE8C040D601}"/>
              </a:ext>
            </a:extLst>
          </p:cNvPr>
          <p:cNvSpPr/>
          <p:nvPr/>
        </p:nvSpPr>
        <p:spPr>
          <a:xfrm>
            <a:off x="7702470" y="3312245"/>
            <a:ext cx="1687286" cy="2889596"/>
          </a:xfrm>
          <a:prstGeom prst="rect">
            <a:avLst/>
          </a:pr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A207FD4-FFB3-DCF8-94D9-C4301CD14DA6}"/>
              </a:ext>
            </a:extLst>
          </p:cNvPr>
          <p:cNvGrpSpPr>
            <a:grpSpLocks noChangeAspect="1"/>
          </p:cNvGrpSpPr>
          <p:nvPr/>
        </p:nvGrpSpPr>
        <p:grpSpPr>
          <a:xfrm>
            <a:off x="7822326" y="2313429"/>
            <a:ext cx="1437015" cy="1437015"/>
            <a:chOff x="7948494" y="778805"/>
            <a:chExt cx="1764000" cy="1764000"/>
          </a:xfrm>
        </p:grpSpPr>
        <p:sp>
          <p:nvSpPr>
            <p:cNvPr id="73" name="Pie 72">
              <a:extLst>
                <a:ext uri="{FF2B5EF4-FFF2-40B4-BE49-F238E27FC236}">
                  <a16:creationId xmlns:a16="http://schemas.microsoft.com/office/drawing/2014/main" id="{F32BC3A1-C55A-3071-DB83-0221F14D7C7A}"/>
                </a:ext>
              </a:extLst>
            </p:cNvPr>
            <p:cNvSpPr>
              <a:spLocks noChangeAspect="1"/>
            </p:cNvSpPr>
            <p:nvPr/>
          </p:nvSpPr>
          <p:spPr>
            <a:xfrm rot="1864400">
              <a:off x="7948494" y="778805"/>
              <a:ext cx="1764000" cy="1764000"/>
            </a:xfrm>
            <a:prstGeom prst="pie">
              <a:avLst>
                <a:gd name="adj1" fmla="val 20574874"/>
                <a:gd name="adj2" fmla="val 8212021"/>
              </a:avLst>
            </a:prstGeom>
            <a:solidFill>
              <a:srgbClr val="C1BC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72B1C096-E02D-C575-6780-3ED19AA25F7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24712" y="854807"/>
              <a:ext cx="1611567" cy="1611998"/>
            </a:xfrm>
            <a:prstGeom prst="ellipse">
              <a:avLst/>
            </a:prstGeom>
            <a:solidFill>
              <a:srgbClr val="121E3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C88CD2B-5BEC-29AF-261D-5E9EA7E25501}"/>
                </a:ext>
              </a:extLst>
            </p:cNvPr>
            <p:cNvSpPr txBox="1"/>
            <p:nvPr/>
          </p:nvSpPr>
          <p:spPr>
            <a:xfrm>
              <a:off x="8133510" y="1361395"/>
              <a:ext cx="1393968" cy="5100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Newsreader Caption" pitchFamily="2" charset="77"/>
                </a:rPr>
                <a:t>Engagement &amp; Digital</a:t>
              </a:r>
            </a:p>
          </p:txBody>
        </p:sp>
      </p:grpSp>
      <p:sp>
        <p:nvSpPr>
          <p:cNvPr id="82" name="Text 11">
            <a:extLst>
              <a:ext uri="{FF2B5EF4-FFF2-40B4-BE49-F238E27FC236}">
                <a16:creationId xmlns:a16="http://schemas.microsoft.com/office/drawing/2014/main" id="{B80B7328-BF45-7FC2-1BCA-87C3A648CE93}"/>
              </a:ext>
            </a:extLst>
          </p:cNvPr>
          <p:cNvSpPr/>
          <p:nvPr/>
        </p:nvSpPr>
        <p:spPr>
          <a:xfrm>
            <a:off x="478699" y="4050314"/>
            <a:ext cx="160172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CX strategy</a:t>
            </a:r>
            <a:endParaRPr lang="en-US" sz="1100" dirty="0">
              <a:solidFill>
                <a:srgbClr val="121E3B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 journey mapping</a:t>
            </a:r>
            <a:endParaRPr lang="en-US" sz="1100" dirty="0">
              <a:solidFill>
                <a:srgbClr val="121E3B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Lead-to-cash design</a:t>
            </a:r>
            <a:endParaRPr lang="en-US" sz="1100" dirty="0">
              <a:solidFill>
                <a:srgbClr val="121E3B"/>
              </a:solidFill>
            </a:endParaRPr>
          </a:p>
        </p:txBody>
      </p:sp>
      <p:sp>
        <p:nvSpPr>
          <p:cNvPr id="83" name="Text 15">
            <a:extLst>
              <a:ext uri="{FF2B5EF4-FFF2-40B4-BE49-F238E27FC236}">
                <a16:creationId xmlns:a16="http://schemas.microsoft.com/office/drawing/2014/main" id="{B94D4A00-67A1-63BB-99C3-2E097C03E16A}"/>
              </a:ext>
            </a:extLst>
          </p:cNvPr>
          <p:cNvSpPr/>
          <p:nvPr/>
        </p:nvSpPr>
        <p:spPr>
          <a:xfrm>
            <a:off x="2903159" y="4050314"/>
            <a:ext cx="148803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Multi-cloud deployments</a:t>
            </a:r>
            <a:endParaRPr lang="en-US" sz="1100" dirty="0">
              <a:solidFill>
                <a:srgbClr val="121E3B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migration</a:t>
            </a:r>
            <a:endParaRPr lang="en-US" sz="1100" dirty="0">
              <a:solidFill>
                <a:srgbClr val="121E3B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Governance &amp; change</a:t>
            </a:r>
            <a:endParaRPr lang="en-US" sz="1100" dirty="0">
              <a:solidFill>
                <a:srgbClr val="121E3B"/>
              </a:solidFill>
            </a:endParaRPr>
          </a:p>
        </p:txBody>
      </p:sp>
      <p:sp>
        <p:nvSpPr>
          <p:cNvPr id="84" name="Text 19">
            <a:extLst>
              <a:ext uri="{FF2B5EF4-FFF2-40B4-BE49-F238E27FC236}">
                <a16:creationId xmlns:a16="http://schemas.microsoft.com/office/drawing/2014/main" id="{2207C412-97C7-BF1B-912A-3FC78A5BB0F7}"/>
              </a:ext>
            </a:extLst>
          </p:cNvPr>
          <p:cNvSpPr/>
          <p:nvPr/>
        </p:nvSpPr>
        <p:spPr>
          <a:xfrm>
            <a:off x="5353118" y="4050314"/>
            <a:ext cx="151119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MuleSoft</a:t>
            </a:r>
            <a:endParaRPr lang="en-US" sz="1100" dirty="0">
              <a:solidFill>
                <a:srgbClr val="121E3B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&amp; Workday connectors</a:t>
            </a:r>
            <a:endParaRPr lang="en-US" sz="1100" dirty="0">
              <a:solidFill>
                <a:srgbClr val="121E3B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Payment &amp; telephony</a:t>
            </a:r>
            <a:endParaRPr lang="en-US" sz="1100" dirty="0">
              <a:solidFill>
                <a:srgbClr val="121E3B"/>
              </a:solidFill>
            </a:endParaRPr>
          </a:p>
        </p:txBody>
      </p:sp>
      <p:sp>
        <p:nvSpPr>
          <p:cNvPr id="85" name="Text 23">
            <a:extLst>
              <a:ext uri="{FF2B5EF4-FFF2-40B4-BE49-F238E27FC236}">
                <a16:creationId xmlns:a16="http://schemas.microsoft.com/office/drawing/2014/main" id="{A98BCF9F-7930-843C-BFD1-A9A9189D5A41}"/>
              </a:ext>
            </a:extLst>
          </p:cNvPr>
          <p:cNvSpPr/>
          <p:nvPr/>
        </p:nvSpPr>
        <p:spPr>
          <a:xfrm>
            <a:off x="7845850" y="4050314"/>
            <a:ext cx="144299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Marketing automation</a:t>
            </a:r>
            <a:endParaRPr lang="en-US" sz="1100" dirty="0">
              <a:solidFill>
                <a:srgbClr val="121E3B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 360</a:t>
            </a:r>
            <a:endParaRPr lang="en-US" sz="1100" dirty="0">
              <a:solidFill>
                <a:srgbClr val="121E3B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Einstein personalisation</a:t>
            </a:r>
            <a:endParaRPr lang="en-US" sz="1100" dirty="0">
              <a:solidFill>
                <a:srgbClr val="121E3B"/>
              </a:solidFill>
            </a:endParaRPr>
          </a:p>
        </p:txBody>
      </p:sp>
      <p:sp>
        <p:nvSpPr>
          <p:cNvPr id="86" name="Text 27">
            <a:extLst>
              <a:ext uri="{FF2B5EF4-FFF2-40B4-BE49-F238E27FC236}">
                <a16:creationId xmlns:a16="http://schemas.microsoft.com/office/drawing/2014/main" id="{8C240327-C74C-EF32-CD36-22D54BF27859}"/>
              </a:ext>
            </a:extLst>
          </p:cNvPr>
          <p:cNvSpPr/>
          <p:nvPr/>
        </p:nvSpPr>
        <p:spPr>
          <a:xfrm>
            <a:off x="10324216" y="4056388"/>
            <a:ext cx="138908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Org health checks</a:t>
            </a:r>
            <a:endParaRPr lang="en-US" sz="1100" dirty="0">
              <a:solidFill>
                <a:srgbClr val="121E3B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 management</a:t>
            </a:r>
            <a:endParaRPr lang="en-US" sz="1100" dirty="0">
              <a:solidFill>
                <a:srgbClr val="121E3B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L1–L3 AMS</a:t>
            </a:r>
            <a:endParaRPr lang="en-US" sz="1100" dirty="0">
              <a:solidFill>
                <a:srgbClr val="121E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85238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2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A3CBE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A3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50292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SUB-PRACTICE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Workday Services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4160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Modernising HR and finance functions on a single cloud platform.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9525">
            <a:solidFill>
              <a:srgbClr val="2A3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26</a:t>
            </a:r>
            <a:endParaRPr lang="en-US" sz="900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7859EBB2-7FA4-8375-97E4-9E44643E5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5639" y="347471"/>
            <a:ext cx="2070410" cy="64456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0B6987-4BFB-7876-2F29-0649B5EDD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DC158273-AF61-D8C7-43CF-CB7A4A1DEB12}"/>
              </a:ext>
            </a:extLst>
          </p:cNvPr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WORKDAY  ·  PRACTICE OVERVIEW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6845FE1-467C-66E4-9CE1-8711DA55E28C}"/>
              </a:ext>
            </a:extLst>
          </p:cNvPr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Enabling the modern workforce,</a:t>
            </a:r>
            <a:endParaRPr lang="en-US" sz="2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C97F346-B2FB-F158-2298-2D23E187AA71}"/>
              </a:ext>
            </a:extLst>
          </p:cNvPr>
          <p:cNvSpPr/>
          <p:nvPr/>
        </p:nvSpPr>
        <p:spPr>
          <a:xfrm>
            <a:off x="502919" y="1591776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3F75A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 Workday.</a:t>
            </a:r>
            <a:endParaRPr lang="en-US" sz="2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BCA0902-271F-652D-680A-17DCF4AFBC44}"/>
              </a:ext>
            </a:extLst>
          </p:cNvPr>
          <p:cNvSpPr/>
          <p:nvPr/>
        </p:nvSpPr>
        <p:spPr>
          <a:xfrm>
            <a:off x="502919" y="2258011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 partner with enterprises on full-lifecycle Workday transformations — from advisory and implementation through to integration and managed services.</a:t>
            </a:r>
            <a:endParaRPr lang="en-US" sz="13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CE375FE-FA7E-7ADA-8BB1-D2F549EA4E55}"/>
              </a:ext>
            </a:extLst>
          </p:cNvPr>
          <p:cNvSpPr/>
          <p:nvPr/>
        </p:nvSpPr>
        <p:spPr>
          <a:xfrm>
            <a:off x="502918" y="3049327"/>
            <a:ext cx="2134758" cy="1783080"/>
          </a:xfrm>
          <a:prstGeom prst="rect">
            <a:avLst/>
          </a:prstGeom>
          <a:solidFill>
            <a:srgbClr val="3F74A2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997D71D-615A-95AC-8C5A-20EE6F9C3A19}"/>
              </a:ext>
            </a:extLst>
          </p:cNvPr>
          <p:cNvSpPr/>
          <p:nvPr/>
        </p:nvSpPr>
        <p:spPr>
          <a:xfrm>
            <a:off x="777238" y="3213919"/>
            <a:ext cx="12203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HCM Transformation</a:t>
            </a:r>
            <a:endParaRPr lang="en-US" sz="13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6096E98-5427-8DA3-1B32-A8262C058870}"/>
              </a:ext>
            </a:extLst>
          </p:cNvPr>
          <p:cNvSpPr/>
          <p:nvPr/>
        </p:nvSpPr>
        <p:spPr>
          <a:xfrm>
            <a:off x="777238" y="3757987"/>
            <a:ext cx="12203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HR · Talent · Compensation · Benefits · Time &amp; Absence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7E676591-0579-9A50-84B9-6B9B9D69B3AA}"/>
              </a:ext>
            </a:extLst>
          </p:cNvPr>
          <p:cNvSpPr/>
          <p:nvPr/>
        </p:nvSpPr>
        <p:spPr>
          <a:xfrm>
            <a:off x="2765692" y="3049327"/>
            <a:ext cx="2134758" cy="1783080"/>
          </a:xfrm>
          <a:prstGeom prst="rect">
            <a:avLst/>
          </a:prstGeom>
          <a:solidFill>
            <a:srgbClr val="94B8D0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83126E4D-6BC9-3E28-6C5C-5A12683983F0}"/>
              </a:ext>
            </a:extLst>
          </p:cNvPr>
          <p:cNvSpPr/>
          <p:nvPr/>
        </p:nvSpPr>
        <p:spPr>
          <a:xfrm>
            <a:off x="3009532" y="3213919"/>
            <a:ext cx="12203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Workforce Analytics</a:t>
            </a:r>
            <a:endParaRPr lang="en-US" sz="13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BFC283B4-3C77-DE99-C177-8FB9D75688AA}"/>
              </a:ext>
            </a:extLst>
          </p:cNvPr>
          <p:cNvSpPr/>
          <p:nvPr/>
        </p:nvSpPr>
        <p:spPr>
          <a:xfrm>
            <a:off x="3013886" y="3757987"/>
            <a:ext cx="12203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People analytics, dashboards, predictive insights.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F05E29E1-E06E-3D9E-D38B-75BF62010ADF}"/>
              </a:ext>
            </a:extLst>
          </p:cNvPr>
          <p:cNvSpPr/>
          <p:nvPr/>
        </p:nvSpPr>
        <p:spPr>
          <a:xfrm>
            <a:off x="5028466" y="3049327"/>
            <a:ext cx="2134758" cy="1783080"/>
          </a:xfrm>
          <a:prstGeom prst="rect">
            <a:avLst/>
          </a:prstGeom>
          <a:solidFill>
            <a:srgbClr val="3F74A2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5507B2F3-B1DB-8496-355F-FE209AC23857}"/>
              </a:ext>
            </a:extLst>
          </p:cNvPr>
          <p:cNvSpPr/>
          <p:nvPr/>
        </p:nvSpPr>
        <p:spPr>
          <a:xfrm>
            <a:off x="5379139" y="3209347"/>
            <a:ext cx="12203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Financial Management</a:t>
            </a:r>
            <a:endParaRPr lang="en-US" sz="13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FF3E0815-7303-DBEB-4335-E049BCAB57CA}"/>
              </a:ext>
            </a:extLst>
          </p:cNvPr>
          <p:cNvSpPr/>
          <p:nvPr/>
        </p:nvSpPr>
        <p:spPr>
          <a:xfrm>
            <a:off x="5379139" y="3757987"/>
            <a:ext cx="12203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Workday Financials, multi-entity accounting, planning.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93604D44-FB8B-D8AD-E01C-8FB8FF4FAAD6}"/>
              </a:ext>
            </a:extLst>
          </p:cNvPr>
          <p:cNvSpPr/>
          <p:nvPr/>
        </p:nvSpPr>
        <p:spPr>
          <a:xfrm>
            <a:off x="7291241" y="3049327"/>
            <a:ext cx="2134758" cy="1783080"/>
          </a:xfrm>
          <a:prstGeom prst="rect">
            <a:avLst/>
          </a:prstGeom>
          <a:solidFill>
            <a:srgbClr val="94B8D0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D1DECA5D-9767-41F4-B3FE-89788905AC96}"/>
              </a:ext>
            </a:extLst>
          </p:cNvPr>
          <p:cNvSpPr/>
          <p:nvPr/>
        </p:nvSpPr>
        <p:spPr>
          <a:xfrm>
            <a:off x="7625206" y="3209347"/>
            <a:ext cx="12203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Workforce Planning</a:t>
            </a:r>
            <a:endParaRPr lang="en-US" sz="130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949195AB-8BDE-11B9-3BDA-5EFCC6CF426A}"/>
              </a:ext>
            </a:extLst>
          </p:cNvPr>
          <p:cNvSpPr/>
          <p:nvPr/>
        </p:nvSpPr>
        <p:spPr>
          <a:xfrm>
            <a:off x="7625206" y="3757987"/>
            <a:ext cx="12203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Headcount, scenario modelling, talent supply analysis.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75A4E90D-088D-2982-D22D-061BCBFCC539}"/>
              </a:ext>
            </a:extLst>
          </p:cNvPr>
          <p:cNvSpPr/>
          <p:nvPr/>
        </p:nvSpPr>
        <p:spPr>
          <a:xfrm>
            <a:off x="9554015" y="3049327"/>
            <a:ext cx="2134758" cy="1783080"/>
          </a:xfrm>
          <a:prstGeom prst="rect">
            <a:avLst/>
          </a:prstGeom>
          <a:solidFill>
            <a:srgbClr val="3F74A2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83A4BF69-610F-41F5-1680-295E15299F2A}"/>
              </a:ext>
            </a:extLst>
          </p:cNvPr>
          <p:cNvSpPr/>
          <p:nvPr/>
        </p:nvSpPr>
        <p:spPr>
          <a:xfrm>
            <a:off x="9884787" y="3211524"/>
            <a:ext cx="12203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Adaptive Planning</a:t>
            </a:r>
            <a:endParaRPr lang="en-US" sz="1300" dirty="0"/>
          </a:p>
        </p:txBody>
      </p:sp>
      <p:sp>
        <p:nvSpPr>
          <p:cNvPr id="35" name="Text 28">
            <a:extLst>
              <a:ext uri="{FF2B5EF4-FFF2-40B4-BE49-F238E27FC236}">
                <a16:creationId xmlns:a16="http://schemas.microsoft.com/office/drawing/2014/main" id="{3B4EB9B0-8134-3793-BA0B-8E8D4F0179B2}"/>
              </a:ext>
            </a:extLst>
          </p:cNvPr>
          <p:cNvSpPr/>
          <p:nvPr/>
        </p:nvSpPr>
        <p:spPr>
          <a:xfrm>
            <a:off x="9884787" y="3757987"/>
            <a:ext cx="12203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Driver-based planning, forecasting, scenario analysis.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36" name="Shape 29">
            <a:extLst>
              <a:ext uri="{FF2B5EF4-FFF2-40B4-BE49-F238E27FC236}">
                <a16:creationId xmlns:a16="http://schemas.microsoft.com/office/drawing/2014/main" id="{6DED42A5-62E6-0093-C881-0CD0FA755685}"/>
              </a:ext>
            </a:extLst>
          </p:cNvPr>
          <p:cNvSpPr/>
          <p:nvPr/>
        </p:nvSpPr>
        <p:spPr>
          <a:xfrm>
            <a:off x="502918" y="5061007"/>
            <a:ext cx="11185855" cy="82296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58096836-CABE-6D4F-99F9-58D8855CD8C0}"/>
              </a:ext>
            </a:extLst>
          </p:cNvPr>
          <p:cNvSpPr/>
          <p:nvPr/>
        </p:nvSpPr>
        <p:spPr>
          <a:xfrm>
            <a:off x="777238" y="5106727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PRACTICE STRENGTH</a:t>
            </a:r>
            <a:endParaRPr lang="en-US" sz="1000" dirty="0"/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A4AA56C-62AD-605D-76A3-570B9163BB4E}"/>
              </a:ext>
            </a:extLst>
          </p:cNvPr>
          <p:cNvSpPr/>
          <p:nvPr/>
        </p:nvSpPr>
        <p:spPr>
          <a:xfrm>
            <a:off x="777238" y="5381047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Workday-certified consultants  ·  multi-region experience  ·  integration patterns with SAP, Salesforce, and legacy HR systems.</a:t>
            </a:r>
            <a:endParaRPr lang="en-US" sz="1300" dirty="0"/>
          </a:p>
        </p:txBody>
      </p:sp>
      <p:sp>
        <p:nvSpPr>
          <p:cNvPr id="40" name="Text 33">
            <a:extLst>
              <a:ext uri="{FF2B5EF4-FFF2-40B4-BE49-F238E27FC236}">
                <a16:creationId xmlns:a16="http://schemas.microsoft.com/office/drawing/2014/main" id="{103773DB-1414-20EF-12CF-FB6B359545B2}"/>
              </a:ext>
            </a:extLst>
          </p:cNvPr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41" name="Text 34">
            <a:extLst>
              <a:ext uri="{FF2B5EF4-FFF2-40B4-BE49-F238E27FC236}">
                <a16:creationId xmlns:a16="http://schemas.microsoft.com/office/drawing/2014/main" id="{D193260B-F00F-2CD5-9AE3-4CAA99F0FEFC}"/>
              </a:ext>
            </a:extLst>
          </p:cNvPr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27</a:t>
            </a:r>
            <a:endParaRPr lang="en-US" sz="900" dirty="0"/>
          </a:p>
        </p:txBody>
      </p:sp>
      <p:sp>
        <p:nvSpPr>
          <p:cNvPr id="42" name="Rectangle 6">
            <a:extLst>
              <a:ext uri="{FF2B5EF4-FFF2-40B4-BE49-F238E27FC236}">
                <a16:creationId xmlns:a16="http://schemas.microsoft.com/office/drawing/2014/main" id="{9D4CEF32-020D-5D54-94F4-CF206028B610}"/>
              </a:ext>
            </a:extLst>
          </p:cNvPr>
          <p:cNvSpPr>
            <a:spLocks noChangeAspect="1"/>
          </p:cNvSpPr>
          <p:nvPr/>
        </p:nvSpPr>
        <p:spPr>
          <a:xfrm>
            <a:off x="11343040" y="145576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6">
            <a:extLst>
              <a:ext uri="{FF2B5EF4-FFF2-40B4-BE49-F238E27FC236}">
                <a16:creationId xmlns:a16="http://schemas.microsoft.com/office/drawing/2014/main" id="{602795C3-DDC8-9052-D304-FECC8069C813}"/>
              </a:ext>
            </a:extLst>
          </p:cNvPr>
          <p:cNvSpPr>
            <a:spLocks noChangeAspect="1"/>
          </p:cNvSpPr>
          <p:nvPr/>
        </p:nvSpPr>
        <p:spPr>
          <a:xfrm>
            <a:off x="11105147" y="398337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Shape 37">
            <a:extLst>
              <a:ext uri="{FF2B5EF4-FFF2-40B4-BE49-F238E27FC236}">
                <a16:creationId xmlns:a16="http://schemas.microsoft.com/office/drawing/2014/main" id="{1A90EAC4-7CD6-34DA-34D4-369EBDD49CC4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E5600E22-CE59-92F2-03AB-5685F8CCE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0385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BE4BC6-69F6-CC27-6603-DF0CA7DD0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B111485A-5597-6FF4-254C-E21A523700AF}"/>
              </a:ext>
            </a:extLst>
          </p:cNvPr>
          <p:cNvSpPr/>
          <p:nvPr/>
        </p:nvSpPr>
        <p:spPr>
          <a:xfrm>
            <a:off x="382649" y="3439977"/>
            <a:ext cx="1687286" cy="2889596"/>
          </a:xfrm>
          <a:prstGeom prst="rect">
            <a:avLst/>
          </a:pr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E3D35DB-9799-4A3E-ACEC-66BF4B232C72}"/>
              </a:ext>
            </a:extLst>
          </p:cNvPr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WORKDAY  ·  SERVICES &amp; DELIVERY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6A75FF9-B0F5-21C5-0BA7-2004D607C8CC}"/>
              </a:ext>
            </a:extLst>
          </p:cNvPr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Five engagement types,</a:t>
            </a:r>
            <a:endParaRPr lang="en-US" sz="2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4897264-6673-A358-0C78-6D5716BA1DC7}"/>
              </a:ext>
            </a:extLst>
          </p:cNvPr>
          <p:cNvSpPr/>
          <p:nvPr/>
        </p:nvSpPr>
        <p:spPr>
          <a:xfrm>
            <a:off x="484362" y="1591776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3F75A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Workday delivery team.</a:t>
            </a:r>
            <a:endParaRPr lang="en-US" sz="2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101D80E-7818-7DCD-79FA-01BE13BE5BE4}"/>
              </a:ext>
            </a:extLst>
          </p:cNvPr>
          <p:cNvSpPr/>
          <p:nvPr/>
        </p:nvSpPr>
        <p:spPr>
          <a:xfrm>
            <a:off x="492080" y="2089294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early advisory through tenant lifecycle management, our Workday delivery team operates as a single integrated unit across onshore and offshore.</a:t>
            </a:r>
            <a:endParaRPr lang="en-US" sz="13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974C071-8D12-8A52-72F8-F1F25A4835C1}"/>
              </a:ext>
            </a:extLst>
          </p:cNvPr>
          <p:cNvSpPr/>
          <p:nvPr/>
        </p:nvSpPr>
        <p:spPr>
          <a:xfrm>
            <a:off x="484362" y="4184120"/>
            <a:ext cx="147400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Wingdings" pitchFamily="2" charset="2"/>
              <a:buChar char="§"/>
            </a:pPr>
            <a:r>
              <a:rPr lang="en-US" sz="1000" dirty="0">
                <a:solidFill>
                  <a:srgbClr val="121E3B"/>
                </a:solidFill>
                <a:latin typeface="IBM Plex Sans" panose="020B0503050203000203" pitchFamily="34" charset="77"/>
                <a:ea typeface="IBM Plex Sans" pitchFamily="34" charset="-122"/>
                <a:cs typeface="IBM Plex Sans" pitchFamily="34" charset="-120"/>
              </a:rPr>
              <a:t>HR digitisation roadmap</a:t>
            </a:r>
            <a:endParaRPr lang="en-US" sz="1000" dirty="0">
              <a:solidFill>
                <a:srgbClr val="121E3B"/>
              </a:solidFill>
              <a:latin typeface="IBM Plex Sans" panose="020B0503050203000203" pitchFamily="34" charset="77"/>
            </a:endParaRPr>
          </a:p>
          <a:p>
            <a:pPr marL="342900" indent="-342900">
              <a:spcAft>
                <a:spcPts val="500"/>
              </a:spcAft>
              <a:buSzPct val="100000"/>
              <a:buFont typeface="Wingdings" pitchFamily="2" charset="2"/>
              <a:buChar char="§"/>
            </a:pPr>
            <a:r>
              <a:rPr lang="en-US" sz="1000" dirty="0">
                <a:solidFill>
                  <a:srgbClr val="121E3B"/>
                </a:solidFill>
                <a:latin typeface="IBM Plex Sans" panose="020B0503050203000203" pitchFamily="34" charset="77"/>
                <a:ea typeface="IBM Plex Sans" pitchFamily="34" charset="-122"/>
                <a:cs typeface="IBM Plex Sans" pitchFamily="34" charset="-120"/>
              </a:rPr>
              <a:t>Process re-engineering</a:t>
            </a:r>
            <a:endParaRPr lang="en-US" sz="1000" dirty="0">
              <a:solidFill>
                <a:srgbClr val="121E3B"/>
              </a:solidFill>
              <a:latin typeface="IBM Plex Sans" panose="020B0503050203000203" pitchFamily="34" charset="77"/>
            </a:endParaRPr>
          </a:p>
          <a:p>
            <a:pPr marL="342900" indent="-342900">
              <a:spcAft>
                <a:spcPts val="500"/>
              </a:spcAft>
              <a:buSzPct val="100000"/>
              <a:buFont typeface="Wingdings" pitchFamily="2" charset="2"/>
              <a:buChar char="§"/>
            </a:pPr>
            <a:r>
              <a:rPr lang="en-US" sz="1000" dirty="0">
                <a:solidFill>
                  <a:srgbClr val="121E3B"/>
                </a:solidFill>
                <a:latin typeface="IBM Plex Sans" panose="020B0503050203000203" pitchFamily="34" charset="77"/>
                <a:ea typeface="IBM Plex Sans" pitchFamily="34" charset="-122"/>
                <a:cs typeface="IBM Plex Sans" pitchFamily="34" charset="-120"/>
              </a:rPr>
              <a:t>Change management</a:t>
            </a:r>
            <a:endParaRPr lang="en-US" sz="1000" dirty="0">
              <a:solidFill>
                <a:srgbClr val="121E3B"/>
              </a:solidFill>
              <a:latin typeface="IBM Plex Sans" panose="020B0503050203000203" pitchFamily="34" charset="77"/>
            </a:endParaRPr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79610C4E-DDEB-8887-4710-2CDAC7ABEBEE}"/>
              </a:ext>
            </a:extLst>
          </p:cNvPr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35617523-AD52-D6B7-7AE8-A148C379E8D0}"/>
              </a:ext>
            </a:extLst>
          </p:cNvPr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28</a:t>
            </a:r>
            <a:endParaRPr lang="en-US" sz="900" dirty="0"/>
          </a:p>
        </p:txBody>
      </p:sp>
      <p:sp>
        <p:nvSpPr>
          <p:cNvPr id="39" name="Rectangle 6">
            <a:extLst>
              <a:ext uri="{FF2B5EF4-FFF2-40B4-BE49-F238E27FC236}">
                <a16:creationId xmlns:a16="http://schemas.microsoft.com/office/drawing/2014/main" id="{21CDD172-69F5-4355-7015-7924DD6FC593}"/>
              </a:ext>
            </a:extLst>
          </p:cNvPr>
          <p:cNvSpPr>
            <a:spLocks noChangeAspect="1"/>
          </p:cNvSpPr>
          <p:nvPr/>
        </p:nvSpPr>
        <p:spPr>
          <a:xfrm>
            <a:off x="11343040" y="145576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BCFD9688-6399-B68D-6C0A-7F4DBA4C2574}"/>
              </a:ext>
            </a:extLst>
          </p:cNvPr>
          <p:cNvSpPr>
            <a:spLocks noChangeAspect="1"/>
          </p:cNvSpPr>
          <p:nvPr/>
        </p:nvSpPr>
        <p:spPr>
          <a:xfrm>
            <a:off x="11105147" y="398337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Shape 37">
            <a:extLst>
              <a:ext uri="{FF2B5EF4-FFF2-40B4-BE49-F238E27FC236}">
                <a16:creationId xmlns:a16="http://schemas.microsoft.com/office/drawing/2014/main" id="{3C72C387-0E05-8780-D3E6-922B98D14263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14156325-9DD9-0AE9-047E-3126A7202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724093FA-F21A-67E7-E8FD-146302B73B88}"/>
              </a:ext>
            </a:extLst>
          </p:cNvPr>
          <p:cNvSpPr/>
          <p:nvPr/>
        </p:nvSpPr>
        <p:spPr>
          <a:xfrm>
            <a:off x="5257068" y="3439977"/>
            <a:ext cx="1687286" cy="2889596"/>
          </a:xfrm>
          <a:prstGeom prst="rect">
            <a:avLst/>
          </a:pr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B4F9740-198C-C10C-C9B1-4F45B42892F6}"/>
              </a:ext>
            </a:extLst>
          </p:cNvPr>
          <p:cNvGrpSpPr>
            <a:grpSpLocks noChangeAspect="1"/>
          </p:cNvGrpSpPr>
          <p:nvPr/>
        </p:nvGrpSpPr>
        <p:grpSpPr>
          <a:xfrm>
            <a:off x="5382204" y="2441163"/>
            <a:ext cx="1437015" cy="1437015"/>
            <a:chOff x="7948494" y="778805"/>
            <a:chExt cx="1764000" cy="1764000"/>
          </a:xfrm>
        </p:grpSpPr>
        <p:sp>
          <p:nvSpPr>
            <p:cNvPr id="45" name="Pie 44">
              <a:extLst>
                <a:ext uri="{FF2B5EF4-FFF2-40B4-BE49-F238E27FC236}">
                  <a16:creationId xmlns:a16="http://schemas.microsoft.com/office/drawing/2014/main" id="{D4165095-C416-0E7D-7A47-F233398566E2}"/>
                </a:ext>
              </a:extLst>
            </p:cNvPr>
            <p:cNvSpPr>
              <a:spLocks noChangeAspect="1"/>
            </p:cNvSpPr>
            <p:nvPr/>
          </p:nvSpPr>
          <p:spPr>
            <a:xfrm rot="1864400">
              <a:off x="7948494" y="778805"/>
              <a:ext cx="1764000" cy="1764000"/>
            </a:xfrm>
            <a:prstGeom prst="pie">
              <a:avLst>
                <a:gd name="adj1" fmla="val 20574874"/>
                <a:gd name="adj2" fmla="val 8212021"/>
              </a:avLst>
            </a:prstGeom>
            <a:solidFill>
              <a:srgbClr val="C1BC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62AC215-E6A0-8FD3-9A17-E0CD76B1F4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24712" y="854807"/>
              <a:ext cx="1611567" cy="1611998"/>
            </a:xfrm>
            <a:prstGeom prst="ellipse">
              <a:avLst/>
            </a:prstGeom>
            <a:solidFill>
              <a:srgbClr val="121E3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E4E0CA9-705F-48A9-CEED-E19BC3A37ADB}"/>
                </a:ext>
              </a:extLst>
            </p:cNvPr>
            <p:cNvSpPr txBox="1"/>
            <p:nvPr/>
          </p:nvSpPr>
          <p:spPr>
            <a:xfrm>
              <a:off x="8139801" y="1446399"/>
              <a:ext cx="1381384" cy="3116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Newsreader Caption" pitchFamily="2" charset="77"/>
                </a:rPr>
                <a:t>Integration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4EB68F8-ABE9-F5FF-B0B4-8FD602D020CA}"/>
              </a:ext>
            </a:extLst>
          </p:cNvPr>
          <p:cNvGrpSpPr>
            <a:grpSpLocks noChangeAspect="1"/>
          </p:cNvGrpSpPr>
          <p:nvPr/>
        </p:nvGrpSpPr>
        <p:grpSpPr>
          <a:xfrm>
            <a:off x="502920" y="2462135"/>
            <a:ext cx="1455449" cy="1437015"/>
            <a:chOff x="7942523" y="778805"/>
            <a:chExt cx="1786629" cy="1764000"/>
          </a:xfrm>
        </p:grpSpPr>
        <p:sp>
          <p:nvSpPr>
            <p:cNvPr id="50" name="Pie 49">
              <a:extLst>
                <a:ext uri="{FF2B5EF4-FFF2-40B4-BE49-F238E27FC236}">
                  <a16:creationId xmlns:a16="http://schemas.microsoft.com/office/drawing/2014/main" id="{424CE760-D8E0-62D4-BAE9-20D02836E5BE}"/>
                </a:ext>
              </a:extLst>
            </p:cNvPr>
            <p:cNvSpPr>
              <a:spLocks noChangeAspect="1"/>
            </p:cNvSpPr>
            <p:nvPr/>
          </p:nvSpPr>
          <p:spPr>
            <a:xfrm rot="1864400">
              <a:off x="7948494" y="778805"/>
              <a:ext cx="1764000" cy="1764000"/>
            </a:xfrm>
            <a:prstGeom prst="pie">
              <a:avLst>
                <a:gd name="adj1" fmla="val 20574874"/>
                <a:gd name="adj2" fmla="val 8212021"/>
              </a:avLst>
            </a:prstGeom>
            <a:solidFill>
              <a:srgbClr val="C1BC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BCF1F95-89CC-60D7-17DE-71FE3BBAD84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24712" y="854807"/>
              <a:ext cx="1611567" cy="1611998"/>
            </a:xfrm>
            <a:prstGeom prst="ellipse">
              <a:avLst/>
            </a:prstGeom>
            <a:solidFill>
              <a:srgbClr val="121E3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6D109FA-88DB-50ED-4629-DA1F79C9E1C8}"/>
                </a:ext>
              </a:extLst>
            </p:cNvPr>
            <p:cNvSpPr txBox="1"/>
            <p:nvPr/>
          </p:nvSpPr>
          <p:spPr>
            <a:xfrm>
              <a:off x="7942523" y="1287033"/>
              <a:ext cx="1786629" cy="7083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Newsreader Caption" pitchFamily="2" charset="77"/>
                </a:rPr>
                <a:t>Workforce Transformation Advisory</a:t>
              </a:r>
            </a:p>
          </p:txBody>
        </p: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FD6ACFAD-4610-94B4-B400-21211C855EA0}"/>
              </a:ext>
            </a:extLst>
          </p:cNvPr>
          <p:cNvSpPr/>
          <p:nvPr/>
        </p:nvSpPr>
        <p:spPr>
          <a:xfrm>
            <a:off x="10157091" y="3445182"/>
            <a:ext cx="1687286" cy="2889596"/>
          </a:xfrm>
          <a:prstGeom prst="rect">
            <a:avLst/>
          </a:pr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65F6123-2249-9AE9-A518-5A46E3D42B83}"/>
              </a:ext>
            </a:extLst>
          </p:cNvPr>
          <p:cNvGrpSpPr>
            <a:grpSpLocks noChangeAspect="1"/>
          </p:cNvGrpSpPr>
          <p:nvPr/>
        </p:nvGrpSpPr>
        <p:grpSpPr>
          <a:xfrm>
            <a:off x="10272179" y="2435038"/>
            <a:ext cx="1437015" cy="1437015"/>
            <a:chOff x="7948494" y="778805"/>
            <a:chExt cx="1764000" cy="1764000"/>
          </a:xfrm>
        </p:grpSpPr>
        <p:sp>
          <p:nvSpPr>
            <p:cNvPr id="55" name="Pie 54">
              <a:extLst>
                <a:ext uri="{FF2B5EF4-FFF2-40B4-BE49-F238E27FC236}">
                  <a16:creationId xmlns:a16="http://schemas.microsoft.com/office/drawing/2014/main" id="{4701FEE2-B8A8-682F-59A4-8CA1266B74CA}"/>
                </a:ext>
              </a:extLst>
            </p:cNvPr>
            <p:cNvSpPr>
              <a:spLocks noChangeAspect="1"/>
            </p:cNvSpPr>
            <p:nvPr/>
          </p:nvSpPr>
          <p:spPr>
            <a:xfrm rot="1864400">
              <a:off x="7948494" y="778805"/>
              <a:ext cx="1764000" cy="1764000"/>
            </a:xfrm>
            <a:prstGeom prst="pie">
              <a:avLst>
                <a:gd name="adj1" fmla="val 20574874"/>
                <a:gd name="adj2" fmla="val 8212021"/>
              </a:avLst>
            </a:prstGeom>
            <a:solidFill>
              <a:srgbClr val="C1BC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EFEA1676-42D9-59C2-F32B-CDD5C97725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24712" y="854807"/>
              <a:ext cx="1611567" cy="1611998"/>
            </a:xfrm>
            <a:prstGeom prst="ellipse">
              <a:avLst/>
            </a:prstGeom>
            <a:solidFill>
              <a:srgbClr val="121E3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B1A5516-A689-3834-A5A3-043A6ABA649C}"/>
                </a:ext>
              </a:extLst>
            </p:cNvPr>
            <p:cNvSpPr txBox="1"/>
            <p:nvPr/>
          </p:nvSpPr>
          <p:spPr>
            <a:xfrm>
              <a:off x="8254895" y="1332358"/>
              <a:ext cx="1151197" cy="5100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Newsreader Caption" pitchFamily="2" charset="77"/>
                </a:rPr>
                <a:t>Managed Services</a:t>
              </a:r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A67DFE98-490F-D28D-9F1A-D6261BCF2273}"/>
              </a:ext>
            </a:extLst>
          </p:cNvPr>
          <p:cNvSpPr/>
          <p:nvPr/>
        </p:nvSpPr>
        <p:spPr>
          <a:xfrm>
            <a:off x="2807109" y="3439977"/>
            <a:ext cx="1687286" cy="2889596"/>
          </a:xfrm>
          <a:prstGeom prst="rect">
            <a:avLst/>
          </a:pr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FCE199E-FD81-331F-ADE1-E03359807AE5}"/>
              </a:ext>
            </a:extLst>
          </p:cNvPr>
          <p:cNvGrpSpPr>
            <a:grpSpLocks noChangeAspect="1"/>
          </p:cNvGrpSpPr>
          <p:nvPr/>
        </p:nvGrpSpPr>
        <p:grpSpPr>
          <a:xfrm>
            <a:off x="2927270" y="2441160"/>
            <a:ext cx="1468788" cy="1437015"/>
            <a:chOff x="7948494" y="778805"/>
            <a:chExt cx="1803002" cy="1764000"/>
          </a:xfrm>
        </p:grpSpPr>
        <p:sp>
          <p:nvSpPr>
            <p:cNvPr id="60" name="Pie 59">
              <a:extLst>
                <a:ext uri="{FF2B5EF4-FFF2-40B4-BE49-F238E27FC236}">
                  <a16:creationId xmlns:a16="http://schemas.microsoft.com/office/drawing/2014/main" id="{98C95C28-1F3A-B905-EF4F-030D034DB2BD}"/>
                </a:ext>
              </a:extLst>
            </p:cNvPr>
            <p:cNvSpPr>
              <a:spLocks noChangeAspect="1"/>
            </p:cNvSpPr>
            <p:nvPr/>
          </p:nvSpPr>
          <p:spPr>
            <a:xfrm rot="1864400">
              <a:off x="7948494" y="778805"/>
              <a:ext cx="1764000" cy="1764000"/>
            </a:xfrm>
            <a:prstGeom prst="pie">
              <a:avLst>
                <a:gd name="adj1" fmla="val 20574874"/>
                <a:gd name="adj2" fmla="val 8212021"/>
              </a:avLst>
            </a:prstGeom>
            <a:solidFill>
              <a:srgbClr val="C1BC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06D3D4A6-793F-0888-A81B-9FF26ABD97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24712" y="854807"/>
              <a:ext cx="1611567" cy="1611998"/>
            </a:xfrm>
            <a:prstGeom prst="ellipse">
              <a:avLst/>
            </a:prstGeom>
            <a:solidFill>
              <a:srgbClr val="121E3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227F5F7-6F3C-4292-BAD8-12B9473DE17F}"/>
                </a:ext>
              </a:extLst>
            </p:cNvPr>
            <p:cNvSpPr txBox="1"/>
            <p:nvPr/>
          </p:nvSpPr>
          <p:spPr>
            <a:xfrm>
              <a:off x="7953013" y="1474739"/>
              <a:ext cx="1798483" cy="2833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Newsreader Caption" pitchFamily="2" charset="77"/>
                </a:rPr>
                <a:t>Implementation</a:t>
              </a:r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7B764FE5-3B68-5CE5-5F8C-707C3BE08E2B}"/>
              </a:ext>
            </a:extLst>
          </p:cNvPr>
          <p:cNvSpPr/>
          <p:nvPr/>
        </p:nvSpPr>
        <p:spPr>
          <a:xfrm>
            <a:off x="7707335" y="3439977"/>
            <a:ext cx="1687286" cy="2889596"/>
          </a:xfrm>
          <a:prstGeom prst="rect">
            <a:avLst/>
          </a:pr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A865945-2691-E4E3-D7BF-A571B73FABC8}"/>
              </a:ext>
            </a:extLst>
          </p:cNvPr>
          <p:cNvGrpSpPr>
            <a:grpSpLocks noChangeAspect="1"/>
          </p:cNvGrpSpPr>
          <p:nvPr/>
        </p:nvGrpSpPr>
        <p:grpSpPr>
          <a:xfrm>
            <a:off x="7827191" y="2441161"/>
            <a:ext cx="1437015" cy="1437015"/>
            <a:chOff x="7948494" y="778805"/>
            <a:chExt cx="1764000" cy="1764000"/>
          </a:xfrm>
        </p:grpSpPr>
        <p:sp>
          <p:nvSpPr>
            <p:cNvPr id="65" name="Pie 64">
              <a:extLst>
                <a:ext uri="{FF2B5EF4-FFF2-40B4-BE49-F238E27FC236}">
                  <a16:creationId xmlns:a16="http://schemas.microsoft.com/office/drawing/2014/main" id="{D0524A64-D63D-CB6F-6EE2-BF6E0BFF2971}"/>
                </a:ext>
              </a:extLst>
            </p:cNvPr>
            <p:cNvSpPr>
              <a:spLocks noChangeAspect="1"/>
            </p:cNvSpPr>
            <p:nvPr/>
          </p:nvSpPr>
          <p:spPr>
            <a:xfrm rot="1864400">
              <a:off x="7948494" y="778805"/>
              <a:ext cx="1764000" cy="1764000"/>
            </a:xfrm>
            <a:prstGeom prst="pie">
              <a:avLst>
                <a:gd name="adj1" fmla="val 20574874"/>
                <a:gd name="adj2" fmla="val 8212021"/>
              </a:avLst>
            </a:prstGeom>
            <a:solidFill>
              <a:srgbClr val="C1BC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B3A1D7F5-7002-1976-E8B4-19F50F81D8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24712" y="854807"/>
              <a:ext cx="1611567" cy="1611998"/>
            </a:xfrm>
            <a:prstGeom prst="ellipse">
              <a:avLst/>
            </a:prstGeom>
            <a:solidFill>
              <a:srgbClr val="121E3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8092124-C78B-9B86-EBA5-815C0E425E70}"/>
                </a:ext>
              </a:extLst>
            </p:cNvPr>
            <p:cNvSpPr txBox="1"/>
            <p:nvPr/>
          </p:nvSpPr>
          <p:spPr>
            <a:xfrm>
              <a:off x="8133510" y="1361395"/>
              <a:ext cx="1393968" cy="5100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Newsreader Caption" pitchFamily="2" charset="77"/>
                </a:rPr>
                <a:t>HR Analytics</a:t>
              </a:r>
            </a:p>
          </p:txBody>
        </p:sp>
      </p:grpSp>
      <p:sp>
        <p:nvSpPr>
          <p:cNvPr id="73" name="Text 16">
            <a:extLst>
              <a:ext uri="{FF2B5EF4-FFF2-40B4-BE49-F238E27FC236}">
                <a16:creationId xmlns:a16="http://schemas.microsoft.com/office/drawing/2014/main" id="{E008053A-6FCC-B0F5-7122-58B74CA09F1A}"/>
              </a:ext>
            </a:extLst>
          </p:cNvPr>
          <p:cNvSpPr/>
          <p:nvPr/>
        </p:nvSpPr>
        <p:spPr>
          <a:xfrm>
            <a:off x="2912581" y="4184120"/>
            <a:ext cx="148347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Wingdings" pitchFamily="2" charset="2"/>
              <a:buChar char="§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Phased deployment</a:t>
            </a:r>
            <a:endParaRPr lang="en-US" sz="1000" dirty="0">
              <a:solidFill>
                <a:srgbClr val="121E3B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Font typeface="Wingdings" pitchFamily="2" charset="2"/>
              <a:buChar char="§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Configuration</a:t>
            </a:r>
            <a:endParaRPr lang="en-US" sz="1000" dirty="0">
              <a:solidFill>
                <a:srgbClr val="121E3B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Font typeface="Wingdings" pitchFamily="2" charset="2"/>
              <a:buChar char="§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migration</a:t>
            </a:r>
            <a:endParaRPr lang="en-US" sz="1000" dirty="0">
              <a:solidFill>
                <a:srgbClr val="121E3B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Font typeface="Wingdings" pitchFamily="2" charset="2"/>
              <a:buChar char="§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Parallel testing</a:t>
            </a:r>
            <a:endParaRPr lang="en-US" sz="1000" dirty="0">
              <a:solidFill>
                <a:srgbClr val="121E3B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Font typeface="Wingdings" pitchFamily="2" charset="2"/>
              <a:buChar char="§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Hypercare</a:t>
            </a:r>
            <a:endParaRPr lang="en-US" sz="1000" dirty="0">
              <a:solidFill>
                <a:srgbClr val="121E3B"/>
              </a:solidFill>
            </a:endParaRPr>
          </a:p>
        </p:txBody>
      </p:sp>
      <p:sp>
        <p:nvSpPr>
          <p:cNvPr id="74" name="Text 20">
            <a:extLst>
              <a:ext uri="{FF2B5EF4-FFF2-40B4-BE49-F238E27FC236}">
                <a16:creationId xmlns:a16="http://schemas.microsoft.com/office/drawing/2014/main" id="{5378CA51-F10E-0773-8A47-7E3F860F44CE}"/>
              </a:ext>
            </a:extLst>
          </p:cNvPr>
          <p:cNvSpPr/>
          <p:nvPr/>
        </p:nvSpPr>
        <p:spPr>
          <a:xfrm>
            <a:off x="5338781" y="4183969"/>
            <a:ext cx="151921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Wingdings" pitchFamily="2" charset="2"/>
              <a:buChar char="§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Workday Studio · EIB</a:t>
            </a:r>
            <a:endParaRPr lang="en-US" sz="1000" dirty="0">
              <a:solidFill>
                <a:srgbClr val="121E3B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Font typeface="Wingdings" pitchFamily="2" charset="2"/>
              <a:buChar char="§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Connectors</a:t>
            </a:r>
            <a:endParaRPr lang="en-US" sz="1000" dirty="0">
              <a:solidFill>
                <a:srgbClr val="121E3B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Font typeface="Wingdings" pitchFamily="2" charset="2"/>
              <a:buChar char="§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SuccessFactors · Payroll · Identity</a:t>
            </a:r>
            <a:endParaRPr lang="en-US" sz="1000" dirty="0">
              <a:solidFill>
                <a:srgbClr val="121E3B"/>
              </a:solidFill>
            </a:endParaRPr>
          </a:p>
        </p:txBody>
      </p:sp>
      <p:sp>
        <p:nvSpPr>
          <p:cNvPr id="75" name="Text 24">
            <a:extLst>
              <a:ext uri="{FF2B5EF4-FFF2-40B4-BE49-F238E27FC236}">
                <a16:creationId xmlns:a16="http://schemas.microsoft.com/office/drawing/2014/main" id="{E8627C57-674E-4D2A-EAE0-FF10CA3C0FFF}"/>
              </a:ext>
            </a:extLst>
          </p:cNvPr>
          <p:cNvSpPr/>
          <p:nvPr/>
        </p:nvSpPr>
        <p:spPr>
          <a:xfrm>
            <a:off x="7811256" y="4139800"/>
            <a:ext cx="146816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Wingdings" pitchFamily="2" charset="2"/>
              <a:buChar char="§"/>
            </a:pPr>
            <a:r>
              <a:rPr lang="en-US" sz="1000" dirty="0">
                <a:solidFill>
                  <a:srgbClr val="121E3B"/>
                </a:solidFill>
                <a:latin typeface="IBM Plex Sans" panose="020B0503050203000203" pitchFamily="34" charset="77"/>
                <a:ea typeface="IBM Plex Sans" pitchFamily="34" charset="-122"/>
                <a:cs typeface="IBM Plex Sans" pitchFamily="34" charset="-120"/>
              </a:rPr>
              <a:t>Prism Analytics</a:t>
            </a:r>
            <a:endParaRPr lang="en-US" sz="1000" dirty="0">
              <a:solidFill>
                <a:srgbClr val="121E3B"/>
              </a:solidFill>
              <a:latin typeface="IBM Plex Sans" panose="020B0503050203000203" pitchFamily="34" charset="77"/>
            </a:endParaRPr>
          </a:p>
          <a:p>
            <a:pPr marL="342900" indent="-342900">
              <a:spcAft>
                <a:spcPts val="500"/>
              </a:spcAft>
              <a:buSzPct val="100000"/>
              <a:buFont typeface="Wingdings" pitchFamily="2" charset="2"/>
              <a:buChar char="§"/>
            </a:pPr>
            <a:r>
              <a:rPr lang="en-US" sz="1000" dirty="0">
                <a:solidFill>
                  <a:srgbClr val="121E3B"/>
                </a:solidFill>
                <a:latin typeface="IBM Plex Sans" panose="020B0503050203000203" pitchFamily="34" charset="77"/>
                <a:ea typeface="IBM Plex Sans" pitchFamily="34" charset="-122"/>
                <a:cs typeface="IBM Plex Sans" pitchFamily="34" charset="-120"/>
              </a:rPr>
              <a:t>People Analytics</a:t>
            </a:r>
            <a:endParaRPr lang="en-US" sz="1000" dirty="0">
              <a:solidFill>
                <a:srgbClr val="121E3B"/>
              </a:solidFill>
              <a:latin typeface="IBM Plex Sans" panose="020B0503050203000203" pitchFamily="34" charset="77"/>
            </a:endParaRPr>
          </a:p>
          <a:p>
            <a:pPr marL="342900" indent="-342900">
              <a:spcAft>
                <a:spcPts val="500"/>
              </a:spcAft>
              <a:buSzPct val="100000"/>
              <a:buFont typeface="Wingdings" pitchFamily="2" charset="2"/>
              <a:buChar char="§"/>
            </a:pPr>
            <a:r>
              <a:rPr lang="en-US" sz="1000" dirty="0">
                <a:solidFill>
                  <a:srgbClr val="121E3B"/>
                </a:solidFill>
                <a:latin typeface="IBM Plex Sans" panose="020B0503050203000203" pitchFamily="34" charset="77"/>
                <a:ea typeface="IBM Plex Sans" pitchFamily="34" charset="-122"/>
                <a:cs typeface="IBM Plex Sans" pitchFamily="34" charset="-120"/>
              </a:rPr>
              <a:t>Dashboards &amp; reporting</a:t>
            </a:r>
            <a:endParaRPr lang="en-US" sz="1000" dirty="0">
              <a:solidFill>
                <a:srgbClr val="121E3B"/>
              </a:solidFill>
              <a:latin typeface="IBM Plex Sans" panose="020B0503050203000203" pitchFamily="34" charset="77"/>
            </a:endParaRPr>
          </a:p>
        </p:txBody>
      </p:sp>
      <p:sp>
        <p:nvSpPr>
          <p:cNvPr id="35" name="Text 28">
            <a:extLst>
              <a:ext uri="{FF2B5EF4-FFF2-40B4-BE49-F238E27FC236}">
                <a16:creationId xmlns:a16="http://schemas.microsoft.com/office/drawing/2014/main" id="{0B21D310-F0F7-F312-42C2-ED4FB8F90D9D}"/>
              </a:ext>
            </a:extLst>
          </p:cNvPr>
          <p:cNvSpPr/>
          <p:nvPr/>
        </p:nvSpPr>
        <p:spPr>
          <a:xfrm>
            <a:off x="10294423" y="4137660"/>
            <a:ext cx="14304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Wingdings" pitchFamily="2" charset="2"/>
              <a:buChar char="§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Tenant management</a:t>
            </a:r>
            <a:endParaRPr lang="en-US" sz="1000" dirty="0">
              <a:solidFill>
                <a:srgbClr val="121E3B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Font typeface="Wingdings" pitchFamily="2" charset="2"/>
              <a:buChar char="§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 support</a:t>
            </a:r>
            <a:endParaRPr lang="en-US" sz="1000" dirty="0">
              <a:solidFill>
                <a:srgbClr val="121E3B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Font typeface="Wingdings" pitchFamily="2" charset="2"/>
              <a:buChar char="§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L1–L3 support</a:t>
            </a:r>
            <a:endParaRPr lang="en-US" sz="1000" dirty="0">
              <a:solidFill>
                <a:srgbClr val="121E3B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Font typeface="Wingdings" pitchFamily="2" charset="2"/>
              <a:buChar char="§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Continuous optimisation</a:t>
            </a:r>
            <a:endParaRPr lang="en-US" sz="1000" dirty="0">
              <a:solidFill>
                <a:srgbClr val="121E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28702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A3CBE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50292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Advisory Services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4160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Consulting-led transformation — executive advisory, enterprise architecture, AI strategy and program governance. The trusted layer that defines the why and the what before our platforms and engineering teams deliver the how.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9525">
            <a:solidFill>
              <a:srgbClr val="2A3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900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C8C08BF-AFD8-2503-01B4-225DC3EC2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5639" y="347471"/>
            <a:ext cx="2070410" cy="64456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7484C5-4A5A-CDF0-BAA2-D62C54F57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960B318F-4404-D07B-AD81-6F436C6CD33D}"/>
              </a:ext>
            </a:extLst>
          </p:cNvPr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ADVISORY  •  CAPABILITY OVERVIEW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A9C62DC-4103-3AEE-A400-7A1AF18232C7}"/>
              </a:ext>
            </a:extLst>
          </p:cNvPr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Advisory that gets to outcomes.</a:t>
            </a:r>
            <a:endParaRPr lang="en-US" sz="2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48AAFA0-F9DE-F734-DF99-35BC5783B114}"/>
              </a:ext>
            </a:extLst>
          </p:cNvPr>
          <p:cNvSpPr/>
          <p:nvPr/>
        </p:nvSpPr>
        <p:spPr>
          <a:xfrm>
            <a:off x="502920" y="170992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High-value consulting that defines the transformation before delivery begins — executive relationships, large-scale program shaping, AI strategy, and the governance to keep complex programs on outcome. Built to create downstream platform and engineering opportunities.</a:t>
            </a:r>
            <a:endParaRPr lang="en-US" sz="13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6A8C229-333B-7B07-B1EF-832030B28E61}"/>
              </a:ext>
            </a:extLst>
          </p:cNvPr>
          <p:cNvSpPr/>
          <p:nvPr/>
        </p:nvSpPr>
        <p:spPr>
          <a:xfrm>
            <a:off x="502920" y="2419178"/>
            <a:ext cx="2673020" cy="246888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FC6120D-6C1C-B533-B0A5-365B69A650C8}"/>
              </a:ext>
            </a:extLst>
          </p:cNvPr>
          <p:cNvSpPr/>
          <p:nvPr/>
        </p:nvSpPr>
        <p:spPr>
          <a:xfrm>
            <a:off x="777240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Transformation Advisory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A40FAB4-52C8-5733-01E2-9D426F96DCFE}"/>
              </a:ext>
            </a:extLst>
          </p:cNvPr>
          <p:cNvSpPr/>
          <p:nvPr/>
        </p:nvSpPr>
        <p:spPr>
          <a:xfrm>
            <a:off x="777240" y="3310718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Transformation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CIO Advisory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Operating Model Design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ERP Advisory</a:t>
            </a:r>
            <a:endParaRPr lang="en-US" sz="1000" dirty="0">
              <a:solidFill>
                <a:srgbClr val="94B8D0"/>
              </a:solidFill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8D950DB1-2A20-3CA7-5F1F-6D6B64C45E0F}"/>
              </a:ext>
            </a:extLst>
          </p:cNvPr>
          <p:cNvSpPr/>
          <p:nvPr/>
        </p:nvSpPr>
        <p:spPr>
          <a:xfrm>
            <a:off x="3340532" y="2419178"/>
            <a:ext cx="2673020" cy="2468880"/>
          </a:xfrm>
          <a:prstGeom prst="rect">
            <a:avLst/>
          </a:prstGeom>
          <a:solidFill>
            <a:srgbClr val="94B8D0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F963DD92-47C6-DD60-9546-64B220757C56}"/>
              </a:ext>
            </a:extLst>
          </p:cNvPr>
          <p:cNvSpPr/>
          <p:nvPr/>
        </p:nvSpPr>
        <p:spPr>
          <a:xfrm>
            <a:off x="3614852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</a:rPr>
              <a:t>Strategy &amp; Governance</a:t>
            </a: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F4FD7568-82B5-05D9-FF56-0275F46F4D84}"/>
              </a:ext>
            </a:extLst>
          </p:cNvPr>
          <p:cNvSpPr/>
          <p:nvPr/>
        </p:nvSpPr>
        <p:spPr>
          <a:xfrm>
            <a:off x="3614852" y="3276341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Strategy &amp; Roadmap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Governance &amp; PMO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Program Assurance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Investment prioritisation</a:t>
            </a:r>
            <a:endParaRPr lang="en-US" sz="1000" dirty="0">
              <a:solidFill>
                <a:srgbClr val="121E3B"/>
              </a:solidFill>
            </a:endParaRPr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064B332B-A913-A1F0-3470-F77BDE9CFED1}"/>
              </a:ext>
            </a:extLst>
          </p:cNvPr>
          <p:cNvSpPr/>
          <p:nvPr/>
        </p:nvSpPr>
        <p:spPr>
          <a:xfrm>
            <a:off x="6178144" y="2419178"/>
            <a:ext cx="2673020" cy="246888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49A9B0FA-F3B4-1A50-621A-2DDD74C5F3BD}"/>
              </a:ext>
            </a:extLst>
          </p:cNvPr>
          <p:cNvSpPr/>
          <p:nvPr/>
        </p:nvSpPr>
        <p:spPr>
          <a:xfrm>
            <a:off x="6452464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Enterprise Architecture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8B95149A-256E-F055-48F7-EA8EC7BF3B5B}"/>
              </a:ext>
            </a:extLst>
          </p:cNvPr>
          <p:cNvSpPr/>
          <p:nvPr/>
        </p:nvSpPr>
        <p:spPr>
          <a:xfrm>
            <a:off x="6452464" y="3227668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Target architecture design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 portfolio rationalisation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Integration &amp; data architecture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Reference architectures (SAP LeanIX)</a:t>
            </a:r>
            <a:endParaRPr lang="en-US" sz="1000" dirty="0">
              <a:solidFill>
                <a:srgbClr val="94B8D0"/>
              </a:solidFill>
            </a:endParaRPr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A78F8A5E-A43B-7EAD-E4AB-86B4D983DEF7}"/>
              </a:ext>
            </a:extLst>
          </p:cNvPr>
          <p:cNvSpPr/>
          <p:nvPr/>
        </p:nvSpPr>
        <p:spPr>
          <a:xfrm>
            <a:off x="9015755" y="2419178"/>
            <a:ext cx="2673020" cy="2468880"/>
          </a:xfrm>
          <a:prstGeom prst="rect">
            <a:avLst/>
          </a:prstGeom>
          <a:solidFill>
            <a:srgbClr val="94B8D0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4A668894-1BAB-0160-4B2E-3071259CB397}"/>
              </a:ext>
            </a:extLst>
          </p:cNvPr>
          <p:cNvSpPr/>
          <p:nvPr/>
        </p:nvSpPr>
        <p:spPr>
          <a:xfrm>
            <a:off x="9244355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Change &amp; Assurance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F08CE842-BAF5-6506-02CC-5E767887723E}"/>
              </a:ext>
            </a:extLst>
          </p:cNvPr>
          <p:cNvSpPr/>
          <p:nvPr/>
        </p:nvSpPr>
        <p:spPr>
          <a:xfrm>
            <a:off x="9244355" y="3227668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 Excellence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Change Management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Stakeholder &amp; adoption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Independent program assurance</a:t>
            </a:r>
            <a:endParaRPr lang="en-US" sz="1000" dirty="0">
              <a:solidFill>
                <a:srgbClr val="121E3B"/>
              </a:solidFill>
            </a:endParaRPr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A18D5E1B-FF3A-78EE-1402-FE63BFC0C9B5}"/>
              </a:ext>
            </a:extLst>
          </p:cNvPr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E34FE3D1-B08E-4E3F-9BC6-34440562F41B}"/>
              </a:ext>
            </a:extLst>
          </p:cNvPr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900" dirty="0"/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435D937C-050F-FEDC-4E4C-E50E6F8B5599}"/>
              </a:ext>
            </a:extLst>
          </p:cNvPr>
          <p:cNvSpPr>
            <a:spLocks noChangeAspect="1"/>
          </p:cNvSpPr>
          <p:nvPr/>
        </p:nvSpPr>
        <p:spPr>
          <a:xfrm>
            <a:off x="11162371" y="145576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6">
            <a:extLst>
              <a:ext uri="{FF2B5EF4-FFF2-40B4-BE49-F238E27FC236}">
                <a16:creationId xmlns:a16="http://schemas.microsoft.com/office/drawing/2014/main" id="{ADA03526-DA2F-A729-2ADF-FBEC22EC800E}"/>
              </a:ext>
            </a:extLst>
          </p:cNvPr>
          <p:cNvSpPr>
            <a:spLocks noChangeAspect="1"/>
          </p:cNvSpPr>
          <p:nvPr/>
        </p:nvSpPr>
        <p:spPr>
          <a:xfrm>
            <a:off x="10924478" y="398337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201806DB-9634-BC85-663E-00B38B0E6313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BA6ABF86-87F7-98E0-05D7-B7FCE9928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sp>
        <p:nvSpPr>
          <p:cNvPr id="2" name="Shape 4">
            <a:extLst>
              <a:ext uri="{FF2B5EF4-FFF2-40B4-BE49-F238E27FC236}">
                <a16:creationId xmlns:a16="http://schemas.microsoft.com/office/drawing/2014/main" id="{F71205D8-4470-3A98-ED23-2C75B30CAA54}"/>
              </a:ext>
            </a:extLst>
          </p:cNvPr>
          <p:cNvSpPr/>
          <p:nvPr/>
        </p:nvSpPr>
        <p:spPr>
          <a:xfrm>
            <a:off x="777240" y="2693498"/>
            <a:ext cx="290444" cy="0"/>
          </a:xfrm>
          <a:prstGeom prst="line">
            <a:avLst/>
          </a:prstGeom>
          <a:noFill/>
          <a:ln w="57150">
            <a:solidFill>
              <a:srgbClr val="A3CBE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6A299E0B-5C99-5826-E007-D39B68C880A9}"/>
              </a:ext>
            </a:extLst>
          </p:cNvPr>
          <p:cNvSpPr/>
          <p:nvPr/>
        </p:nvSpPr>
        <p:spPr>
          <a:xfrm>
            <a:off x="3614852" y="2686746"/>
            <a:ext cx="290444" cy="0"/>
          </a:xfrm>
          <a:prstGeom prst="line">
            <a:avLst/>
          </a:prstGeom>
          <a:noFill/>
          <a:ln w="57150">
            <a:solidFill>
              <a:srgbClr val="121E3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3016157-68FA-CEB6-E6F4-66CA768DE12A}"/>
              </a:ext>
            </a:extLst>
          </p:cNvPr>
          <p:cNvSpPr/>
          <p:nvPr/>
        </p:nvSpPr>
        <p:spPr>
          <a:xfrm>
            <a:off x="6452464" y="2693498"/>
            <a:ext cx="290444" cy="0"/>
          </a:xfrm>
          <a:prstGeom prst="line">
            <a:avLst/>
          </a:prstGeom>
          <a:noFill/>
          <a:ln w="57150">
            <a:solidFill>
              <a:srgbClr val="A3CBE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D89220CB-03D3-FF60-8F87-B930C8865718}"/>
              </a:ext>
            </a:extLst>
          </p:cNvPr>
          <p:cNvSpPr/>
          <p:nvPr/>
        </p:nvSpPr>
        <p:spPr>
          <a:xfrm>
            <a:off x="9290075" y="2673242"/>
            <a:ext cx="290444" cy="0"/>
          </a:xfrm>
          <a:prstGeom prst="line">
            <a:avLst/>
          </a:prstGeom>
          <a:noFill/>
          <a:ln w="57150">
            <a:solidFill>
              <a:srgbClr val="121E3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AEC1795-5BF8-C8C9-BBE8-188EC94C1676}"/>
              </a:ext>
            </a:extLst>
          </p:cNvPr>
          <p:cNvGrpSpPr/>
          <p:nvPr/>
        </p:nvGrpSpPr>
        <p:grpSpPr>
          <a:xfrm>
            <a:off x="812504" y="4992431"/>
            <a:ext cx="10414739" cy="1440850"/>
            <a:chOff x="812504" y="4992431"/>
            <a:chExt cx="10414739" cy="1440850"/>
          </a:xfrm>
        </p:grpSpPr>
        <p:pic>
          <p:nvPicPr>
            <p:cNvPr id="56" name="Picture 4" descr="SAP SuccessFactors has a New Logo and a New Name">
              <a:extLst>
                <a:ext uri="{FF2B5EF4-FFF2-40B4-BE49-F238E27FC236}">
                  <a16:creationId xmlns:a16="http://schemas.microsoft.com/office/drawing/2014/main" id="{EE2B5CC6-FB02-4DA5-B7B8-E1E1A12108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9640" y="4992431"/>
              <a:ext cx="1777609" cy="908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7" name="Shape 27">
              <a:extLst>
                <a:ext uri="{FF2B5EF4-FFF2-40B4-BE49-F238E27FC236}">
                  <a16:creationId xmlns:a16="http://schemas.microsoft.com/office/drawing/2014/main" id="{8481C2E9-948B-6059-6F03-B13A35C6F921}"/>
                </a:ext>
              </a:extLst>
            </p:cNvPr>
            <p:cNvSpPr/>
            <p:nvPr/>
          </p:nvSpPr>
          <p:spPr>
            <a:xfrm>
              <a:off x="2632464" y="5515995"/>
              <a:ext cx="0" cy="365760"/>
            </a:xfrm>
            <a:prstGeom prst="line">
              <a:avLst/>
            </a:prstGeom>
            <a:noFill/>
            <a:ln w="6350">
              <a:solidFill>
                <a:srgbClr val="C1BC9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58" name="Picture 10" descr="SAP S/4HANA Private Cloud (RISE with SAP) - Applium">
              <a:extLst>
                <a:ext uri="{FF2B5EF4-FFF2-40B4-BE49-F238E27FC236}">
                  <a16:creationId xmlns:a16="http://schemas.microsoft.com/office/drawing/2014/main" id="{C402D18A-2801-26DD-FDEA-0BBDD333E3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6966" y="6061200"/>
              <a:ext cx="1147674" cy="3680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18" descr="SAP Ariba | Supply &amp; Demand Chain Executive">
              <a:extLst>
                <a:ext uri="{FF2B5EF4-FFF2-40B4-BE49-F238E27FC236}">
                  <a16:creationId xmlns:a16="http://schemas.microsoft.com/office/drawing/2014/main" id="{36E5FDA8-EFF8-38F5-A76B-6D3452EBBE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90" y="5734812"/>
              <a:ext cx="1278123" cy="249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20" descr="Sap Concur Logo PNG, SVG, AI Vector – Free Download">
              <a:extLst>
                <a:ext uri="{FF2B5EF4-FFF2-40B4-BE49-F238E27FC236}">
                  <a16:creationId xmlns:a16="http://schemas.microsoft.com/office/drawing/2014/main" id="{A8F169D0-A7FA-F27F-57CE-E589597699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5209" y="5695270"/>
              <a:ext cx="1522624" cy="2724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Shape 27">
              <a:extLst>
                <a:ext uri="{FF2B5EF4-FFF2-40B4-BE49-F238E27FC236}">
                  <a16:creationId xmlns:a16="http://schemas.microsoft.com/office/drawing/2014/main" id="{C1D3B853-210E-C59A-9D23-CBC60AD2BEF0}"/>
                </a:ext>
              </a:extLst>
            </p:cNvPr>
            <p:cNvSpPr/>
            <p:nvPr/>
          </p:nvSpPr>
          <p:spPr>
            <a:xfrm>
              <a:off x="7447531" y="5515995"/>
              <a:ext cx="0" cy="365760"/>
            </a:xfrm>
            <a:prstGeom prst="line">
              <a:avLst/>
            </a:prstGeom>
            <a:noFill/>
            <a:ln w="6350">
              <a:solidFill>
                <a:srgbClr val="C1BC9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27">
              <a:extLst>
                <a:ext uri="{FF2B5EF4-FFF2-40B4-BE49-F238E27FC236}">
                  <a16:creationId xmlns:a16="http://schemas.microsoft.com/office/drawing/2014/main" id="{98FAAF6A-F9DB-045B-BB84-58BEDA77BA83}"/>
                </a:ext>
              </a:extLst>
            </p:cNvPr>
            <p:cNvSpPr/>
            <p:nvPr/>
          </p:nvSpPr>
          <p:spPr>
            <a:xfrm>
              <a:off x="10756023" y="5512390"/>
              <a:ext cx="0" cy="365760"/>
            </a:xfrm>
            <a:prstGeom prst="line">
              <a:avLst/>
            </a:prstGeom>
            <a:noFill/>
            <a:ln w="6350">
              <a:solidFill>
                <a:srgbClr val="C1BC9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63" name="Salesforce Logo">
              <a:extLst>
                <a:ext uri="{FF2B5EF4-FFF2-40B4-BE49-F238E27FC236}">
                  <a16:creationId xmlns:a16="http://schemas.microsoft.com/office/drawing/2014/main" id="{005EE7C1-56D7-0020-E3D3-212603FC0A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7942160" y="5599483"/>
              <a:ext cx="795555" cy="555388"/>
            </a:xfrm>
            <a:prstGeom prst="rect">
              <a:avLst/>
            </a:prstGeom>
            <a:noFill/>
          </p:spPr>
        </p:pic>
        <p:pic>
          <p:nvPicPr>
            <p:cNvPr id="64" name="Workday Logo">
              <a:extLst>
                <a:ext uri="{FF2B5EF4-FFF2-40B4-BE49-F238E27FC236}">
                  <a16:creationId xmlns:a16="http://schemas.microsoft.com/office/drawing/2014/main" id="{790B6A6F-51D2-D231-9EC5-C749FCEB98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9208178" y="5582950"/>
              <a:ext cx="951807" cy="382850"/>
            </a:xfrm>
            <a:prstGeom prst="rect">
              <a:avLst/>
            </a:prstGeom>
            <a:noFill/>
          </p:spPr>
        </p:pic>
        <p:pic>
          <p:nvPicPr>
            <p:cNvPr id="65" name="Picture 8" descr="SAP S/4 HANA Public Cloud in Indore | ID: 2850341673455">
              <a:extLst>
                <a:ext uri="{FF2B5EF4-FFF2-40B4-BE49-F238E27FC236}">
                  <a16:creationId xmlns:a16="http://schemas.microsoft.com/office/drawing/2014/main" id="{2A832916-C8DA-3E83-8BDE-E8D8B022FEE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786" b="29717"/>
            <a:stretch>
              <a:fillRect/>
            </a:stretch>
          </p:blipFill>
          <p:spPr bwMode="auto">
            <a:xfrm>
              <a:off x="812504" y="5196547"/>
              <a:ext cx="1202136" cy="522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" name="Picture 14" descr="SAP BTP La plataforma tecnológica para tu ERP en la nube | Xamai">
              <a:extLst>
                <a:ext uri="{FF2B5EF4-FFF2-40B4-BE49-F238E27FC236}">
                  <a16:creationId xmlns:a16="http://schemas.microsoft.com/office/drawing/2014/main" id="{1D7F4F59-DAAE-4CCD-60BC-5A33C924C3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0053" y="5884202"/>
              <a:ext cx="976140" cy="5490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" name="Picture 1" descr="Syniti - Credly">
              <a:extLst>
                <a:ext uri="{FF2B5EF4-FFF2-40B4-BE49-F238E27FC236}">
                  <a16:creationId xmlns:a16="http://schemas.microsoft.com/office/drawing/2014/main" id="{F8A0A67F-F5CD-7E5C-A05A-904D9C4ACC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54143" y="5582950"/>
              <a:ext cx="673100" cy="55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836931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A3CBE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50292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PILLAR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Digital, Data &amp; AI Services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4160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Engineering-led transformation — modern application engineering, AI &amp; automation, data &amp; analytics, integration and cloud. The future-focused innovation pillar that modernises the digital landscape.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9525">
            <a:solidFill>
              <a:srgbClr val="2A3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900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C8C08BF-AFD8-2503-01B4-225DC3EC2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5639" y="347471"/>
            <a:ext cx="2070410" cy="64456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7484C5-4A5A-CDF0-BAA2-D62C54F57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960B318F-4404-D07B-AD81-6F436C6CD33D}"/>
              </a:ext>
            </a:extLst>
          </p:cNvPr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DIGITAL, DATA &amp; AI  •  CAPABILITY OVERVIEW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A9C62DC-4103-3AEE-A400-7A1AF18232C7}"/>
              </a:ext>
            </a:extLst>
          </p:cNvPr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Engineering-led, AI-first.</a:t>
            </a:r>
            <a:endParaRPr lang="en-US" sz="2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48AAFA0-F9DE-F734-DF99-35BC5783B114}"/>
              </a:ext>
            </a:extLst>
          </p:cNvPr>
          <p:cNvSpPr/>
          <p:nvPr/>
        </p:nvSpPr>
        <p:spPr>
          <a:xfrm>
            <a:off x="502920" y="170992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sub-practices working as a single engineering organisation — application engineering, AI &amp; automation, data &amp; analytics, integration &amp; cloud. Cloud-native by default, AI-augmented across the stack, with deep specialism in industrial digital transformation.</a:t>
            </a:r>
            <a:endParaRPr lang="en-US" sz="13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6A8C229-333B-7B07-B1EF-832030B28E61}"/>
              </a:ext>
            </a:extLst>
          </p:cNvPr>
          <p:cNvSpPr/>
          <p:nvPr/>
        </p:nvSpPr>
        <p:spPr>
          <a:xfrm>
            <a:off x="502920" y="2419178"/>
            <a:ext cx="2673020" cy="246888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FC6120D-6C1C-B533-B0A5-365B69A650C8}"/>
              </a:ext>
            </a:extLst>
          </p:cNvPr>
          <p:cNvSpPr/>
          <p:nvPr/>
        </p:nvSpPr>
        <p:spPr>
          <a:xfrm>
            <a:off x="777240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 Engineering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A40FAB4-52C8-5733-01E2-9D426F96DCFE}"/>
              </a:ext>
            </a:extLst>
          </p:cNvPr>
          <p:cNvSpPr/>
          <p:nvPr/>
        </p:nvSpPr>
        <p:spPr>
          <a:xfrm>
            <a:off x="777240" y="3310718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 application development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Intelligent applications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Digital experience platforms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Low-code / no-code &amp; DevOps</a:t>
            </a:r>
            <a:endParaRPr lang="en-US" sz="1000" dirty="0">
              <a:solidFill>
                <a:srgbClr val="94B8D0"/>
              </a:solidFill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8D950DB1-2A20-3CA7-5F1F-6D6B64C45E0F}"/>
              </a:ext>
            </a:extLst>
          </p:cNvPr>
          <p:cNvSpPr/>
          <p:nvPr/>
        </p:nvSpPr>
        <p:spPr>
          <a:xfrm>
            <a:off x="3340532" y="2419178"/>
            <a:ext cx="2673020" cy="2468880"/>
          </a:xfrm>
          <a:prstGeom prst="rect">
            <a:avLst/>
          </a:prstGeom>
          <a:solidFill>
            <a:srgbClr val="94B8D0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F963DD92-47C6-DD60-9546-64B220757C56}"/>
              </a:ext>
            </a:extLst>
          </p:cNvPr>
          <p:cNvSpPr/>
          <p:nvPr/>
        </p:nvSpPr>
        <p:spPr>
          <a:xfrm>
            <a:off x="3614852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</a:rPr>
              <a:t>AI &amp; Automation</a:t>
            </a: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F4FD7568-82B5-05D9-FF56-0275F46F4D84}"/>
              </a:ext>
            </a:extLst>
          </p:cNvPr>
          <p:cNvSpPr/>
          <p:nvPr/>
        </p:nvSpPr>
        <p:spPr>
          <a:xfrm>
            <a:off x="3614852" y="3276341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GenAI solutions &amp; copilots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Intelligent automation (RPA + AI)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Computer vision &amp; document AI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Industrial AI (IoT, digital twins)</a:t>
            </a:r>
            <a:endParaRPr lang="en-US" sz="1000" dirty="0">
              <a:solidFill>
                <a:srgbClr val="121E3B"/>
              </a:solidFill>
            </a:endParaRPr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064B332B-A913-A1F0-3470-F77BDE9CFED1}"/>
              </a:ext>
            </a:extLst>
          </p:cNvPr>
          <p:cNvSpPr/>
          <p:nvPr/>
        </p:nvSpPr>
        <p:spPr>
          <a:xfrm>
            <a:off x="6178144" y="2419178"/>
            <a:ext cx="2673020" cy="246888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49A9B0FA-F3B4-1A50-621A-2DDD74C5F3BD}"/>
              </a:ext>
            </a:extLst>
          </p:cNvPr>
          <p:cNvSpPr/>
          <p:nvPr/>
        </p:nvSpPr>
        <p:spPr>
          <a:xfrm>
            <a:off x="6452464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&amp; Analytics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8B95149A-256E-F055-48F7-EA8EC7BF3B5B}"/>
              </a:ext>
            </a:extLst>
          </p:cNvPr>
          <p:cNvSpPr/>
          <p:nvPr/>
        </p:nvSpPr>
        <p:spPr>
          <a:xfrm>
            <a:off x="6452464" y="3227668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platforms &amp; lakehouses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Analytics &amp; visualisation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Master data &amp; governance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ML/MLOps &amp; predictive models</a:t>
            </a:r>
            <a:endParaRPr lang="en-US" sz="1000" dirty="0">
              <a:solidFill>
                <a:srgbClr val="94B8D0"/>
              </a:solidFill>
            </a:endParaRPr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A78F8A5E-A43B-7EAD-E4AB-86B4D983DEF7}"/>
              </a:ext>
            </a:extLst>
          </p:cNvPr>
          <p:cNvSpPr/>
          <p:nvPr/>
        </p:nvSpPr>
        <p:spPr>
          <a:xfrm>
            <a:off x="9015755" y="2419178"/>
            <a:ext cx="2673020" cy="2468880"/>
          </a:xfrm>
          <a:prstGeom prst="rect">
            <a:avLst/>
          </a:prstGeom>
          <a:solidFill>
            <a:srgbClr val="94B8D0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4A668894-1BAB-0160-4B2E-3071259CB397}"/>
              </a:ext>
            </a:extLst>
          </p:cNvPr>
          <p:cNvSpPr/>
          <p:nvPr/>
        </p:nvSpPr>
        <p:spPr>
          <a:xfrm>
            <a:off x="9244355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Integration &amp; Cloud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F08CE842-BAF5-6506-02CC-5E767887723E}"/>
              </a:ext>
            </a:extLst>
          </p:cNvPr>
          <p:cNvSpPr/>
          <p:nvPr/>
        </p:nvSpPr>
        <p:spPr>
          <a:xfrm>
            <a:off x="9244355" y="3227668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API-led integration &amp; middleware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 engineering (AWS/Azure/GCP)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Event-driven architectures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OT→ERP convergence</a:t>
            </a:r>
            <a:endParaRPr lang="en-US" sz="1000" dirty="0">
              <a:solidFill>
                <a:srgbClr val="121E3B"/>
              </a:solidFill>
            </a:endParaRPr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A18D5E1B-FF3A-78EE-1402-FE63BFC0C9B5}"/>
              </a:ext>
            </a:extLst>
          </p:cNvPr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E34FE3D1-B08E-4E3F-9BC6-34440562F41B}"/>
              </a:ext>
            </a:extLst>
          </p:cNvPr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900" dirty="0"/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435D937C-050F-FEDC-4E4C-E50E6F8B5599}"/>
              </a:ext>
            </a:extLst>
          </p:cNvPr>
          <p:cNvSpPr>
            <a:spLocks noChangeAspect="1"/>
          </p:cNvSpPr>
          <p:nvPr/>
        </p:nvSpPr>
        <p:spPr>
          <a:xfrm>
            <a:off x="11162371" y="145576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6">
            <a:extLst>
              <a:ext uri="{FF2B5EF4-FFF2-40B4-BE49-F238E27FC236}">
                <a16:creationId xmlns:a16="http://schemas.microsoft.com/office/drawing/2014/main" id="{ADA03526-DA2F-A729-2ADF-FBEC22EC800E}"/>
              </a:ext>
            </a:extLst>
          </p:cNvPr>
          <p:cNvSpPr>
            <a:spLocks noChangeAspect="1"/>
          </p:cNvSpPr>
          <p:nvPr/>
        </p:nvSpPr>
        <p:spPr>
          <a:xfrm>
            <a:off x="10924478" y="398337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201806DB-9634-BC85-663E-00B38B0E6313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BA6ABF86-87F7-98E0-05D7-B7FCE9928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sp>
        <p:nvSpPr>
          <p:cNvPr id="2" name="Shape 4">
            <a:extLst>
              <a:ext uri="{FF2B5EF4-FFF2-40B4-BE49-F238E27FC236}">
                <a16:creationId xmlns:a16="http://schemas.microsoft.com/office/drawing/2014/main" id="{F71205D8-4470-3A98-ED23-2C75B30CAA54}"/>
              </a:ext>
            </a:extLst>
          </p:cNvPr>
          <p:cNvSpPr/>
          <p:nvPr/>
        </p:nvSpPr>
        <p:spPr>
          <a:xfrm>
            <a:off x="777240" y="2693498"/>
            <a:ext cx="290444" cy="0"/>
          </a:xfrm>
          <a:prstGeom prst="line">
            <a:avLst/>
          </a:prstGeom>
          <a:noFill/>
          <a:ln w="57150">
            <a:solidFill>
              <a:srgbClr val="A3CBE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6A299E0B-5C99-5826-E007-D39B68C880A9}"/>
              </a:ext>
            </a:extLst>
          </p:cNvPr>
          <p:cNvSpPr/>
          <p:nvPr/>
        </p:nvSpPr>
        <p:spPr>
          <a:xfrm>
            <a:off x="3614852" y="2686746"/>
            <a:ext cx="290444" cy="0"/>
          </a:xfrm>
          <a:prstGeom prst="line">
            <a:avLst/>
          </a:prstGeom>
          <a:noFill/>
          <a:ln w="57150">
            <a:solidFill>
              <a:srgbClr val="121E3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3016157-68FA-CEB6-E6F4-66CA768DE12A}"/>
              </a:ext>
            </a:extLst>
          </p:cNvPr>
          <p:cNvSpPr/>
          <p:nvPr/>
        </p:nvSpPr>
        <p:spPr>
          <a:xfrm>
            <a:off x="6452464" y="2693498"/>
            <a:ext cx="290444" cy="0"/>
          </a:xfrm>
          <a:prstGeom prst="line">
            <a:avLst/>
          </a:prstGeom>
          <a:noFill/>
          <a:ln w="57150">
            <a:solidFill>
              <a:srgbClr val="A3CBE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D89220CB-03D3-FF60-8F87-B930C8865718}"/>
              </a:ext>
            </a:extLst>
          </p:cNvPr>
          <p:cNvSpPr/>
          <p:nvPr/>
        </p:nvSpPr>
        <p:spPr>
          <a:xfrm>
            <a:off x="9290075" y="2673242"/>
            <a:ext cx="290444" cy="0"/>
          </a:xfrm>
          <a:prstGeom prst="line">
            <a:avLst/>
          </a:prstGeom>
          <a:noFill/>
          <a:ln w="57150">
            <a:solidFill>
              <a:srgbClr val="121E3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28ACEA3-9B70-C45D-1E9F-BB1B2CCD7EEA}"/>
              </a:ext>
            </a:extLst>
          </p:cNvPr>
          <p:cNvGrpSpPr/>
          <p:nvPr/>
        </p:nvGrpSpPr>
        <p:grpSpPr>
          <a:xfrm>
            <a:off x="812504" y="4992431"/>
            <a:ext cx="10414739" cy="1440850"/>
            <a:chOff x="812504" y="4992431"/>
            <a:chExt cx="10414739" cy="1440850"/>
          </a:xfrm>
        </p:grpSpPr>
        <p:pic>
          <p:nvPicPr>
            <p:cNvPr id="56" name="Picture 4" descr="SAP SuccessFactors has a New Logo and a New Name">
              <a:extLst>
                <a:ext uri="{FF2B5EF4-FFF2-40B4-BE49-F238E27FC236}">
                  <a16:creationId xmlns:a16="http://schemas.microsoft.com/office/drawing/2014/main" id="{F91F2399-E29B-8624-B87D-393FA989D7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9640" y="4992431"/>
              <a:ext cx="1777609" cy="908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7" name="Shape 27">
              <a:extLst>
                <a:ext uri="{FF2B5EF4-FFF2-40B4-BE49-F238E27FC236}">
                  <a16:creationId xmlns:a16="http://schemas.microsoft.com/office/drawing/2014/main" id="{8321DAA0-AC9A-2D37-6097-0CDBBB42E6B3}"/>
                </a:ext>
              </a:extLst>
            </p:cNvPr>
            <p:cNvSpPr/>
            <p:nvPr/>
          </p:nvSpPr>
          <p:spPr>
            <a:xfrm>
              <a:off x="2632464" y="5515995"/>
              <a:ext cx="0" cy="365760"/>
            </a:xfrm>
            <a:prstGeom prst="line">
              <a:avLst/>
            </a:prstGeom>
            <a:noFill/>
            <a:ln w="6350">
              <a:solidFill>
                <a:srgbClr val="C1BC9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58" name="Picture 10" descr="SAP S/4HANA Private Cloud (RISE with SAP) - Applium">
              <a:extLst>
                <a:ext uri="{FF2B5EF4-FFF2-40B4-BE49-F238E27FC236}">
                  <a16:creationId xmlns:a16="http://schemas.microsoft.com/office/drawing/2014/main" id="{EBC6DBAF-C406-A5AB-A110-622C0F5CC1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6966" y="6061200"/>
              <a:ext cx="1147674" cy="3680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18" descr="SAP Ariba | Supply &amp; Demand Chain Executive">
              <a:extLst>
                <a:ext uri="{FF2B5EF4-FFF2-40B4-BE49-F238E27FC236}">
                  <a16:creationId xmlns:a16="http://schemas.microsoft.com/office/drawing/2014/main" id="{9487074E-31A1-DE02-BB40-15421872F6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90" y="5734812"/>
              <a:ext cx="1278123" cy="249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20" descr="Sap Concur Logo PNG, SVG, AI Vector – Free Download">
              <a:extLst>
                <a:ext uri="{FF2B5EF4-FFF2-40B4-BE49-F238E27FC236}">
                  <a16:creationId xmlns:a16="http://schemas.microsoft.com/office/drawing/2014/main" id="{B76CF3C7-8198-811F-702E-216B75B958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5209" y="5695270"/>
              <a:ext cx="1522624" cy="2724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Shape 27">
              <a:extLst>
                <a:ext uri="{FF2B5EF4-FFF2-40B4-BE49-F238E27FC236}">
                  <a16:creationId xmlns:a16="http://schemas.microsoft.com/office/drawing/2014/main" id="{11DD323E-2810-F093-DDDD-135AA2583E83}"/>
                </a:ext>
              </a:extLst>
            </p:cNvPr>
            <p:cNvSpPr/>
            <p:nvPr/>
          </p:nvSpPr>
          <p:spPr>
            <a:xfrm>
              <a:off x="7447531" y="5515995"/>
              <a:ext cx="0" cy="365760"/>
            </a:xfrm>
            <a:prstGeom prst="line">
              <a:avLst/>
            </a:prstGeom>
            <a:noFill/>
            <a:ln w="6350">
              <a:solidFill>
                <a:srgbClr val="C1BC9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27">
              <a:extLst>
                <a:ext uri="{FF2B5EF4-FFF2-40B4-BE49-F238E27FC236}">
                  <a16:creationId xmlns:a16="http://schemas.microsoft.com/office/drawing/2014/main" id="{78F04146-C46C-C3B8-D31E-71D9937FA083}"/>
                </a:ext>
              </a:extLst>
            </p:cNvPr>
            <p:cNvSpPr/>
            <p:nvPr/>
          </p:nvSpPr>
          <p:spPr>
            <a:xfrm>
              <a:off x="10756023" y="5512390"/>
              <a:ext cx="0" cy="365760"/>
            </a:xfrm>
            <a:prstGeom prst="line">
              <a:avLst/>
            </a:prstGeom>
            <a:noFill/>
            <a:ln w="6350">
              <a:solidFill>
                <a:srgbClr val="C1BC9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63" name="Salesforce Logo">
              <a:extLst>
                <a:ext uri="{FF2B5EF4-FFF2-40B4-BE49-F238E27FC236}">
                  <a16:creationId xmlns:a16="http://schemas.microsoft.com/office/drawing/2014/main" id="{8298B236-0C02-F0F7-E844-18280F281B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7942160" y="5599483"/>
              <a:ext cx="795555" cy="555388"/>
            </a:xfrm>
            <a:prstGeom prst="rect">
              <a:avLst/>
            </a:prstGeom>
            <a:noFill/>
          </p:spPr>
        </p:pic>
        <p:pic>
          <p:nvPicPr>
            <p:cNvPr id="64" name="Workday Logo">
              <a:extLst>
                <a:ext uri="{FF2B5EF4-FFF2-40B4-BE49-F238E27FC236}">
                  <a16:creationId xmlns:a16="http://schemas.microsoft.com/office/drawing/2014/main" id="{B8049C99-9A1B-C309-A2D7-40A345642B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9208178" y="5582950"/>
              <a:ext cx="951807" cy="382850"/>
            </a:xfrm>
            <a:prstGeom prst="rect">
              <a:avLst/>
            </a:prstGeom>
            <a:noFill/>
          </p:spPr>
        </p:pic>
        <p:pic>
          <p:nvPicPr>
            <p:cNvPr id="65" name="Picture 8" descr="SAP S/4 HANA Public Cloud in Indore | ID: 2850341673455">
              <a:extLst>
                <a:ext uri="{FF2B5EF4-FFF2-40B4-BE49-F238E27FC236}">
                  <a16:creationId xmlns:a16="http://schemas.microsoft.com/office/drawing/2014/main" id="{D15D2247-4A6C-4252-9285-F23329D604B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786" b="29717"/>
            <a:stretch>
              <a:fillRect/>
            </a:stretch>
          </p:blipFill>
          <p:spPr bwMode="auto">
            <a:xfrm>
              <a:off x="812504" y="5196547"/>
              <a:ext cx="1202136" cy="522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" name="Picture 14" descr="SAP BTP La plataforma tecnológica para tu ERP en la nube | Xamai">
              <a:extLst>
                <a:ext uri="{FF2B5EF4-FFF2-40B4-BE49-F238E27FC236}">
                  <a16:creationId xmlns:a16="http://schemas.microsoft.com/office/drawing/2014/main" id="{C730D8F0-741E-1D35-F871-966869D3FE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0053" y="5884202"/>
              <a:ext cx="976140" cy="5490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" name="Picture 1" descr="Syniti - Credly">
              <a:extLst>
                <a:ext uri="{FF2B5EF4-FFF2-40B4-BE49-F238E27FC236}">
                  <a16:creationId xmlns:a16="http://schemas.microsoft.com/office/drawing/2014/main" id="{30456B02-9F95-38E8-D6B8-557626AB1E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54143" y="5582950"/>
              <a:ext cx="673100" cy="55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836931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484C5-4A5A-CDF0-BAA2-D62C54F57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960B318F-4404-D07B-AD81-6F436C6CD33D}"/>
              </a:ext>
            </a:extLst>
          </p:cNvPr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DIGITAL, DATA &amp; AI  •  AI CAPABILITIES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A9C62DC-4103-3AEE-A400-7A1AF18232C7}"/>
              </a:ext>
            </a:extLst>
          </p:cNvPr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SAP-centric. AI-led. Outcome-driven.</a:t>
            </a:r>
            <a:endParaRPr lang="en-US" sz="2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48AAFA0-F9DE-F734-DF99-35BC5783B114}"/>
              </a:ext>
            </a:extLst>
          </p:cNvPr>
          <p:cNvSpPr/>
          <p:nvPr/>
        </p:nvSpPr>
        <p:spPr>
          <a:xfrm>
            <a:off x="502920" y="170992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Ten interconnected AI capability lanes — from strategy and governance to engineering, automation and industry accelerators. Built around SAP Business AI &amp; Joule, deeply integrated with the broader AI ecosystem (OpenAI, Azure OpenAI, Gemini, Databricks, Snowflake, vector DBs).</a:t>
            </a:r>
            <a:endParaRPr lang="en-US" sz="13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6A8C229-333B-7B07-B1EF-832030B28E61}"/>
              </a:ext>
            </a:extLst>
          </p:cNvPr>
          <p:cNvSpPr/>
          <p:nvPr/>
        </p:nvSpPr>
        <p:spPr>
          <a:xfrm>
            <a:off x="502920" y="2419178"/>
            <a:ext cx="2673020" cy="246888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FC6120D-6C1C-B533-B0A5-365B69A650C8}"/>
              </a:ext>
            </a:extLst>
          </p:cNvPr>
          <p:cNvSpPr/>
          <p:nvPr/>
        </p:nvSpPr>
        <p:spPr>
          <a:xfrm>
            <a:off x="777240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Strategy &amp; Enterprise AI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A40FAB4-52C8-5733-01E2-9D426F96DCFE}"/>
              </a:ext>
            </a:extLst>
          </p:cNvPr>
          <p:cNvSpPr/>
          <p:nvPr/>
        </p:nvSpPr>
        <p:spPr>
          <a:xfrm>
            <a:off x="777240" y="3310718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Strategy &amp; Maturity Assessment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Case Discovery &amp; Business Case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Business AI &amp; Joule Adoption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Operating Model &amp; CoE Establishment</a:t>
            </a:r>
            <a:endParaRPr lang="en-US" sz="1000" dirty="0">
              <a:solidFill>
                <a:srgbClr val="94B8D0"/>
              </a:solidFill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8D950DB1-2A20-3CA7-5F1F-6D6B64C45E0F}"/>
              </a:ext>
            </a:extLst>
          </p:cNvPr>
          <p:cNvSpPr/>
          <p:nvPr/>
        </p:nvSpPr>
        <p:spPr>
          <a:xfrm>
            <a:off x="3340532" y="2419178"/>
            <a:ext cx="2673020" cy="2468880"/>
          </a:xfrm>
          <a:prstGeom prst="rect">
            <a:avLst/>
          </a:prstGeom>
          <a:solidFill>
            <a:srgbClr val="94B8D0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F963DD92-47C6-DD60-9546-64B220757C56}"/>
              </a:ext>
            </a:extLst>
          </p:cNvPr>
          <p:cNvSpPr/>
          <p:nvPr/>
        </p:nvSpPr>
        <p:spPr>
          <a:xfrm>
            <a:off x="3614852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</a:rPr>
              <a:t>Data &amp; Solution Engineering</a:t>
            </a: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F4FD7568-82B5-05D9-FF56-0275F46F4D84}"/>
              </a:ext>
            </a:extLst>
          </p:cNvPr>
          <p:cNvSpPr/>
          <p:nvPr/>
        </p:nvSpPr>
        <p:spPr>
          <a:xfrm>
            <a:off x="3614852" y="3276341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Enterprise Data Ingestion &amp; Integration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Tokenisation, Embedding &amp; Vectorisation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RAG, Knowledge Graphs &amp; Foundation Models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Multi-agent AI, Copilots &amp; Orchestration</a:t>
            </a:r>
            <a:endParaRPr lang="en-US" sz="1000" dirty="0">
              <a:solidFill>
                <a:srgbClr val="121E3B"/>
              </a:solidFill>
            </a:endParaRPr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064B332B-A913-A1F0-3470-F77BDE9CFED1}"/>
              </a:ext>
            </a:extLst>
          </p:cNvPr>
          <p:cNvSpPr/>
          <p:nvPr/>
        </p:nvSpPr>
        <p:spPr>
          <a:xfrm>
            <a:off x="6178144" y="2419178"/>
            <a:ext cx="2673020" cy="246888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49A9B0FA-F3B4-1A50-621A-2DDD74C5F3BD}"/>
              </a:ext>
            </a:extLst>
          </p:cNvPr>
          <p:cNvSpPr/>
          <p:nvPr/>
        </p:nvSpPr>
        <p:spPr>
          <a:xfrm>
            <a:off x="6452464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Automation &amp; Delivery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8B95149A-256E-F055-48F7-EA8EC7BF3B5B}"/>
              </a:ext>
            </a:extLst>
          </p:cNvPr>
          <p:cNvSpPr/>
          <p:nvPr/>
        </p:nvSpPr>
        <p:spPr>
          <a:xfrm>
            <a:off x="6452464" y="3227668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Intelligent Process Automation &amp; RPA + AI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Document Intelligence &amp; Process Mining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AI-powered SAP Delivery (Fit-Gap, ABAP, Testing)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Migration Analysis &amp; Code Remediation</a:t>
            </a:r>
            <a:endParaRPr lang="en-US" sz="1000" dirty="0">
              <a:solidFill>
                <a:srgbClr val="94B8D0"/>
              </a:solidFill>
            </a:endParaRPr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A78F8A5E-A43B-7EAD-E4AB-86B4D983DEF7}"/>
              </a:ext>
            </a:extLst>
          </p:cNvPr>
          <p:cNvSpPr/>
          <p:nvPr/>
        </p:nvSpPr>
        <p:spPr>
          <a:xfrm>
            <a:off x="9015755" y="2419178"/>
            <a:ext cx="2673020" cy="2468880"/>
          </a:xfrm>
          <a:prstGeom prst="rect">
            <a:avLst/>
          </a:prstGeom>
          <a:solidFill>
            <a:srgbClr val="94B8D0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4A668894-1BAB-0160-4B2E-3071259CB397}"/>
              </a:ext>
            </a:extLst>
          </p:cNvPr>
          <p:cNvSpPr/>
          <p:nvPr/>
        </p:nvSpPr>
        <p:spPr>
          <a:xfrm>
            <a:off x="9244355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Operations &amp; Governance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F08CE842-BAF5-6506-02CC-5E767887723E}"/>
              </a:ext>
            </a:extLst>
          </p:cNvPr>
          <p:cNvSpPr/>
          <p:nvPr/>
        </p:nvSpPr>
        <p:spPr>
          <a:xfrm>
            <a:off x="9244355" y="3227668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AI-driven Incident &amp; Predictive Monitoring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Self-healing Operations &amp; Virtual Assistants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Governance, Risk, Ethics &amp; Compliance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Bias Detection, Explainability &amp; Policy Controls</a:t>
            </a:r>
            <a:endParaRPr lang="en-US" sz="1000" dirty="0">
              <a:solidFill>
                <a:srgbClr val="121E3B"/>
              </a:solidFill>
            </a:endParaRPr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A18D5E1B-FF3A-78EE-1402-FE63BFC0C9B5}"/>
              </a:ext>
            </a:extLst>
          </p:cNvPr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E34FE3D1-B08E-4E3F-9BC6-34440562F41B}"/>
              </a:ext>
            </a:extLst>
          </p:cNvPr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900" dirty="0"/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435D937C-050F-FEDC-4E4C-E50E6F8B5599}"/>
              </a:ext>
            </a:extLst>
          </p:cNvPr>
          <p:cNvSpPr>
            <a:spLocks noChangeAspect="1"/>
          </p:cNvSpPr>
          <p:nvPr/>
        </p:nvSpPr>
        <p:spPr>
          <a:xfrm>
            <a:off x="11162371" y="145576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6">
            <a:extLst>
              <a:ext uri="{FF2B5EF4-FFF2-40B4-BE49-F238E27FC236}">
                <a16:creationId xmlns:a16="http://schemas.microsoft.com/office/drawing/2014/main" id="{ADA03526-DA2F-A729-2ADF-FBEC22EC800E}"/>
              </a:ext>
            </a:extLst>
          </p:cNvPr>
          <p:cNvSpPr>
            <a:spLocks noChangeAspect="1"/>
          </p:cNvSpPr>
          <p:nvPr/>
        </p:nvSpPr>
        <p:spPr>
          <a:xfrm>
            <a:off x="10924478" y="398337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BA6ABF86-87F7-98E0-05D7-B7FCE9928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sp>
        <p:nvSpPr>
          <p:cNvPr id="2" name="Shape 4">
            <a:extLst>
              <a:ext uri="{FF2B5EF4-FFF2-40B4-BE49-F238E27FC236}">
                <a16:creationId xmlns:a16="http://schemas.microsoft.com/office/drawing/2014/main" id="{F71205D8-4470-3A98-ED23-2C75B30CAA54}"/>
              </a:ext>
            </a:extLst>
          </p:cNvPr>
          <p:cNvSpPr/>
          <p:nvPr/>
        </p:nvSpPr>
        <p:spPr>
          <a:xfrm>
            <a:off x="777240" y="2693498"/>
            <a:ext cx="290444" cy="0"/>
          </a:xfrm>
          <a:prstGeom prst="line">
            <a:avLst/>
          </a:prstGeom>
          <a:noFill/>
          <a:ln w="57150">
            <a:solidFill>
              <a:srgbClr val="A3CBE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6A299E0B-5C99-5826-E007-D39B68C880A9}"/>
              </a:ext>
            </a:extLst>
          </p:cNvPr>
          <p:cNvSpPr/>
          <p:nvPr/>
        </p:nvSpPr>
        <p:spPr>
          <a:xfrm>
            <a:off x="3614852" y="2686746"/>
            <a:ext cx="290444" cy="0"/>
          </a:xfrm>
          <a:prstGeom prst="line">
            <a:avLst/>
          </a:prstGeom>
          <a:noFill/>
          <a:ln w="57150">
            <a:solidFill>
              <a:srgbClr val="121E3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3016157-68FA-CEB6-E6F4-66CA768DE12A}"/>
              </a:ext>
            </a:extLst>
          </p:cNvPr>
          <p:cNvSpPr/>
          <p:nvPr/>
        </p:nvSpPr>
        <p:spPr>
          <a:xfrm>
            <a:off x="6452464" y="2693498"/>
            <a:ext cx="290444" cy="0"/>
          </a:xfrm>
          <a:prstGeom prst="line">
            <a:avLst/>
          </a:prstGeom>
          <a:noFill/>
          <a:ln w="57150">
            <a:solidFill>
              <a:srgbClr val="A3CBE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D89220CB-03D3-FF60-8F87-B930C8865718}"/>
              </a:ext>
            </a:extLst>
          </p:cNvPr>
          <p:cNvSpPr/>
          <p:nvPr/>
        </p:nvSpPr>
        <p:spPr>
          <a:xfrm>
            <a:off x="9290075" y="2673242"/>
            <a:ext cx="290444" cy="0"/>
          </a:xfrm>
          <a:prstGeom prst="line">
            <a:avLst/>
          </a:prstGeom>
          <a:noFill/>
          <a:ln w="57150">
            <a:solidFill>
              <a:srgbClr val="121E3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395E0FD-5793-F396-EA7E-280C35E12116}"/>
              </a:ext>
            </a:extLst>
          </p:cNvPr>
          <p:cNvGrpSpPr/>
          <p:nvPr/>
        </p:nvGrpSpPr>
        <p:grpSpPr>
          <a:xfrm>
            <a:off x="812504" y="4992431"/>
            <a:ext cx="10414739" cy="1440850"/>
            <a:chOff x="812504" y="4992431"/>
            <a:chExt cx="10414739" cy="1440850"/>
          </a:xfrm>
        </p:grpSpPr>
        <p:pic>
          <p:nvPicPr>
            <p:cNvPr id="18" name="Picture 4" descr="SAP SuccessFactors has a New Logo and a New Name">
              <a:extLst>
                <a:ext uri="{FF2B5EF4-FFF2-40B4-BE49-F238E27FC236}">
                  <a16:creationId xmlns:a16="http://schemas.microsoft.com/office/drawing/2014/main" id="{D87A4CBB-FC9C-A365-670A-442B69B60F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9640" y="4992431"/>
              <a:ext cx="1777609" cy="908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Shape 27">
              <a:extLst>
                <a:ext uri="{FF2B5EF4-FFF2-40B4-BE49-F238E27FC236}">
                  <a16:creationId xmlns:a16="http://schemas.microsoft.com/office/drawing/2014/main" id="{F2CEB5F6-6C2F-C22E-9242-0FDC45E09E7A}"/>
                </a:ext>
              </a:extLst>
            </p:cNvPr>
            <p:cNvSpPr/>
            <p:nvPr/>
          </p:nvSpPr>
          <p:spPr>
            <a:xfrm>
              <a:off x="2632464" y="5515995"/>
              <a:ext cx="0" cy="365760"/>
            </a:xfrm>
            <a:prstGeom prst="line">
              <a:avLst/>
            </a:prstGeom>
            <a:noFill/>
            <a:ln w="6350">
              <a:solidFill>
                <a:srgbClr val="C1BC9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8" name="Picture 10" descr="SAP S/4HANA Private Cloud (RISE with SAP) - Applium">
              <a:extLst>
                <a:ext uri="{FF2B5EF4-FFF2-40B4-BE49-F238E27FC236}">
                  <a16:creationId xmlns:a16="http://schemas.microsoft.com/office/drawing/2014/main" id="{02BB0FAF-4659-1BC0-3C1B-BB980E4DDE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6966" y="6061200"/>
              <a:ext cx="1147674" cy="3680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18" descr="SAP Ariba | Supply &amp; Demand Chain Executive">
              <a:extLst>
                <a:ext uri="{FF2B5EF4-FFF2-40B4-BE49-F238E27FC236}">
                  <a16:creationId xmlns:a16="http://schemas.microsoft.com/office/drawing/2014/main" id="{391AF49E-4423-2506-1961-686B8A1A83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90" y="5734812"/>
              <a:ext cx="1278123" cy="249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20" descr="Sap Concur Logo PNG, SVG, AI Vector – Free Download">
              <a:extLst>
                <a:ext uri="{FF2B5EF4-FFF2-40B4-BE49-F238E27FC236}">
                  <a16:creationId xmlns:a16="http://schemas.microsoft.com/office/drawing/2014/main" id="{CEBB24CC-5AF1-2FAB-EC9F-6DE6E3EE08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5209" y="5695270"/>
              <a:ext cx="1522624" cy="2724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Shape 27">
              <a:extLst>
                <a:ext uri="{FF2B5EF4-FFF2-40B4-BE49-F238E27FC236}">
                  <a16:creationId xmlns:a16="http://schemas.microsoft.com/office/drawing/2014/main" id="{6471CB2A-FABE-6041-3584-4993B5FEB7AE}"/>
                </a:ext>
              </a:extLst>
            </p:cNvPr>
            <p:cNvSpPr/>
            <p:nvPr/>
          </p:nvSpPr>
          <p:spPr>
            <a:xfrm>
              <a:off x="7447531" y="5515995"/>
              <a:ext cx="0" cy="365760"/>
            </a:xfrm>
            <a:prstGeom prst="line">
              <a:avLst/>
            </a:prstGeom>
            <a:noFill/>
            <a:ln w="6350">
              <a:solidFill>
                <a:srgbClr val="C1BC9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27">
              <a:extLst>
                <a:ext uri="{FF2B5EF4-FFF2-40B4-BE49-F238E27FC236}">
                  <a16:creationId xmlns:a16="http://schemas.microsoft.com/office/drawing/2014/main" id="{7E996895-8E7E-CE51-B3EF-28F3CB8B1F06}"/>
                </a:ext>
              </a:extLst>
            </p:cNvPr>
            <p:cNvSpPr/>
            <p:nvPr/>
          </p:nvSpPr>
          <p:spPr>
            <a:xfrm>
              <a:off x="10756023" y="5512390"/>
              <a:ext cx="0" cy="365760"/>
            </a:xfrm>
            <a:prstGeom prst="line">
              <a:avLst/>
            </a:prstGeom>
            <a:noFill/>
            <a:ln w="6350">
              <a:solidFill>
                <a:srgbClr val="C1BC9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6" name="Salesforce Logo">
              <a:extLst>
                <a:ext uri="{FF2B5EF4-FFF2-40B4-BE49-F238E27FC236}">
                  <a16:creationId xmlns:a16="http://schemas.microsoft.com/office/drawing/2014/main" id="{68C6A383-2B56-5F82-A2A9-B57345E8FE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7942160" y="5599483"/>
              <a:ext cx="795555" cy="555388"/>
            </a:xfrm>
            <a:prstGeom prst="rect">
              <a:avLst/>
            </a:prstGeom>
            <a:noFill/>
          </p:spPr>
        </p:pic>
        <p:pic>
          <p:nvPicPr>
            <p:cNvPr id="52" name="Workday Logo">
              <a:extLst>
                <a:ext uri="{FF2B5EF4-FFF2-40B4-BE49-F238E27FC236}">
                  <a16:creationId xmlns:a16="http://schemas.microsoft.com/office/drawing/2014/main" id="{9917BA8F-7A9B-A0AC-E3E3-52D120C523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9208178" y="5582950"/>
              <a:ext cx="951807" cy="382850"/>
            </a:xfrm>
            <a:prstGeom prst="rect">
              <a:avLst/>
            </a:prstGeom>
            <a:noFill/>
          </p:spPr>
        </p:pic>
        <p:pic>
          <p:nvPicPr>
            <p:cNvPr id="53" name="Picture 8" descr="SAP S/4 HANA Public Cloud in Indore | ID: 2850341673455">
              <a:extLst>
                <a:ext uri="{FF2B5EF4-FFF2-40B4-BE49-F238E27FC236}">
                  <a16:creationId xmlns:a16="http://schemas.microsoft.com/office/drawing/2014/main" id="{567419ED-01F1-9C1B-8895-7B4D3C89324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786" b="29717"/>
            <a:stretch>
              <a:fillRect/>
            </a:stretch>
          </p:blipFill>
          <p:spPr bwMode="auto">
            <a:xfrm>
              <a:off x="812504" y="5196547"/>
              <a:ext cx="1202136" cy="522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4" name="Picture 14" descr="SAP BTP La plataforma tecnológica para tu ERP en la nube | Xamai">
              <a:extLst>
                <a:ext uri="{FF2B5EF4-FFF2-40B4-BE49-F238E27FC236}">
                  <a16:creationId xmlns:a16="http://schemas.microsoft.com/office/drawing/2014/main" id="{04AD31B1-38F1-FD5E-FF9D-95076D4906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0053" y="5884202"/>
              <a:ext cx="976140" cy="5490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" name="Picture 1" descr="Syniti - Credly">
              <a:extLst>
                <a:ext uri="{FF2B5EF4-FFF2-40B4-BE49-F238E27FC236}">
                  <a16:creationId xmlns:a16="http://schemas.microsoft.com/office/drawing/2014/main" id="{5127689F-C566-B867-E4F7-D0E4C6ECF6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54143" y="5582950"/>
              <a:ext cx="673100" cy="55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8760989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2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A3CBE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C1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50292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SUB-PRACTICE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Application Engineering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4160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 application development, modernisation and managed services across stacks — covering bespoke apps, legacy modernisation, packaged app integration and 24×7 AMS.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9525">
            <a:solidFill>
              <a:srgbClr val="2A3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29</a:t>
            </a:r>
            <a:endParaRPr lang="en-US" sz="900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0B66AB93-5E3A-622E-4126-F6A9F4C6D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5639" y="347471"/>
            <a:ext cx="2070410" cy="64456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137E2B-241F-815E-60B5-5FA79E3D6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72C4A54E-B365-3B19-E1A3-CD75F6BE9B20}"/>
              </a:ext>
            </a:extLst>
          </p:cNvPr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 ENGINEERING  •  CAPABILITY OVERVIEW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E374049-7CEF-4988-FFBD-ECAF37A07A8B}"/>
              </a:ext>
            </a:extLst>
          </p:cNvPr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Build, integrate, run —</a:t>
            </a:r>
            <a:endParaRPr lang="en-US" sz="2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F9D8A0E-113D-849B-D499-556F3CF25EA7}"/>
              </a:ext>
            </a:extLst>
          </p:cNvPr>
          <p:cNvSpPr/>
          <p:nvPr/>
        </p:nvSpPr>
        <p:spPr>
          <a:xfrm>
            <a:off x="502919" y="148590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3F75A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across every stack.</a:t>
            </a:r>
            <a:endParaRPr lang="en-US" sz="2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9344E75-CED7-9267-1333-EA2034A6B5D5}"/>
              </a:ext>
            </a:extLst>
          </p:cNvPr>
          <p:cNvSpPr/>
          <p:nvPr/>
        </p:nvSpPr>
        <p:spPr>
          <a:xfrm>
            <a:off x="502919" y="21031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Our Application Development &amp; Managed Services practice covers custom development, integrations, post-implementation support and continuous improvement across legacy and modern application estates.</a:t>
            </a:r>
            <a:endParaRPr lang="en-US" sz="1300" dirty="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85FD6172-F976-D346-6CC2-F760981C947C}"/>
              </a:ext>
            </a:extLst>
          </p:cNvPr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A8028628-709E-0F75-CF64-9D532710A64A}"/>
              </a:ext>
            </a:extLst>
          </p:cNvPr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</a:t>
            </a:r>
            <a:endParaRPr lang="en-US" sz="900" dirty="0"/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F974109E-2174-5D38-9CB7-6B89C7FA2B92}"/>
              </a:ext>
            </a:extLst>
          </p:cNvPr>
          <p:cNvSpPr>
            <a:spLocks noChangeAspect="1"/>
          </p:cNvSpPr>
          <p:nvPr/>
        </p:nvSpPr>
        <p:spPr>
          <a:xfrm>
            <a:off x="11343040" y="145576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6">
            <a:extLst>
              <a:ext uri="{FF2B5EF4-FFF2-40B4-BE49-F238E27FC236}">
                <a16:creationId xmlns:a16="http://schemas.microsoft.com/office/drawing/2014/main" id="{0257AD05-071F-3773-2B5D-228E96E7DC8A}"/>
              </a:ext>
            </a:extLst>
          </p:cNvPr>
          <p:cNvSpPr>
            <a:spLocks noChangeAspect="1"/>
          </p:cNvSpPr>
          <p:nvPr/>
        </p:nvSpPr>
        <p:spPr>
          <a:xfrm>
            <a:off x="11105147" y="398337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0847E224-C0B4-69D0-6550-0C224A264E5D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264CCC1D-904D-3591-D419-FC447174E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sp>
        <p:nvSpPr>
          <p:cNvPr id="82" name="Oval 81">
            <a:extLst>
              <a:ext uri="{FF2B5EF4-FFF2-40B4-BE49-F238E27FC236}">
                <a16:creationId xmlns:a16="http://schemas.microsoft.com/office/drawing/2014/main" id="{EC864CAD-3005-DAF9-13E8-21A12016DAE6}"/>
              </a:ext>
            </a:extLst>
          </p:cNvPr>
          <p:cNvSpPr>
            <a:spLocks noChangeAspect="1"/>
          </p:cNvSpPr>
          <p:nvPr/>
        </p:nvSpPr>
        <p:spPr>
          <a:xfrm>
            <a:off x="4293159" y="2736219"/>
            <a:ext cx="3392321" cy="3393228"/>
          </a:xfrm>
          <a:prstGeom prst="ellipse">
            <a:avLst/>
          </a:prstGeom>
          <a:solidFill>
            <a:srgbClr val="121E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Freeform 77">
            <a:extLst>
              <a:ext uri="{FF2B5EF4-FFF2-40B4-BE49-F238E27FC236}">
                <a16:creationId xmlns:a16="http://schemas.microsoft.com/office/drawing/2014/main" id="{6A00BBDF-EF4F-0578-F292-B7B7F0852331}"/>
              </a:ext>
            </a:extLst>
          </p:cNvPr>
          <p:cNvSpPr>
            <a:spLocks/>
          </p:cNvSpPr>
          <p:nvPr/>
        </p:nvSpPr>
        <p:spPr bwMode="auto">
          <a:xfrm>
            <a:off x="4547921" y="3155216"/>
            <a:ext cx="1130167" cy="1264826"/>
          </a:xfrm>
          <a:custGeom>
            <a:avLst/>
            <a:gdLst>
              <a:gd name="T0" fmla="*/ 2040 w 2040"/>
              <a:gd name="T1" fmla="*/ 1297 h 2236"/>
              <a:gd name="T2" fmla="*/ 1291 w 2040"/>
              <a:gd name="T3" fmla="*/ 0 h 2236"/>
              <a:gd name="T4" fmla="*/ 0 w 2040"/>
              <a:gd name="T5" fmla="*/ 2236 h 2236"/>
              <a:gd name="T6" fmla="*/ 1499 w 2040"/>
              <a:gd name="T7" fmla="*/ 2236 h 2236"/>
              <a:gd name="T8" fmla="*/ 2040 w 2040"/>
              <a:gd name="T9" fmla="*/ 1297 h 2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40" h="2236">
                <a:moveTo>
                  <a:pt x="2040" y="1297"/>
                </a:moveTo>
                <a:cubicBezTo>
                  <a:pt x="1291" y="0"/>
                  <a:pt x="1291" y="0"/>
                  <a:pt x="1291" y="0"/>
                </a:cubicBezTo>
                <a:cubicBezTo>
                  <a:pt x="471" y="477"/>
                  <a:pt x="3" y="1288"/>
                  <a:pt x="0" y="2236"/>
                </a:cubicBezTo>
                <a:cubicBezTo>
                  <a:pt x="1499" y="2236"/>
                  <a:pt x="1499" y="2236"/>
                  <a:pt x="1499" y="2236"/>
                </a:cubicBezTo>
                <a:cubicBezTo>
                  <a:pt x="1502" y="1836"/>
                  <a:pt x="1719" y="1487"/>
                  <a:pt x="2040" y="1297"/>
                </a:cubicBezTo>
                <a:close/>
              </a:path>
            </a:pathLst>
          </a:custGeom>
          <a:solidFill>
            <a:srgbClr val="94B8D0"/>
          </a:solidFill>
          <a:ln>
            <a:noFill/>
          </a:ln>
        </p:spPr>
        <p:txBody>
          <a:bodyPr vert="horz" wrap="square" lIns="24110" tIns="12056" rIns="24110" bIns="12056" numCol="1" anchor="t" anchorCtr="0" compatLnSpc="1">
            <a:prstTxWarp prst="textNoShape">
              <a:avLst/>
            </a:prstTxWarp>
          </a:bodyPr>
          <a:lstStyle/>
          <a:p>
            <a:pPr defTabSz="246666">
              <a:defRPr/>
            </a:pPr>
            <a:endParaRPr lang="en-US" sz="450" b="1" kern="0" dirty="0">
              <a:solidFill>
                <a:schemeClr val="bg1"/>
              </a:solidFill>
              <a:latin typeface="IBM Plex Sans" panose="020B0503050203000203" pitchFamily="34" charset="77"/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369285CD-F751-4BFE-46C9-42114797A48B}"/>
              </a:ext>
            </a:extLst>
          </p:cNvPr>
          <p:cNvGrpSpPr/>
          <p:nvPr/>
        </p:nvGrpSpPr>
        <p:grpSpPr>
          <a:xfrm>
            <a:off x="4547922" y="4432833"/>
            <a:ext cx="1130922" cy="1265601"/>
            <a:chOff x="8043206" y="6831158"/>
            <a:chExt cx="3377118" cy="3680337"/>
          </a:xfrm>
          <a:solidFill>
            <a:srgbClr val="94B8D0"/>
          </a:solidFill>
        </p:grpSpPr>
        <p:sp>
          <p:nvSpPr>
            <p:cNvPr id="115" name="Freeform 78">
              <a:extLst>
                <a:ext uri="{FF2B5EF4-FFF2-40B4-BE49-F238E27FC236}">
                  <a16:creationId xmlns:a16="http://schemas.microsoft.com/office/drawing/2014/main" id="{BCD34C5E-EC8D-10E5-4263-C2FB258BC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8043206" y="6831158"/>
              <a:ext cx="3377118" cy="3680337"/>
            </a:xfrm>
            <a:custGeom>
              <a:avLst/>
              <a:gdLst>
                <a:gd name="T0" fmla="*/ 1499 w 2041"/>
                <a:gd name="T1" fmla="*/ 0 h 2237"/>
                <a:gd name="T2" fmla="*/ 0 w 2041"/>
                <a:gd name="T3" fmla="*/ 0 h 2237"/>
                <a:gd name="T4" fmla="*/ 1291 w 2041"/>
                <a:gd name="T5" fmla="*/ 2237 h 2237"/>
                <a:gd name="T6" fmla="*/ 2041 w 2041"/>
                <a:gd name="T7" fmla="*/ 938 h 2237"/>
                <a:gd name="T8" fmla="*/ 1499 w 2041"/>
                <a:gd name="T9" fmla="*/ 0 h 2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41" h="2237">
                  <a:moveTo>
                    <a:pt x="149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949"/>
                    <a:pt x="471" y="1760"/>
                    <a:pt x="1291" y="2237"/>
                  </a:cubicBezTo>
                  <a:cubicBezTo>
                    <a:pt x="2041" y="938"/>
                    <a:pt x="2041" y="938"/>
                    <a:pt x="2041" y="938"/>
                  </a:cubicBezTo>
                  <a:cubicBezTo>
                    <a:pt x="1720" y="748"/>
                    <a:pt x="1503" y="400"/>
                    <a:pt x="149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24110" tIns="12056" rIns="24110" bIns="12056" numCol="1" anchor="t" anchorCtr="0" compatLnSpc="1">
              <a:prstTxWarp prst="textNoShape">
                <a:avLst/>
              </a:prstTxWarp>
            </a:bodyPr>
            <a:lstStyle/>
            <a:p>
              <a:pPr defTabSz="246666">
                <a:defRPr/>
              </a:pPr>
              <a:endParaRPr lang="en-US" sz="450" b="1" kern="0" dirty="0">
                <a:solidFill>
                  <a:schemeClr val="bg1"/>
                </a:solidFill>
                <a:latin typeface="IBM Plex Sans" panose="020B0503050203000203" pitchFamily="34" charset="77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7DA702D6-E2A0-D7CD-2539-1D65D0561CF9}"/>
                </a:ext>
              </a:extLst>
            </p:cNvPr>
            <p:cNvSpPr txBox="1"/>
            <p:nvPr/>
          </p:nvSpPr>
          <p:spPr>
            <a:xfrm>
              <a:off x="8592035" y="7598819"/>
              <a:ext cx="2069034" cy="145208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ctr" defTabSz="246666">
                <a:lnSpc>
                  <a:spcPct val="90000"/>
                </a:lnSpc>
                <a:defRPr/>
              </a:pPr>
              <a:r>
                <a:rPr lang="en-US" sz="844" b="1" kern="0" dirty="0">
                  <a:solidFill>
                    <a:schemeClr val="bg1"/>
                  </a:solidFill>
                  <a:latin typeface="IBM Plex Sans" panose="020B0503050203000203" pitchFamily="34" charset="77"/>
                </a:rPr>
                <a:t>Integrations </a:t>
              </a:r>
            </a:p>
          </p:txBody>
        </p:sp>
      </p:grpSp>
      <p:sp>
        <p:nvSpPr>
          <p:cNvPr id="117" name="Freeform 79">
            <a:extLst>
              <a:ext uri="{FF2B5EF4-FFF2-40B4-BE49-F238E27FC236}">
                <a16:creationId xmlns:a16="http://schemas.microsoft.com/office/drawing/2014/main" id="{5134CD8B-05DD-5AF6-6622-0EA8F3E0758A}"/>
              </a:ext>
            </a:extLst>
          </p:cNvPr>
          <p:cNvSpPr>
            <a:spLocks/>
          </p:cNvSpPr>
          <p:nvPr/>
        </p:nvSpPr>
        <p:spPr bwMode="auto">
          <a:xfrm>
            <a:off x="5273811" y="4969696"/>
            <a:ext cx="1431018" cy="1001239"/>
          </a:xfrm>
          <a:custGeom>
            <a:avLst/>
            <a:gdLst>
              <a:gd name="T0" fmla="*/ 1292 w 2583"/>
              <a:gd name="T1" fmla="*/ 142 h 1770"/>
              <a:gd name="T2" fmla="*/ 750 w 2583"/>
              <a:gd name="T3" fmla="*/ 0 h 1770"/>
              <a:gd name="T4" fmla="*/ 0 w 2583"/>
              <a:gd name="T5" fmla="*/ 1299 h 1770"/>
              <a:gd name="T6" fmla="*/ 2583 w 2583"/>
              <a:gd name="T7" fmla="*/ 1299 h 1770"/>
              <a:gd name="T8" fmla="*/ 1833 w 2583"/>
              <a:gd name="T9" fmla="*/ 0 h 1770"/>
              <a:gd name="T10" fmla="*/ 1292 w 2583"/>
              <a:gd name="T11" fmla="*/ 142 h 17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3" h="1770">
                <a:moveTo>
                  <a:pt x="1292" y="142"/>
                </a:moveTo>
                <a:cubicBezTo>
                  <a:pt x="1095" y="142"/>
                  <a:pt x="910" y="91"/>
                  <a:pt x="750" y="0"/>
                </a:cubicBezTo>
                <a:cubicBezTo>
                  <a:pt x="0" y="1299"/>
                  <a:pt x="0" y="1299"/>
                  <a:pt x="0" y="1299"/>
                </a:cubicBezTo>
                <a:cubicBezTo>
                  <a:pt x="823" y="1770"/>
                  <a:pt x="1760" y="1770"/>
                  <a:pt x="2583" y="1299"/>
                </a:cubicBezTo>
                <a:cubicBezTo>
                  <a:pt x="1833" y="0"/>
                  <a:pt x="1833" y="0"/>
                  <a:pt x="1833" y="0"/>
                </a:cubicBezTo>
                <a:cubicBezTo>
                  <a:pt x="1673" y="91"/>
                  <a:pt x="1488" y="142"/>
                  <a:pt x="1292" y="142"/>
                </a:cubicBezTo>
                <a:close/>
              </a:path>
            </a:pathLst>
          </a:custGeom>
          <a:solidFill>
            <a:srgbClr val="94B8D0"/>
          </a:solidFill>
          <a:ln>
            <a:noFill/>
          </a:ln>
        </p:spPr>
        <p:txBody>
          <a:bodyPr vert="horz" wrap="square" lIns="24110" tIns="12056" rIns="24110" bIns="12056" numCol="1" anchor="t" anchorCtr="0" compatLnSpc="1">
            <a:prstTxWarp prst="textNoShape">
              <a:avLst/>
            </a:prstTxWarp>
          </a:bodyPr>
          <a:lstStyle/>
          <a:p>
            <a:pPr defTabSz="246666">
              <a:defRPr/>
            </a:pPr>
            <a:endParaRPr lang="en-US" sz="296" kern="0" dirty="0">
              <a:solidFill>
                <a:schemeClr val="bg1"/>
              </a:solidFill>
              <a:latin typeface="IBM Plex Sans" panose="020B0503050203000203" pitchFamily="34" charset="77"/>
            </a:endParaRP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D5201D86-FC49-BF49-DC86-3CC92F76F921}"/>
              </a:ext>
            </a:extLst>
          </p:cNvPr>
          <p:cNvGrpSpPr/>
          <p:nvPr/>
        </p:nvGrpSpPr>
        <p:grpSpPr>
          <a:xfrm>
            <a:off x="6299795" y="4432833"/>
            <a:ext cx="1130922" cy="1265601"/>
            <a:chOff x="13274582" y="6831158"/>
            <a:chExt cx="3377118" cy="3680337"/>
          </a:xfrm>
          <a:solidFill>
            <a:srgbClr val="94B8D0"/>
          </a:solidFill>
        </p:grpSpPr>
        <p:sp>
          <p:nvSpPr>
            <p:cNvPr id="119" name="Freeform 80">
              <a:extLst>
                <a:ext uri="{FF2B5EF4-FFF2-40B4-BE49-F238E27FC236}">
                  <a16:creationId xmlns:a16="http://schemas.microsoft.com/office/drawing/2014/main" id="{6DC08F04-E7AE-842F-A5D8-0FCE4C679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74582" y="6831158"/>
              <a:ext cx="3377118" cy="3680337"/>
            </a:xfrm>
            <a:custGeom>
              <a:avLst/>
              <a:gdLst>
                <a:gd name="T0" fmla="*/ 0 w 2041"/>
                <a:gd name="T1" fmla="*/ 938 h 2237"/>
                <a:gd name="T2" fmla="*/ 750 w 2041"/>
                <a:gd name="T3" fmla="*/ 2237 h 2237"/>
                <a:gd name="T4" fmla="*/ 2041 w 2041"/>
                <a:gd name="T5" fmla="*/ 0 h 2237"/>
                <a:gd name="T6" fmla="*/ 542 w 2041"/>
                <a:gd name="T7" fmla="*/ 0 h 2237"/>
                <a:gd name="T8" fmla="*/ 0 w 2041"/>
                <a:gd name="T9" fmla="*/ 938 h 2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41" h="2237">
                  <a:moveTo>
                    <a:pt x="0" y="938"/>
                  </a:moveTo>
                  <a:cubicBezTo>
                    <a:pt x="750" y="2237"/>
                    <a:pt x="750" y="2237"/>
                    <a:pt x="750" y="2237"/>
                  </a:cubicBezTo>
                  <a:cubicBezTo>
                    <a:pt x="1570" y="1760"/>
                    <a:pt x="2038" y="949"/>
                    <a:pt x="2041" y="0"/>
                  </a:cubicBezTo>
                  <a:cubicBezTo>
                    <a:pt x="542" y="0"/>
                    <a:pt x="542" y="0"/>
                    <a:pt x="542" y="0"/>
                  </a:cubicBezTo>
                  <a:cubicBezTo>
                    <a:pt x="538" y="400"/>
                    <a:pt x="322" y="748"/>
                    <a:pt x="0" y="9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24110" tIns="12056" rIns="24110" bIns="12056" numCol="1" anchor="t" anchorCtr="0" compatLnSpc="1">
              <a:prstTxWarp prst="textNoShape">
                <a:avLst/>
              </a:prstTxWarp>
            </a:bodyPr>
            <a:lstStyle/>
            <a:p>
              <a:pPr defTabSz="246666">
                <a:defRPr/>
              </a:pPr>
              <a:endParaRPr lang="en-US" sz="450" b="1" kern="0" dirty="0">
                <a:solidFill>
                  <a:schemeClr val="bg1"/>
                </a:solidFill>
                <a:latin typeface="IBM Plex Sans" panose="020B0503050203000203" pitchFamily="34" charset="77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F6F537CF-3D30-E225-6769-EB99573F4399}"/>
                </a:ext>
              </a:extLst>
            </p:cNvPr>
            <p:cNvSpPr txBox="1"/>
            <p:nvPr/>
          </p:nvSpPr>
          <p:spPr>
            <a:xfrm>
              <a:off x="14204667" y="7517255"/>
              <a:ext cx="1670483" cy="1452080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ctr" defTabSz="246666">
                <a:lnSpc>
                  <a:spcPct val="90000"/>
                </a:lnSpc>
                <a:defRPr/>
              </a:pPr>
              <a:r>
                <a:rPr lang="en-US" sz="844" b="1" kern="0" dirty="0">
                  <a:solidFill>
                    <a:schemeClr val="bg1"/>
                  </a:solidFill>
                  <a:latin typeface="IBM Plex Sans" panose="020B0503050203000203" pitchFamily="34" charset="77"/>
                </a:rPr>
                <a:t>Multiple </a:t>
              </a:r>
            </a:p>
            <a:p>
              <a:pPr algn="ctr" defTabSz="246666">
                <a:lnSpc>
                  <a:spcPct val="90000"/>
                </a:lnSpc>
                <a:defRPr/>
              </a:pPr>
              <a:r>
                <a:rPr lang="en-US" sz="844" b="1" kern="0" dirty="0">
                  <a:solidFill>
                    <a:schemeClr val="bg1"/>
                  </a:solidFill>
                  <a:latin typeface="IBM Plex Sans" panose="020B0503050203000203" pitchFamily="34" charset="77"/>
                </a:rPr>
                <a:t>Frameworks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F78973C-B542-5046-834D-7DBC5EF036AA}"/>
              </a:ext>
            </a:extLst>
          </p:cNvPr>
          <p:cNvGrpSpPr/>
          <p:nvPr/>
        </p:nvGrpSpPr>
        <p:grpSpPr>
          <a:xfrm>
            <a:off x="6300550" y="3155216"/>
            <a:ext cx="1130167" cy="1264826"/>
            <a:chOff x="13276837" y="3115878"/>
            <a:chExt cx="3374863" cy="3678083"/>
          </a:xfrm>
          <a:solidFill>
            <a:srgbClr val="94B8D0"/>
          </a:solidFill>
        </p:grpSpPr>
        <p:sp>
          <p:nvSpPr>
            <p:cNvPr id="122" name="Freeform 75">
              <a:extLst>
                <a:ext uri="{FF2B5EF4-FFF2-40B4-BE49-F238E27FC236}">
                  <a16:creationId xmlns:a16="http://schemas.microsoft.com/office/drawing/2014/main" id="{3826A1D9-FDFD-AF13-5B80-A33DC41A55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76837" y="3115878"/>
              <a:ext cx="3374863" cy="3678083"/>
            </a:xfrm>
            <a:custGeom>
              <a:avLst/>
              <a:gdLst>
                <a:gd name="T0" fmla="*/ 541 w 2040"/>
                <a:gd name="T1" fmla="*/ 2236 h 2236"/>
                <a:gd name="T2" fmla="*/ 2040 w 2040"/>
                <a:gd name="T3" fmla="*/ 2236 h 2236"/>
                <a:gd name="T4" fmla="*/ 749 w 2040"/>
                <a:gd name="T5" fmla="*/ 0 h 2236"/>
                <a:gd name="T6" fmla="*/ 0 w 2040"/>
                <a:gd name="T7" fmla="*/ 1297 h 2236"/>
                <a:gd name="T8" fmla="*/ 541 w 2040"/>
                <a:gd name="T9" fmla="*/ 2236 h 2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40" h="2236">
                  <a:moveTo>
                    <a:pt x="541" y="2236"/>
                  </a:moveTo>
                  <a:cubicBezTo>
                    <a:pt x="2040" y="2236"/>
                    <a:pt x="2040" y="2236"/>
                    <a:pt x="2040" y="2236"/>
                  </a:cubicBezTo>
                  <a:cubicBezTo>
                    <a:pt x="2037" y="1288"/>
                    <a:pt x="1569" y="477"/>
                    <a:pt x="749" y="0"/>
                  </a:cubicBezTo>
                  <a:cubicBezTo>
                    <a:pt x="0" y="1297"/>
                    <a:pt x="0" y="1297"/>
                    <a:pt x="0" y="1297"/>
                  </a:cubicBezTo>
                  <a:cubicBezTo>
                    <a:pt x="321" y="1487"/>
                    <a:pt x="538" y="1836"/>
                    <a:pt x="541" y="22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24110" tIns="12056" rIns="24110" bIns="12056" numCol="1" anchor="t" anchorCtr="0" compatLnSpc="1">
              <a:prstTxWarp prst="textNoShape">
                <a:avLst/>
              </a:prstTxWarp>
            </a:bodyPr>
            <a:lstStyle/>
            <a:p>
              <a:pPr defTabSz="246666">
                <a:defRPr/>
              </a:pPr>
              <a:endParaRPr lang="en-US" sz="450" b="1" kern="0" dirty="0">
                <a:solidFill>
                  <a:schemeClr val="bg1"/>
                </a:solidFill>
                <a:latin typeface="IBM Plex Sans" panose="020B0503050203000203" pitchFamily="34" charset="77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2848F682-C92A-E8E7-11BC-E005E93F667B}"/>
                </a:ext>
              </a:extLst>
            </p:cNvPr>
            <p:cNvSpPr txBox="1"/>
            <p:nvPr/>
          </p:nvSpPr>
          <p:spPr>
            <a:xfrm>
              <a:off x="14191756" y="4701931"/>
              <a:ext cx="1670483" cy="1452080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ctr" defTabSz="246666">
                <a:lnSpc>
                  <a:spcPct val="90000"/>
                </a:lnSpc>
                <a:defRPr/>
              </a:pPr>
              <a:r>
                <a:rPr lang="en-US" sz="844" b="1" kern="0" dirty="0">
                  <a:solidFill>
                    <a:schemeClr val="bg1"/>
                  </a:solidFill>
                  <a:latin typeface="IBM Plex Sans" panose="020B0503050203000203" pitchFamily="34" charset="77"/>
                </a:rPr>
                <a:t>Open Source</a:t>
              </a:r>
            </a:p>
            <a:p>
              <a:pPr algn="ctr" defTabSz="246666">
                <a:lnSpc>
                  <a:spcPct val="90000"/>
                </a:lnSpc>
                <a:defRPr/>
              </a:pPr>
              <a:r>
                <a:rPr lang="en-US" sz="844" b="1" kern="0" dirty="0">
                  <a:solidFill>
                    <a:schemeClr val="bg1"/>
                  </a:solidFill>
                  <a:latin typeface="IBM Plex Sans" panose="020B0503050203000203" pitchFamily="34" charset="77"/>
                </a:rPr>
                <a:t>Applications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69F88FE8-5E1F-8823-6EE8-0259A2615F2E}"/>
              </a:ext>
            </a:extLst>
          </p:cNvPr>
          <p:cNvGrpSpPr/>
          <p:nvPr/>
        </p:nvGrpSpPr>
        <p:grpSpPr>
          <a:xfrm>
            <a:off x="5273811" y="2881938"/>
            <a:ext cx="1431018" cy="1000852"/>
            <a:chOff x="3767832" y="697748"/>
            <a:chExt cx="1602469" cy="1091421"/>
          </a:xfrm>
          <a:solidFill>
            <a:srgbClr val="94B8D0"/>
          </a:solidFill>
        </p:grpSpPr>
        <p:sp>
          <p:nvSpPr>
            <p:cNvPr id="125" name="Freeform 76">
              <a:extLst>
                <a:ext uri="{FF2B5EF4-FFF2-40B4-BE49-F238E27FC236}">
                  <a16:creationId xmlns:a16="http://schemas.microsoft.com/office/drawing/2014/main" id="{D6AC8DC9-6AD9-9F46-C27A-19B988DB5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7832" y="697748"/>
              <a:ext cx="1602469" cy="1091421"/>
            </a:xfrm>
            <a:custGeom>
              <a:avLst/>
              <a:gdLst>
                <a:gd name="T0" fmla="*/ 1292 w 2583"/>
                <a:gd name="T1" fmla="*/ 1626 h 1769"/>
                <a:gd name="T2" fmla="*/ 1834 w 2583"/>
                <a:gd name="T3" fmla="*/ 1769 h 1769"/>
                <a:gd name="T4" fmla="*/ 2583 w 2583"/>
                <a:gd name="T5" fmla="*/ 471 h 1769"/>
                <a:gd name="T6" fmla="*/ 0 w 2583"/>
                <a:gd name="T7" fmla="*/ 471 h 1769"/>
                <a:gd name="T8" fmla="*/ 749 w 2583"/>
                <a:gd name="T9" fmla="*/ 1769 h 1769"/>
                <a:gd name="T10" fmla="*/ 1292 w 2583"/>
                <a:gd name="T11" fmla="*/ 1626 h 17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83" h="1769">
                  <a:moveTo>
                    <a:pt x="1292" y="1626"/>
                  </a:moveTo>
                  <a:cubicBezTo>
                    <a:pt x="1489" y="1626"/>
                    <a:pt x="1674" y="1678"/>
                    <a:pt x="1834" y="1769"/>
                  </a:cubicBezTo>
                  <a:cubicBezTo>
                    <a:pt x="2583" y="471"/>
                    <a:pt x="2583" y="471"/>
                    <a:pt x="2583" y="471"/>
                  </a:cubicBezTo>
                  <a:cubicBezTo>
                    <a:pt x="1760" y="0"/>
                    <a:pt x="823" y="0"/>
                    <a:pt x="0" y="471"/>
                  </a:cubicBezTo>
                  <a:cubicBezTo>
                    <a:pt x="749" y="1769"/>
                    <a:pt x="749" y="1769"/>
                    <a:pt x="749" y="1769"/>
                  </a:cubicBezTo>
                  <a:cubicBezTo>
                    <a:pt x="909" y="1678"/>
                    <a:pt x="1094" y="1626"/>
                    <a:pt x="1292" y="16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24110" tIns="12056" rIns="24110" bIns="12056" numCol="1" anchor="t" anchorCtr="0" compatLnSpc="1">
              <a:prstTxWarp prst="textNoShape">
                <a:avLst/>
              </a:prstTxWarp>
            </a:bodyPr>
            <a:lstStyle/>
            <a:p>
              <a:pPr defTabSz="246666">
                <a:defRPr/>
              </a:pPr>
              <a:endParaRPr lang="en-US" sz="450" b="1" kern="0" dirty="0">
                <a:solidFill>
                  <a:schemeClr val="bg1"/>
                </a:solidFill>
                <a:latin typeface="IBM Plex Sans" panose="020B0503050203000203" pitchFamily="34" charset="77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01D99D90-3654-3893-A8F9-9311D3481709}"/>
                </a:ext>
              </a:extLst>
            </p:cNvPr>
            <p:cNvSpPr/>
            <p:nvPr/>
          </p:nvSpPr>
          <p:spPr>
            <a:xfrm>
              <a:off x="4112168" y="1093673"/>
              <a:ext cx="902916" cy="325734"/>
            </a:xfrm>
            <a:prstGeom prst="rect">
              <a:avLst/>
            </a:prstGeom>
            <a:grpFill/>
          </p:spPr>
          <p:txBody>
            <a:bodyPr wrap="none" lIns="64294" tIns="32147" rIns="64294" bIns="32147">
              <a:spAutoFit/>
            </a:bodyPr>
            <a:lstStyle/>
            <a:p>
              <a:pPr algn="ctr" defTabSz="246666">
                <a:lnSpc>
                  <a:spcPct val="90000"/>
                </a:lnSpc>
                <a:defRPr/>
              </a:pPr>
              <a:r>
                <a:rPr lang="en-US" sz="844" b="1" kern="0" dirty="0">
                  <a:solidFill>
                    <a:schemeClr val="bg1"/>
                  </a:solidFill>
                  <a:latin typeface="IBM Plex Sans" panose="020B0503050203000203" pitchFamily="34" charset="77"/>
                </a:rPr>
                <a:t>Application</a:t>
              </a:r>
            </a:p>
            <a:p>
              <a:pPr algn="ctr" defTabSz="246666">
                <a:lnSpc>
                  <a:spcPct val="90000"/>
                </a:lnSpc>
                <a:defRPr/>
              </a:pPr>
              <a:r>
                <a:rPr lang="en-US" sz="844" b="1" kern="0" dirty="0">
                  <a:solidFill>
                    <a:schemeClr val="bg1"/>
                  </a:solidFill>
                  <a:latin typeface="IBM Plex Sans" panose="020B0503050203000203" pitchFamily="34" charset="77"/>
                </a:rPr>
                <a:t>Development</a:t>
              </a:r>
            </a:p>
          </p:txBody>
        </p:sp>
      </p:grpSp>
      <p:sp>
        <p:nvSpPr>
          <p:cNvPr id="128" name="Oval 127">
            <a:extLst>
              <a:ext uri="{FF2B5EF4-FFF2-40B4-BE49-F238E27FC236}">
                <a16:creationId xmlns:a16="http://schemas.microsoft.com/office/drawing/2014/main" id="{B4EE94F4-B0CD-7504-659C-0E26FA42D54B}"/>
              </a:ext>
            </a:extLst>
          </p:cNvPr>
          <p:cNvSpPr>
            <a:spLocks noChangeAspect="1"/>
          </p:cNvSpPr>
          <p:nvPr/>
        </p:nvSpPr>
        <p:spPr>
          <a:xfrm>
            <a:off x="5523852" y="3964557"/>
            <a:ext cx="919594" cy="944320"/>
          </a:xfrm>
          <a:prstGeom prst="ellipse">
            <a:avLst/>
          </a:prstGeom>
          <a:solidFill>
            <a:srgbClr val="94B8D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64294" tIns="32147" rIns="64294" bIns="32147" rtlCol="0" anchor="ctr"/>
          <a:lstStyle/>
          <a:p>
            <a:pPr algn="ctr" defTabSz="246666">
              <a:defRPr/>
            </a:pPr>
            <a:endParaRPr lang="en-US" sz="296" kern="0" dirty="0">
              <a:solidFill>
                <a:schemeClr val="bg1"/>
              </a:solidFill>
              <a:latin typeface="IBM Plex Sans" panose="020B0503050203000203" pitchFamily="34" charset="77"/>
            </a:endParaRP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CBE7BC2B-CB7C-0FC7-F9A5-E7B7FDECB03A}"/>
              </a:ext>
            </a:extLst>
          </p:cNvPr>
          <p:cNvSpPr>
            <a:spLocks noChangeAspect="1"/>
          </p:cNvSpPr>
          <p:nvPr/>
        </p:nvSpPr>
        <p:spPr>
          <a:xfrm>
            <a:off x="5660795" y="4109552"/>
            <a:ext cx="645708" cy="663069"/>
          </a:xfrm>
          <a:prstGeom prst="ellipse">
            <a:avLst/>
          </a:prstGeom>
          <a:solidFill>
            <a:srgbClr val="121E3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64294" tIns="32147" rIns="64294" bIns="32147" rtlCol="0" anchor="ctr"/>
          <a:lstStyle/>
          <a:p>
            <a:pPr algn="ctr" defTabSz="246666">
              <a:defRPr/>
            </a:pPr>
            <a:endParaRPr lang="en-US" sz="296" kern="0" dirty="0">
              <a:solidFill>
                <a:schemeClr val="bg1"/>
              </a:solidFill>
              <a:latin typeface="IBM Plex Sans" panose="020B0503050203000203" pitchFamily="34" charset="7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67055AB0-7687-FA51-AE05-42841128DAA0}"/>
              </a:ext>
            </a:extLst>
          </p:cNvPr>
          <p:cNvSpPr txBox="1"/>
          <p:nvPr/>
        </p:nvSpPr>
        <p:spPr>
          <a:xfrm>
            <a:off x="5623679" y="4219792"/>
            <a:ext cx="719940" cy="39972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 defTabSz="246666">
              <a:lnSpc>
                <a:spcPct val="80000"/>
              </a:lnSpc>
              <a:defRPr/>
            </a:pPr>
            <a:r>
              <a:rPr lang="en-US" sz="704" b="1" kern="0" dirty="0">
                <a:solidFill>
                  <a:schemeClr val="bg1"/>
                </a:solidFill>
                <a:latin typeface="IBM Plex Sans" panose="020B0503050203000203" pitchFamily="34" charset="77"/>
              </a:rPr>
              <a:t>PHP</a:t>
            </a:r>
          </a:p>
          <a:p>
            <a:pPr algn="ctr" defTabSz="246666">
              <a:lnSpc>
                <a:spcPct val="80000"/>
              </a:lnSpc>
              <a:defRPr/>
            </a:pPr>
            <a:r>
              <a:rPr lang="en-US" sz="704" b="1" kern="0" dirty="0">
                <a:solidFill>
                  <a:schemeClr val="bg1"/>
                </a:solidFill>
                <a:latin typeface="IBM Plex Sans" panose="020B0503050203000203" pitchFamily="34" charset="77"/>
              </a:rPr>
              <a:t>Development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9C098B5-5C2B-5EDB-F49E-969654AD410B}"/>
              </a:ext>
            </a:extLst>
          </p:cNvPr>
          <p:cNvSpPr txBox="1"/>
          <p:nvPr/>
        </p:nvSpPr>
        <p:spPr>
          <a:xfrm>
            <a:off x="5459276" y="5428593"/>
            <a:ext cx="1060087" cy="3431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 defTabSz="246666">
              <a:lnSpc>
                <a:spcPct val="90000"/>
              </a:lnSpc>
              <a:defRPr/>
            </a:pPr>
            <a:r>
              <a:rPr lang="en-US" sz="844" b="1" kern="0" dirty="0">
                <a:solidFill>
                  <a:schemeClr val="bg1"/>
                </a:solidFill>
                <a:latin typeface="IBM Plex Sans" panose="020B0503050203000203" pitchFamily="34" charset="77"/>
              </a:rPr>
              <a:t>Web Services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C0042E71-0C0E-51A7-F72A-89BC0156C154}"/>
              </a:ext>
            </a:extLst>
          </p:cNvPr>
          <p:cNvSpPr txBox="1"/>
          <p:nvPr/>
        </p:nvSpPr>
        <p:spPr>
          <a:xfrm>
            <a:off x="4646330" y="3863382"/>
            <a:ext cx="827890" cy="428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 defTabSz="246666">
              <a:lnSpc>
                <a:spcPct val="80000"/>
              </a:lnSpc>
              <a:defRPr/>
            </a:pPr>
            <a:r>
              <a:rPr lang="en-US" sz="844" b="1" kern="0" dirty="0">
                <a:solidFill>
                  <a:schemeClr val="bg1"/>
                </a:solidFill>
                <a:latin typeface="IBM Plex Sans" panose="020B0503050203000203" pitchFamily="34" charset="77"/>
              </a:rPr>
              <a:t>Support</a:t>
            </a:r>
          </a:p>
          <a:p>
            <a:pPr algn="ctr" defTabSz="246666">
              <a:lnSpc>
                <a:spcPct val="80000"/>
              </a:lnSpc>
              <a:defRPr/>
            </a:pPr>
            <a:r>
              <a:rPr lang="en-US" sz="844" b="1" kern="0" dirty="0">
                <a:solidFill>
                  <a:schemeClr val="bg1"/>
                </a:solidFill>
                <a:latin typeface="IBM Plex Sans" panose="020B0503050203000203" pitchFamily="34" charset="77"/>
              </a:rPr>
              <a:t>Services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00237054-114B-4E8E-3D4F-159A0AB40C27}"/>
              </a:ext>
            </a:extLst>
          </p:cNvPr>
          <p:cNvSpPr txBox="1"/>
          <p:nvPr/>
        </p:nvSpPr>
        <p:spPr>
          <a:xfrm>
            <a:off x="5514269" y="4061692"/>
            <a:ext cx="950100" cy="1013227"/>
          </a:xfrm>
          <a:prstGeom prst="rect">
            <a:avLst/>
          </a:prstGeom>
          <a:noFill/>
        </p:spPr>
        <p:txBody>
          <a:bodyPr spcFirstLastPara="1" wrap="none" lIns="0" tIns="0" rIns="0" bIns="0" numCol="1" rtlCol="0">
            <a:prstTxWarp prst="textArchUp">
              <a:avLst>
                <a:gd name="adj" fmla="val 9217686"/>
              </a:avLst>
            </a:prstTxWarp>
            <a:noAutofit/>
          </a:bodyPr>
          <a:lstStyle/>
          <a:p>
            <a:pPr algn="ctr" defTabSz="246666">
              <a:lnSpc>
                <a:spcPct val="90000"/>
              </a:lnSpc>
              <a:defRPr/>
            </a:pPr>
            <a:r>
              <a:rPr lang="en-US" sz="563" b="1" kern="0" dirty="0">
                <a:solidFill>
                  <a:srgbClr val="121E3B"/>
                </a:solidFill>
                <a:latin typeface="IBM Plex Sans" panose="020B0503050203000203" pitchFamily="34" charset="77"/>
              </a:rPr>
              <a:t>FRAMEWORK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57AC107-D984-6C10-586E-F2673A15AF7A}"/>
              </a:ext>
            </a:extLst>
          </p:cNvPr>
          <p:cNvSpPr txBox="1"/>
          <p:nvPr/>
        </p:nvSpPr>
        <p:spPr>
          <a:xfrm>
            <a:off x="5579322" y="4058484"/>
            <a:ext cx="808654" cy="783936"/>
          </a:xfrm>
          <a:prstGeom prst="rect">
            <a:avLst/>
          </a:prstGeom>
          <a:noFill/>
        </p:spPr>
        <p:txBody>
          <a:bodyPr spcFirstLastPara="1" wrap="none" lIns="0" tIns="0" rIns="0" bIns="0" numCol="1" rtlCol="0">
            <a:prstTxWarp prst="textArchDown">
              <a:avLst/>
            </a:prstTxWarp>
            <a:noAutofit/>
          </a:bodyPr>
          <a:lstStyle/>
          <a:p>
            <a:pPr algn="ctr" defTabSz="246666">
              <a:lnSpc>
                <a:spcPct val="90000"/>
              </a:lnSpc>
              <a:defRPr/>
            </a:pPr>
            <a:r>
              <a:rPr lang="en-US" sz="563" b="1" kern="0" dirty="0">
                <a:solidFill>
                  <a:srgbClr val="121E3B"/>
                </a:solidFill>
                <a:latin typeface="IBM Plex Sans" panose="020B0503050203000203" pitchFamily="34" charset="77"/>
              </a:rPr>
              <a:t>PLATFORM</a:t>
            </a:r>
          </a:p>
        </p:txBody>
      </p:sp>
      <p:sp>
        <p:nvSpPr>
          <p:cNvPr id="137" name="TextBox 1">
            <a:extLst>
              <a:ext uri="{FF2B5EF4-FFF2-40B4-BE49-F238E27FC236}">
                <a16:creationId xmlns:a16="http://schemas.microsoft.com/office/drawing/2014/main" id="{D707F106-21AD-E76B-BAC5-8FC99AD2F993}"/>
              </a:ext>
            </a:extLst>
          </p:cNvPr>
          <p:cNvSpPr txBox="1"/>
          <p:nvPr/>
        </p:nvSpPr>
        <p:spPr>
          <a:xfrm rot="19943861">
            <a:off x="4271196" y="2253254"/>
            <a:ext cx="3647363" cy="3882533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none" lIns="0" tIns="0" rIns="0" bIns="0" numCol="1" rtlCol="0">
            <a:prstTxWarp prst="textArchDown">
              <a:avLst/>
            </a:prstTxWarp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defTabSz="685800" fontAlgn="base">
              <a:lnSpc>
                <a:spcPts val="1650"/>
              </a:lnSpc>
              <a:spcBef>
                <a:spcPct val="0"/>
              </a:spcBef>
              <a:spcAft>
                <a:spcPct val="0"/>
              </a:spcAft>
              <a:buSzPct val="150000"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Integration Services</a:t>
            </a:r>
          </a:p>
        </p:txBody>
      </p:sp>
      <p:sp>
        <p:nvSpPr>
          <p:cNvPr id="138" name="TextBox 2">
            <a:extLst>
              <a:ext uri="{FF2B5EF4-FFF2-40B4-BE49-F238E27FC236}">
                <a16:creationId xmlns:a16="http://schemas.microsoft.com/office/drawing/2014/main" id="{8C5F444B-B733-B1B0-9FDE-2EBDF46FBB5E}"/>
              </a:ext>
            </a:extLst>
          </p:cNvPr>
          <p:cNvSpPr txBox="1"/>
          <p:nvPr/>
        </p:nvSpPr>
        <p:spPr>
          <a:xfrm rot="15148972">
            <a:off x="4525259" y="3170553"/>
            <a:ext cx="2305658" cy="3844917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none" lIns="0" tIns="0" rIns="0" bIns="0" numCol="1" rtlCol="0">
            <a:prstTxWarp prst="textArchDown">
              <a:avLst>
                <a:gd name="adj" fmla="val 764663"/>
              </a:avLst>
            </a:prstTxWarp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defTabSz="685800" fontAlgn="base">
              <a:lnSpc>
                <a:spcPts val="1650"/>
              </a:lnSpc>
              <a:spcBef>
                <a:spcPct val="0"/>
              </a:spcBef>
              <a:spcAft>
                <a:spcPct val="0"/>
              </a:spcAft>
              <a:buSzPct val="150000"/>
            </a:pPr>
            <a:r>
              <a:rPr lang="en-US" sz="105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Post implementation Support</a:t>
            </a:r>
          </a:p>
        </p:txBody>
      </p:sp>
      <p:sp>
        <p:nvSpPr>
          <p:cNvPr id="139" name="TextBox 3">
            <a:extLst>
              <a:ext uri="{FF2B5EF4-FFF2-40B4-BE49-F238E27FC236}">
                <a16:creationId xmlns:a16="http://schemas.microsoft.com/office/drawing/2014/main" id="{9085C11B-2D83-7102-5281-9BDC5C66277E}"/>
              </a:ext>
            </a:extLst>
          </p:cNvPr>
          <p:cNvSpPr txBox="1"/>
          <p:nvPr/>
        </p:nvSpPr>
        <p:spPr>
          <a:xfrm rot="18185762">
            <a:off x="4269565" y="3160538"/>
            <a:ext cx="2380063" cy="1809276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none" lIns="0" tIns="0" rIns="0" bIns="0" numCol="1" rtlCol="0">
            <a:prstTxWarp prst="textArchUp">
              <a:avLst>
                <a:gd name="adj" fmla="val 11771694"/>
              </a:avLst>
            </a:prstTxWarp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 defTabSz="246666">
              <a:lnSpc>
                <a:spcPct val="90000"/>
              </a:lnSpc>
              <a:defRPr/>
            </a:pPr>
            <a:r>
              <a:rPr lang="en-US" sz="1055" b="1" kern="0" dirty="0">
                <a:solidFill>
                  <a:schemeClr val="bg1"/>
                </a:solidFill>
                <a:latin typeface="Century Gothic" panose="020B0502020202020204" pitchFamily="34" charset="0"/>
              </a:rPr>
              <a:t>Application Development</a:t>
            </a:r>
          </a:p>
        </p:txBody>
      </p:sp>
      <p:sp>
        <p:nvSpPr>
          <p:cNvPr id="140" name="TextBox 4">
            <a:extLst>
              <a:ext uri="{FF2B5EF4-FFF2-40B4-BE49-F238E27FC236}">
                <a16:creationId xmlns:a16="http://schemas.microsoft.com/office/drawing/2014/main" id="{1571F05C-2BD8-5443-B767-E757C7A39309}"/>
              </a:ext>
            </a:extLst>
          </p:cNvPr>
          <p:cNvSpPr txBox="1"/>
          <p:nvPr/>
        </p:nvSpPr>
        <p:spPr>
          <a:xfrm rot="8578703">
            <a:off x="4463851" y="2971242"/>
            <a:ext cx="3057906" cy="2788649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none" lIns="0" tIns="0" rIns="0" bIns="0" numCol="1" rtlCol="0">
            <a:prstTxWarp prst="textArchUp">
              <a:avLst>
                <a:gd name="adj" fmla="val 9117577"/>
              </a:avLst>
            </a:prstTxWarp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defTabSz="685800" fontAlgn="base">
              <a:lnSpc>
                <a:spcPts val="1650"/>
              </a:lnSpc>
              <a:spcBef>
                <a:spcPct val="0"/>
              </a:spcBef>
              <a:spcAft>
                <a:spcPct val="0"/>
              </a:spcAft>
              <a:buSzPct val="150000"/>
            </a:pPr>
            <a:r>
              <a:rPr lang="en-US" sz="105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Optimization Services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1B9E9E11-6395-A3DC-9746-F6CB409219E4}"/>
              </a:ext>
            </a:extLst>
          </p:cNvPr>
          <p:cNvSpPr/>
          <p:nvPr/>
        </p:nvSpPr>
        <p:spPr>
          <a:xfrm>
            <a:off x="467728" y="3057034"/>
            <a:ext cx="2425626" cy="1593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 defTabSz="685800" fontAlgn="base">
              <a:lnSpc>
                <a:spcPts val="1650"/>
              </a:lnSpc>
              <a:spcBef>
                <a:spcPct val="0"/>
              </a:spcBef>
              <a:spcAft>
                <a:spcPct val="0"/>
              </a:spcAft>
              <a:buSzPct val="15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3F3F3F"/>
                </a:solidFill>
                <a:latin typeface="IBM Plex Sans" panose="020B0503050203000203" pitchFamily="34" charset="77"/>
                <a:cs typeface="Calibri" panose="020F0502020204030204" pitchFamily="34" charset="0"/>
              </a:rPr>
              <a:t>Application Development</a:t>
            </a:r>
          </a:p>
          <a:p>
            <a:pPr marL="214313" indent="-214313" defTabSz="685800" fontAlgn="base">
              <a:lnSpc>
                <a:spcPts val="1650"/>
              </a:lnSpc>
              <a:spcBef>
                <a:spcPct val="0"/>
              </a:spcBef>
              <a:spcAft>
                <a:spcPct val="0"/>
              </a:spcAft>
              <a:buSzPct val="15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3F3F3F"/>
                </a:solidFill>
                <a:latin typeface="IBM Plex Sans" panose="020B0503050203000203" pitchFamily="34" charset="77"/>
                <a:cs typeface="Calibri" panose="020F0502020204030204" pitchFamily="34" charset="0"/>
              </a:rPr>
              <a:t>Custom Development</a:t>
            </a:r>
          </a:p>
          <a:p>
            <a:pPr marL="214313" indent="-214313" defTabSz="685800" fontAlgn="base">
              <a:lnSpc>
                <a:spcPts val="1650"/>
              </a:lnSpc>
              <a:spcBef>
                <a:spcPct val="0"/>
              </a:spcBef>
              <a:spcAft>
                <a:spcPct val="0"/>
              </a:spcAft>
              <a:buSzPct val="15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3F3F3F"/>
                </a:solidFill>
                <a:latin typeface="IBM Plex Sans" panose="020B0503050203000203" pitchFamily="34" charset="77"/>
                <a:cs typeface="Calibri" panose="020F0502020204030204" pitchFamily="34" charset="0"/>
              </a:rPr>
              <a:t>Open-Source Customization</a:t>
            </a:r>
          </a:p>
          <a:p>
            <a:pPr marL="214313" indent="-214313" defTabSz="685800" fontAlgn="base">
              <a:lnSpc>
                <a:spcPts val="1650"/>
              </a:lnSpc>
              <a:spcBef>
                <a:spcPct val="0"/>
              </a:spcBef>
              <a:spcAft>
                <a:spcPct val="0"/>
              </a:spcAft>
              <a:buSzPct val="15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3F3F3F"/>
                </a:solidFill>
                <a:latin typeface="IBM Plex Sans" panose="020B0503050203000203" pitchFamily="34" charset="77"/>
                <a:cs typeface="Calibri" panose="020F0502020204030204" pitchFamily="34" charset="0"/>
              </a:rPr>
              <a:t>Multiple Framework Support including Laravel, CakePHP, Codeigniter, .NET etc.</a:t>
            </a:r>
          </a:p>
          <a:p>
            <a:pPr marL="214313" indent="-214313" defTabSz="685800" fontAlgn="base">
              <a:lnSpc>
                <a:spcPts val="1650"/>
              </a:lnSpc>
              <a:spcBef>
                <a:spcPct val="0"/>
              </a:spcBef>
              <a:spcAft>
                <a:spcPct val="0"/>
              </a:spcAft>
              <a:buSzPct val="150000"/>
              <a:buFont typeface="Arial" panose="020B0604020202020204" pitchFamily="34" charset="0"/>
              <a:buChar char="•"/>
            </a:pPr>
            <a:endParaRPr lang="en-US" sz="1050" dirty="0">
              <a:solidFill>
                <a:srgbClr val="3F3F3F"/>
              </a:solidFill>
              <a:latin typeface="IBM Plex Sans" panose="020B0503050203000203" pitchFamily="34" charset="77"/>
              <a:cs typeface="Calibri" panose="020F0502020204030204" pitchFamily="34" charset="0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38F25E7F-04F6-D4FE-2A31-F8A4860599B0}"/>
              </a:ext>
            </a:extLst>
          </p:cNvPr>
          <p:cNvSpPr/>
          <p:nvPr/>
        </p:nvSpPr>
        <p:spPr>
          <a:xfrm>
            <a:off x="8551503" y="3057034"/>
            <a:ext cx="3142850" cy="1593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 defTabSz="685800" fontAlgn="base">
              <a:lnSpc>
                <a:spcPts val="1650"/>
              </a:lnSpc>
              <a:spcBef>
                <a:spcPct val="0"/>
              </a:spcBef>
              <a:spcAft>
                <a:spcPct val="0"/>
              </a:spcAft>
              <a:buSzPct val="15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3F3F3F"/>
                </a:solidFill>
                <a:latin typeface="IBM Plex Sans" panose="020B0503050203000203" pitchFamily="34" charset="77"/>
                <a:cs typeface="Calibri" panose="020F0502020204030204" pitchFamily="34" charset="0"/>
              </a:rPr>
              <a:t>Advisory Services</a:t>
            </a:r>
          </a:p>
          <a:p>
            <a:pPr marL="214313" indent="-214313" defTabSz="685800" fontAlgn="base">
              <a:lnSpc>
                <a:spcPts val="1650"/>
              </a:lnSpc>
              <a:spcBef>
                <a:spcPct val="0"/>
              </a:spcBef>
              <a:spcAft>
                <a:spcPct val="0"/>
              </a:spcAft>
              <a:buSzPct val="15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3F3F3F"/>
                </a:solidFill>
                <a:latin typeface="IBM Plex Sans" panose="020B0503050203000203" pitchFamily="34" charset="77"/>
                <a:cs typeface="Calibri" panose="020F0502020204030204" pitchFamily="34" charset="0"/>
              </a:rPr>
              <a:t>System health Check assessment</a:t>
            </a:r>
          </a:p>
          <a:p>
            <a:pPr marL="214313" indent="-214313" defTabSz="685800" fontAlgn="base">
              <a:lnSpc>
                <a:spcPts val="1650"/>
              </a:lnSpc>
              <a:spcBef>
                <a:spcPct val="0"/>
              </a:spcBef>
              <a:spcAft>
                <a:spcPct val="0"/>
              </a:spcAft>
              <a:buSzPct val="15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3F3F3F"/>
                </a:solidFill>
                <a:latin typeface="IBM Plex Sans" panose="020B0503050203000203" pitchFamily="34" charset="77"/>
                <a:cs typeface="Calibri" panose="020F0502020204030204" pitchFamily="34" charset="0"/>
              </a:rPr>
              <a:t>Gap-fit Analysis </a:t>
            </a:r>
          </a:p>
          <a:p>
            <a:pPr marL="214313" indent="-214313" defTabSz="685800" fontAlgn="base">
              <a:lnSpc>
                <a:spcPts val="1650"/>
              </a:lnSpc>
              <a:spcBef>
                <a:spcPct val="0"/>
              </a:spcBef>
              <a:spcAft>
                <a:spcPct val="0"/>
              </a:spcAft>
              <a:buSzPct val="15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3F3F3F"/>
                </a:solidFill>
                <a:latin typeface="IBM Plex Sans" panose="020B0503050203000203" pitchFamily="34" charset="77"/>
                <a:cs typeface="Calibri" panose="020F0502020204030204" pitchFamily="34" charset="0"/>
              </a:rPr>
              <a:t>Organizational Change management</a:t>
            </a:r>
          </a:p>
          <a:p>
            <a:pPr marL="214313" indent="-214313" defTabSz="685800" fontAlgn="base">
              <a:lnSpc>
                <a:spcPts val="1650"/>
              </a:lnSpc>
              <a:spcBef>
                <a:spcPct val="0"/>
              </a:spcBef>
              <a:spcAft>
                <a:spcPct val="0"/>
              </a:spcAft>
              <a:buSzPct val="15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3F3F3F"/>
                </a:solidFill>
                <a:latin typeface="IBM Plex Sans" panose="020B0503050203000203" pitchFamily="34" charset="77"/>
                <a:cs typeface="Calibri" panose="020F0502020204030204" pitchFamily="34" charset="0"/>
              </a:rPr>
              <a:t>Quality Assurance</a:t>
            </a:r>
          </a:p>
          <a:p>
            <a:pPr marL="214313" indent="-214313" defTabSz="685800" fontAlgn="base">
              <a:lnSpc>
                <a:spcPts val="1650"/>
              </a:lnSpc>
              <a:spcBef>
                <a:spcPct val="0"/>
              </a:spcBef>
              <a:spcAft>
                <a:spcPct val="0"/>
              </a:spcAft>
              <a:buSzPct val="15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3F3F3F"/>
                </a:solidFill>
                <a:latin typeface="IBM Plex Sans" panose="020B0503050203000203" pitchFamily="34" charset="77"/>
                <a:cs typeface="Calibri" panose="020F0502020204030204" pitchFamily="34" charset="0"/>
              </a:rPr>
              <a:t>Optimization &amp; continuous improvement</a:t>
            </a:r>
          </a:p>
          <a:p>
            <a:pPr marL="214313" indent="-214313" defTabSz="685800" fontAlgn="base">
              <a:lnSpc>
                <a:spcPts val="1650"/>
              </a:lnSpc>
              <a:spcBef>
                <a:spcPct val="0"/>
              </a:spcBef>
              <a:spcAft>
                <a:spcPct val="0"/>
              </a:spcAft>
              <a:buSzPct val="150000"/>
              <a:buFont typeface="Arial" panose="020B0604020202020204" pitchFamily="34" charset="0"/>
              <a:buChar char="•"/>
            </a:pPr>
            <a:endParaRPr lang="en-US" sz="1050" dirty="0">
              <a:solidFill>
                <a:srgbClr val="3F3F3F"/>
              </a:solidFill>
              <a:latin typeface="IBM Plex Sans" panose="020B0503050203000203" pitchFamily="34" charset="77"/>
              <a:cs typeface="Calibri" panose="020F0502020204030204" pitchFamily="34" charset="0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D6F3E1C-30AD-F43C-4D1E-9DD7D1233667}"/>
              </a:ext>
            </a:extLst>
          </p:cNvPr>
          <p:cNvSpPr/>
          <p:nvPr/>
        </p:nvSpPr>
        <p:spPr>
          <a:xfrm>
            <a:off x="480960" y="4932969"/>
            <a:ext cx="2548558" cy="137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 defTabSz="685800" fontAlgn="base">
              <a:lnSpc>
                <a:spcPts val="1650"/>
              </a:lnSpc>
              <a:spcBef>
                <a:spcPct val="0"/>
              </a:spcBef>
              <a:spcAft>
                <a:spcPct val="0"/>
              </a:spcAft>
              <a:buSzPct val="15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3F3F3F"/>
                </a:solidFill>
                <a:latin typeface="IBM Plex Sans" panose="020B0503050203000203" pitchFamily="34" charset="77"/>
                <a:cs typeface="Calibri" panose="020F0502020204030204" pitchFamily="34" charset="0"/>
              </a:rPr>
              <a:t>Payment Gateway Integration</a:t>
            </a:r>
          </a:p>
          <a:p>
            <a:pPr marL="214313" indent="-214313" defTabSz="685800" fontAlgn="base">
              <a:lnSpc>
                <a:spcPts val="1650"/>
              </a:lnSpc>
              <a:spcBef>
                <a:spcPct val="0"/>
              </a:spcBef>
              <a:spcAft>
                <a:spcPct val="0"/>
              </a:spcAft>
              <a:buSzPct val="15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3F3F3F"/>
                </a:solidFill>
                <a:latin typeface="IBM Plex Sans" panose="020B0503050203000203" pitchFamily="34" charset="77"/>
                <a:cs typeface="Calibri" panose="020F0502020204030204" pitchFamily="34" charset="0"/>
              </a:rPr>
              <a:t>Third party product integration</a:t>
            </a:r>
          </a:p>
          <a:p>
            <a:pPr marL="214313" indent="-214313" defTabSz="685800" fontAlgn="base">
              <a:lnSpc>
                <a:spcPts val="1650"/>
              </a:lnSpc>
              <a:spcBef>
                <a:spcPct val="0"/>
              </a:spcBef>
              <a:spcAft>
                <a:spcPct val="0"/>
              </a:spcAft>
              <a:buSzPct val="15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3F3F3F"/>
                </a:solidFill>
                <a:latin typeface="IBM Plex Sans" panose="020B0503050203000203" pitchFamily="34" charset="77"/>
                <a:cs typeface="Calibri" panose="020F0502020204030204" pitchFamily="34" charset="0"/>
              </a:rPr>
              <a:t>Salesforce, POS, ecommerce like Shopify &amp; Magento</a:t>
            </a:r>
          </a:p>
          <a:p>
            <a:pPr marL="214313" indent="-214313" defTabSz="685800" fontAlgn="base">
              <a:lnSpc>
                <a:spcPts val="1650"/>
              </a:lnSpc>
              <a:spcBef>
                <a:spcPct val="0"/>
              </a:spcBef>
              <a:spcAft>
                <a:spcPct val="0"/>
              </a:spcAft>
              <a:buSzPct val="15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3F3F3F"/>
                </a:solidFill>
                <a:latin typeface="IBM Plex Sans" panose="020B0503050203000203" pitchFamily="34" charset="77"/>
                <a:cs typeface="Calibri" panose="020F0502020204030204" pitchFamily="34" charset="0"/>
              </a:rPr>
              <a:t>Webservices </a:t>
            </a:r>
          </a:p>
          <a:p>
            <a:pPr marL="214313" indent="-214313" defTabSz="685800" fontAlgn="base">
              <a:lnSpc>
                <a:spcPts val="1650"/>
              </a:lnSpc>
              <a:spcBef>
                <a:spcPct val="0"/>
              </a:spcBef>
              <a:spcAft>
                <a:spcPct val="0"/>
              </a:spcAft>
              <a:buSzPct val="150000"/>
              <a:buFont typeface="Arial" panose="020B0604020202020204" pitchFamily="34" charset="0"/>
              <a:buChar char="•"/>
            </a:pPr>
            <a:endParaRPr lang="en-US" sz="1050" dirty="0">
              <a:solidFill>
                <a:srgbClr val="3F3F3F"/>
              </a:solidFill>
              <a:latin typeface="IBM Plex Sans" panose="020B0503050203000203" pitchFamily="34" charset="77"/>
              <a:cs typeface="Calibri" panose="020F0502020204030204" pitchFamily="34" charset="0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848DDF10-2807-A7ED-F8D4-DF80A38AA687}"/>
              </a:ext>
            </a:extLst>
          </p:cNvPr>
          <p:cNvSpPr/>
          <p:nvPr/>
        </p:nvSpPr>
        <p:spPr>
          <a:xfrm>
            <a:off x="8564993" y="5107820"/>
            <a:ext cx="2453214" cy="721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 defTabSz="685800" fontAlgn="base">
              <a:lnSpc>
                <a:spcPts val="1650"/>
              </a:lnSpc>
              <a:spcBef>
                <a:spcPct val="0"/>
              </a:spcBef>
              <a:spcAft>
                <a:spcPct val="0"/>
              </a:spcAft>
              <a:buSzPct val="15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3F3F3F"/>
                </a:solidFill>
                <a:latin typeface="IBM Plex Sans" panose="020B0503050203000203" pitchFamily="34" charset="77"/>
                <a:cs typeface="Calibri" panose="020F0502020204030204" pitchFamily="34" charset="0"/>
              </a:rPr>
              <a:t>Post-production Support- AMS</a:t>
            </a:r>
          </a:p>
          <a:p>
            <a:pPr marL="214313" indent="-214313" defTabSz="685800" fontAlgn="base">
              <a:lnSpc>
                <a:spcPts val="1650"/>
              </a:lnSpc>
              <a:spcBef>
                <a:spcPct val="0"/>
              </a:spcBef>
              <a:spcAft>
                <a:spcPct val="0"/>
              </a:spcAft>
              <a:buSzPct val="15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3F3F3F"/>
                </a:solidFill>
                <a:latin typeface="IBM Plex Sans" panose="020B0503050203000203" pitchFamily="34" charset="77"/>
                <a:cs typeface="Calibri" panose="020F0502020204030204" pitchFamily="34" charset="0"/>
              </a:rPr>
              <a:t>Enhancement </a:t>
            </a:r>
          </a:p>
          <a:p>
            <a:pPr marL="214313" indent="-214313" defTabSz="685800" fontAlgn="base">
              <a:lnSpc>
                <a:spcPts val="1650"/>
              </a:lnSpc>
              <a:spcBef>
                <a:spcPct val="0"/>
              </a:spcBef>
              <a:spcAft>
                <a:spcPct val="0"/>
              </a:spcAft>
              <a:buSzPct val="1500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3F3F3F"/>
                </a:solidFill>
                <a:latin typeface="IBM Plex Sans" panose="020B0503050203000203" pitchFamily="34" charset="77"/>
                <a:cs typeface="Calibri" panose="020F0502020204030204" pitchFamily="34" charset="0"/>
              </a:rPr>
              <a:t>Upgrades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060C53B4-1213-C38A-7FCE-ED4EFD6806AD}"/>
              </a:ext>
            </a:extLst>
          </p:cNvPr>
          <p:cNvSpPr/>
          <p:nvPr/>
        </p:nvSpPr>
        <p:spPr>
          <a:xfrm>
            <a:off x="499618" y="2686201"/>
            <a:ext cx="2980303" cy="299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base">
              <a:lnSpc>
                <a:spcPts val="1650"/>
              </a:lnSpc>
              <a:spcBef>
                <a:spcPct val="0"/>
              </a:spcBef>
              <a:spcAft>
                <a:spcPct val="0"/>
              </a:spcAft>
              <a:buSzPct val="150000"/>
            </a:pPr>
            <a:r>
              <a:rPr lang="en-US" sz="1350" b="1" dirty="0">
                <a:solidFill>
                  <a:srgbClr val="3F3F3F"/>
                </a:solidFill>
                <a:latin typeface="IBM Plex Sans" panose="020B0503050203000203" pitchFamily="34" charset="77"/>
                <a:cs typeface="Calibri" panose="020F0502020204030204" pitchFamily="34" charset="0"/>
              </a:rPr>
              <a:t>Application Development Services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C55FDF65-D577-33E6-7692-23B43B750A0F}"/>
              </a:ext>
            </a:extLst>
          </p:cNvPr>
          <p:cNvSpPr/>
          <p:nvPr/>
        </p:nvSpPr>
        <p:spPr>
          <a:xfrm>
            <a:off x="8544341" y="2739286"/>
            <a:ext cx="1970411" cy="299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base">
              <a:lnSpc>
                <a:spcPts val="1650"/>
              </a:lnSpc>
              <a:spcBef>
                <a:spcPct val="0"/>
              </a:spcBef>
              <a:spcAft>
                <a:spcPct val="0"/>
              </a:spcAft>
              <a:buSzPct val="150000"/>
            </a:pPr>
            <a:r>
              <a:rPr lang="en-US" sz="1350" b="1" dirty="0">
                <a:solidFill>
                  <a:srgbClr val="3F3F3F"/>
                </a:solidFill>
                <a:latin typeface="IBM Plex Sans" panose="020B0503050203000203" pitchFamily="34" charset="77"/>
                <a:cs typeface="Calibri" panose="020F0502020204030204" pitchFamily="34" charset="0"/>
              </a:rPr>
              <a:t>Optimization Services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658254E0-5261-140C-5504-C6333D9797DF}"/>
              </a:ext>
            </a:extLst>
          </p:cNvPr>
          <p:cNvSpPr/>
          <p:nvPr/>
        </p:nvSpPr>
        <p:spPr>
          <a:xfrm>
            <a:off x="524545" y="4573451"/>
            <a:ext cx="1838965" cy="299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base">
              <a:lnSpc>
                <a:spcPts val="1650"/>
              </a:lnSpc>
              <a:spcBef>
                <a:spcPct val="0"/>
              </a:spcBef>
              <a:spcAft>
                <a:spcPct val="0"/>
              </a:spcAft>
              <a:buSzPct val="150000"/>
            </a:pPr>
            <a:r>
              <a:rPr lang="en-US" sz="1350" b="1" dirty="0">
                <a:solidFill>
                  <a:srgbClr val="3F3F3F"/>
                </a:solidFill>
                <a:latin typeface="IBM Plex Sans" panose="020B0503050203000203" pitchFamily="34" charset="77"/>
                <a:cs typeface="Calibri" panose="020F0502020204030204" pitchFamily="34" charset="0"/>
              </a:rPr>
              <a:t>Integration Services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D895ACCE-6730-AFC5-422D-CB96550D52C7}"/>
              </a:ext>
            </a:extLst>
          </p:cNvPr>
          <p:cNvSpPr/>
          <p:nvPr/>
        </p:nvSpPr>
        <p:spPr>
          <a:xfrm>
            <a:off x="8544341" y="4610940"/>
            <a:ext cx="2581156" cy="2998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base">
              <a:lnSpc>
                <a:spcPts val="1650"/>
              </a:lnSpc>
              <a:spcBef>
                <a:spcPct val="0"/>
              </a:spcBef>
              <a:spcAft>
                <a:spcPct val="0"/>
              </a:spcAft>
              <a:buSzPct val="150000"/>
            </a:pPr>
            <a:r>
              <a:rPr lang="en-US" sz="1350" b="1" dirty="0">
                <a:solidFill>
                  <a:srgbClr val="3F3F3F"/>
                </a:solidFill>
                <a:latin typeface="IBM Plex Sans" panose="020B0503050203000203" pitchFamily="34" charset="77"/>
                <a:cs typeface="Calibri" panose="020F0502020204030204" pitchFamily="34" charset="0"/>
              </a:rPr>
              <a:t>Post implementation Support</a:t>
            </a:r>
          </a:p>
        </p:txBody>
      </p:sp>
    </p:spTree>
    <p:extLst>
      <p:ext uri="{BB962C8B-B14F-4D97-AF65-F5344CB8AC3E}">
        <p14:creationId xmlns:p14="http://schemas.microsoft.com/office/powerpoint/2010/main" val="17745667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 ENGINEERING  •  PROCESS &amp; TECHNOLOGY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An application lifecycle —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19" y="1555496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3F75A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with every layer covered.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918" y="210515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lifecycle stages, anchored in AIM and ITIL, deployed across tailor-made, legacy and packaged application estates.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5095" y="2804823"/>
            <a:ext cx="2625014" cy="54864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5095" y="2804823"/>
            <a:ext cx="26250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&amp; Architecture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20109" y="2804823"/>
            <a:ext cx="228600" cy="548640"/>
          </a:xfrm>
          <a:prstGeom prst="chevron">
            <a:avLst/>
          </a:prstGeom>
          <a:solidFill>
            <a:srgbClr val="C1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48709" y="2804823"/>
            <a:ext cx="2625014" cy="548640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48709" y="2804823"/>
            <a:ext cx="26250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Development &amp; Testing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73723" y="2804823"/>
            <a:ext cx="228600" cy="548640"/>
          </a:xfrm>
          <a:prstGeom prst="chevron">
            <a:avLst/>
          </a:prstGeom>
          <a:solidFill>
            <a:srgbClr val="C1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02323" y="2804823"/>
            <a:ext cx="2625014" cy="54864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02323" y="2804823"/>
            <a:ext cx="26250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Maintenance &amp; Support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27336" y="2804823"/>
            <a:ext cx="228600" cy="548640"/>
          </a:xfrm>
          <a:prstGeom prst="chevron">
            <a:avLst/>
          </a:prstGeom>
          <a:solidFill>
            <a:srgbClr val="C1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055936" y="2804823"/>
            <a:ext cx="2625014" cy="548640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055936" y="2804823"/>
            <a:ext cx="26250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Optimisation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3733801"/>
            <a:ext cx="3606698" cy="2255517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406908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Bespoke Applications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7240" y="4480560"/>
            <a:ext cx="314949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Java, J2EE &amp; allied tech</a:t>
            </a:r>
            <a:endParaRPr lang="en-US" sz="1100" dirty="0">
              <a:solidFill>
                <a:srgbClr val="FFFFFF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ASP.NET, PHP, Python</a:t>
            </a:r>
            <a:endParaRPr lang="en-US" sz="1100" dirty="0">
              <a:solidFill>
                <a:srgbClr val="FFFFFF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SharePoint, Power Apps</a:t>
            </a:r>
            <a:endParaRPr lang="en-US" sz="1100" dirty="0">
              <a:solidFill>
                <a:srgbClr val="FFFFFF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Android, iOS, Hybrid</a:t>
            </a:r>
            <a:endParaRPr lang="en-US" sz="1100" dirty="0">
              <a:solidFill>
                <a:srgbClr val="FFFFFF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BI: Power BI, SQL, SSRS</a:t>
            </a:r>
            <a:endParaRPr lang="en-US" sz="1100" dirty="0">
              <a:solidFill>
                <a:srgbClr val="FFFFFF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MEAN, Full-Stack, CMS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292498" y="3733797"/>
            <a:ext cx="3606698" cy="2255517"/>
          </a:xfrm>
          <a:prstGeom prst="rect">
            <a:avLst/>
          </a:prstGeom>
          <a:solidFill>
            <a:srgbClr val="3F74A2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66818" y="406908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Legacy Applications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66818" y="4480560"/>
            <a:ext cx="314949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APEX</a:t>
            </a:r>
            <a:endParaRPr lang="en-US" sz="1100" dirty="0">
              <a:solidFill>
                <a:srgbClr val="FFFFFF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Mainframe</a:t>
            </a:r>
            <a:endParaRPr lang="en-US" sz="1100" dirty="0">
              <a:solidFill>
                <a:srgbClr val="FFFFFF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AS/400</a:t>
            </a:r>
            <a:endParaRPr lang="en-US" sz="1100" dirty="0">
              <a:solidFill>
                <a:srgbClr val="FFFFFF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VAX / VMS</a:t>
            </a:r>
            <a:endParaRPr lang="en-US" sz="1100" dirty="0">
              <a:solidFill>
                <a:srgbClr val="FFFFFF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PL/I, etc.</a:t>
            </a:r>
            <a:endParaRPr lang="en-US" sz="1100" dirty="0">
              <a:solidFill>
                <a:srgbClr val="FFFFFF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Migration &amp; retirement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082077" y="3733797"/>
            <a:ext cx="3606698" cy="2255512"/>
          </a:xfrm>
          <a:prstGeom prst="rect">
            <a:avLst/>
          </a:prstGeom>
          <a:solidFill>
            <a:srgbClr val="94B8D0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356397" y="406908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Packaged App Integration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8356397" y="4480560"/>
            <a:ext cx="314949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</a:t>
            </a:r>
            <a:endParaRPr lang="en-US" sz="1100" dirty="0">
              <a:solidFill>
                <a:srgbClr val="FFFFFF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Oracle Suite</a:t>
            </a:r>
            <a:endParaRPr lang="en-US" sz="1100" dirty="0">
              <a:solidFill>
                <a:srgbClr val="FFFFFF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Microsoft 365</a:t>
            </a:r>
            <a:endParaRPr lang="en-US" sz="1100" dirty="0">
              <a:solidFill>
                <a:srgbClr val="FFFFFF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OpenText</a:t>
            </a:r>
            <a:endParaRPr lang="en-US" sz="1100" dirty="0">
              <a:solidFill>
                <a:srgbClr val="FFFFFF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AWS / Azure</a:t>
            </a:r>
            <a:endParaRPr lang="en-US" sz="1100" dirty="0">
              <a:solidFill>
                <a:srgbClr val="FFFFFF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Font typeface="Wingdings" pitchFamily="2" charset="2"/>
              <a:buChar char="§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Qlikview, Tableau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31</a:t>
            </a:r>
            <a:endParaRPr lang="en-US" sz="900" dirty="0"/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C5BCAA95-AC74-8025-A9C4-5B36158D5E03}"/>
              </a:ext>
            </a:extLst>
          </p:cNvPr>
          <p:cNvSpPr>
            <a:spLocks noChangeAspect="1"/>
          </p:cNvSpPr>
          <p:nvPr/>
        </p:nvSpPr>
        <p:spPr>
          <a:xfrm>
            <a:off x="11343040" y="145576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6">
            <a:extLst>
              <a:ext uri="{FF2B5EF4-FFF2-40B4-BE49-F238E27FC236}">
                <a16:creationId xmlns:a16="http://schemas.microsoft.com/office/drawing/2014/main" id="{4A9EB955-782C-A850-2AB1-448FEE20E308}"/>
              </a:ext>
            </a:extLst>
          </p:cNvPr>
          <p:cNvSpPr>
            <a:spLocks noChangeAspect="1"/>
          </p:cNvSpPr>
          <p:nvPr/>
        </p:nvSpPr>
        <p:spPr>
          <a:xfrm>
            <a:off x="11105147" y="398337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E09A3AC7-865A-E019-F844-3FF5969F2653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31FB223-450A-1C3A-37E6-6AD4CEDA9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sp>
        <p:nvSpPr>
          <p:cNvPr id="41" name="Shape 4">
            <a:extLst>
              <a:ext uri="{FF2B5EF4-FFF2-40B4-BE49-F238E27FC236}">
                <a16:creationId xmlns:a16="http://schemas.microsoft.com/office/drawing/2014/main" id="{E4666704-17BE-B93F-B711-7E42305BCF32}"/>
              </a:ext>
            </a:extLst>
          </p:cNvPr>
          <p:cNvSpPr/>
          <p:nvPr/>
        </p:nvSpPr>
        <p:spPr>
          <a:xfrm>
            <a:off x="3348709" y="3983367"/>
            <a:ext cx="502920" cy="6465"/>
          </a:xfrm>
          <a:prstGeom prst="line">
            <a:avLst/>
          </a:prstGeom>
          <a:noFill/>
          <a:ln w="57150">
            <a:solidFill>
              <a:srgbClr val="A3CBE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96610E2F-5460-1BA8-EB9D-D0AB5C345795}"/>
              </a:ext>
            </a:extLst>
          </p:cNvPr>
          <p:cNvSpPr/>
          <p:nvPr/>
        </p:nvSpPr>
        <p:spPr>
          <a:xfrm>
            <a:off x="7213396" y="3983367"/>
            <a:ext cx="502920" cy="6465"/>
          </a:xfrm>
          <a:prstGeom prst="line">
            <a:avLst/>
          </a:prstGeom>
          <a:noFill/>
          <a:ln w="57150">
            <a:solidFill>
              <a:schemeClr val="bg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C58E6B67-2E03-9F1B-AB30-A550B598B9A2}"/>
              </a:ext>
            </a:extLst>
          </p:cNvPr>
          <p:cNvSpPr/>
          <p:nvPr/>
        </p:nvSpPr>
        <p:spPr>
          <a:xfrm>
            <a:off x="11021022" y="3980134"/>
            <a:ext cx="502920" cy="6465"/>
          </a:xfrm>
          <a:prstGeom prst="line">
            <a:avLst/>
          </a:prstGeom>
          <a:noFill/>
          <a:ln w="57150">
            <a:solidFill>
              <a:srgbClr val="121E3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2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A3CBE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C2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50292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SUB-PRACTICE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AI &amp; Automation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4160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Applied AI, GenAI, computer vision, industrial IoT and digital twins — engineered for measurable outcomes, with deep heavy-industry specialism.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9525">
            <a:solidFill>
              <a:srgbClr val="2A3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29</a:t>
            </a:r>
            <a:endParaRPr lang="en-US" sz="900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0B66AB93-5E3A-622E-4126-F6A9F4C6D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5639" y="347471"/>
            <a:ext cx="2070410" cy="64456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7484C5-4A5A-CDF0-BAA2-D62C54F57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960B318F-4404-D07B-AD81-6F436C6CD33D}"/>
              </a:ext>
            </a:extLst>
          </p:cNvPr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&amp; AUTOMATION  •  INDUSTRIAL APPLICATIONS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A9C62DC-4103-3AEE-A400-7A1AF18232C7}"/>
              </a:ext>
            </a:extLst>
          </p:cNvPr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From edge sensing to enterprise outcomes.</a:t>
            </a:r>
            <a:endParaRPr lang="en-US" sz="2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48AAFA0-F9DE-F734-DF99-35BC5783B114}"/>
              </a:ext>
            </a:extLst>
          </p:cNvPr>
          <p:cNvSpPr/>
          <p:nvPr/>
        </p:nvSpPr>
        <p:spPr>
          <a:xfrm>
            <a:off x="502920" y="170992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End-to-end digital transformation — advisory, design, build and run. We combine industrial IoT, applied AI, computer vision and ERP integration in a single accountable team. Deepest specialism in heavy industry (mining, metals, manufacturing, process), with cross-industry applicability for GenAI, document intelligence and OT-IT convergence.</a:t>
            </a:r>
            <a:endParaRPr lang="en-US" sz="13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6A8C229-333B-7B07-B1EF-832030B28E61}"/>
              </a:ext>
            </a:extLst>
          </p:cNvPr>
          <p:cNvSpPr/>
          <p:nvPr/>
        </p:nvSpPr>
        <p:spPr>
          <a:xfrm>
            <a:off x="502920" y="2419178"/>
            <a:ext cx="2673020" cy="246888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FC6120D-6C1C-B533-B0A5-365B69A650C8}"/>
              </a:ext>
            </a:extLst>
          </p:cNvPr>
          <p:cNvSpPr/>
          <p:nvPr/>
        </p:nvSpPr>
        <p:spPr>
          <a:xfrm>
            <a:off x="777240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Industrial IoT &amp; Digital Twins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A40FAB4-52C8-5733-01E2-9D426F96DCFE}"/>
              </a:ext>
            </a:extLst>
          </p:cNvPr>
          <p:cNvSpPr/>
          <p:nvPr/>
        </p:nvSpPr>
        <p:spPr>
          <a:xfrm>
            <a:off x="777240" y="3310718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Time-series historians &amp; sensors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Vibration &amp; motor signature analytics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Drone/LiDAR-based 3D digital twins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ML-driven failure prediction</a:t>
            </a:r>
            <a:endParaRPr lang="en-US" sz="1000" dirty="0">
              <a:solidFill>
                <a:srgbClr val="94B8D0"/>
              </a:solidFill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8D950DB1-2A20-3CA7-5F1F-6D6B64C45E0F}"/>
              </a:ext>
            </a:extLst>
          </p:cNvPr>
          <p:cNvSpPr/>
          <p:nvPr/>
        </p:nvSpPr>
        <p:spPr>
          <a:xfrm>
            <a:off x="3340532" y="2419178"/>
            <a:ext cx="2673020" cy="2468880"/>
          </a:xfrm>
          <a:prstGeom prst="rect">
            <a:avLst/>
          </a:prstGeom>
          <a:solidFill>
            <a:srgbClr val="94B8D0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F963DD92-47C6-DD60-9546-64B220757C56}"/>
              </a:ext>
            </a:extLst>
          </p:cNvPr>
          <p:cNvSpPr/>
          <p:nvPr/>
        </p:nvSpPr>
        <p:spPr>
          <a:xfrm>
            <a:off x="3614852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</a:rPr>
              <a:t>Computer Vision &amp; Safety AI</a:t>
            </a: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F4FD7568-82B5-05D9-FF56-0275F46F4D84}"/>
              </a:ext>
            </a:extLst>
          </p:cNvPr>
          <p:cNvSpPr/>
          <p:nvPr/>
        </p:nvSpPr>
        <p:spPr>
          <a:xfrm>
            <a:off x="3614852" y="3276341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PPE compliance &amp; intrusion detection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Foreign-object &amp; fire-risk alerts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 anomaly &amp; quality inspection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Shared video analytics platform</a:t>
            </a:r>
            <a:endParaRPr lang="en-US" sz="1000" dirty="0">
              <a:solidFill>
                <a:srgbClr val="121E3B"/>
              </a:solidFill>
            </a:endParaRPr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064B332B-A913-A1F0-3470-F77BDE9CFED1}"/>
              </a:ext>
            </a:extLst>
          </p:cNvPr>
          <p:cNvSpPr/>
          <p:nvPr/>
        </p:nvSpPr>
        <p:spPr>
          <a:xfrm>
            <a:off x="6178144" y="2419178"/>
            <a:ext cx="2673020" cy="246888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49A9B0FA-F3B4-1A50-621A-2DDD74C5F3BD}"/>
              </a:ext>
            </a:extLst>
          </p:cNvPr>
          <p:cNvSpPr/>
          <p:nvPr/>
        </p:nvSpPr>
        <p:spPr>
          <a:xfrm>
            <a:off x="6452464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Applied AI &amp; GenAI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8B95149A-256E-F055-48F7-EA8EC7BF3B5B}"/>
              </a:ext>
            </a:extLst>
          </p:cNvPr>
          <p:cNvSpPr/>
          <p:nvPr/>
        </p:nvSpPr>
        <p:spPr>
          <a:xfrm>
            <a:off x="6452464" y="3227668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LLM-based document intelligence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Tender evaluation &amp; contract analysis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Decision-support copilots</a:t>
            </a:r>
            <a:endParaRPr lang="en-US" sz="1000" dirty="0">
              <a:solidFill>
                <a:srgbClr val="94B8D0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RAG, explainability, human-in-the-loop</a:t>
            </a:r>
            <a:endParaRPr lang="en-US" sz="1000" dirty="0">
              <a:solidFill>
                <a:srgbClr val="94B8D0"/>
              </a:solidFill>
            </a:endParaRPr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A78F8A5E-A43B-7EAD-E4AB-86B4D983DEF7}"/>
              </a:ext>
            </a:extLst>
          </p:cNvPr>
          <p:cNvSpPr/>
          <p:nvPr/>
        </p:nvSpPr>
        <p:spPr>
          <a:xfrm>
            <a:off x="9015755" y="2419178"/>
            <a:ext cx="2673020" cy="2468880"/>
          </a:xfrm>
          <a:prstGeom prst="rect">
            <a:avLst/>
          </a:prstGeom>
          <a:solidFill>
            <a:srgbClr val="94B8D0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4A668894-1BAB-0160-4B2E-3071259CB397}"/>
              </a:ext>
            </a:extLst>
          </p:cNvPr>
          <p:cNvSpPr/>
          <p:nvPr/>
        </p:nvSpPr>
        <p:spPr>
          <a:xfrm>
            <a:off x="9244355" y="2800853"/>
            <a:ext cx="2215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Integration, Cloud &amp; ESG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F08CE842-BAF5-6506-02CC-5E767887723E}"/>
              </a:ext>
            </a:extLst>
          </p:cNvPr>
          <p:cNvSpPr/>
          <p:nvPr/>
        </p:nvSpPr>
        <p:spPr>
          <a:xfrm>
            <a:off x="9244355" y="3227668"/>
            <a:ext cx="23072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Event-driven, API-led architectures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 → SAP S/4HANA integration spine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Cloud-native engineering (AWS/Azure/GCP)</a:t>
            </a:r>
            <a:endParaRPr lang="en-US" sz="1000" dirty="0">
              <a:solidFill>
                <a:srgbClr val="121E3B"/>
              </a:solidFill>
            </a:endParaRPr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ESG: emissions, energy, water, materials</a:t>
            </a:r>
            <a:endParaRPr lang="en-US" sz="1000" dirty="0">
              <a:solidFill>
                <a:srgbClr val="121E3B"/>
              </a:solidFill>
            </a:endParaRPr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A18D5E1B-FF3A-78EE-1402-FE63BFC0C9B5}"/>
              </a:ext>
            </a:extLst>
          </p:cNvPr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E34FE3D1-B08E-4E3F-9BC6-34440562F41B}"/>
              </a:ext>
            </a:extLst>
          </p:cNvPr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900" dirty="0"/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435D937C-050F-FEDC-4E4C-E50E6F8B5599}"/>
              </a:ext>
            </a:extLst>
          </p:cNvPr>
          <p:cNvSpPr>
            <a:spLocks noChangeAspect="1"/>
          </p:cNvSpPr>
          <p:nvPr/>
        </p:nvSpPr>
        <p:spPr>
          <a:xfrm>
            <a:off x="11162371" y="145576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6">
            <a:extLst>
              <a:ext uri="{FF2B5EF4-FFF2-40B4-BE49-F238E27FC236}">
                <a16:creationId xmlns:a16="http://schemas.microsoft.com/office/drawing/2014/main" id="{ADA03526-DA2F-A729-2ADF-FBEC22EC800E}"/>
              </a:ext>
            </a:extLst>
          </p:cNvPr>
          <p:cNvSpPr>
            <a:spLocks noChangeAspect="1"/>
          </p:cNvSpPr>
          <p:nvPr/>
        </p:nvSpPr>
        <p:spPr>
          <a:xfrm>
            <a:off x="10924478" y="398337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BA6ABF86-87F7-98E0-05D7-B7FCE9928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sp>
        <p:nvSpPr>
          <p:cNvPr id="2" name="Shape 4">
            <a:extLst>
              <a:ext uri="{FF2B5EF4-FFF2-40B4-BE49-F238E27FC236}">
                <a16:creationId xmlns:a16="http://schemas.microsoft.com/office/drawing/2014/main" id="{F71205D8-4470-3A98-ED23-2C75B30CAA54}"/>
              </a:ext>
            </a:extLst>
          </p:cNvPr>
          <p:cNvSpPr/>
          <p:nvPr/>
        </p:nvSpPr>
        <p:spPr>
          <a:xfrm>
            <a:off x="777240" y="2693498"/>
            <a:ext cx="290444" cy="0"/>
          </a:xfrm>
          <a:prstGeom prst="line">
            <a:avLst/>
          </a:prstGeom>
          <a:noFill/>
          <a:ln w="57150">
            <a:solidFill>
              <a:srgbClr val="A3CBE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6A299E0B-5C99-5826-E007-D39B68C880A9}"/>
              </a:ext>
            </a:extLst>
          </p:cNvPr>
          <p:cNvSpPr/>
          <p:nvPr/>
        </p:nvSpPr>
        <p:spPr>
          <a:xfrm>
            <a:off x="3614852" y="2686746"/>
            <a:ext cx="290444" cy="0"/>
          </a:xfrm>
          <a:prstGeom prst="line">
            <a:avLst/>
          </a:prstGeom>
          <a:noFill/>
          <a:ln w="57150">
            <a:solidFill>
              <a:srgbClr val="121E3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3016157-68FA-CEB6-E6F4-66CA768DE12A}"/>
              </a:ext>
            </a:extLst>
          </p:cNvPr>
          <p:cNvSpPr/>
          <p:nvPr/>
        </p:nvSpPr>
        <p:spPr>
          <a:xfrm>
            <a:off x="6452464" y="2693498"/>
            <a:ext cx="290444" cy="0"/>
          </a:xfrm>
          <a:prstGeom prst="line">
            <a:avLst/>
          </a:prstGeom>
          <a:noFill/>
          <a:ln w="57150">
            <a:solidFill>
              <a:srgbClr val="A3CBE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D89220CB-03D3-FF60-8F87-B930C8865718}"/>
              </a:ext>
            </a:extLst>
          </p:cNvPr>
          <p:cNvSpPr/>
          <p:nvPr/>
        </p:nvSpPr>
        <p:spPr>
          <a:xfrm>
            <a:off x="9290075" y="2673242"/>
            <a:ext cx="290444" cy="0"/>
          </a:xfrm>
          <a:prstGeom prst="line">
            <a:avLst/>
          </a:prstGeom>
          <a:noFill/>
          <a:ln w="57150">
            <a:solidFill>
              <a:srgbClr val="121E3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0A4E1FB-A8A5-F3DC-C1B5-834537886F68}"/>
              </a:ext>
            </a:extLst>
          </p:cNvPr>
          <p:cNvGrpSpPr/>
          <p:nvPr/>
        </p:nvGrpSpPr>
        <p:grpSpPr>
          <a:xfrm>
            <a:off x="812504" y="4992431"/>
            <a:ext cx="10414739" cy="1440850"/>
            <a:chOff x="812504" y="4992431"/>
            <a:chExt cx="10414739" cy="1440850"/>
          </a:xfrm>
        </p:grpSpPr>
        <p:pic>
          <p:nvPicPr>
            <p:cNvPr id="56" name="Picture 4" descr="SAP SuccessFactors has a New Logo and a New Name">
              <a:extLst>
                <a:ext uri="{FF2B5EF4-FFF2-40B4-BE49-F238E27FC236}">
                  <a16:creationId xmlns:a16="http://schemas.microsoft.com/office/drawing/2014/main" id="{B40235C8-4676-8CBC-C2CB-D594D0D244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9640" y="4992431"/>
              <a:ext cx="1777609" cy="908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7" name="Shape 27">
              <a:extLst>
                <a:ext uri="{FF2B5EF4-FFF2-40B4-BE49-F238E27FC236}">
                  <a16:creationId xmlns:a16="http://schemas.microsoft.com/office/drawing/2014/main" id="{99FBF265-8A8E-EFBB-7F85-D02F9963302A}"/>
                </a:ext>
              </a:extLst>
            </p:cNvPr>
            <p:cNvSpPr/>
            <p:nvPr/>
          </p:nvSpPr>
          <p:spPr>
            <a:xfrm>
              <a:off x="2632464" y="5515995"/>
              <a:ext cx="0" cy="365760"/>
            </a:xfrm>
            <a:prstGeom prst="line">
              <a:avLst/>
            </a:prstGeom>
            <a:noFill/>
            <a:ln w="6350">
              <a:solidFill>
                <a:srgbClr val="C1BC9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58" name="Picture 10" descr="SAP S/4HANA Private Cloud (RISE with SAP) - Applium">
              <a:extLst>
                <a:ext uri="{FF2B5EF4-FFF2-40B4-BE49-F238E27FC236}">
                  <a16:creationId xmlns:a16="http://schemas.microsoft.com/office/drawing/2014/main" id="{22BA2558-EB79-CA39-BED9-F01DECA6E8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6966" y="6061200"/>
              <a:ext cx="1147674" cy="3680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18" descr="SAP Ariba | Supply &amp; Demand Chain Executive">
              <a:extLst>
                <a:ext uri="{FF2B5EF4-FFF2-40B4-BE49-F238E27FC236}">
                  <a16:creationId xmlns:a16="http://schemas.microsoft.com/office/drawing/2014/main" id="{B542E243-61FF-C852-15C4-8E91A84C85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90" y="5734812"/>
              <a:ext cx="1278123" cy="249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20" descr="Sap Concur Logo PNG, SVG, AI Vector – Free Download">
              <a:extLst>
                <a:ext uri="{FF2B5EF4-FFF2-40B4-BE49-F238E27FC236}">
                  <a16:creationId xmlns:a16="http://schemas.microsoft.com/office/drawing/2014/main" id="{2586273F-96E5-5161-4BD4-BFD3B1E5D1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5209" y="5695270"/>
              <a:ext cx="1522624" cy="2724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Shape 27">
              <a:extLst>
                <a:ext uri="{FF2B5EF4-FFF2-40B4-BE49-F238E27FC236}">
                  <a16:creationId xmlns:a16="http://schemas.microsoft.com/office/drawing/2014/main" id="{388FFAF6-782F-D979-51B1-82512D28419E}"/>
                </a:ext>
              </a:extLst>
            </p:cNvPr>
            <p:cNvSpPr/>
            <p:nvPr/>
          </p:nvSpPr>
          <p:spPr>
            <a:xfrm>
              <a:off x="7447531" y="5515995"/>
              <a:ext cx="0" cy="365760"/>
            </a:xfrm>
            <a:prstGeom prst="line">
              <a:avLst/>
            </a:prstGeom>
            <a:noFill/>
            <a:ln w="6350">
              <a:solidFill>
                <a:srgbClr val="C1BC9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27">
              <a:extLst>
                <a:ext uri="{FF2B5EF4-FFF2-40B4-BE49-F238E27FC236}">
                  <a16:creationId xmlns:a16="http://schemas.microsoft.com/office/drawing/2014/main" id="{02D223A4-529C-F311-5245-A16941DF9519}"/>
                </a:ext>
              </a:extLst>
            </p:cNvPr>
            <p:cNvSpPr/>
            <p:nvPr/>
          </p:nvSpPr>
          <p:spPr>
            <a:xfrm>
              <a:off x="10756023" y="5512390"/>
              <a:ext cx="0" cy="365760"/>
            </a:xfrm>
            <a:prstGeom prst="line">
              <a:avLst/>
            </a:prstGeom>
            <a:noFill/>
            <a:ln w="6350">
              <a:solidFill>
                <a:srgbClr val="C1BC9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63" name="Salesforce Logo">
              <a:extLst>
                <a:ext uri="{FF2B5EF4-FFF2-40B4-BE49-F238E27FC236}">
                  <a16:creationId xmlns:a16="http://schemas.microsoft.com/office/drawing/2014/main" id="{51E71352-5836-EEC5-2A89-AF3C9DAA94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7942160" y="5599483"/>
              <a:ext cx="795555" cy="555388"/>
            </a:xfrm>
            <a:prstGeom prst="rect">
              <a:avLst/>
            </a:prstGeom>
            <a:noFill/>
          </p:spPr>
        </p:pic>
        <p:pic>
          <p:nvPicPr>
            <p:cNvPr id="64" name="Workday Logo">
              <a:extLst>
                <a:ext uri="{FF2B5EF4-FFF2-40B4-BE49-F238E27FC236}">
                  <a16:creationId xmlns:a16="http://schemas.microsoft.com/office/drawing/2014/main" id="{C800EE4C-3134-93E3-A994-67292F8E15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9208178" y="5582950"/>
              <a:ext cx="951807" cy="382850"/>
            </a:xfrm>
            <a:prstGeom prst="rect">
              <a:avLst/>
            </a:prstGeom>
            <a:noFill/>
          </p:spPr>
        </p:pic>
        <p:pic>
          <p:nvPicPr>
            <p:cNvPr id="65" name="Picture 8" descr="SAP S/4 HANA Public Cloud in Indore | ID: 2850341673455">
              <a:extLst>
                <a:ext uri="{FF2B5EF4-FFF2-40B4-BE49-F238E27FC236}">
                  <a16:creationId xmlns:a16="http://schemas.microsoft.com/office/drawing/2014/main" id="{74DA36C3-487C-B149-ED6B-41F5A998A8C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786" b="29717"/>
            <a:stretch>
              <a:fillRect/>
            </a:stretch>
          </p:blipFill>
          <p:spPr bwMode="auto">
            <a:xfrm>
              <a:off x="812504" y="5196547"/>
              <a:ext cx="1202136" cy="522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" name="Picture 14" descr="SAP BTP La plataforma tecnológica para tu ERP en la nube | Xamai">
              <a:extLst>
                <a:ext uri="{FF2B5EF4-FFF2-40B4-BE49-F238E27FC236}">
                  <a16:creationId xmlns:a16="http://schemas.microsoft.com/office/drawing/2014/main" id="{4E728CB7-1450-49C3-92E6-9BAB6A347A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0053" y="5884202"/>
              <a:ext cx="976140" cy="5490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" name="Picture 1" descr="Syniti - Credly">
              <a:extLst>
                <a:ext uri="{FF2B5EF4-FFF2-40B4-BE49-F238E27FC236}">
                  <a16:creationId xmlns:a16="http://schemas.microsoft.com/office/drawing/2014/main" id="{1F1D8F3B-E2E8-FB2A-57B7-F0839CDE01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54143" y="5582950"/>
              <a:ext cx="673100" cy="55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836931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&amp; AUTOMATION  •  DELIVERY APPROACH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phased operating model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3F75A3"/>
                </a:solidFill>
                <a:latin typeface="Newsreader" pitchFamily="34" charset="0"/>
              </a:rPr>
              <a:t>shared foundations before scaled use cases.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 get shared infrastructure right before scaling use cases. Lighthouse pilots prove value early; multi-site rollout follows, anchored by MLOps, FinOps and capability transfer.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900" dirty="0"/>
          </a:p>
        </p:txBody>
      </p:sp>
      <p:sp>
        <p:nvSpPr>
          <p:cNvPr id="44" name="Shape 37">
            <a:extLst>
              <a:ext uri="{FF2B5EF4-FFF2-40B4-BE49-F238E27FC236}">
                <a16:creationId xmlns:a16="http://schemas.microsoft.com/office/drawing/2014/main" id="{65466FC9-CE82-AB54-F6B6-B0208169FBDD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71AFAC92-7BC4-3EEB-F3D1-052281FBF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sp>
        <p:nvSpPr>
          <p:cNvPr id="46" name="Rectangle 6">
            <a:extLst>
              <a:ext uri="{FF2B5EF4-FFF2-40B4-BE49-F238E27FC236}">
                <a16:creationId xmlns:a16="http://schemas.microsoft.com/office/drawing/2014/main" id="{4E49E653-E767-42C2-FB8A-858093F6BD79}"/>
              </a:ext>
            </a:extLst>
          </p:cNvPr>
          <p:cNvSpPr>
            <a:spLocks noChangeAspect="1"/>
          </p:cNvSpPr>
          <p:nvPr/>
        </p:nvSpPr>
        <p:spPr>
          <a:xfrm>
            <a:off x="11162371" y="145576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6">
            <a:extLst>
              <a:ext uri="{FF2B5EF4-FFF2-40B4-BE49-F238E27FC236}">
                <a16:creationId xmlns:a16="http://schemas.microsoft.com/office/drawing/2014/main" id="{DF73AF18-C412-5AB9-06A1-4ECF82AA67E3}"/>
              </a:ext>
            </a:extLst>
          </p:cNvPr>
          <p:cNvSpPr>
            <a:spLocks noChangeAspect="1"/>
          </p:cNvSpPr>
          <p:nvPr/>
        </p:nvSpPr>
        <p:spPr>
          <a:xfrm>
            <a:off x="10924478" y="398337"/>
            <a:ext cx="903247" cy="903894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Shape 9">
            <a:extLst>
              <a:ext uri="{FF2B5EF4-FFF2-40B4-BE49-F238E27FC236}">
                <a16:creationId xmlns:a16="http://schemas.microsoft.com/office/drawing/2014/main" id="{9270D852-11AA-2828-3544-E3E7AF446D29}"/>
              </a:ext>
            </a:extLst>
          </p:cNvPr>
          <p:cNvSpPr/>
          <p:nvPr/>
        </p:nvSpPr>
        <p:spPr>
          <a:xfrm>
            <a:off x="502920" y="2927418"/>
            <a:ext cx="11185855" cy="868680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10">
            <a:extLst>
              <a:ext uri="{FF2B5EF4-FFF2-40B4-BE49-F238E27FC236}">
                <a16:creationId xmlns:a16="http://schemas.microsoft.com/office/drawing/2014/main" id="{F50EF8FE-51C5-0E59-DB94-05CA14273C5D}"/>
              </a:ext>
            </a:extLst>
          </p:cNvPr>
          <p:cNvSpPr/>
          <p:nvPr/>
        </p:nvSpPr>
        <p:spPr>
          <a:xfrm>
            <a:off x="795528" y="300057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1BC9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PHASES 1 &amp; 2</a:t>
            </a:r>
            <a:endParaRPr lang="en-US" sz="1000" dirty="0">
              <a:solidFill>
                <a:srgbClr val="C1BC9C"/>
              </a:solidFill>
            </a:endParaRPr>
          </a:p>
        </p:txBody>
      </p:sp>
      <p:sp>
        <p:nvSpPr>
          <p:cNvPr id="97" name="Shape 11">
            <a:extLst>
              <a:ext uri="{FF2B5EF4-FFF2-40B4-BE49-F238E27FC236}">
                <a16:creationId xmlns:a16="http://schemas.microsoft.com/office/drawing/2014/main" id="{75D09232-B9B1-C821-7BB0-931FF850E96D}"/>
              </a:ext>
            </a:extLst>
          </p:cNvPr>
          <p:cNvSpPr/>
          <p:nvPr/>
        </p:nvSpPr>
        <p:spPr>
          <a:xfrm>
            <a:off x="795528" y="3210882"/>
            <a:ext cx="365760" cy="0"/>
          </a:xfrm>
          <a:prstGeom prst="line">
            <a:avLst/>
          </a:prstGeom>
          <a:noFill/>
          <a:ln w="12700">
            <a:solidFill>
              <a:srgbClr val="C1BC9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12">
            <a:extLst>
              <a:ext uri="{FF2B5EF4-FFF2-40B4-BE49-F238E27FC236}">
                <a16:creationId xmlns:a16="http://schemas.microsoft.com/office/drawing/2014/main" id="{E011D9EB-72A1-85A6-2759-BA2340AA3755}"/>
              </a:ext>
            </a:extLst>
          </p:cNvPr>
          <p:cNvSpPr/>
          <p:nvPr/>
        </p:nvSpPr>
        <p:spPr>
          <a:xfrm>
            <a:off x="795528" y="3274890"/>
            <a:ext cx="4537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Discover, Frame &amp; Architect</a:t>
            </a:r>
            <a:endParaRPr lang="en-US" sz="1700" dirty="0"/>
          </a:p>
        </p:txBody>
      </p:sp>
      <p:sp>
        <p:nvSpPr>
          <p:cNvPr id="99" name="Text 13">
            <a:extLst>
              <a:ext uri="{FF2B5EF4-FFF2-40B4-BE49-F238E27FC236}">
                <a16:creationId xmlns:a16="http://schemas.microsoft.com/office/drawing/2014/main" id="{8D748F16-F970-7667-DB9E-8184417D9CAB}"/>
              </a:ext>
            </a:extLst>
          </p:cNvPr>
          <p:cNvSpPr/>
          <p:nvPr/>
        </p:nvSpPr>
        <p:spPr>
          <a:xfrm>
            <a:off x="795528" y="3535604"/>
            <a:ext cx="4537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>
                    <a:alpha val="8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Stakeholder workshops, opportunity mapping, value sizing, target architecture and integration spine design.</a:t>
            </a:r>
            <a:endParaRPr lang="en-US" sz="950" dirty="0"/>
          </a:p>
        </p:txBody>
      </p:sp>
      <p:sp>
        <p:nvSpPr>
          <p:cNvPr id="100" name="Shape 14">
            <a:extLst>
              <a:ext uri="{FF2B5EF4-FFF2-40B4-BE49-F238E27FC236}">
                <a16:creationId xmlns:a16="http://schemas.microsoft.com/office/drawing/2014/main" id="{5DCD4335-8E4B-5910-627C-6715EA3E5BC2}"/>
              </a:ext>
            </a:extLst>
          </p:cNvPr>
          <p:cNvSpPr/>
          <p:nvPr/>
        </p:nvSpPr>
        <p:spPr>
          <a:xfrm>
            <a:off x="5516136" y="3050862"/>
            <a:ext cx="203545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15">
            <a:extLst>
              <a:ext uri="{FF2B5EF4-FFF2-40B4-BE49-F238E27FC236}">
                <a16:creationId xmlns:a16="http://schemas.microsoft.com/office/drawing/2014/main" id="{6CCB2C54-F969-5AD0-BBDD-977F5E8416BE}"/>
              </a:ext>
            </a:extLst>
          </p:cNvPr>
          <p:cNvSpPr/>
          <p:nvPr/>
        </p:nvSpPr>
        <p:spPr>
          <a:xfrm>
            <a:off x="5516136" y="3050862"/>
            <a:ext cx="203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Opportunity mapping</a:t>
            </a:r>
            <a:endParaRPr lang="en-US" sz="1000" dirty="0"/>
          </a:p>
        </p:txBody>
      </p:sp>
      <p:sp>
        <p:nvSpPr>
          <p:cNvPr id="102" name="Shape 16">
            <a:extLst>
              <a:ext uri="{FF2B5EF4-FFF2-40B4-BE49-F238E27FC236}">
                <a16:creationId xmlns:a16="http://schemas.microsoft.com/office/drawing/2014/main" id="{0CE11285-9216-5B55-F3E2-EC3B7BECF5AB}"/>
              </a:ext>
            </a:extLst>
          </p:cNvPr>
          <p:cNvSpPr/>
          <p:nvPr/>
        </p:nvSpPr>
        <p:spPr>
          <a:xfrm>
            <a:off x="7624743" y="3050862"/>
            <a:ext cx="1285646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Text 17">
            <a:extLst>
              <a:ext uri="{FF2B5EF4-FFF2-40B4-BE49-F238E27FC236}">
                <a16:creationId xmlns:a16="http://schemas.microsoft.com/office/drawing/2014/main" id="{CB732D9D-182E-74BF-B978-F231E2F2CD5C}"/>
              </a:ext>
            </a:extLst>
          </p:cNvPr>
          <p:cNvSpPr/>
          <p:nvPr/>
        </p:nvSpPr>
        <p:spPr>
          <a:xfrm>
            <a:off x="7624743" y="3050862"/>
            <a:ext cx="12856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Value sizing</a:t>
            </a:r>
            <a:endParaRPr lang="en-US" sz="1000" dirty="0"/>
          </a:p>
        </p:txBody>
      </p:sp>
      <p:sp>
        <p:nvSpPr>
          <p:cNvPr id="104" name="Shape 18">
            <a:extLst>
              <a:ext uri="{FF2B5EF4-FFF2-40B4-BE49-F238E27FC236}">
                <a16:creationId xmlns:a16="http://schemas.microsoft.com/office/drawing/2014/main" id="{7B3AE0A4-9655-BE83-44B3-2770D73E04CD}"/>
              </a:ext>
            </a:extLst>
          </p:cNvPr>
          <p:cNvSpPr/>
          <p:nvPr/>
        </p:nvSpPr>
        <p:spPr>
          <a:xfrm>
            <a:off x="8983541" y="3050862"/>
            <a:ext cx="196047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Text 19">
            <a:extLst>
              <a:ext uri="{FF2B5EF4-FFF2-40B4-BE49-F238E27FC236}">
                <a16:creationId xmlns:a16="http://schemas.microsoft.com/office/drawing/2014/main" id="{A7094863-6609-E92C-6420-D3D300739462}"/>
              </a:ext>
            </a:extLst>
          </p:cNvPr>
          <p:cNvSpPr/>
          <p:nvPr/>
        </p:nvSpPr>
        <p:spPr>
          <a:xfrm>
            <a:off x="8983541" y="3050862"/>
            <a:ext cx="1960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Vendor &amp; platform strategy</a:t>
            </a:r>
            <a:endParaRPr lang="en-US" sz="1000" dirty="0"/>
          </a:p>
        </p:txBody>
      </p:sp>
      <p:sp>
        <p:nvSpPr>
          <p:cNvPr id="106" name="Shape 20">
            <a:extLst>
              <a:ext uri="{FF2B5EF4-FFF2-40B4-BE49-F238E27FC236}">
                <a16:creationId xmlns:a16="http://schemas.microsoft.com/office/drawing/2014/main" id="{C9545C34-06CB-E3D2-412F-157B665FABEC}"/>
              </a:ext>
            </a:extLst>
          </p:cNvPr>
          <p:cNvSpPr/>
          <p:nvPr/>
        </p:nvSpPr>
        <p:spPr>
          <a:xfrm>
            <a:off x="5516136" y="3398334"/>
            <a:ext cx="158557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Text 21">
            <a:extLst>
              <a:ext uri="{FF2B5EF4-FFF2-40B4-BE49-F238E27FC236}">
                <a16:creationId xmlns:a16="http://schemas.microsoft.com/office/drawing/2014/main" id="{7607E85C-3643-98D9-D543-075F12427084}"/>
              </a:ext>
            </a:extLst>
          </p:cNvPr>
          <p:cNvSpPr/>
          <p:nvPr/>
        </p:nvSpPr>
        <p:spPr>
          <a:xfrm>
            <a:off x="5516136" y="3398334"/>
            <a:ext cx="15855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Target architecture</a:t>
            </a:r>
            <a:endParaRPr lang="en-US" sz="1000" dirty="0"/>
          </a:p>
        </p:txBody>
      </p:sp>
      <p:sp>
        <p:nvSpPr>
          <p:cNvPr id="108" name="Shape 22">
            <a:extLst>
              <a:ext uri="{FF2B5EF4-FFF2-40B4-BE49-F238E27FC236}">
                <a16:creationId xmlns:a16="http://schemas.microsoft.com/office/drawing/2014/main" id="{5C70478B-DCC9-54BA-B3C1-09B88B39C2F3}"/>
              </a:ext>
            </a:extLst>
          </p:cNvPr>
          <p:cNvSpPr/>
          <p:nvPr/>
        </p:nvSpPr>
        <p:spPr>
          <a:xfrm>
            <a:off x="7174858" y="3398334"/>
            <a:ext cx="1435608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Text 23">
            <a:extLst>
              <a:ext uri="{FF2B5EF4-FFF2-40B4-BE49-F238E27FC236}">
                <a16:creationId xmlns:a16="http://schemas.microsoft.com/office/drawing/2014/main" id="{A4347973-F361-6F1C-681E-DAB93BA7E932}"/>
              </a:ext>
            </a:extLst>
          </p:cNvPr>
          <p:cNvSpPr/>
          <p:nvPr/>
        </p:nvSpPr>
        <p:spPr>
          <a:xfrm>
            <a:off x="7174858" y="3398334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Master-data contracts</a:t>
            </a:r>
            <a:endParaRPr lang="en-US" sz="1000" dirty="0"/>
          </a:p>
        </p:txBody>
      </p:sp>
      <p:sp>
        <p:nvSpPr>
          <p:cNvPr id="110" name="Shape 24">
            <a:extLst>
              <a:ext uri="{FF2B5EF4-FFF2-40B4-BE49-F238E27FC236}">
                <a16:creationId xmlns:a16="http://schemas.microsoft.com/office/drawing/2014/main" id="{863161D2-B871-65F3-778A-FA813FFFA23C}"/>
              </a:ext>
            </a:extLst>
          </p:cNvPr>
          <p:cNvSpPr/>
          <p:nvPr/>
        </p:nvSpPr>
        <p:spPr>
          <a:xfrm>
            <a:off x="502920" y="3850962"/>
            <a:ext cx="11185855" cy="105156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Text 25">
            <a:extLst>
              <a:ext uri="{FF2B5EF4-FFF2-40B4-BE49-F238E27FC236}">
                <a16:creationId xmlns:a16="http://schemas.microsoft.com/office/drawing/2014/main" id="{676B3117-D028-4899-A0A1-0539D25668A7}"/>
              </a:ext>
            </a:extLst>
          </p:cNvPr>
          <p:cNvSpPr/>
          <p:nvPr/>
        </p:nvSpPr>
        <p:spPr>
          <a:xfrm>
            <a:off x="795528" y="392411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1BC9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3</a:t>
            </a:r>
            <a:endParaRPr lang="en-US" sz="1000" dirty="0">
              <a:solidFill>
                <a:srgbClr val="C1BC9C"/>
              </a:solidFill>
            </a:endParaRPr>
          </a:p>
        </p:txBody>
      </p:sp>
      <p:sp>
        <p:nvSpPr>
          <p:cNvPr id="112" name="Shape 26">
            <a:extLst>
              <a:ext uri="{FF2B5EF4-FFF2-40B4-BE49-F238E27FC236}">
                <a16:creationId xmlns:a16="http://schemas.microsoft.com/office/drawing/2014/main" id="{9A40A67B-18B5-C0D0-F368-3E56E7C825BE}"/>
              </a:ext>
            </a:extLst>
          </p:cNvPr>
          <p:cNvSpPr/>
          <p:nvPr/>
        </p:nvSpPr>
        <p:spPr>
          <a:xfrm>
            <a:off x="795528" y="4134426"/>
            <a:ext cx="365760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27">
            <a:extLst>
              <a:ext uri="{FF2B5EF4-FFF2-40B4-BE49-F238E27FC236}">
                <a16:creationId xmlns:a16="http://schemas.microsoft.com/office/drawing/2014/main" id="{9DD26324-E8C5-3E94-4E43-A3239594DCE7}"/>
              </a:ext>
            </a:extLst>
          </p:cNvPr>
          <p:cNvSpPr/>
          <p:nvPr/>
        </p:nvSpPr>
        <p:spPr>
          <a:xfrm>
            <a:off x="795528" y="4198434"/>
            <a:ext cx="4537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Pilot &amp; Prove</a:t>
            </a:r>
            <a:endParaRPr lang="en-US" sz="1800" dirty="0"/>
          </a:p>
        </p:txBody>
      </p:sp>
      <p:sp>
        <p:nvSpPr>
          <p:cNvPr id="114" name="Text 28">
            <a:extLst>
              <a:ext uri="{FF2B5EF4-FFF2-40B4-BE49-F238E27FC236}">
                <a16:creationId xmlns:a16="http://schemas.microsoft.com/office/drawing/2014/main" id="{5C43D722-28C2-4A92-0026-38673F7DEE47}"/>
              </a:ext>
            </a:extLst>
          </p:cNvPr>
          <p:cNvSpPr/>
          <p:nvPr/>
        </p:nvSpPr>
        <p:spPr>
          <a:xfrm>
            <a:off x="795528" y="4509330"/>
            <a:ext cx="4537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>
                    <a:alpha val="8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Lighthouse use cases delivered on shared infrastructure, with explicit scale-up criteria before broader rollout.</a:t>
            </a:r>
            <a:endParaRPr lang="en-US" sz="950" dirty="0"/>
          </a:p>
        </p:txBody>
      </p:sp>
      <p:sp>
        <p:nvSpPr>
          <p:cNvPr id="115" name="Shape 29">
            <a:extLst>
              <a:ext uri="{FF2B5EF4-FFF2-40B4-BE49-F238E27FC236}">
                <a16:creationId xmlns:a16="http://schemas.microsoft.com/office/drawing/2014/main" id="{AF223773-AF79-0D09-7964-9A43569C0245}"/>
              </a:ext>
            </a:extLst>
          </p:cNvPr>
          <p:cNvSpPr/>
          <p:nvPr/>
        </p:nvSpPr>
        <p:spPr>
          <a:xfrm>
            <a:off x="5516136" y="4065846"/>
            <a:ext cx="1885493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Text 30">
            <a:extLst>
              <a:ext uri="{FF2B5EF4-FFF2-40B4-BE49-F238E27FC236}">
                <a16:creationId xmlns:a16="http://schemas.microsoft.com/office/drawing/2014/main" id="{479EBACC-B323-B5FD-BEA4-D76772F2D4F6}"/>
              </a:ext>
            </a:extLst>
          </p:cNvPr>
          <p:cNvSpPr/>
          <p:nvPr/>
        </p:nvSpPr>
        <p:spPr>
          <a:xfrm>
            <a:off x="5516136" y="4065846"/>
            <a:ext cx="18854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Historian / IoT</a:t>
            </a:r>
            <a:endParaRPr lang="en-US" sz="1000" dirty="0"/>
          </a:p>
        </p:txBody>
      </p:sp>
      <p:sp>
        <p:nvSpPr>
          <p:cNvPr id="117" name="Shape 31">
            <a:extLst>
              <a:ext uri="{FF2B5EF4-FFF2-40B4-BE49-F238E27FC236}">
                <a16:creationId xmlns:a16="http://schemas.microsoft.com/office/drawing/2014/main" id="{C88C9458-510F-E5DC-4D56-8CAB9CF36BBB}"/>
              </a:ext>
            </a:extLst>
          </p:cNvPr>
          <p:cNvSpPr/>
          <p:nvPr/>
        </p:nvSpPr>
        <p:spPr>
          <a:xfrm>
            <a:off x="7474781" y="4065846"/>
            <a:ext cx="835762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Text 32">
            <a:extLst>
              <a:ext uri="{FF2B5EF4-FFF2-40B4-BE49-F238E27FC236}">
                <a16:creationId xmlns:a16="http://schemas.microsoft.com/office/drawing/2014/main" id="{4D40BD63-4D44-CCE6-2A3D-D48DAA478D11}"/>
              </a:ext>
            </a:extLst>
          </p:cNvPr>
          <p:cNvSpPr/>
          <p:nvPr/>
        </p:nvSpPr>
        <p:spPr>
          <a:xfrm>
            <a:off x="7474781" y="4065846"/>
            <a:ext cx="8357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Vision AI</a:t>
            </a:r>
            <a:endParaRPr lang="en-US" sz="1000" dirty="0"/>
          </a:p>
        </p:txBody>
      </p:sp>
      <p:sp>
        <p:nvSpPr>
          <p:cNvPr id="119" name="Shape 33">
            <a:extLst>
              <a:ext uri="{FF2B5EF4-FFF2-40B4-BE49-F238E27FC236}">
                <a16:creationId xmlns:a16="http://schemas.microsoft.com/office/drawing/2014/main" id="{78878745-2C3D-C592-8427-FAB7F9462441}"/>
              </a:ext>
            </a:extLst>
          </p:cNvPr>
          <p:cNvSpPr/>
          <p:nvPr/>
        </p:nvSpPr>
        <p:spPr>
          <a:xfrm>
            <a:off x="8383695" y="4065846"/>
            <a:ext cx="106070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Text 34">
            <a:extLst>
              <a:ext uri="{FF2B5EF4-FFF2-40B4-BE49-F238E27FC236}">
                <a16:creationId xmlns:a16="http://schemas.microsoft.com/office/drawing/2014/main" id="{4ACAA5BC-C95E-A0A1-8A76-6D816B5B272F}"/>
              </a:ext>
            </a:extLst>
          </p:cNvPr>
          <p:cNvSpPr/>
          <p:nvPr/>
        </p:nvSpPr>
        <p:spPr>
          <a:xfrm>
            <a:off x="8383695" y="4065846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Geospatial</a:t>
            </a:r>
            <a:endParaRPr lang="en-US" sz="1000" dirty="0"/>
          </a:p>
        </p:txBody>
      </p:sp>
      <p:sp>
        <p:nvSpPr>
          <p:cNvPr id="121" name="Shape 35">
            <a:extLst>
              <a:ext uri="{FF2B5EF4-FFF2-40B4-BE49-F238E27FC236}">
                <a16:creationId xmlns:a16="http://schemas.microsoft.com/office/drawing/2014/main" id="{9C2FACB4-A30D-0D3E-D95D-3BB7557F3C28}"/>
              </a:ext>
            </a:extLst>
          </p:cNvPr>
          <p:cNvSpPr/>
          <p:nvPr/>
        </p:nvSpPr>
        <p:spPr>
          <a:xfrm>
            <a:off x="5516136" y="4413318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Text 36">
            <a:extLst>
              <a:ext uri="{FF2B5EF4-FFF2-40B4-BE49-F238E27FC236}">
                <a16:creationId xmlns:a16="http://schemas.microsoft.com/office/drawing/2014/main" id="{5F3E1DB2-B176-6DA3-AD62-57E4CA481B5B}"/>
              </a:ext>
            </a:extLst>
          </p:cNvPr>
          <p:cNvSpPr/>
          <p:nvPr/>
        </p:nvSpPr>
        <p:spPr>
          <a:xfrm>
            <a:off x="5516136" y="441331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Shared platform pilots with scale-up gates</a:t>
            </a:r>
            <a:endParaRPr lang="en-US" sz="1000" dirty="0"/>
          </a:p>
        </p:txBody>
      </p:sp>
      <p:sp>
        <p:nvSpPr>
          <p:cNvPr id="123" name="Shape 37">
            <a:extLst>
              <a:ext uri="{FF2B5EF4-FFF2-40B4-BE49-F238E27FC236}">
                <a16:creationId xmlns:a16="http://schemas.microsoft.com/office/drawing/2014/main" id="{7CB83736-BDBB-87CB-ECFF-C9C6E75827B7}"/>
              </a:ext>
            </a:extLst>
          </p:cNvPr>
          <p:cNvSpPr/>
          <p:nvPr/>
        </p:nvSpPr>
        <p:spPr>
          <a:xfrm>
            <a:off x="502920" y="4957386"/>
            <a:ext cx="11185855" cy="868680"/>
          </a:xfrm>
          <a:prstGeom prst="rect">
            <a:avLst/>
          </a:prstGeom>
          <a:solidFill>
            <a:srgbClr val="A3CB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Text 38">
            <a:extLst>
              <a:ext uri="{FF2B5EF4-FFF2-40B4-BE49-F238E27FC236}">
                <a16:creationId xmlns:a16="http://schemas.microsoft.com/office/drawing/2014/main" id="{77B2D5D0-077B-B342-C8BC-27045958BD22}"/>
              </a:ext>
            </a:extLst>
          </p:cNvPr>
          <p:cNvSpPr/>
          <p:nvPr/>
        </p:nvSpPr>
        <p:spPr>
          <a:xfrm>
            <a:off x="795528" y="503053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3F74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4</a:t>
            </a:r>
            <a:endParaRPr lang="en-US" sz="1000" dirty="0">
              <a:solidFill>
                <a:srgbClr val="3F74A2"/>
              </a:solidFill>
            </a:endParaRPr>
          </a:p>
        </p:txBody>
      </p:sp>
      <p:sp>
        <p:nvSpPr>
          <p:cNvPr id="125" name="Shape 39">
            <a:extLst>
              <a:ext uri="{FF2B5EF4-FFF2-40B4-BE49-F238E27FC236}">
                <a16:creationId xmlns:a16="http://schemas.microsoft.com/office/drawing/2014/main" id="{DD818611-5D90-8937-5B5A-A97AE5BF8F2E}"/>
              </a:ext>
            </a:extLst>
          </p:cNvPr>
          <p:cNvSpPr/>
          <p:nvPr/>
        </p:nvSpPr>
        <p:spPr>
          <a:xfrm>
            <a:off x="795528" y="5240850"/>
            <a:ext cx="365760" cy="0"/>
          </a:xfrm>
          <a:prstGeom prst="line">
            <a:avLst/>
          </a:prstGeom>
          <a:noFill/>
          <a:ln w="12700">
            <a:solidFill>
              <a:srgbClr val="3F74A2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3F74A2"/>
              </a:solidFill>
            </a:endParaRPr>
          </a:p>
        </p:txBody>
      </p:sp>
      <p:sp>
        <p:nvSpPr>
          <p:cNvPr id="126" name="Text 40">
            <a:extLst>
              <a:ext uri="{FF2B5EF4-FFF2-40B4-BE49-F238E27FC236}">
                <a16:creationId xmlns:a16="http://schemas.microsoft.com/office/drawing/2014/main" id="{3BCCBD1B-83BB-8590-A02C-0B8A7547FCF2}"/>
              </a:ext>
            </a:extLst>
          </p:cNvPr>
          <p:cNvSpPr/>
          <p:nvPr/>
        </p:nvSpPr>
        <p:spPr>
          <a:xfrm>
            <a:off x="795528" y="5249994"/>
            <a:ext cx="4537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Scale &amp; Sustain</a:t>
            </a:r>
            <a:endParaRPr lang="en-US" sz="1700" dirty="0"/>
          </a:p>
        </p:txBody>
      </p:sp>
      <p:sp>
        <p:nvSpPr>
          <p:cNvPr id="127" name="Text 41">
            <a:extLst>
              <a:ext uri="{FF2B5EF4-FFF2-40B4-BE49-F238E27FC236}">
                <a16:creationId xmlns:a16="http://schemas.microsoft.com/office/drawing/2014/main" id="{60CB68F6-CB20-480B-9E0D-77DBE94CCFA5}"/>
              </a:ext>
            </a:extLst>
          </p:cNvPr>
          <p:cNvSpPr/>
          <p:nvPr/>
        </p:nvSpPr>
        <p:spPr>
          <a:xfrm>
            <a:off x="795528" y="5496882"/>
            <a:ext cx="4537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21E3B">
                    <a:alpha val="7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Multi-site rollout, MLOps, FinOps, continuous improvement and capability transfer.</a:t>
            </a:r>
            <a:endParaRPr lang="en-US" sz="950" dirty="0"/>
          </a:p>
        </p:txBody>
      </p:sp>
      <p:sp>
        <p:nvSpPr>
          <p:cNvPr id="128" name="Shape 42">
            <a:extLst>
              <a:ext uri="{FF2B5EF4-FFF2-40B4-BE49-F238E27FC236}">
                <a16:creationId xmlns:a16="http://schemas.microsoft.com/office/drawing/2014/main" id="{A96C7BA3-EAE4-748F-2FE3-61D970851BD4}"/>
              </a:ext>
            </a:extLst>
          </p:cNvPr>
          <p:cNvSpPr/>
          <p:nvPr/>
        </p:nvSpPr>
        <p:spPr>
          <a:xfrm>
            <a:off x="5516136" y="5080830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Text 43">
            <a:extLst>
              <a:ext uri="{FF2B5EF4-FFF2-40B4-BE49-F238E27FC236}">
                <a16:creationId xmlns:a16="http://schemas.microsoft.com/office/drawing/2014/main" id="{EF048A9B-6B16-722C-409F-A4109C1F9FB2}"/>
              </a:ext>
            </a:extLst>
          </p:cNvPr>
          <p:cNvSpPr/>
          <p:nvPr/>
        </p:nvSpPr>
        <p:spPr>
          <a:xfrm>
            <a:off x="5516136" y="508083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Multi-site rollout</a:t>
            </a:r>
            <a:endParaRPr lang="en-US" sz="1000" dirty="0"/>
          </a:p>
        </p:txBody>
      </p:sp>
      <p:sp>
        <p:nvSpPr>
          <p:cNvPr id="130" name="Shape 44">
            <a:extLst>
              <a:ext uri="{FF2B5EF4-FFF2-40B4-BE49-F238E27FC236}">
                <a16:creationId xmlns:a16="http://schemas.microsoft.com/office/drawing/2014/main" id="{241FFCB8-C0FF-FF66-E2E2-5AB480DD4B55}"/>
              </a:ext>
            </a:extLst>
          </p:cNvPr>
          <p:cNvSpPr/>
          <p:nvPr/>
        </p:nvSpPr>
        <p:spPr>
          <a:xfrm>
            <a:off x="6275088" y="5080830"/>
            <a:ext cx="1735531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Text 45">
            <a:extLst>
              <a:ext uri="{FF2B5EF4-FFF2-40B4-BE49-F238E27FC236}">
                <a16:creationId xmlns:a16="http://schemas.microsoft.com/office/drawing/2014/main" id="{83B1AA70-D4B8-FD0D-351C-52FD6934372E}"/>
              </a:ext>
            </a:extLst>
          </p:cNvPr>
          <p:cNvSpPr/>
          <p:nvPr/>
        </p:nvSpPr>
        <p:spPr>
          <a:xfrm>
            <a:off x="6275088" y="5080830"/>
            <a:ext cx="1735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MLOps</a:t>
            </a:r>
            <a:endParaRPr lang="en-US" sz="1000" dirty="0"/>
          </a:p>
        </p:txBody>
      </p:sp>
      <p:sp>
        <p:nvSpPr>
          <p:cNvPr id="132" name="Shape 46">
            <a:extLst>
              <a:ext uri="{FF2B5EF4-FFF2-40B4-BE49-F238E27FC236}">
                <a16:creationId xmlns:a16="http://schemas.microsoft.com/office/drawing/2014/main" id="{A950D009-8A70-387E-9FFB-8A3D911DB991}"/>
              </a:ext>
            </a:extLst>
          </p:cNvPr>
          <p:cNvSpPr/>
          <p:nvPr/>
        </p:nvSpPr>
        <p:spPr>
          <a:xfrm>
            <a:off x="8083771" y="5080830"/>
            <a:ext cx="1810512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Text 47">
            <a:extLst>
              <a:ext uri="{FF2B5EF4-FFF2-40B4-BE49-F238E27FC236}">
                <a16:creationId xmlns:a16="http://schemas.microsoft.com/office/drawing/2014/main" id="{1818EB77-98DE-841A-8130-43406AD19846}"/>
              </a:ext>
            </a:extLst>
          </p:cNvPr>
          <p:cNvSpPr/>
          <p:nvPr/>
        </p:nvSpPr>
        <p:spPr>
          <a:xfrm>
            <a:off x="8083771" y="508083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FinOps</a:t>
            </a:r>
            <a:endParaRPr lang="en-US" sz="1000" dirty="0"/>
          </a:p>
        </p:txBody>
      </p:sp>
      <p:sp>
        <p:nvSpPr>
          <p:cNvPr id="134" name="Shape 48">
            <a:extLst>
              <a:ext uri="{FF2B5EF4-FFF2-40B4-BE49-F238E27FC236}">
                <a16:creationId xmlns:a16="http://schemas.microsoft.com/office/drawing/2014/main" id="{EE1F653E-48C5-5610-1398-8CD30FA9C590}"/>
              </a:ext>
            </a:extLst>
          </p:cNvPr>
          <p:cNvSpPr/>
          <p:nvPr/>
        </p:nvSpPr>
        <p:spPr>
          <a:xfrm>
            <a:off x="5516136" y="5428302"/>
            <a:ext cx="196047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Text 49">
            <a:extLst>
              <a:ext uri="{FF2B5EF4-FFF2-40B4-BE49-F238E27FC236}">
                <a16:creationId xmlns:a16="http://schemas.microsoft.com/office/drawing/2014/main" id="{F30B37BC-3795-ADD0-4CA2-DFB5C25E6D67}"/>
              </a:ext>
            </a:extLst>
          </p:cNvPr>
          <p:cNvSpPr/>
          <p:nvPr/>
        </p:nvSpPr>
        <p:spPr>
          <a:xfrm>
            <a:off x="5516136" y="5428302"/>
            <a:ext cx="1960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Capability transfer</a:t>
            </a:r>
            <a:endParaRPr lang="en-US" sz="1000" dirty="0"/>
          </a:p>
        </p:txBody>
      </p:sp>
      <p:sp>
        <p:nvSpPr>
          <p:cNvPr id="136" name="Shape 50">
            <a:extLst>
              <a:ext uri="{FF2B5EF4-FFF2-40B4-BE49-F238E27FC236}">
                <a16:creationId xmlns:a16="http://schemas.microsoft.com/office/drawing/2014/main" id="{2D55F2E8-F867-EE40-DBA5-482E384E4531}"/>
              </a:ext>
            </a:extLst>
          </p:cNvPr>
          <p:cNvSpPr/>
          <p:nvPr/>
        </p:nvSpPr>
        <p:spPr>
          <a:xfrm>
            <a:off x="502920" y="5917506"/>
            <a:ext cx="11185855" cy="384048"/>
          </a:xfrm>
          <a:prstGeom prst="rect">
            <a:avLst/>
          </a:prstGeom>
          <a:solidFill>
            <a:srgbClr val="F7F8FA"/>
          </a:solidFill>
          <a:ln w="6350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51">
            <a:extLst>
              <a:ext uri="{FF2B5EF4-FFF2-40B4-BE49-F238E27FC236}">
                <a16:creationId xmlns:a16="http://schemas.microsoft.com/office/drawing/2014/main" id="{FAA498FC-B55F-8237-F8D5-5390DF6197C6}"/>
              </a:ext>
            </a:extLst>
          </p:cNvPr>
          <p:cNvSpPr/>
          <p:nvPr/>
        </p:nvSpPr>
        <p:spPr>
          <a:xfrm>
            <a:off x="731520" y="591750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MAKES US DIFFERENT</a:t>
            </a:r>
            <a:endParaRPr lang="en-US" sz="900" dirty="0"/>
          </a:p>
        </p:txBody>
      </p:sp>
      <p:sp>
        <p:nvSpPr>
          <p:cNvPr id="138" name="Shape 52">
            <a:extLst>
              <a:ext uri="{FF2B5EF4-FFF2-40B4-BE49-F238E27FC236}">
                <a16:creationId xmlns:a16="http://schemas.microsoft.com/office/drawing/2014/main" id="{584D67EC-4BC1-A1F7-4250-463FBF4B19A5}"/>
              </a:ext>
            </a:extLst>
          </p:cNvPr>
          <p:cNvSpPr/>
          <p:nvPr/>
        </p:nvSpPr>
        <p:spPr>
          <a:xfrm>
            <a:off x="2377440" y="5990658"/>
            <a:ext cx="0" cy="237744"/>
          </a:xfrm>
          <a:prstGeom prst="line">
            <a:avLst/>
          </a:prstGeom>
          <a:noFill/>
          <a:ln w="12700">
            <a:solidFill>
              <a:srgbClr val="A3CBE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53">
            <a:extLst>
              <a:ext uri="{FF2B5EF4-FFF2-40B4-BE49-F238E27FC236}">
                <a16:creationId xmlns:a16="http://schemas.microsoft.com/office/drawing/2014/main" id="{0B265DE1-95A6-31AB-CDC3-C94E4B4AAB8C}"/>
              </a:ext>
            </a:extLst>
          </p:cNvPr>
          <p:cNvSpPr/>
          <p:nvPr/>
        </p:nvSpPr>
        <p:spPr>
          <a:xfrm>
            <a:off x="2514600" y="5917506"/>
            <a:ext cx="9082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Cluster, don't proliferate   •   Buy where mature, build where unique   •   OT, AI and ERP in one team</a:t>
            </a:r>
            <a:endParaRPr lang="en-US" sz="1050" dirty="0"/>
          </a:p>
        </p:txBody>
      </p:sp>
      <p:sp>
        <p:nvSpPr>
          <p:cNvPr id="141" name="Rectangle 6">
            <a:extLst>
              <a:ext uri="{FF2B5EF4-FFF2-40B4-BE49-F238E27FC236}">
                <a16:creationId xmlns:a16="http://schemas.microsoft.com/office/drawing/2014/main" id="{D02E62AA-1413-F4B2-11E6-FC4FF4E5600C}"/>
              </a:ext>
            </a:extLst>
          </p:cNvPr>
          <p:cNvSpPr>
            <a:spLocks noChangeAspect="1"/>
          </p:cNvSpPr>
          <p:nvPr/>
        </p:nvSpPr>
        <p:spPr>
          <a:xfrm>
            <a:off x="11144319" y="2997894"/>
            <a:ext cx="463564" cy="4638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6">
            <a:extLst>
              <a:ext uri="{FF2B5EF4-FFF2-40B4-BE49-F238E27FC236}">
                <a16:creationId xmlns:a16="http://schemas.microsoft.com/office/drawing/2014/main" id="{902A1F48-0EF4-FA2D-4655-A0531E9A92D3}"/>
              </a:ext>
            </a:extLst>
          </p:cNvPr>
          <p:cNvSpPr>
            <a:spLocks noChangeAspect="1"/>
          </p:cNvSpPr>
          <p:nvPr/>
        </p:nvSpPr>
        <p:spPr>
          <a:xfrm>
            <a:off x="11144319" y="3948198"/>
            <a:ext cx="463564" cy="4638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6">
            <a:extLst>
              <a:ext uri="{FF2B5EF4-FFF2-40B4-BE49-F238E27FC236}">
                <a16:creationId xmlns:a16="http://schemas.microsoft.com/office/drawing/2014/main" id="{F7C7D915-8DFB-03CA-D742-547BC9411731}"/>
              </a:ext>
            </a:extLst>
          </p:cNvPr>
          <p:cNvSpPr>
            <a:spLocks noChangeAspect="1"/>
          </p:cNvSpPr>
          <p:nvPr/>
        </p:nvSpPr>
        <p:spPr>
          <a:xfrm>
            <a:off x="11133771" y="5018046"/>
            <a:ext cx="463564" cy="4638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2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A3CBE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50292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WE DELIVER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Delivery Excellence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4160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Methodology, transition approach, and the factory model behind every engagement.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9525">
            <a:solidFill>
              <a:srgbClr val="2A3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33</a:t>
            </a:r>
            <a:endParaRPr lang="en-US" sz="900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79A3C6F-44FC-DDB8-C293-F379760E0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5639" y="347471"/>
            <a:ext cx="2070410" cy="64456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DELIVERY  ·  METHODOLOGY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In2IT FastForward.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19" y="1515872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3F75A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Our proprietary delivery method.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19" y="2220976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branded delivery method built on SAP Activate, accelerated by pre-built assets, and governed by a single quality gate at every phase. Applied uniformly across SAP, Salesforce, Workday and ADMS programs.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19" y="29164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ACCELERATING LAYERS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429000"/>
            <a:ext cx="2673020" cy="228600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566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1BC9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01</a:t>
            </a:r>
            <a:endParaRPr lang="en-US" sz="3200" dirty="0">
              <a:solidFill>
                <a:srgbClr val="C1BC9C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731520" y="4160520"/>
            <a:ext cx="230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Pre-Built Assets</a:t>
            </a:r>
            <a:endParaRPr lang="en-US" sz="1400" dirty="0">
              <a:solidFill>
                <a:srgbClr val="94B8D0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731520" y="4663440"/>
            <a:ext cx="23072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RDS accelerators, RICEFW templates, country-localizations, integration patterns and pre-configured S/4HANA solutions.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340532" y="3429000"/>
            <a:ext cx="2673020" cy="228600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569132" y="3566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1BC9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02</a:t>
            </a:r>
            <a:endParaRPr lang="en-US" sz="3200" dirty="0">
              <a:solidFill>
                <a:srgbClr val="C1BC9C"/>
              </a:solidFill>
            </a:endParaRPr>
          </a:p>
        </p:txBody>
      </p:sp>
      <p:sp>
        <p:nvSpPr>
          <p:cNvPr id="22" name="Text 18"/>
          <p:cNvSpPr/>
          <p:nvPr/>
        </p:nvSpPr>
        <p:spPr>
          <a:xfrm>
            <a:off x="3569132" y="4160520"/>
            <a:ext cx="230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Single Delivery Team</a:t>
            </a:r>
            <a:endParaRPr lang="en-US" sz="1400" dirty="0">
              <a:solidFill>
                <a:srgbClr val="94B8D0"/>
              </a:solidFill>
            </a:endParaRPr>
          </a:p>
        </p:txBody>
      </p:sp>
      <p:sp>
        <p:nvSpPr>
          <p:cNvPr id="23" name="Text 19"/>
          <p:cNvSpPr/>
          <p:nvPr/>
        </p:nvSpPr>
        <p:spPr>
          <a:xfrm>
            <a:off x="3569132" y="4663440"/>
            <a:ext cx="23072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team from Discover through Run. No handoffs, no re-learning. Onsite leads + offshore factory + AMS bench.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4" name="Shape 20"/>
          <p:cNvSpPr/>
          <p:nvPr/>
        </p:nvSpPr>
        <p:spPr>
          <a:xfrm>
            <a:off x="6178144" y="3429000"/>
            <a:ext cx="2673020" cy="228600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6406744" y="3566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1BC9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03</a:t>
            </a:r>
            <a:endParaRPr lang="en-US" sz="3200" dirty="0">
              <a:solidFill>
                <a:srgbClr val="C1BC9C"/>
              </a:solidFill>
            </a:endParaRPr>
          </a:p>
        </p:txBody>
      </p:sp>
      <p:sp>
        <p:nvSpPr>
          <p:cNvPr id="28" name="Text 23"/>
          <p:cNvSpPr/>
          <p:nvPr/>
        </p:nvSpPr>
        <p:spPr>
          <a:xfrm>
            <a:off x="6406744" y="4160520"/>
            <a:ext cx="230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Quality Gates</a:t>
            </a:r>
            <a:endParaRPr lang="en-US" sz="1400" dirty="0">
              <a:solidFill>
                <a:srgbClr val="94B8D0"/>
              </a:solidFill>
            </a:endParaRPr>
          </a:p>
        </p:txBody>
      </p:sp>
      <p:sp>
        <p:nvSpPr>
          <p:cNvPr id="29" name="Text 24"/>
          <p:cNvSpPr/>
          <p:nvPr/>
        </p:nvSpPr>
        <p:spPr>
          <a:xfrm>
            <a:off x="6406744" y="4663440"/>
            <a:ext cx="23072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Stage-gate quality reviews at every Activate phase. Independent assurance team, signed off by client steering.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30" name="Shape 25"/>
          <p:cNvSpPr/>
          <p:nvPr/>
        </p:nvSpPr>
        <p:spPr>
          <a:xfrm>
            <a:off x="9015755" y="3429000"/>
            <a:ext cx="2673020" cy="2286000"/>
          </a:xfrm>
          <a:prstGeom prst="rect">
            <a:avLst/>
          </a:prstGeom>
          <a:solidFill>
            <a:srgbClr val="121E3B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9244355" y="3566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1BC9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04</a:t>
            </a:r>
            <a:endParaRPr lang="en-US" sz="3200" dirty="0">
              <a:solidFill>
                <a:srgbClr val="C1BC9C"/>
              </a:solidFill>
            </a:endParaRPr>
          </a:p>
        </p:txBody>
      </p:sp>
      <p:sp>
        <p:nvSpPr>
          <p:cNvPr id="34" name="Text 28"/>
          <p:cNvSpPr/>
          <p:nvPr/>
        </p:nvSpPr>
        <p:spPr>
          <a:xfrm>
            <a:off x="9244355" y="4160520"/>
            <a:ext cx="2307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B8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Outcome-linked Pricing</a:t>
            </a:r>
            <a:endParaRPr lang="en-US" sz="1400" dirty="0">
              <a:solidFill>
                <a:srgbClr val="94B8D0"/>
              </a:solidFill>
            </a:endParaRPr>
          </a:p>
        </p:txBody>
      </p:sp>
      <p:sp>
        <p:nvSpPr>
          <p:cNvPr id="35" name="Text 29"/>
          <p:cNvSpPr/>
          <p:nvPr/>
        </p:nvSpPr>
        <p:spPr>
          <a:xfrm>
            <a:off x="9244355" y="4663440"/>
            <a:ext cx="23072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Fixed-bid and outcome-based commercials available alongside T&amp;M. Risk shared, not pushed.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43" name="Text 37"/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34</a:t>
            </a:r>
            <a:endParaRPr lang="en-US" sz="900" dirty="0"/>
          </a:p>
        </p:txBody>
      </p:sp>
      <p:sp>
        <p:nvSpPr>
          <p:cNvPr id="45" name="Rectangle 6">
            <a:extLst>
              <a:ext uri="{FF2B5EF4-FFF2-40B4-BE49-F238E27FC236}">
                <a16:creationId xmlns:a16="http://schemas.microsoft.com/office/drawing/2014/main" id="{D2894429-173A-D3BF-007B-FE2441698A90}"/>
              </a:ext>
            </a:extLst>
          </p:cNvPr>
          <p:cNvSpPr>
            <a:spLocks noChangeAspect="1"/>
          </p:cNvSpPr>
          <p:nvPr/>
        </p:nvSpPr>
        <p:spPr>
          <a:xfrm>
            <a:off x="11343040" y="145576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6">
            <a:extLst>
              <a:ext uri="{FF2B5EF4-FFF2-40B4-BE49-F238E27FC236}">
                <a16:creationId xmlns:a16="http://schemas.microsoft.com/office/drawing/2014/main" id="{61FACE6A-985A-D982-0BCA-B53E03CC8187}"/>
              </a:ext>
            </a:extLst>
          </p:cNvPr>
          <p:cNvSpPr>
            <a:spLocks noChangeAspect="1"/>
          </p:cNvSpPr>
          <p:nvPr/>
        </p:nvSpPr>
        <p:spPr>
          <a:xfrm>
            <a:off x="11105147" y="398337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Shape 37">
            <a:extLst>
              <a:ext uri="{FF2B5EF4-FFF2-40B4-BE49-F238E27FC236}">
                <a16:creationId xmlns:a16="http://schemas.microsoft.com/office/drawing/2014/main" id="{2AC2EE86-8B88-6AF7-FA01-3E416B6BBEE0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74728691-AA15-42B7-A9A6-8B1F3661D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265371-A1FB-C91F-40C8-697387E2B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F4813B21-51F8-82CE-70CC-60E9CC9FB078}"/>
              </a:ext>
            </a:extLst>
          </p:cNvPr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DELIVERY  ·  AMS TRANSITION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C526EA1-8B60-2D23-90A8-4D2A6263D822}"/>
              </a:ext>
            </a:extLst>
          </p:cNvPr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16 weeks to safe steady-state.</a:t>
            </a:r>
            <a:endParaRPr lang="en-US" sz="3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D85FBB0-0C53-E6EB-A752-DD24A104A8D0}"/>
              </a:ext>
            </a:extLst>
          </p:cNvPr>
          <p:cNvSpPr/>
          <p:nvPr/>
        </p:nvSpPr>
        <p:spPr>
          <a:xfrm>
            <a:off x="502919" y="1713485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Our five-phase AMS transition runs from pre-transition planning to full-service commencement, with quality gates at every phase and overlap with incumbent teams.</a:t>
            </a:r>
            <a:endParaRPr lang="en-US" sz="13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449072F-E486-83AF-E099-0ACD60CD2AF4}"/>
              </a:ext>
            </a:extLst>
          </p:cNvPr>
          <p:cNvSpPr/>
          <p:nvPr/>
        </p:nvSpPr>
        <p:spPr>
          <a:xfrm>
            <a:off x="502920" y="2344420"/>
            <a:ext cx="2134758" cy="64008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76FBEFF-FEDE-9EBD-A205-20AA79A8D3D6}"/>
              </a:ext>
            </a:extLst>
          </p:cNvPr>
          <p:cNvSpPr/>
          <p:nvPr/>
        </p:nvSpPr>
        <p:spPr>
          <a:xfrm>
            <a:off x="640080" y="2390140"/>
            <a:ext cx="18604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Pre-Transition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Planning</a:t>
            </a:r>
            <a:endParaRPr lang="en-US" sz="11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0AEB564-FC94-A1ED-06E4-AD90F66DFFE1}"/>
              </a:ext>
            </a:extLst>
          </p:cNvPr>
          <p:cNvSpPr/>
          <p:nvPr/>
        </p:nvSpPr>
        <p:spPr>
          <a:xfrm>
            <a:off x="502920" y="2984500"/>
            <a:ext cx="2134758" cy="320040"/>
          </a:xfrm>
          <a:prstGeom prst="rect">
            <a:avLst/>
          </a:prstGeom>
          <a:solidFill>
            <a:srgbClr val="A3CB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708F674-2275-81F5-FE41-C9DD64B59F8E}"/>
              </a:ext>
            </a:extLst>
          </p:cNvPr>
          <p:cNvSpPr/>
          <p:nvPr/>
        </p:nvSpPr>
        <p:spPr>
          <a:xfrm>
            <a:off x="502920" y="2984500"/>
            <a:ext cx="21347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Wks -4 to 0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DF8987E-2720-54C1-B24A-54C411687B3C}"/>
              </a:ext>
            </a:extLst>
          </p:cNvPr>
          <p:cNvSpPr/>
          <p:nvPr/>
        </p:nvSpPr>
        <p:spPr>
          <a:xfrm>
            <a:off x="502920" y="3304540"/>
            <a:ext cx="2134758" cy="2757934"/>
          </a:xfrm>
          <a:prstGeom prst="rect">
            <a:avLst/>
          </a:prstGeom>
          <a:solidFill>
            <a:srgbClr val="F7F8FA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1DBA930-CE59-9277-97DF-0A2A9C1D66D8}"/>
              </a:ext>
            </a:extLst>
          </p:cNvPr>
          <p:cNvSpPr/>
          <p:nvPr/>
        </p:nvSpPr>
        <p:spPr>
          <a:xfrm>
            <a:off x="685800" y="3441700"/>
            <a:ext cx="1814718" cy="1117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Governance setup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Confirm transition plan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Network connectivity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 desk bonding</a:t>
            </a:r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A6478"/>
                </a:solidFill>
                <a:latin typeface="IBM Plex Sans" pitchFamily="34" charset="0"/>
              </a:rPr>
              <a:t>Team Onboarding</a:t>
            </a:r>
            <a:endParaRPr lang="en-US" sz="1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8FC5583-F1ED-320C-0760-665FF541AF4F}"/>
              </a:ext>
            </a:extLst>
          </p:cNvPr>
          <p:cNvSpPr/>
          <p:nvPr/>
        </p:nvSpPr>
        <p:spPr>
          <a:xfrm>
            <a:off x="2765694" y="2344420"/>
            <a:ext cx="2134758" cy="64008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C7E5E5A-50DA-B537-9D2F-FF605B0C1366}"/>
              </a:ext>
            </a:extLst>
          </p:cNvPr>
          <p:cNvSpPr/>
          <p:nvPr/>
        </p:nvSpPr>
        <p:spPr>
          <a:xfrm>
            <a:off x="2902854" y="2390140"/>
            <a:ext cx="18604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Planning</a:t>
            </a:r>
            <a:endParaRPr lang="en-US" sz="11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3C87D74-F43B-857C-73B7-A94234523E47}"/>
              </a:ext>
            </a:extLst>
          </p:cNvPr>
          <p:cNvSpPr/>
          <p:nvPr/>
        </p:nvSpPr>
        <p:spPr>
          <a:xfrm>
            <a:off x="2765694" y="2984500"/>
            <a:ext cx="2134758" cy="320040"/>
          </a:xfrm>
          <a:prstGeom prst="rect">
            <a:avLst/>
          </a:prstGeom>
          <a:solidFill>
            <a:srgbClr val="A3CB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FB1C287-266A-11B5-E54C-7FB794DF4C80}"/>
              </a:ext>
            </a:extLst>
          </p:cNvPr>
          <p:cNvSpPr/>
          <p:nvPr/>
        </p:nvSpPr>
        <p:spPr>
          <a:xfrm>
            <a:off x="2765694" y="2984500"/>
            <a:ext cx="21347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Wks 1–2</a:t>
            </a:r>
            <a:endParaRPr lang="en-US" sz="10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9520E29-5036-4049-4B3D-4DB1FE558CCF}"/>
              </a:ext>
            </a:extLst>
          </p:cNvPr>
          <p:cNvSpPr/>
          <p:nvPr/>
        </p:nvSpPr>
        <p:spPr>
          <a:xfrm>
            <a:off x="2765694" y="3304539"/>
            <a:ext cx="2134758" cy="2757933"/>
          </a:xfrm>
          <a:prstGeom prst="rect">
            <a:avLst/>
          </a:prstGeom>
          <a:solidFill>
            <a:srgbClr val="F7F8FA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C7D83B9-03DA-5699-D150-AB8F5D796DEF}"/>
              </a:ext>
            </a:extLst>
          </p:cNvPr>
          <p:cNvSpPr/>
          <p:nvPr/>
        </p:nvSpPr>
        <p:spPr>
          <a:xfrm>
            <a:off x="2948574" y="3441700"/>
            <a:ext cx="181471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Team onboarding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Detailed KT plan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Access provisioning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completion criteria</a:t>
            </a:r>
            <a:endParaRPr lang="en-US" sz="10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D4B187B-12F5-1B87-E23B-2FD9FD78595E}"/>
              </a:ext>
            </a:extLst>
          </p:cNvPr>
          <p:cNvSpPr/>
          <p:nvPr/>
        </p:nvSpPr>
        <p:spPr>
          <a:xfrm>
            <a:off x="5028468" y="2344420"/>
            <a:ext cx="2134758" cy="64008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D76F8BB-C86B-66DE-30E4-744D4F190954}"/>
              </a:ext>
            </a:extLst>
          </p:cNvPr>
          <p:cNvSpPr/>
          <p:nvPr/>
        </p:nvSpPr>
        <p:spPr>
          <a:xfrm>
            <a:off x="5165628" y="2390140"/>
            <a:ext cx="18604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Knowledge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Acquisition</a:t>
            </a:r>
            <a:endParaRPr lang="en-US" sz="11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C2B0092-1F1B-B152-9640-6F7CCF36B8AF}"/>
              </a:ext>
            </a:extLst>
          </p:cNvPr>
          <p:cNvSpPr/>
          <p:nvPr/>
        </p:nvSpPr>
        <p:spPr>
          <a:xfrm>
            <a:off x="5028468" y="2984500"/>
            <a:ext cx="2134758" cy="320040"/>
          </a:xfrm>
          <a:prstGeom prst="rect">
            <a:avLst/>
          </a:prstGeom>
          <a:solidFill>
            <a:srgbClr val="A3CB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5AF45F2-E5C4-AF5F-75A5-F8CFC8B16525}"/>
              </a:ext>
            </a:extLst>
          </p:cNvPr>
          <p:cNvSpPr/>
          <p:nvPr/>
        </p:nvSpPr>
        <p:spPr>
          <a:xfrm>
            <a:off x="5028468" y="2984500"/>
            <a:ext cx="21347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Wks 3–7</a:t>
            </a:r>
            <a:endParaRPr lang="en-US" sz="10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5688F5B-121E-CF09-3DAB-C8C9A8F00F43}"/>
              </a:ext>
            </a:extLst>
          </p:cNvPr>
          <p:cNvSpPr/>
          <p:nvPr/>
        </p:nvSpPr>
        <p:spPr>
          <a:xfrm>
            <a:off x="5028468" y="3304540"/>
            <a:ext cx="2134758" cy="2757932"/>
          </a:xfrm>
          <a:prstGeom prst="rect">
            <a:avLst/>
          </a:prstGeom>
          <a:solidFill>
            <a:srgbClr val="F7F8FA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045C1B6-D894-FC46-7475-19F0A9F8822B}"/>
              </a:ext>
            </a:extLst>
          </p:cNvPr>
          <p:cNvSpPr/>
          <p:nvPr/>
        </p:nvSpPr>
        <p:spPr>
          <a:xfrm>
            <a:off x="5211348" y="3441700"/>
            <a:ext cx="181471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KT sessions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Documentation drafts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 understanding doc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 &amp; procedure doc</a:t>
            </a:r>
            <a:endParaRPr lang="en-US" sz="10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3F9C6054-92E3-3A16-1AA4-98448FB9766E}"/>
              </a:ext>
            </a:extLst>
          </p:cNvPr>
          <p:cNvSpPr/>
          <p:nvPr/>
        </p:nvSpPr>
        <p:spPr>
          <a:xfrm>
            <a:off x="7291243" y="2344420"/>
            <a:ext cx="2134758" cy="64008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5BD06D4-43FB-DBA8-B527-4B9675E671BA}"/>
              </a:ext>
            </a:extLst>
          </p:cNvPr>
          <p:cNvSpPr/>
          <p:nvPr/>
        </p:nvSpPr>
        <p:spPr>
          <a:xfrm>
            <a:off x="7428403" y="2390140"/>
            <a:ext cx="18604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Shadow</a:t>
            </a:r>
            <a:endParaRPr lang="en-US" sz="115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4DD6377-1D88-3859-D60D-863C6F67C7D7}"/>
              </a:ext>
            </a:extLst>
          </p:cNvPr>
          <p:cNvSpPr/>
          <p:nvPr/>
        </p:nvSpPr>
        <p:spPr>
          <a:xfrm>
            <a:off x="7291243" y="2984500"/>
            <a:ext cx="2134758" cy="320040"/>
          </a:xfrm>
          <a:prstGeom prst="rect">
            <a:avLst/>
          </a:prstGeom>
          <a:solidFill>
            <a:srgbClr val="A3CB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F8CF061-32ED-F4FD-6DED-62D6C4EAC567}"/>
              </a:ext>
            </a:extLst>
          </p:cNvPr>
          <p:cNvSpPr/>
          <p:nvPr/>
        </p:nvSpPr>
        <p:spPr>
          <a:xfrm>
            <a:off x="7291243" y="2984500"/>
            <a:ext cx="21347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Wks 8–12</a:t>
            </a:r>
            <a:endParaRPr lang="en-US" sz="10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1017C40C-BA55-277B-4477-4B5CF77630CA}"/>
              </a:ext>
            </a:extLst>
          </p:cNvPr>
          <p:cNvSpPr/>
          <p:nvPr/>
        </p:nvSpPr>
        <p:spPr>
          <a:xfrm>
            <a:off x="7291243" y="3304539"/>
            <a:ext cx="2134758" cy="2757931"/>
          </a:xfrm>
          <a:prstGeom prst="rect">
            <a:avLst/>
          </a:prstGeom>
          <a:solidFill>
            <a:srgbClr val="F7F8FA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5742925B-B4C6-164E-6AF2-CDC73886C614}"/>
              </a:ext>
            </a:extLst>
          </p:cNvPr>
          <p:cNvSpPr/>
          <p:nvPr/>
        </p:nvSpPr>
        <p:spPr>
          <a:xfrm>
            <a:off x="7474123" y="3441700"/>
            <a:ext cx="181471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Shadow live tickets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Update documentation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Operational readiness review</a:t>
            </a:r>
            <a:endParaRPr lang="en-US" sz="10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1B177F3F-BA53-4033-5549-0591A8475F72}"/>
              </a:ext>
            </a:extLst>
          </p:cNvPr>
          <p:cNvSpPr/>
          <p:nvPr/>
        </p:nvSpPr>
        <p:spPr>
          <a:xfrm>
            <a:off x="9554017" y="2344420"/>
            <a:ext cx="2134758" cy="64008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EBE43681-44C4-D674-B5B6-4818FEDB80F1}"/>
              </a:ext>
            </a:extLst>
          </p:cNvPr>
          <p:cNvSpPr/>
          <p:nvPr/>
        </p:nvSpPr>
        <p:spPr>
          <a:xfrm>
            <a:off x="9691177" y="2390140"/>
            <a:ext cx="18604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Reverse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Shadow</a:t>
            </a:r>
            <a:endParaRPr lang="en-US" sz="115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66C6A25A-E6DC-1CD0-EFD3-DDBF3C493344}"/>
              </a:ext>
            </a:extLst>
          </p:cNvPr>
          <p:cNvSpPr/>
          <p:nvPr/>
        </p:nvSpPr>
        <p:spPr>
          <a:xfrm>
            <a:off x="9554017" y="2984500"/>
            <a:ext cx="2134758" cy="320040"/>
          </a:xfrm>
          <a:prstGeom prst="rect">
            <a:avLst/>
          </a:prstGeom>
          <a:solidFill>
            <a:srgbClr val="A3CB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C309DF41-1CC3-9769-BDAF-C7471B59F710}"/>
              </a:ext>
            </a:extLst>
          </p:cNvPr>
          <p:cNvSpPr/>
          <p:nvPr/>
        </p:nvSpPr>
        <p:spPr>
          <a:xfrm>
            <a:off x="9554017" y="2984500"/>
            <a:ext cx="21347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Wks 13–16</a:t>
            </a:r>
            <a:endParaRPr lang="en-US" sz="10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DA49F7AD-17C5-C9DD-3A86-7B002AFDB2B6}"/>
              </a:ext>
            </a:extLst>
          </p:cNvPr>
          <p:cNvSpPr/>
          <p:nvPr/>
        </p:nvSpPr>
        <p:spPr>
          <a:xfrm>
            <a:off x="9554017" y="3304539"/>
            <a:ext cx="2134758" cy="2757929"/>
          </a:xfrm>
          <a:prstGeom prst="rect">
            <a:avLst/>
          </a:prstGeom>
          <a:solidFill>
            <a:srgbClr val="F7F8FA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7A2C45A3-0902-23E3-AC04-DBED3414FBC8}"/>
              </a:ext>
            </a:extLst>
          </p:cNvPr>
          <p:cNvSpPr/>
          <p:nvPr/>
        </p:nvSpPr>
        <p:spPr>
          <a:xfrm>
            <a:off x="9736897" y="3441700"/>
            <a:ext cx="181471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Lead on ticket resolution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Final documentation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 commencement</a:t>
            </a:r>
            <a:endParaRPr lang="en-US" sz="10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B65C08FB-9C6D-D996-D95E-0C95A940A7B3}"/>
              </a:ext>
            </a:extLst>
          </p:cNvPr>
          <p:cNvSpPr/>
          <p:nvPr/>
        </p:nvSpPr>
        <p:spPr>
          <a:xfrm>
            <a:off x="502919" y="6135625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Pre-Planning Start    →    Transition Start    →    Service Commencement</a:t>
            </a:r>
            <a:endParaRPr lang="en-US" sz="11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2708DC57-91C7-63A8-3254-4DFA66B26B89}"/>
              </a:ext>
            </a:extLst>
          </p:cNvPr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8DE457FC-9BF4-9FF0-BF46-EA0938668367}"/>
              </a:ext>
            </a:extLst>
          </p:cNvPr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35</a:t>
            </a:r>
            <a:endParaRPr lang="en-US" sz="900" dirty="0"/>
          </a:p>
        </p:txBody>
      </p:sp>
      <p:sp>
        <p:nvSpPr>
          <p:cNvPr id="44" name="Rectangle 6">
            <a:extLst>
              <a:ext uri="{FF2B5EF4-FFF2-40B4-BE49-F238E27FC236}">
                <a16:creationId xmlns:a16="http://schemas.microsoft.com/office/drawing/2014/main" id="{EEC8ABB5-ACF3-8873-76DD-2ECECF694E8F}"/>
              </a:ext>
            </a:extLst>
          </p:cNvPr>
          <p:cNvSpPr>
            <a:spLocks noChangeAspect="1"/>
          </p:cNvSpPr>
          <p:nvPr/>
        </p:nvSpPr>
        <p:spPr>
          <a:xfrm>
            <a:off x="11343040" y="145576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6">
            <a:extLst>
              <a:ext uri="{FF2B5EF4-FFF2-40B4-BE49-F238E27FC236}">
                <a16:creationId xmlns:a16="http://schemas.microsoft.com/office/drawing/2014/main" id="{380D7B89-0104-2AF2-87AC-F45AA7C76E31}"/>
              </a:ext>
            </a:extLst>
          </p:cNvPr>
          <p:cNvSpPr>
            <a:spLocks noChangeAspect="1"/>
          </p:cNvSpPr>
          <p:nvPr/>
        </p:nvSpPr>
        <p:spPr>
          <a:xfrm>
            <a:off x="11105147" y="398337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Shape 37">
            <a:extLst>
              <a:ext uri="{FF2B5EF4-FFF2-40B4-BE49-F238E27FC236}">
                <a16:creationId xmlns:a16="http://schemas.microsoft.com/office/drawing/2014/main" id="{9D19DFBB-5536-D480-DA29-DCE94B8A9839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FB43A22B-9982-A09C-C5AD-A21EC5840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sp>
        <p:nvSpPr>
          <p:cNvPr id="48" name="Shape 11">
            <a:extLst>
              <a:ext uri="{FF2B5EF4-FFF2-40B4-BE49-F238E27FC236}">
                <a16:creationId xmlns:a16="http://schemas.microsoft.com/office/drawing/2014/main" id="{C68A7E42-C76B-990A-8CEB-64214FC4F483}"/>
              </a:ext>
            </a:extLst>
          </p:cNvPr>
          <p:cNvSpPr/>
          <p:nvPr/>
        </p:nvSpPr>
        <p:spPr>
          <a:xfrm>
            <a:off x="2637678" y="2344419"/>
            <a:ext cx="137160" cy="640080"/>
          </a:xfrm>
          <a:prstGeom prst="chevron">
            <a:avLst/>
          </a:prstGeom>
          <a:solidFill>
            <a:srgbClr val="C1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11">
            <a:extLst>
              <a:ext uri="{FF2B5EF4-FFF2-40B4-BE49-F238E27FC236}">
                <a16:creationId xmlns:a16="http://schemas.microsoft.com/office/drawing/2014/main" id="{3FE8A136-07B0-A313-EE65-33B64AF6B983}"/>
              </a:ext>
            </a:extLst>
          </p:cNvPr>
          <p:cNvSpPr/>
          <p:nvPr/>
        </p:nvSpPr>
        <p:spPr>
          <a:xfrm>
            <a:off x="4900451" y="2344419"/>
            <a:ext cx="137160" cy="640080"/>
          </a:xfrm>
          <a:prstGeom prst="chevron">
            <a:avLst/>
          </a:prstGeom>
          <a:solidFill>
            <a:srgbClr val="C1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F8F280B2-3055-A007-3CAC-03EDD9D39CF1}"/>
              </a:ext>
            </a:extLst>
          </p:cNvPr>
          <p:cNvSpPr/>
          <p:nvPr/>
        </p:nvSpPr>
        <p:spPr>
          <a:xfrm>
            <a:off x="7163226" y="2344419"/>
            <a:ext cx="137160" cy="640080"/>
          </a:xfrm>
          <a:prstGeom prst="chevron">
            <a:avLst/>
          </a:prstGeom>
          <a:solidFill>
            <a:srgbClr val="C1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975EB581-DC20-79BD-2AD2-D8F012D8C2F3}"/>
              </a:ext>
            </a:extLst>
          </p:cNvPr>
          <p:cNvSpPr/>
          <p:nvPr/>
        </p:nvSpPr>
        <p:spPr>
          <a:xfrm>
            <a:off x="9426001" y="2344419"/>
            <a:ext cx="137160" cy="640080"/>
          </a:xfrm>
          <a:prstGeom prst="chevron">
            <a:avLst/>
          </a:prstGeom>
          <a:solidFill>
            <a:srgbClr val="C1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10">
            <a:extLst>
              <a:ext uri="{FF2B5EF4-FFF2-40B4-BE49-F238E27FC236}">
                <a16:creationId xmlns:a16="http://schemas.microsoft.com/office/drawing/2014/main" id="{02BF8E61-3317-EBE9-9C09-18558C0AB7E5}"/>
              </a:ext>
            </a:extLst>
          </p:cNvPr>
          <p:cNvSpPr/>
          <p:nvPr/>
        </p:nvSpPr>
        <p:spPr>
          <a:xfrm rot="16200000">
            <a:off x="-310291" y="3896767"/>
            <a:ext cx="1405442" cy="220983"/>
          </a:xfrm>
          <a:prstGeom prst="rect">
            <a:avLst/>
          </a:prstGeom>
          <a:solidFill>
            <a:srgbClr val="C1BC9C"/>
          </a:solidFill>
          <a:ln/>
        </p:spPr>
        <p:txBody>
          <a:bodyPr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IBM Plex Sans" panose="020B0503050203000203" pitchFamily="34" charset="77"/>
              </a:rPr>
              <a:t>Key Activity</a:t>
            </a:r>
          </a:p>
        </p:txBody>
      </p:sp>
      <p:sp>
        <p:nvSpPr>
          <p:cNvPr id="53" name="Shape 10">
            <a:extLst>
              <a:ext uri="{FF2B5EF4-FFF2-40B4-BE49-F238E27FC236}">
                <a16:creationId xmlns:a16="http://schemas.microsoft.com/office/drawing/2014/main" id="{D6DC0F4B-7933-4E30-97AA-66C7F3D75779}"/>
              </a:ext>
            </a:extLst>
          </p:cNvPr>
          <p:cNvSpPr/>
          <p:nvPr/>
        </p:nvSpPr>
        <p:spPr>
          <a:xfrm rot="16200000">
            <a:off x="-205133" y="5354415"/>
            <a:ext cx="1195126" cy="220983"/>
          </a:xfrm>
          <a:prstGeom prst="rect">
            <a:avLst/>
          </a:prstGeom>
          <a:solidFill>
            <a:srgbClr val="C1BC9C"/>
          </a:solidFill>
          <a:ln/>
        </p:spPr>
        <p:txBody>
          <a:bodyPr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IBM Plex Sans" panose="020B0503050203000203" pitchFamily="34" charset="77"/>
              </a:rPr>
              <a:t>Deliverables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949FE5A-6578-DE16-4A0C-E9E174A5E788}"/>
              </a:ext>
            </a:extLst>
          </p:cNvPr>
          <p:cNvCxnSpPr>
            <a:cxnSpLocks/>
          </p:cNvCxnSpPr>
          <p:nvPr/>
        </p:nvCxnSpPr>
        <p:spPr>
          <a:xfrm flipV="1">
            <a:off x="502920" y="4696204"/>
            <a:ext cx="11185855" cy="3"/>
          </a:xfrm>
          <a:prstGeom prst="line">
            <a:avLst/>
          </a:prstGeom>
          <a:ln>
            <a:solidFill>
              <a:srgbClr val="C1BC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474606C-BDA1-D988-0CA0-D50DD4F3AFFB}"/>
              </a:ext>
            </a:extLst>
          </p:cNvPr>
          <p:cNvCxnSpPr>
            <a:cxnSpLocks/>
          </p:cNvCxnSpPr>
          <p:nvPr/>
        </p:nvCxnSpPr>
        <p:spPr>
          <a:xfrm flipV="1">
            <a:off x="486297" y="4871093"/>
            <a:ext cx="11185855" cy="3"/>
          </a:xfrm>
          <a:prstGeom prst="line">
            <a:avLst/>
          </a:prstGeom>
          <a:ln>
            <a:solidFill>
              <a:srgbClr val="C1BC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 13">
            <a:extLst>
              <a:ext uri="{FF2B5EF4-FFF2-40B4-BE49-F238E27FC236}">
                <a16:creationId xmlns:a16="http://schemas.microsoft.com/office/drawing/2014/main" id="{49D4F943-6A79-76B7-7710-E5F4D91A4A7E}"/>
              </a:ext>
            </a:extLst>
          </p:cNvPr>
          <p:cNvSpPr/>
          <p:nvPr/>
        </p:nvSpPr>
        <p:spPr>
          <a:xfrm>
            <a:off x="685800" y="4944247"/>
            <a:ext cx="1814718" cy="1117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High-level transition plan</a:t>
            </a:r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A6478"/>
                </a:solidFill>
                <a:latin typeface="IBM Plex Sans" pitchFamily="34" charset="0"/>
              </a:rPr>
              <a:t>Phase quality gates</a:t>
            </a:r>
            <a:endParaRPr lang="en-US" sz="1000" dirty="0"/>
          </a:p>
        </p:txBody>
      </p:sp>
      <p:sp>
        <p:nvSpPr>
          <p:cNvPr id="58" name="Text 13">
            <a:extLst>
              <a:ext uri="{FF2B5EF4-FFF2-40B4-BE49-F238E27FC236}">
                <a16:creationId xmlns:a16="http://schemas.microsoft.com/office/drawing/2014/main" id="{F7EFCA89-B801-30BD-0586-A101540778AD}"/>
              </a:ext>
            </a:extLst>
          </p:cNvPr>
          <p:cNvSpPr/>
          <p:nvPr/>
        </p:nvSpPr>
        <p:spPr>
          <a:xfrm>
            <a:off x="2948574" y="4944247"/>
            <a:ext cx="1814718" cy="1117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Detailed transition plan</a:t>
            </a:r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A6478"/>
                </a:solidFill>
                <a:latin typeface="IBM Plex Sans" pitchFamily="34" charset="0"/>
              </a:rPr>
              <a:t>Phase completion report</a:t>
            </a:r>
            <a:endParaRPr lang="en-US" sz="1000" dirty="0"/>
          </a:p>
        </p:txBody>
      </p:sp>
      <p:sp>
        <p:nvSpPr>
          <p:cNvPr id="59" name="Text 13">
            <a:extLst>
              <a:ext uri="{FF2B5EF4-FFF2-40B4-BE49-F238E27FC236}">
                <a16:creationId xmlns:a16="http://schemas.microsoft.com/office/drawing/2014/main" id="{68DCACD4-3876-C1CD-1CB3-8CB313BA1D1D}"/>
              </a:ext>
            </a:extLst>
          </p:cNvPr>
          <p:cNvSpPr/>
          <p:nvPr/>
        </p:nvSpPr>
        <p:spPr>
          <a:xfrm>
            <a:off x="5211348" y="4944247"/>
            <a:ext cx="1814718" cy="1117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application understanding doc</a:t>
            </a:r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A6478"/>
                </a:solidFill>
                <a:latin typeface="IBM Plex Sans" pitchFamily="34" charset="0"/>
              </a:rPr>
              <a:t>Draft process &amp; procedure doc</a:t>
            </a:r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A6478"/>
                </a:solidFill>
                <a:latin typeface="IBM Plex Sans" pitchFamily="34" charset="0"/>
              </a:rPr>
              <a:t>Phase completion report</a:t>
            </a:r>
            <a:endParaRPr lang="en-US" sz="1000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26D8581D-FE6F-56D9-6721-8A0839206A5D}"/>
              </a:ext>
            </a:extLst>
          </p:cNvPr>
          <p:cNvSpPr/>
          <p:nvPr/>
        </p:nvSpPr>
        <p:spPr>
          <a:xfrm>
            <a:off x="7428403" y="4944247"/>
            <a:ext cx="1814718" cy="1117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application understanding doc</a:t>
            </a:r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A6478"/>
                </a:solidFill>
                <a:latin typeface="IBM Plex Sans" pitchFamily="34" charset="0"/>
              </a:rPr>
              <a:t>Draft process &amp; procedure doc</a:t>
            </a:r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A6478"/>
                </a:solidFill>
                <a:latin typeface="IBM Plex Sans" pitchFamily="34" charset="0"/>
              </a:rPr>
              <a:t>Phase completion report</a:t>
            </a:r>
            <a:endParaRPr lang="en-US" sz="1000" dirty="0"/>
          </a:p>
        </p:txBody>
      </p:sp>
      <p:sp>
        <p:nvSpPr>
          <p:cNvPr id="61" name="Text 13">
            <a:extLst>
              <a:ext uri="{FF2B5EF4-FFF2-40B4-BE49-F238E27FC236}">
                <a16:creationId xmlns:a16="http://schemas.microsoft.com/office/drawing/2014/main" id="{2C555033-63B9-953D-5AB5-7E104A47FBE2}"/>
              </a:ext>
            </a:extLst>
          </p:cNvPr>
          <p:cNvSpPr/>
          <p:nvPr/>
        </p:nvSpPr>
        <p:spPr>
          <a:xfrm>
            <a:off x="9736897" y="4944247"/>
            <a:ext cx="1814718" cy="1117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Final application understanding doc</a:t>
            </a:r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A6478"/>
                </a:solidFill>
                <a:latin typeface="IBM Plex Sans" pitchFamily="34" charset="0"/>
              </a:rPr>
              <a:t>Final process and procedure doc</a:t>
            </a:r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A6478"/>
                </a:solidFill>
                <a:latin typeface="IBM Plex Sans" pitchFamily="34" charset="0"/>
              </a:rPr>
              <a:t>Phase completion report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148913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E46271-A83A-561E-FC61-B9B0BC6B4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F5DE66F2-1497-BB73-FB6E-834153ADA8B8}"/>
              </a:ext>
            </a:extLst>
          </p:cNvPr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DELIVERY  ·  METHODOLOGY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05F62EE-1665-B2BC-5E07-17B25007C7A0}"/>
              </a:ext>
            </a:extLst>
          </p:cNvPr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Development factory,</a:t>
            </a:r>
            <a:endParaRPr lang="en-US" sz="2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8ABC491-BC0B-A671-92CE-F5BDF9770C6C}"/>
              </a:ext>
            </a:extLst>
          </p:cNvPr>
          <p:cNvSpPr/>
          <p:nvPr/>
        </p:nvSpPr>
        <p:spPr>
          <a:xfrm>
            <a:off x="502919" y="1577332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3F75A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industrialised.</a:t>
            </a:r>
            <a:endParaRPr lang="en-US" sz="2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A383724-7E83-2CF3-E0FE-9C123494FA11}"/>
              </a:ext>
            </a:extLst>
          </p:cNvPr>
          <p:cNvSpPr/>
          <p:nvPr/>
        </p:nvSpPr>
        <p:spPr>
          <a:xfrm>
            <a:off x="502919" y="2411726"/>
            <a:ext cx="36753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standardised, repeatable, automated development model — built on factory principles to drive quality, productivity and predictable throughput.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CE68EAA-571F-6B99-318F-7ED4628903C2}"/>
              </a:ext>
            </a:extLst>
          </p:cNvPr>
          <p:cNvSpPr/>
          <p:nvPr/>
        </p:nvSpPr>
        <p:spPr>
          <a:xfrm>
            <a:off x="487680" y="3250693"/>
            <a:ext cx="36906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FACTORY PRINCIPLES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7BD262A-9025-12BF-77A3-B877D7DEDED3}"/>
              </a:ext>
            </a:extLst>
          </p:cNvPr>
          <p:cNvSpPr/>
          <p:nvPr/>
        </p:nvSpPr>
        <p:spPr>
          <a:xfrm>
            <a:off x="487680" y="3570733"/>
            <a:ext cx="369061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Standard, repeatable, automated services in a leveraged service-centre model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Factory model with output measurement for quality, productivity and efficiency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ALM support for application development lifecycles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Integrated testing capability for quality assurance and compliance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Driven by proven best practices, frameworks, templates and tools</a:t>
            </a:r>
            <a:endParaRPr lang="en-US" sz="1250" dirty="0"/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43A3C2A1-3894-FB6C-DAF0-071DE7E6AFE9}"/>
              </a:ext>
            </a:extLst>
          </p:cNvPr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72C623F3-1DC7-E923-99B3-9B1672CB4BA6}"/>
              </a:ext>
            </a:extLst>
          </p:cNvPr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36</a:t>
            </a:r>
            <a:endParaRPr lang="en-US" sz="900" dirty="0"/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D5709E31-6A51-CB00-B80D-75CDD89EEB3A}"/>
              </a:ext>
            </a:extLst>
          </p:cNvPr>
          <p:cNvSpPr>
            <a:spLocks noChangeAspect="1"/>
          </p:cNvSpPr>
          <p:nvPr/>
        </p:nvSpPr>
        <p:spPr>
          <a:xfrm>
            <a:off x="11343040" y="145576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11205275-82E2-DCDF-14E8-5DDEF4814CC9}"/>
              </a:ext>
            </a:extLst>
          </p:cNvPr>
          <p:cNvSpPr>
            <a:spLocks noChangeAspect="1"/>
          </p:cNvSpPr>
          <p:nvPr/>
        </p:nvSpPr>
        <p:spPr>
          <a:xfrm>
            <a:off x="11105147" y="398337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Shape 37">
            <a:extLst>
              <a:ext uri="{FF2B5EF4-FFF2-40B4-BE49-F238E27FC236}">
                <a16:creationId xmlns:a16="http://schemas.microsoft.com/office/drawing/2014/main" id="{85092E52-249A-C9D5-48A2-81FBBFF99274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9D1B67F-E487-A866-591F-D79D707D8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sp>
        <p:nvSpPr>
          <p:cNvPr id="4" name="Shape 12">
            <a:extLst>
              <a:ext uri="{FF2B5EF4-FFF2-40B4-BE49-F238E27FC236}">
                <a16:creationId xmlns:a16="http://schemas.microsoft.com/office/drawing/2014/main" id="{3E0EA0CA-E25D-3604-7D3A-366BE980BBC5}"/>
              </a:ext>
            </a:extLst>
          </p:cNvPr>
          <p:cNvSpPr/>
          <p:nvPr/>
        </p:nvSpPr>
        <p:spPr>
          <a:xfrm>
            <a:off x="6662847" y="1585144"/>
            <a:ext cx="2944368" cy="540818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5" name="Shape 13">
            <a:extLst>
              <a:ext uri="{FF2B5EF4-FFF2-40B4-BE49-F238E27FC236}">
                <a16:creationId xmlns:a16="http://schemas.microsoft.com/office/drawing/2014/main" id="{74F3304C-B455-CAE9-1129-FA487CF0B033}"/>
              </a:ext>
            </a:extLst>
          </p:cNvPr>
          <p:cNvSpPr/>
          <p:nvPr/>
        </p:nvSpPr>
        <p:spPr>
          <a:xfrm>
            <a:off x="6662847" y="1585144"/>
            <a:ext cx="2944368" cy="45719"/>
          </a:xfrm>
          <a:prstGeom prst="rect">
            <a:avLst/>
          </a:prstGeom>
          <a:solidFill>
            <a:srgbClr val="C1BC9C"/>
          </a:solidFill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" name="Shape 17">
            <a:extLst>
              <a:ext uri="{FF2B5EF4-FFF2-40B4-BE49-F238E27FC236}">
                <a16:creationId xmlns:a16="http://schemas.microsoft.com/office/drawing/2014/main" id="{2202DF43-779D-C341-DF8C-D9BF36AA4B30}"/>
              </a:ext>
            </a:extLst>
          </p:cNvPr>
          <p:cNvSpPr/>
          <p:nvPr/>
        </p:nvSpPr>
        <p:spPr>
          <a:xfrm>
            <a:off x="9746165" y="1585144"/>
            <a:ext cx="1680115" cy="540818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3" name="Shape 18">
            <a:extLst>
              <a:ext uri="{FF2B5EF4-FFF2-40B4-BE49-F238E27FC236}">
                <a16:creationId xmlns:a16="http://schemas.microsoft.com/office/drawing/2014/main" id="{6015551A-CA3F-D689-1EAC-60FA3D699085}"/>
              </a:ext>
            </a:extLst>
          </p:cNvPr>
          <p:cNvSpPr/>
          <p:nvPr/>
        </p:nvSpPr>
        <p:spPr>
          <a:xfrm>
            <a:off x="9746165" y="1585144"/>
            <a:ext cx="1680115" cy="45719"/>
          </a:xfrm>
          <a:prstGeom prst="rect">
            <a:avLst/>
          </a:prstGeom>
          <a:solidFill>
            <a:srgbClr val="C1BC9C"/>
          </a:solidFill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4" name="Shape 17">
            <a:extLst>
              <a:ext uri="{FF2B5EF4-FFF2-40B4-BE49-F238E27FC236}">
                <a16:creationId xmlns:a16="http://schemas.microsoft.com/office/drawing/2014/main" id="{3A1C1D51-2BF1-AD1B-D928-811F0F19B050}"/>
              </a:ext>
            </a:extLst>
          </p:cNvPr>
          <p:cNvSpPr/>
          <p:nvPr/>
        </p:nvSpPr>
        <p:spPr>
          <a:xfrm>
            <a:off x="4843782" y="1588577"/>
            <a:ext cx="1680115" cy="540818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5" name="Shape 18">
            <a:extLst>
              <a:ext uri="{FF2B5EF4-FFF2-40B4-BE49-F238E27FC236}">
                <a16:creationId xmlns:a16="http://schemas.microsoft.com/office/drawing/2014/main" id="{92B14152-89A9-6EB3-9239-E0C98C2B5A6C}"/>
              </a:ext>
            </a:extLst>
          </p:cNvPr>
          <p:cNvSpPr/>
          <p:nvPr/>
        </p:nvSpPr>
        <p:spPr>
          <a:xfrm>
            <a:off x="4843782" y="1588577"/>
            <a:ext cx="1680115" cy="45719"/>
          </a:xfrm>
          <a:prstGeom prst="rect">
            <a:avLst/>
          </a:prstGeom>
          <a:solidFill>
            <a:srgbClr val="C1BC9C"/>
          </a:solidFill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3493D33E-A13C-0AA7-77FC-E02B1C2396AD}"/>
              </a:ext>
            </a:extLst>
          </p:cNvPr>
          <p:cNvSpPr/>
          <p:nvPr/>
        </p:nvSpPr>
        <p:spPr>
          <a:xfrm>
            <a:off x="4976598" y="1700863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B8D0"/>
                </a:solidFill>
                <a:latin typeface="Newsreader Caption" pitchFamily="2" charset="77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>
              <a:solidFill>
                <a:srgbClr val="94B8D0"/>
              </a:solidFill>
              <a:latin typeface="Newsreader Caption" pitchFamily="2" charset="77"/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8F95AAF0-59F0-65CD-C16B-D000F6066988}"/>
              </a:ext>
            </a:extLst>
          </p:cNvPr>
          <p:cNvSpPr/>
          <p:nvPr/>
        </p:nvSpPr>
        <p:spPr>
          <a:xfrm>
            <a:off x="7417227" y="1697348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B8D0"/>
                </a:solidFill>
                <a:latin typeface="Newsreader Caption" pitchFamily="2" charset="77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>
              <a:solidFill>
                <a:srgbClr val="94B8D0"/>
              </a:solidFill>
              <a:latin typeface="Newsreader Caption" pitchFamily="2" charset="77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2765D36A-30D4-FAA7-852C-2027A74BD485}"/>
              </a:ext>
            </a:extLst>
          </p:cNvPr>
          <p:cNvSpPr/>
          <p:nvPr/>
        </p:nvSpPr>
        <p:spPr>
          <a:xfrm>
            <a:off x="9830595" y="1693739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B8D0"/>
                </a:solidFill>
                <a:latin typeface="Newsreader Caption" pitchFamily="2" charset="77"/>
                <a:ea typeface="Calibri" pitchFamily="34" charset="-122"/>
                <a:cs typeface="Calibri" pitchFamily="34" charset="-120"/>
              </a:rPr>
              <a:t>Run</a:t>
            </a:r>
            <a:endParaRPr lang="en-US" sz="1200" dirty="0">
              <a:solidFill>
                <a:srgbClr val="94B8D0"/>
              </a:solidFill>
              <a:latin typeface="Newsreader Caption" pitchFamily="2" charset="77"/>
            </a:endParaRPr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9A938044-D562-398A-DE2F-1F8382D6DFAA}"/>
              </a:ext>
            </a:extLst>
          </p:cNvPr>
          <p:cNvSpPr/>
          <p:nvPr/>
        </p:nvSpPr>
        <p:spPr>
          <a:xfrm>
            <a:off x="4843782" y="2244843"/>
            <a:ext cx="1680115" cy="3522709"/>
          </a:xfrm>
          <a:prstGeom prst="rect">
            <a:avLst/>
          </a:prstGeom>
          <a:solidFill>
            <a:srgbClr val="F7F8FA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FEAA42B4-BA2A-D648-B6C0-652E58DFA01A}"/>
              </a:ext>
            </a:extLst>
          </p:cNvPr>
          <p:cNvSpPr/>
          <p:nvPr/>
        </p:nvSpPr>
        <p:spPr>
          <a:xfrm>
            <a:off x="9746165" y="2244843"/>
            <a:ext cx="1680115" cy="3522709"/>
          </a:xfrm>
          <a:prstGeom prst="rect">
            <a:avLst/>
          </a:prstGeom>
          <a:solidFill>
            <a:srgbClr val="F7F8FA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7352B542-487B-8534-11AA-320B062CDA80}"/>
              </a:ext>
            </a:extLst>
          </p:cNvPr>
          <p:cNvSpPr/>
          <p:nvPr/>
        </p:nvSpPr>
        <p:spPr>
          <a:xfrm>
            <a:off x="6662847" y="2244843"/>
            <a:ext cx="2944368" cy="3522709"/>
          </a:xfrm>
          <a:prstGeom prst="rect">
            <a:avLst/>
          </a:prstGeom>
          <a:solidFill>
            <a:srgbClr val="F7F8FA"/>
          </a:solidFill>
          <a:ln w="9525">
            <a:solidFill>
              <a:srgbClr val="D8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FBFEE1FE-4DA5-B8E1-EDA3-F87D55D97CF0}"/>
              </a:ext>
            </a:extLst>
          </p:cNvPr>
          <p:cNvSpPr/>
          <p:nvPr/>
        </p:nvSpPr>
        <p:spPr>
          <a:xfrm>
            <a:off x="4997234" y="2594597"/>
            <a:ext cx="1394335" cy="540818"/>
          </a:xfrm>
          <a:prstGeom prst="rect">
            <a:avLst/>
          </a:prstGeom>
          <a:solidFill>
            <a:srgbClr val="94B8D0"/>
          </a:solidFill>
          <a:ln w="12700">
            <a:noFill/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48D56238-1643-85C3-A4C3-1B492741A6D1}"/>
              </a:ext>
            </a:extLst>
          </p:cNvPr>
          <p:cNvSpPr/>
          <p:nvPr/>
        </p:nvSpPr>
        <p:spPr>
          <a:xfrm>
            <a:off x="4997233" y="3250863"/>
            <a:ext cx="1394335" cy="540818"/>
          </a:xfrm>
          <a:prstGeom prst="rect">
            <a:avLst/>
          </a:prstGeom>
          <a:solidFill>
            <a:srgbClr val="94B8D0"/>
          </a:solidFill>
          <a:ln w="12700">
            <a:noFill/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4" name="Shape 17">
            <a:extLst>
              <a:ext uri="{FF2B5EF4-FFF2-40B4-BE49-F238E27FC236}">
                <a16:creationId xmlns:a16="http://schemas.microsoft.com/office/drawing/2014/main" id="{4E404768-4D7D-1B48-E317-CEA9ED8CCF93}"/>
              </a:ext>
            </a:extLst>
          </p:cNvPr>
          <p:cNvSpPr/>
          <p:nvPr/>
        </p:nvSpPr>
        <p:spPr>
          <a:xfrm>
            <a:off x="4986671" y="3910665"/>
            <a:ext cx="1394335" cy="540818"/>
          </a:xfrm>
          <a:prstGeom prst="rect">
            <a:avLst/>
          </a:prstGeom>
          <a:solidFill>
            <a:srgbClr val="94B8D0"/>
          </a:solidFill>
          <a:ln w="12700">
            <a:noFill/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2674CB84-A76D-C132-D94E-8130609ED5FB}"/>
              </a:ext>
            </a:extLst>
          </p:cNvPr>
          <p:cNvSpPr/>
          <p:nvPr/>
        </p:nvSpPr>
        <p:spPr>
          <a:xfrm>
            <a:off x="4986670" y="4561134"/>
            <a:ext cx="1394335" cy="540818"/>
          </a:xfrm>
          <a:prstGeom prst="rect">
            <a:avLst/>
          </a:prstGeom>
          <a:solidFill>
            <a:srgbClr val="94B8D0"/>
          </a:solidFill>
          <a:ln w="12700">
            <a:noFill/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6" name="Shape 17">
            <a:extLst>
              <a:ext uri="{FF2B5EF4-FFF2-40B4-BE49-F238E27FC236}">
                <a16:creationId xmlns:a16="http://schemas.microsoft.com/office/drawing/2014/main" id="{8DFCE97D-5DED-0D7A-32E9-29D1D2216006}"/>
              </a:ext>
            </a:extLst>
          </p:cNvPr>
          <p:cNvSpPr/>
          <p:nvPr/>
        </p:nvSpPr>
        <p:spPr>
          <a:xfrm>
            <a:off x="9892995" y="2594597"/>
            <a:ext cx="1394335" cy="540818"/>
          </a:xfrm>
          <a:prstGeom prst="rect">
            <a:avLst/>
          </a:prstGeom>
          <a:solidFill>
            <a:srgbClr val="94B8D0"/>
          </a:solidFill>
          <a:ln w="12700">
            <a:noFill/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7" name="Shape 17">
            <a:extLst>
              <a:ext uri="{FF2B5EF4-FFF2-40B4-BE49-F238E27FC236}">
                <a16:creationId xmlns:a16="http://schemas.microsoft.com/office/drawing/2014/main" id="{55C38810-9DA7-A640-9FC7-DF459F4D4609}"/>
              </a:ext>
            </a:extLst>
          </p:cNvPr>
          <p:cNvSpPr/>
          <p:nvPr/>
        </p:nvSpPr>
        <p:spPr>
          <a:xfrm>
            <a:off x="9892994" y="3250863"/>
            <a:ext cx="1394335" cy="540818"/>
          </a:xfrm>
          <a:prstGeom prst="rect">
            <a:avLst/>
          </a:prstGeom>
          <a:solidFill>
            <a:srgbClr val="94B8D0"/>
          </a:solidFill>
          <a:ln w="12700">
            <a:noFill/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8" name="Shape 17">
            <a:extLst>
              <a:ext uri="{FF2B5EF4-FFF2-40B4-BE49-F238E27FC236}">
                <a16:creationId xmlns:a16="http://schemas.microsoft.com/office/drawing/2014/main" id="{7BEF882E-21C9-B67E-8400-CDD19A9489E5}"/>
              </a:ext>
            </a:extLst>
          </p:cNvPr>
          <p:cNvSpPr/>
          <p:nvPr/>
        </p:nvSpPr>
        <p:spPr>
          <a:xfrm>
            <a:off x="9882432" y="3910665"/>
            <a:ext cx="1394335" cy="540818"/>
          </a:xfrm>
          <a:prstGeom prst="rect">
            <a:avLst/>
          </a:prstGeom>
          <a:solidFill>
            <a:srgbClr val="94B8D0"/>
          </a:solidFill>
          <a:ln w="12700">
            <a:noFill/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5" name="Shape 17">
            <a:extLst>
              <a:ext uri="{FF2B5EF4-FFF2-40B4-BE49-F238E27FC236}">
                <a16:creationId xmlns:a16="http://schemas.microsoft.com/office/drawing/2014/main" id="{C666EE88-D186-112F-764B-E9652E6EE059}"/>
              </a:ext>
            </a:extLst>
          </p:cNvPr>
          <p:cNvSpPr/>
          <p:nvPr/>
        </p:nvSpPr>
        <p:spPr>
          <a:xfrm>
            <a:off x="6751847" y="2594596"/>
            <a:ext cx="2771294" cy="1574835"/>
          </a:xfrm>
          <a:prstGeom prst="rect">
            <a:avLst/>
          </a:prstGeom>
          <a:solidFill>
            <a:srgbClr val="3F74A2"/>
          </a:solidFill>
          <a:ln w="12700">
            <a:noFill/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6" name="Shape 17">
            <a:extLst>
              <a:ext uri="{FF2B5EF4-FFF2-40B4-BE49-F238E27FC236}">
                <a16:creationId xmlns:a16="http://schemas.microsoft.com/office/drawing/2014/main" id="{1D032405-7556-BDD7-0308-BD4E8E9F6D51}"/>
              </a:ext>
            </a:extLst>
          </p:cNvPr>
          <p:cNvSpPr/>
          <p:nvPr/>
        </p:nvSpPr>
        <p:spPr>
          <a:xfrm>
            <a:off x="6740697" y="4290725"/>
            <a:ext cx="1120914" cy="540818"/>
          </a:xfrm>
          <a:prstGeom prst="rect">
            <a:avLst/>
          </a:prstGeom>
          <a:solidFill>
            <a:srgbClr val="121E3B"/>
          </a:solidFill>
          <a:ln w="12700">
            <a:noFill/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DD80FA96-49B9-AA89-933D-25E2BEFE71FB}"/>
              </a:ext>
            </a:extLst>
          </p:cNvPr>
          <p:cNvSpPr/>
          <p:nvPr/>
        </p:nvSpPr>
        <p:spPr>
          <a:xfrm>
            <a:off x="8402227" y="4288311"/>
            <a:ext cx="1120914" cy="540818"/>
          </a:xfrm>
          <a:prstGeom prst="rect">
            <a:avLst/>
          </a:prstGeom>
          <a:solidFill>
            <a:srgbClr val="121E3B"/>
          </a:solidFill>
          <a:ln w="12700">
            <a:noFill/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8" name="Shape 17">
            <a:extLst>
              <a:ext uri="{FF2B5EF4-FFF2-40B4-BE49-F238E27FC236}">
                <a16:creationId xmlns:a16="http://schemas.microsoft.com/office/drawing/2014/main" id="{C0B6E2D5-7E7A-C095-7903-60E76C5AD8C9}"/>
              </a:ext>
            </a:extLst>
          </p:cNvPr>
          <p:cNvSpPr/>
          <p:nvPr/>
        </p:nvSpPr>
        <p:spPr>
          <a:xfrm>
            <a:off x="7437863" y="4964530"/>
            <a:ext cx="1394335" cy="540818"/>
          </a:xfrm>
          <a:prstGeom prst="rect">
            <a:avLst/>
          </a:prstGeom>
          <a:solidFill>
            <a:srgbClr val="94B8D0"/>
          </a:solidFill>
          <a:ln w="12700">
            <a:noFill/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504870CE-1AEE-DD13-FF1F-E2D019AFDAB0}"/>
              </a:ext>
            </a:extLst>
          </p:cNvPr>
          <p:cNvSpPr/>
          <p:nvPr/>
        </p:nvSpPr>
        <p:spPr>
          <a:xfrm>
            <a:off x="5048667" y="2703218"/>
            <a:ext cx="12914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E3B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Strategy Alignment</a:t>
            </a:r>
            <a:endParaRPr lang="en-US" sz="1200" dirty="0">
              <a:solidFill>
                <a:srgbClr val="121E3B"/>
              </a:solidFill>
              <a:latin typeface="IBM Plex Sans" panose="020B0503050203000203" pitchFamily="34" charset="77"/>
            </a:endParaRPr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18C86468-F07E-3841-68B1-9F8C940C48B5}"/>
              </a:ext>
            </a:extLst>
          </p:cNvPr>
          <p:cNvSpPr/>
          <p:nvPr/>
        </p:nvSpPr>
        <p:spPr>
          <a:xfrm>
            <a:off x="5048667" y="3370058"/>
            <a:ext cx="12914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E3B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Integrated App Architecture</a:t>
            </a:r>
            <a:endParaRPr lang="en-US" sz="1200" dirty="0">
              <a:solidFill>
                <a:srgbClr val="121E3B"/>
              </a:solidFill>
              <a:latin typeface="IBM Plex Sans" panose="020B0503050203000203" pitchFamily="34" charset="77"/>
            </a:endParaRPr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61147E2A-7E0C-4FDE-9121-DF79EC0F66FD}"/>
              </a:ext>
            </a:extLst>
          </p:cNvPr>
          <p:cNvSpPr/>
          <p:nvPr/>
        </p:nvSpPr>
        <p:spPr>
          <a:xfrm>
            <a:off x="5038104" y="4016387"/>
            <a:ext cx="12914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E3B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Demand Management</a:t>
            </a:r>
            <a:endParaRPr lang="en-US" sz="1200" dirty="0">
              <a:solidFill>
                <a:srgbClr val="121E3B"/>
              </a:solidFill>
              <a:latin typeface="IBM Plex Sans" panose="020B0503050203000203" pitchFamily="34" charset="77"/>
            </a:endParaRPr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379D41DB-B8E9-C7CD-4CC1-6ED6723703E5}"/>
              </a:ext>
            </a:extLst>
          </p:cNvPr>
          <p:cNvSpPr/>
          <p:nvPr/>
        </p:nvSpPr>
        <p:spPr>
          <a:xfrm>
            <a:off x="5048667" y="4669109"/>
            <a:ext cx="12914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E3B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Projectize</a:t>
            </a:r>
            <a:endParaRPr lang="en-US" sz="1200" dirty="0">
              <a:solidFill>
                <a:srgbClr val="121E3B"/>
              </a:solidFill>
              <a:latin typeface="IBM Plex Sans" panose="020B0503050203000203" pitchFamily="34" charset="77"/>
            </a:endParaRPr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B31F218A-D5BB-0A0E-5BFF-36256AB5F7AB}"/>
              </a:ext>
            </a:extLst>
          </p:cNvPr>
          <p:cNvSpPr/>
          <p:nvPr/>
        </p:nvSpPr>
        <p:spPr>
          <a:xfrm>
            <a:off x="9902666" y="2699759"/>
            <a:ext cx="12914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E3B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Test Env</a:t>
            </a:r>
            <a:endParaRPr lang="en-US" sz="1200" dirty="0">
              <a:solidFill>
                <a:srgbClr val="121E3B"/>
              </a:solidFill>
              <a:latin typeface="IBM Plex Sans" panose="020B0503050203000203" pitchFamily="34" charset="77"/>
            </a:endParaRPr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1E279DB4-219F-BA2E-AEE1-3CF2A96BED7E}"/>
              </a:ext>
            </a:extLst>
          </p:cNvPr>
          <p:cNvSpPr/>
          <p:nvPr/>
        </p:nvSpPr>
        <p:spPr>
          <a:xfrm>
            <a:off x="9940489" y="3357793"/>
            <a:ext cx="12914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E3B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Pre-Prod Env</a:t>
            </a:r>
            <a:endParaRPr lang="en-US" sz="1200" dirty="0">
              <a:solidFill>
                <a:srgbClr val="121E3B"/>
              </a:solidFill>
              <a:latin typeface="IBM Plex Sans" panose="020B0503050203000203" pitchFamily="34" charset="77"/>
            </a:endParaRPr>
          </a:p>
        </p:txBody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5EB828E2-2F6A-D1FD-37E3-2F2337BB60C3}"/>
              </a:ext>
            </a:extLst>
          </p:cNvPr>
          <p:cNvSpPr/>
          <p:nvPr/>
        </p:nvSpPr>
        <p:spPr>
          <a:xfrm>
            <a:off x="9933866" y="4021738"/>
            <a:ext cx="12914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E3B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Prod Env</a:t>
            </a:r>
            <a:endParaRPr lang="en-US" sz="1200" dirty="0">
              <a:solidFill>
                <a:srgbClr val="121E3B"/>
              </a:solidFill>
              <a:latin typeface="IBM Plex Sans" panose="020B0503050203000203" pitchFamily="34" charset="77"/>
            </a:endParaRPr>
          </a:p>
        </p:txBody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7226BD5D-B1E5-FAC9-3F0D-CED24A3EF0AA}"/>
              </a:ext>
            </a:extLst>
          </p:cNvPr>
          <p:cNvSpPr/>
          <p:nvPr/>
        </p:nvSpPr>
        <p:spPr>
          <a:xfrm>
            <a:off x="7489297" y="5074919"/>
            <a:ext cx="12914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E3B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Integrated Delivery</a:t>
            </a:r>
            <a:endParaRPr lang="en-US" sz="1200" dirty="0">
              <a:solidFill>
                <a:srgbClr val="121E3B"/>
              </a:solidFill>
              <a:latin typeface="IBM Plex Sans" panose="020B0503050203000203" pitchFamily="34" charset="77"/>
            </a:endParaRPr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0CCBA9C8-15BC-27AF-5F6E-65A7419A0556}"/>
              </a:ext>
            </a:extLst>
          </p:cNvPr>
          <p:cNvSpPr/>
          <p:nvPr/>
        </p:nvSpPr>
        <p:spPr>
          <a:xfrm>
            <a:off x="6655421" y="4400545"/>
            <a:ext cx="12914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>
              <a:solidFill>
                <a:srgbClr val="FFFFFF"/>
              </a:solidFill>
              <a:latin typeface="IBM Plex Sans" panose="020B0503050203000203" pitchFamily="34" charset="77"/>
            </a:endParaRPr>
          </a:p>
        </p:txBody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E8CA5010-7F1E-1BB6-98B8-A8ADA6F3D220}"/>
              </a:ext>
            </a:extLst>
          </p:cNvPr>
          <p:cNvSpPr/>
          <p:nvPr/>
        </p:nvSpPr>
        <p:spPr>
          <a:xfrm>
            <a:off x="8305186" y="4407394"/>
            <a:ext cx="12914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Release</a:t>
            </a:r>
            <a:endParaRPr lang="en-US" sz="1200" dirty="0">
              <a:solidFill>
                <a:srgbClr val="FFFFFF"/>
              </a:solidFill>
              <a:latin typeface="IBM Plex Sans" panose="020B0503050203000203" pitchFamily="34" charset="77"/>
            </a:endParaRPr>
          </a:p>
        </p:txBody>
      </p:sp>
      <p:sp>
        <p:nvSpPr>
          <p:cNvPr id="109" name="Rectangle 111">
            <a:extLst>
              <a:ext uri="{FF2B5EF4-FFF2-40B4-BE49-F238E27FC236}">
                <a16:creationId xmlns:a16="http://schemas.microsoft.com/office/drawing/2014/main" id="{D8812336-DAC0-B8AE-34BB-8DA0CDB14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0824" y="3530098"/>
            <a:ext cx="1099507" cy="161837"/>
          </a:xfrm>
          <a:prstGeom prst="roundRect">
            <a:avLst/>
          </a:prstGeom>
          <a:solidFill>
            <a:srgbClr val="C1BC9C"/>
          </a:solidFill>
          <a:ln w="9525">
            <a:noFill/>
            <a:miter lim="800000"/>
            <a:headEnd/>
            <a:tailEnd/>
          </a:ln>
        </p:spPr>
        <p:txBody>
          <a:bodyPr lIns="20574" tIns="20574" rIns="20574" bIns="20574" anchor="ctr"/>
          <a:lstStyle/>
          <a:p>
            <a:pPr algn="ctr" fontAlgn="base">
              <a:lnSpc>
                <a:spcPct val="90000"/>
              </a:lnSpc>
              <a:spcBef>
                <a:spcPts val="225"/>
              </a:spcBef>
              <a:spcAft>
                <a:spcPct val="0"/>
              </a:spcAft>
              <a:defRPr/>
            </a:pPr>
            <a:r>
              <a:rPr lang="en-US" altLang="en-US" sz="900" dirty="0">
                <a:solidFill>
                  <a:srgbClr val="FFFFFF"/>
                </a:solidFill>
                <a:latin typeface="Century Gothic" panose="020B0502020202020204" pitchFamily="34" charset="0"/>
                <a:ea typeface="MS PGothic" pitchFamily="34" charset="-128"/>
                <a:cs typeface="Arial" panose="020B0604020202020204" pitchFamily="34" charset="0"/>
              </a:rPr>
              <a:t>Develop</a:t>
            </a:r>
          </a:p>
        </p:txBody>
      </p:sp>
      <p:sp>
        <p:nvSpPr>
          <p:cNvPr id="110" name="Rectangle 111">
            <a:extLst>
              <a:ext uri="{FF2B5EF4-FFF2-40B4-BE49-F238E27FC236}">
                <a16:creationId xmlns:a16="http://schemas.microsoft.com/office/drawing/2014/main" id="{232926D5-A554-BC5F-234A-21DBBE845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0824" y="3744247"/>
            <a:ext cx="1099507" cy="160202"/>
          </a:xfrm>
          <a:prstGeom prst="roundRect">
            <a:avLst/>
          </a:prstGeom>
          <a:solidFill>
            <a:srgbClr val="C1BC9C"/>
          </a:solidFill>
          <a:ln w="9525">
            <a:noFill/>
            <a:miter lim="800000"/>
            <a:headEnd/>
            <a:tailEnd/>
          </a:ln>
        </p:spPr>
        <p:txBody>
          <a:bodyPr lIns="20574" tIns="20574" rIns="20574" bIns="20574" anchor="ctr"/>
          <a:lstStyle/>
          <a:p>
            <a:pPr algn="ctr" fontAlgn="base">
              <a:lnSpc>
                <a:spcPct val="90000"/>
              </a:lnSpc>
              <a:spcBef>
                <a:spcPts val="225"/>
              </a:spcBef>
              <a:spcAft>
                <a:spcPct val="0"/>
              </a:spcAft>
              <a:defRPr/>
            </a:pPr>
            <a:r>
              <a:rPr lang="en-US" sz="900" dirty="0">
                <a:solidFill>
                  <a:srgbClr val="FFFFFF"/>
                </a:solidFill>
                <a:latin typeface="Century Gothic" panose="020B0502020202020204" pitchFamily="34" charset="0"/>
                <a:ea typeface="MS PGothic" pitchFamily="34" charset="-128"/>
                <a:cs typeface="Arial" panose="020B0604020202020204" pitchFamily="34" charset="0"/>
              </a:rPr>
              <a:t>Rebuild</a:t>
            </a:r>
          </a:p>
        </p:txBody>
      </p:sp>
      <p:sp>
        <p:nvSpPr>
          <p:cNvPr id="111" name="Rectangle 111">
            <a:extLst>
              <a:ext uri="{FF2B5EF4-FFF2-40B4-BE49-F238E27FC236}">
                <a16:creationId xmlns:a16="http://schemas.microsoft.com/office/drawing/2014/main" id="{F419C95A-5D78-30B6-578E-D901DFEAC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2320" y="3324124"/>
            <a:ext cx="1101000" cy="160202"/>
          </a:xfrm>
          <a:prstGeom prst="roundRect">
            <a:avLst/>
          </a:prstGeom>
          <a:solidFill>
            <a:srgbClr val="C1BC9C"/>
          </a:solidFill>
          <a:ln w="9525">
            <a:noFill/>
            <a:miter lim="800000"/>
            <a:headEnd/>
            <a:tailEnd/>
          </a:ln>
        </p:spPr>
        <p:txBody>
          <a:bodyPr lIns="20574" tIns="20574" rIns="20574" bIns="20574" anchor="ctr"/>
          <a:lstStyle/>
          <a:p>
            <a:pPr algn="ctr" fontAlgn="base">
              <a:lnSpc>
                <a:spcPct val="90000"/>
              </a:lnSpc>
              <a:spcBef>
                <a:spcPts val="225"/>
              </a:spcBef>
              <a:spcAft>
                <a:spcPct val="0"/>
              </a:spcAft>
              <a:defRPr/>
            </a:pPr>
            <a:r>
              <a:rPr lang="en-US" altLang="en-US" sz="900" dirty="0">
                <a:solidFill>
                  <a:srgbClr val="FFFFFF"/>
                </a:solidFill>
                <a:latin typeface="Century Gothic" panose="020B0502020202020204" pitchFamily="34" charset="0"/>
                <a:ea typeface="MS PGothic" pitchFamily="34" charset="-128"/>
                <a:cs typeface="Arial" panose="020B0604020202020204" pitchFamily="34" charset="0"/>
              </a:rPr>
              <a:t>Design</a:t>
            </a:r>
          </a:p>
        </p:txBody>
      </p:sp>
      <p:sp>
        <p:nvSpPr>
          <p:cNvPr id="112" name="Text 10">
            <a:extLst>
              <a:ext uri="{FF2B5EF4-FFF2-40B4-BE49-F238E27FC236}">
                <a16:creationId xmlns:a16="http://schemas.microsoft.com/office/drawing/2014/main" id="{EA785AF3-CD30-4983-EE8F-D494BF5C8F9C}"/>
              </a:ext>
            </a:extLst>
          </p:cNvPr>
          <p:cNvSpPr/>
          <p:nvPr/>
        </p:nvSpPr>
        <p:spPr>
          <a:xfrm>
            <a:off x="7489297" y="2766555"/>
            <a:ext cx="12914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anose="020B0503050203000203" pitchFamily="34" charset="77"/>
                <a:ea typeface="Calibri" pitchFamily="34" charset="-122"/>
                <a:cs typeface="Calibri" pitchFamily="34" charset="-120"/>
              </a:rPr>
              <a:t>Development Factory</a:t>
            </a:r>
            <a:endParaRPr lang="en-US" sz="1200" dirty="0">
              <a:solidFill>
                <a:srgbClr val="FFFFFF"/>
              </a:solidFill>
              <a:latin typeface="IBM Plex Sans" panose="020B050305020300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424429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9BBBD-3185-99E8-150C-8C20FDDFA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>
            <a:extLst>
              <a:ext uri="{FF2B5EF4-FFF2-40B4-BE49-F238E27FC236}">
                <a16:creationId xmlns:a16="http://schemas.microsoft.com/office/drawing/2014/main" id="{E1C8C47E-7A2A-ACCB-3C5E-32FF5014AE50}"/>
              </a:ext>
            </a:extLst>
          </p:cNvPr>
          <p:cNvSpPr/>
          <p:nvPr/>
        </p:nvSpPr>
        <p:spPr>
          <a:xfrm>
            <a:off x="502920" y="3611880"/>
            <a:ext cx="11185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CB37967-09E0-B116-9B7B-8D2AB505ACAF}"/>
              </a:ext>
            </a:extLst>
          </p:cNvPr>
          <p:cNvSpPr/>
          <p:nvPr/>
        </p:nvSpPr>
        <p:spPr>
          <a:xfrm>
            <a:off x="502920" y="6035040"/>
            <a:ext cx="11185855" cy="0"/>
          </a:xfrm>
          <a:prstGeom prst="line">
            <a:avLst/>
          </a:prstGeom>
          <a:noFill/>
          <a:ln w="9525">
            <a:solidFill>
              <a:srgbClr val="2A3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54E5090-9EBE-7762-45E6-CD269B3ACB65}"/>
              </a:ext>
            </a:extLst>
          </p:cNvPr>
          <p:cNvSpPr/>
          <p:nvPr/>
        </p:nvSpPr>
        <p:spPr>
          <a:xfrm>
            <a:off x="8945575" y="6172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4" name="Text 12">
            <a:extLst>
              <a:ext uri="{FF2B5EF4-FFF2-40B4-BE49-F238E27FC236}">
                <a16:creationId xmlns:a16="http://schemas.microsoft.com/office/drawing/2014/main" id="{9BD5E2DE-3898-E3AF-5F11-01E4E3E3806C}"/>
              </a:ext>
            </a:extLst>
          </p:cNvPr>
          <p:cNvSpPr/>
          <p:nvPr/>
        </p:nvSpPr>
        <p:spPr>
          <a:xfrm>
            <a:off x="2804053" y="61822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MAY 2026</a:t>
            </a:r>
            <a:endParaRPr lang="en-US" sz="1000" dirty="0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602B9DF6-F6BD-7342-0C1C-341C936F17F8}"/>
              </a:ext>
            </a:extLst>
          </p:cNvPr>
          <p:cNvSpPr/>
          <p:nvPr/>
        </p:nvSpPr>
        <p:spPr>
          <a:xfrm>
            <a:off x="3123209" y="2457927"/>
            <a:ext cx="6543305" cy="1153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CLIENTELE  </a:t>
            </a:r>
          </a:p>
          <a:p>
            <a:pPr algn="ctr"/>
            <a:r>
              <a:rPr lang="en-US" sz="4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&amp;   </a:t>
            </a:r>
          </a:p>
          <a:p>
            <a:pPr algn="ctr"/>
            <a:r>
              <a:rPr lang="en-US" sz="4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CASE STUDIES</a:t>
            </a:r>
            <a:endParaRPr lang="en-US" sz="4000" b="1" kern="0" spc="300" dirty="0">
              <a:solidFill>
                <a:srgbClr val="3F75A3"/>
              </a:solidFill>
              <a:latin typeface="IBM Plex Sans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4A08AC-0423-89FF-BC9C-55D5E51A7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5" y="260800"/>
            <a:ext cx="2941027" cy="914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4465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CLIENTELE  ·  1 OF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2559" y="1165145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150+ global enterprises.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97263" y="1813318"/>
            <a:ext cx="408992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3F75A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Across regulated, complex industries.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38</a:t>
            </a:r>
            <a:endParaRPr lang="en-US" sz="900" dirty="0"/>
          </a:p>
        </p:txBody>
      </p:sp>
      <p:sp>
        <p:nvSpPr>
          <p:cNvPr id="38" name="Rectangle 6">
            <a:extLst>
              <a:ext uri="{FF2B5EF4-FFF2-40B4-BE49-F238E27FC236}">
                <a16:creationId xmlns:a16="http://schemas.microsoft.com/office/drawing/2014/main" id="{E1155248-9BA7-5FDC-3649-B462CF1C150E}"/>
              </a:ext>
            </a:extLst>
          </p:cNvPr>
          <p:cNvSpPr>
            <a:spLocks noChangeAspect="1"/>
          </p:cNvSpPr>
          <p:nvPr/>
        </p:nvSpPr>
        <p:spPr>
          <a:xfrm>
            <a:off x="11343040" y="145576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6">
            <a:extLst>
              <a:ext uri="{FF2B5EF4-FFF2-40B4-BE49-F238E27FC236}">
                <a16:creationId xmlns:a16="http://schemas.microsoft.com/office/drawing/2014/main" id="{7E404369-1529-ACF5-476C-C34BAE4B4481}"/>
              </a:ext>
            </a:extLst>
          </p:cNvPr>
          <p:cNvSpPr>
            <a:spLocks noChangeAspect="1"/>
          </p:cNvSpPr>
          <p:nvPr/>
        </p:nvSpPr>
        <p:spPr>
          <a:xfrm>
            <a:off x="11105147" y="398337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D1DE9B9B-20F4-13EB-619E-5A49C7BF8281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1976560-1E2F-EBDE-3BBA-BFECE832A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09943B0-0145-0E02-DFF9-DCEEF85F1AEB}"/>
              </a:ext>
            </a:extLst>
          </p:cNvPr>
          <p:cNvGrpSpPr>
            <a:grpSpLocks noChangeAspect="1"/>
          </p:cNvGrpSpPr>
          <p:nvPr/>
        </p:nvGrpSpPr>
        <p:grpSpPr>
          <a:xfrm>
            <a:off x="5049235" y="718236"/>
            <a:ext cx="6605364" cy="5421527"/>
            <a:chOff x="3682769" y="-230954"/>
            <a:chExt cx="8475902" cy="6956821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DB4F434-98B4-3BE5-370A-352586C9BE4F}"/>
                </a:ext>
              </a:extLst>
            </p:cNvPr>
            <p:cNvCxnSpPr>
              <a:cxnSpLocks/>
            </p:cNvCxnSpPr>
            <p:nvPr/>
          </p:nvCxnSpPr>
          <p:spPr>
            <a:xfrm>
              <a:off x="3728385" y="2506608"/>
              <a:ext cx="8393646" cy="0"/>
            </a:xfrm>
            <a:prstGeom prst="line">
              <a:avLst/>
            </a:prstGeom>
            <a:ln w="19050">
              <a:solidFill>
                <a:srgbClr val="C1BC9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64F6DA4-DF2B-D697-8372-AF38E3030199}"/>
                </a:ext>
              </a:extLst>
            </p:cNvPr>
            <p:cNvCxnSpPr>
              <a:cxnSpLocks/>
            </p:cNvCxnSpPr>
            <p:nvPr/>
          </p:nvCxnSpPr>
          <p:spPr>
            <a:xfrm>
              <a:off x="3728385" y="1323566"/>
              <a:ext cx="8393646" cy="0"/>
            </a:xfrm>
            <a:prstGeom prst="line">
              <a:avLst/>
            </a:prstGeom>
            <a:ln w="19050">
              <a:solidFill>
                <a:srgbClr val="C1BC9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C560B5F-3A64-B043-5878-61EEBA3EDCA8}"/>
                </a:ext>
              </a:extLst>
            </p:cNvPr>
            <p:cNvCxnSpPr>
              <a:cxnSpLocks/>
            </p:cNvCxnSpPr>
            <p:nvPr/>
          </p:nvCxnSpPr>
          <p:spPr>
            <a:xfrm>
              <a:off x="3718800" y="3616465"/>
              <a:ext cx="8393646" cy="0"/>
            </a:xfrm>
            <a:prstGeom prst="line">
              <a:avLst/>
            </a:prstGeom>
            <a:ln w="19050">
              <a:solidFill>
                <a:srgbClr val="C1BC9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D22EA66-0AC9-0DE7-ECC6-89694352654F}"/>
                </a:ext>
              </a:extLst>
            </p:cNvPr>
            <p:cNvCxnSpPr>
              <a:cxnSpLocks/>
            </p:cNvCxnSpPr>
            <p:nvPr/>
          </p:nvCxnSpPr>
          <p:spPr>
            <a:xfrm>
              <a:off x="3728385" y="5770357"/>
              <a:ext cx="8393646" cy="0"/>
            </a:xfrm>
            <a:prstGeom prst="line">
              <a:avLst/>
            </a:prstGeom>
            <a:ln w="19050">
              <a:solidFill>
                <a:srgbClr val="C1BC9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5E51E5A-BCF3-7D44-5409-E7D5F444D040}"/>
                </a:ext>
              </a:extLst>
            </p:cNvPr>
            <p:cNvCxnSpPr>
              <a:cxnSpLocks/>
            </p:cNvCxnSpPr>
            <p:nvPr/>
          </p:nvCxnSpPr>
          <p:spPr>
            <a:xfrm>
              <a:off x="3728385" y="4701530"/>
              <a:ext cx="8393646" cy="0"/>
            </a:xfrm>
            <a:prstGeom prst="line">
              <a:avLst/>
            </a:prstGeom>
            <a:ln w="19050">
              <a:solidFill>
                <a:srgbClr val="C1BC9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4F7FD013-16CA-0B19-0902-C55153F052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32536" y="529613"/>
              <a:ext cx="1905304" cy="363268"/>
            </a:xfrm>
            <a:prstGeom prst="rect">
              <a:avLst/>
            </a:prstGeom>
          </p:spPr>
        </p:pic>
        <p:pic>
          <p:nvPicPr>
            <p:cNvPr id="48" name="Picture 47" descr="A close-up of a logo  Description automatically generated">
              <a:extLst>
                <a:ext uri="{FF2B5EF4-FFF2-40B4-BE49-F238E27FC236}">
                  <a16:creationId xmlns:a16="http://schemas.microsoft.com/office/drawing/2014/main" id="{FE650A9B-8296-17D5-EF60-F44447EC9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36177" y="407581"/>
              <a:ext cx="1601180" cy="674783"/>
            </a:xfrm>
            <a:prstGeom prst="rect">
              <a:avLst/>
            </a:prstGeom>
          </p:spPr>
        </p:pic>
        <p:pic>
          <p:nvPicPr>
            <p:cNvPr id="49" name="Picture 48" descr="A black and white text  Description automatically generated">
              <a:extLst>
                <a:ext uri="{FF2B5EF4-FFF2-40B4-BE49-F238E27FC236}">
                  <a16:creationId xmlns:a16="http://schemas.microsoft.com/office/drawing/2014/main" id="{230A9378-D141-5954-FC4A-1989C17F6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75963" y="489211"/>
              <a:ext cx="1479361" cy="417702"/>
            </a:xfrm>
            <a:prstGeom prst="rect">
              <a:avLst/>
            </a:prstGeom>
          </p:spPr>
        </p:pic>
        <p:pic>
          <p:nvPicPr>
            <p:cNvPr id="50" name="Picture 49" descr="A black background with orange and white text  Description automatically generated">
              <a:extLst>
                <a:ext uri="{FF2B5EF4-FFF2-40B4-BE49-F238E27FC236}">
                  <a16:creationId xmlns:a16="http://schemas.microsoft.com/office/drawing/2014/main" id="{81F54A69-F903-E991-3677-0315AD93417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982858" y="-230954"/>
              <a:ext cx="1938338" cy="1938338"/>
            </a:xfrm>
            <a:prstGeom prst="rect">
              <a:avLst/>
            </a:prstGeom>
          </p:spPr>
        </p:pic>
        <p:pic>
          <p:nvPicPr>
            <p:cNvPr id="51" name="Picture 50" descr="A green and black logo  Description automatically generated">
              <a:extLst>
                <a:ext uri="{FF2B5EF4-FFF2-40B4-BE49-F238E27FC236}">
                  <a16:creationId xmlns:a16="http://schemas.microsoft.com/office/drawing/2014/main" id="{A322E431-66B6-ACB9-2085-DEFCBE7A798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812756" y="600586"/>
              <a:ext cx="1217053" cy="304263"/>
            </a:xfrm>
            <a:prstGeom prst="rect">
              <a:avLst/>
            </a:prstGeom>
          </p:spPr>
        </p:pic>
        <p:graphicFrame>
          <p:nvGraphicFramePr>
            <p:cNvPr id="52" name="Object 51">
              <a:extLst>
                <a:ext uri="{FF2B5EF4-FFF2-40B4-BE49-F238E27FC236}">
                  <a16:creationId xmlns:a16="http://schemas.microsoft.com/office/drawing/2014/main" id="{3D8E881E-4087-D7D3-D3C2-B0155DA6A4B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61888249"/>
                </p:ext>
              </p:extLst>
            </p:nvPr>
          </p:nvGraphicFramePr>
          <p:xfrm>
            <a:off x="7777848" y="1890801"/>
            <a:ext cx="699727" cy="4428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9" imgW="1473120" imgH="927000" progId="PBrush">
                    <p:embed/>
                  </p:oleObj>
                </mc:Choice>
                <mc:Fallback>
                  <p:oleObj name="Bitmap Image" r:id="rId9" imgW="1473120" imgH="927000" progId="PBrush">
                    <p:embed/>
                    <p:pic>
                      <p:nvPicPr>
                        <p:cNvPr id="102" name="Object 101">
                          <a:extLst>
                            <a:ext uri="{FF2B5EF4-FFF2-40B4-BE49-F238E27FC236}">
                              <a16:creationId xmlns:a16="http://schemas.microsoft.com/office/drawing/2014/main" id="{8077720D-C867-6848-6AEC-84A123DC654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777848" y="1890801"/>
                          <a:ext cx="699727" cy="44288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53" name="Picture 52" descr="Logo  Description automatically generated">
              <a:extLst>
                <a:ext uri="{FF2B5EF4-FFF2-40B4-BE49-F238E27FC236}">
                  <a16:creationId xmlns:a16="http://schemas.microsoft.com/office/drawing/2014/main" id="{380C2F3A-6CDE-974A-4212-0176C9851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485272" y="1599363"/>
              <a:ext cx="775794" cy="351876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0510FB9B-5BBA-68AA-3341-A564D0E16D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780" b="12780"/>
            <a:stretch/>
          </p:blipFill>
          <p:spPr>
            <a:xfrm>
              <a:off x="5267463" y="1611462"/>
              <a:ext cx="1373852" cy="401485"/>
            </a:xfrm>
            <a:prstGeom prst="rect">
              <a:avLst/>
            </a:prstGeom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A514F8B2-DF2A-3C17-1628-82926DD57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534727" y="1432214"/>
              <a:ext cx="1131711" cy="1131711"/>
            </a:xfrm>
            <a:prstGeom prst="rect">
              <a:avLst/>
            </a:prstGeom>
          </p:spPr>
        </p:pic>
        <p:pic>
          <p:nvPicPr>
            <p:cNvPr id="56" name="Picture 55" descr="Logo  Description automatically generated">
              <a:extLst>
                <a:ext uri="{FF2B5EF4-FFF2-40B4-BE49-F238E27FC236}">
                  <a16:creationId xmlns:a16="http://schemas.microsoft.com/office/drawing/2014/main" id="{F3F1A869-3469-E939-E66A-B0D32630CC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910934" y="1376071"/>
              <a:ext cx="1691178" cy="588795"/>
            </a:xfrm>
            <a:prstGeom prst="rect">
              <a:avLst/>
            </a:prstGeom>
          </p:spPr>
        </p:pic>
        <p:pic>
          <p:nvPicPr>
            <p:cNvPr id="57" name="Picture 12" descr="Akna Medical Private Limited - Company Details | The Company Check">
              <a:extLst>
                <a:ext uri="{FF2B5EF4-FFF2-40B4-BE49-F238E27FC236}">
                  <a16:creationId xmlns:a16="http://schemas.microsoft.com/office/drawing/2014/main" id="{8A3A7B48-1EAF-E658-9341-766FB2F5B8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3523" y="1630787"/>
              <a:ext cx="699726" cy="7037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Picture 57" descr="A blue and black logo  Description automatically generated">
              <a:extLst>
                <a:ext uri="{FF2B5EF4-FFF2-40B4-BE49-F238E27FC236}">
                  <a16:creationId xmlns:a16="http://schemas.microsoft.com/office/drawing/2014/main" id="{F938ADCF-4DE2-7B14-A207-D7E1970C4E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9636780" y="1598528"/>
              <a:ext cx="1103865" cy="1103865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9DA8433C-2CA5-6A4A-AFBF-3C2723634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870784" y="1414858"/>
              <a:ext cx="580540" cy="580540"/>
            </a:xfrm>
            <a:prstGeom prst="rect">
              <a:avLst/>
            </a:prstGeom>
          </p:spPr>
        </p:pic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8100EFC6-D1D4-FC38-F12A-1E917D023B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0937843" y="1597904"/>
              <a:ext cx="789799" cy="611305"/>
            </a:xfrm>
            <a:prstGeom prst="rect">
              <a:avLst/>
            </a:prstGeom>
          </p:spPr>
        </p:pic>
        <p:pic>
          <p:nvPicPr>
            <p:cNvPr id="61" name="Picture 60" descr="A blue and black logo  Description automatically generated">
              <a:extLst>
                <a:ext uri="{FF2B5EF4-FFF2-40B4-BE49-F238E27FC236}">
                  <a16:creationId xmlns:a16="http://schemas.microsoft.com/office/drawing/2014/main" id="{15BF1B61-9F4A-AE6B-2842-31121DD9A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9131503" y="1414044"/>
              <a:ext cx="1549797" cy="620525"/>
            </a:xfrm>
            <a:prstGeom prst="rect">
              <a:avLst/>
            </a:prstGeom>
          </p:spPr>
        </p:pic>
        <p:pic>
          <p:nvPicPr>
            <p:cNvPr id="62" name="Picture 61" descr="A blue line on a black background  Description automatically generated">
              <a:extLst>
                <a:ext uri="{FF2B5EF4-FFF2-40B4-BE49-F238E27FC236}">
                  <a16:creationId xmlns:a16="http://schemas.microsoft.com/office/drawing/2014/main" id="{D7E7596A-E818-7580-8614-3A4D2A41F0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015277" y="2036815"/>
              <a:ext cx="1998778" cy="338502"/>
            </a:xfrm>
            <a:prstGeom prst="rect">
              <a:avLst/>
            </a:prstGeom>
          </p:spPr>
        </p:pic>
        <p:pic>
          <p:nvPicPr>
            <p:cNvPr id="63" name="Picture 62" descr="Icon  Description automatically generated">
              <a:extLst>
                <a:ext uri="{FF2B5EF4-FFF2-40B4-BE49-F238E27FC236}">
                  <a16:creationId xmlns:a16="http://schemas.microsoft.com/office/drawing/2014/main" id="{6FFA5619-E959-497E-BF22-386694024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8814" y="2957292"/>
              <a:ext cx="1157960" cy="255526"/>
            </a:xfrm>
            <a:prstGeom prst="rect">
              <a:avLst/>
            </a:prstGeom>
          </p:spPr>
        </p:pic>
        <p:pic>
          <p:nvPicPr>
            <p:cNvPr id="64" name="Picture 6" descr="Rasasi">
              <a:extLst>
                <a:ext uri="{FF2B5EF4-FFF2-40B4-BE49-F238E27FC236}">
                  <a16:creationId xmlns:a16="http://schemas.microsoft.com/office/drawing/2014/main" id="{7C3F1F1A-189E-BE8C-1A8C-DC9F0AEC2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74526" y="2858333"/>
              <a:ext cx="1045259" cy="4438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" name="Picture 64" descr="Logo  Description automatically generated">
              <a:extLst>
                <a:ext uri="{FF2B5EF4-FFF2-40B4-BE49-F238E27FC236}">
                  <a16:creationId xmlns:a16="http://schemas.microsoft.com/office/drawing/2014/main" id="{215FE579-A9FE-E7B2-1F08-918880A79F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6564159" y="2780111"/>
              <a:ext cx="1061341" cy="517324"/>
            </a:xfrm>
            <a:prstGeom prst="rect">
              <a:avLst/>
            </a:prstGeom>
          </p:spPr>
        </p:pic>
        <p:pic>
          <p:nvPicPr>
            <p:cNvPr id="66" name="Picture 65" descr="Text  Description automatically generated with low confidence">
              <a:extLst>
                <a:ext uri="{FF2B5EF4-FFF2-40B4-BE49-F238E27FC236}">
                  <a16:creationId xmlns:a16="http://schemas.microsoft.com/office/drawing/2014/main" id="{26C9C6BB-3993-93E3-6BC8-F36BEC09D4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25170" y="2866271"/>
              <a:ext cx="1496094" cy="406136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17215771-316B-2045-471B-B8E6988A6D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9520934" y="2780111"/>
              <a:ext cx="613247" cy="613247"/>
            </a:xfrm>
            <a:prstGeom prst="rect">
              <a:avLst/>
            </a:prstGeom>
          </p:spPr>
        </p:pic>
        <p:pic>
          <p:nvPicPr>
            <p:cNvPr id="68" name="Picture 67" descr="A black and white logo  Description automatically generated">
              <a:extLst>
                <a:ext uri="{FF2B5EF4-FFF2-40B4-BE49-F238E27FC236}">
                  <a16:creationId xmlns:a16="http://schemas.microsoft.com/office/drawing/2014/main" id="{3D5A230E-C25F-070F-3BDD-BD1FA310E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0370499" y="2880422"/>
              <a:ext cx="1518659" cy="524781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678278C4-9CA4-56FB-7370-6BBD97C6FA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3865938" y="3705834"/>
              <a:ext cx="1050235" cy="853887"/>
            </a:xfrm>
            <a:prstGeom prst="rect">
              <a:avLst/>
            </a:prstGeom>
          </p:spPr>
        </p:pic>
        <p:pic>
          <p:nvPicPr>
            <p:cNvPr id="70" name="Picture 69" descr="A blue and red logo  Description automatically generated">
              <a:extLst>
                <a:ext uri="{FF2B5EF4-FFF2-40B4-BE49-F238E27FC236}">
                  <a16:creationId xmlns:a16="http://schemas.microsoft.com/office/drawing/2014/main" id="{53E3F2D0-8482-2F1E-0980-8764E60A97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0681300" y="4125069"/>
              <a:ext cx="959944" cy="452084"/>
            </a:xfrm>
            <a:prstGeom prst="rect">
              <a:avLst/>
            </a:prstGeom>
          </p:spPr>
        </p:pic>
        <p:pic>
          <p:nvPicPr>
            <p:cNvPr id="71" name="Picture 70" descr="A black background with red text  Description automatically generated">
              <a:extLst>
                <a:ext uri="{FF2B5EF4-FFF2-40B4-BE49-F238E27FC236}">
                  <a16:creationId xmlns:a16="http://schemas.microsoft.com/office/drawing/2014/main" id="{D8F8FD0B-F8FE-E3BB-FD66-C5B5CB3F3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785777" y="3736238"/>
              <a:ext cx="1195001" cy="767134"/>
            </a:xfrm>
            <a:prstGeom prst="rect">
              <a:avLst/>
            </a:prstGeom>
          </p:spPr>
        </p:pic>
        <p:pic>
          <p:nvPicPr>
            <p:cNvPr id="72" name="Picture 71" descr="A blue and green text on a black background  Description automatically generated">
              <a:extLst>
                <a:ext uri="{FF2B5EF4-FFF2-40B4-BE49-F238E27FC236}">
                  <a16:creationId xmlns:a16="http://schemas.microsoft.com/office/drawing/2014/main" id="{651EEFEC-1224-485F-280A-20896BFDF5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8767928" y="4126974"/>
              <a:ext cx="1634160" cy="454501"/>
            </a:xfrm>
            <a:prstGeom prst="rect">
              <a:avLst/>
            </a:prstGeom>
          </p:spPr>
        </p:pic>
        <p:grpSp>
          <p:nvGrpSpPr>
            <p:cNvPr id="73" name="Graphic 2095">
              <a:extLst>
                <a:ext uri="{FF2B5EF4-FFF2-40B4-BE49-F238E27FC236}">
                  <a16:creationId xmlns:a16="http://schemas.microsoft.com/office/drawing/2014/main" id="{526A8838-8C7F-CD78-CC79-9C3C4C8BD03C}"/>
                </a:ext>
              </a:extLst>
            </p:cNvPr>
            <p:cNvGrpSpPr/>
            <p:nvPr/>
          </p:nvGrpSpPr>
          <p:grpSpPr>
            <a:xfrm>
              <a:off x="7033780" y="3836588"/>
              <a:ext cx="2154250" cy="231941"/>
              <a:chOff x="2198258" y="2328774"/>
              <a:chExt cx="4733282" cy="509616"/>
            </a:xfrm>
          </p:grpSpPr>
          <p:sp>
            <p:nvSpPr>
              <p:cNvPr id="74" name="Freeform: Shape 2097">
                <a:extLst>
                  <a:ext uri="{FF2B5EF4-FFF2-40B4-BE49-F238E27FC236}">
                    <a16:creationId xmlns:a16="http://schemas.microsoft.com/office/drawing/2014/main" id="{3EF50EC6-2BF1-7A47-CFF4-60CD6E472635}"/>
                  </a:ext>
                </a:extLst>
              </p:cNvPr>
              <p:cNvSpPr/>
              <p:nvPr/>
            </p:nvSpPr>
            <p:spPr>
              <a:xfrm>
                <a:off x="2198258" y="2334466"/>
                <a:ext cx="1385273" cy="500769"/>
              </a:xfrm>
              <a:custGeom>
                <a:avLst/>
                <a:gdLst>
                  <a:gd name="connsiteX0" fmla="*/ 0 w 1385273"/>
                  <a:gd name="connsiteY0" fmla="*/ 2197 h 500769"/>
                  <a:gd name="connsiteX1" fmla="*/ 504095 w 1385273"/>
                  <a:gd name="connsiteY1" fmla="*/ 500769 h 500769"/>
                  <a:gd name="connsiteX2" fmla="*/ 691848 w 1385273"/>
                  <a:gd name="connsiteY2" fmla="*/ 171806 h 500769"/>
                  <a:gd name="connsiteX3" fmla="*/ 924568 w 1385273"/>
                  <a:gd name="connsiteY3" fmla="*/ 500769 h 500769"/>
                  <a:gd name="connsiteX4" fmla="*/ 1385274 w 1385273"/>
                  <a:gd name="connsiteY4" fmla="*/ 2986 h 500769"/>
                  <a:gd name="connsiteX5" fmla="*/ 959279 w 1385273"/>
                  <a:gd name="connsiteY5" fmla="*/ 259372 h 500769"/>
                  <a:gd name="connsiteX6" fmla="*/ 786514 w 1385273"/>
                  <a:gd name="connsiteY6" fmla="*/ 92129 h 500769"/>
                  <a:gd name="connsiteX7" fmla="*/ 964801 w 1385273"/>
                  <a:gd name="connsiteY7" fmla="*/ 2986 h 500769"/>
                  <a:gd name="connsiteX8" fmla="*/ 746281 w 1385273"/>
                  <a:gd name="connsiteY8" fmla="*/ 69252 h 500769"/>
                  <a:gd name="connsiteX9" fmla="*/ 420473 w 1385273"/>
                  <a:gd name="connsiteY9" fmla="*/ 2986 h 500769"/>
                  <a:gd name="connsiteX10" fmla="*/ 650037 w 1385273"/>
                  <a:gd name="connsiteY10" fmla="*/ 137095 h 500769"/>
                  <a:gd name="connsiteX11" fmla="*/ 538805 w 1385273"/>
                  <a:gd name="connsiteY11" fmla="*/ 259372 h 500769"/>
                  <a:gd name="connsiteX12" fmla="*/ 0 w 1385273"/>
                  <a:gd name="connsiteY12" fmla="*/ 2197 h 5007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85273" h="500769">
                    <a:moveTo>
                      <a:pt x="0" y="2197"/>
                    </a:moveTo>
                    <a:cubicBezTo>
                      <a:pt x="199587" y="87396"/>
                      <a:pt x="405485" y="247539"/>
                      <a:pt x="504095" y="500769"/>
                    </a:cubicBezTo>
                    <a:cubicBezTo>
                      <a:pt x="555372" y="358771"/>
                      <a:pt x="614538" y="253061"/>
                      <a:pt x="691848" y="171806"/>
                    </a:cubicBezTo>
                    <a:cubicBezTo>
                      <a:pt x="788880" y="257005"/>
                      <a:pt x="871713" y="365871"/>
                      <a:pt x="924568" y="500769"/>
                    </a:cubicBezTo>
                    <a:cubicBezTo>
                      <a:pt x="1022389" y="227817"/>
                      <a:pt x="1151765" y="86607"/>
                      <a:pt x="1385274" y="2986"/>
                    </a:cubicBezTo>
                    <a:cubicBezTo>
                      <a:pt x="1217242" y="2986"/>
                      <a:pt x="1038955" y="138673"/>
                      <a:pt x="959279" y="259372"/>
                    </a:cubicBezTo>
                    <a:cubicBezTo>
                      <a:pt x="916679" y="192317"/>
                      <a:pt x="856724" y="135518"/>
                      <a:pt x="786514" y="92129"/>
                    </a:cubicBezTo>
                    <a:cubicBezTo>
                      <a:pt x="838580" y="56630"/>
                      <a:pt x="896957" y="27441"/>
                      <a:pt x="964801" y="2986"/>
                    </a:cubicBezTo>
                    <a:cubicBezTo>
                      <a:pt x="890646" y="2986"/>
                      <a:pt x="814913" y="29019"/>
                      <a:pt x="746281" y="69252"/>
                    </a:cubicBezTo>
                    <a:cubicBezTo>
                      <a:pt x="646882" y="17975"/>
                      <a:pt x="531705" y="-7270"/>
                      <a:pt x="420473" y="2986"/>
                    </a:cubicBezTo>
                    <a:cubicBezTo>
                      <a:pt x="498572" y="36119"/>
                      <a:pt x="576672" y="80296"/>
                      <a:pt x="650037" y="137095"/>
                    </a:cubicBezTo>
                    <a:cubicBezTo>
                      <a:pt x="604282" y="175751"/>
                      <a:pt x="566416" y="218350"/>
                      <a:pt x="538805" y="259372"/>
                    </a:cubicBezTo>
                    <a:cubicBezTo>
                      <a:pt x="430729" y="88185"/>
                      <a:pt x="209053" y="-16736"/>
                      <a:pt x="0" y="2197"/>
                    </a:cubicBezTo>
                  </a:path>
                </a:pathLst>
              </a:custGeom>
              <a:solidFill>
                <a:srgbClr val="0099E0"/>
              </a:solidFill>
              <a:ln w="78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5" name="Freeform: Shape 2098">
                <a:extLst>
                  <a:ext uri="{FF2B5EF4-FFF2-40B4-BE49-F238E27FC236}">
                    <a16:creationId xmlns:a16="http://schemas.microsoft.com/office/drawing/2014/main" id="{0103E8E7-9391-E6C0-8F19-16F38C3F9A84}"/>
                  </a:ext>
                </a:extLst>
              </p:cNvPr>
              <p:cNvSpPr/>
              <p:nvPr/>
            </p:nvSpPr>
            <p:spPr>
              <a:xfrm>
                <a:off x="3729475" y="2691659"/>
                <a:ext cx="1978511" cy="146731"/>
              </a:xfrm>
              <a:custGeom>
                <a:avLst/>
                <a:gdLst>
                  <a:gd name="connsiteX0" fmla="*/ 0 w 1978511"/>
                  <a:gd name="connsiteY0" fmla="*/ 144365 h 146731"/>
                  <a:gd name="connsiteX1" fmla="*/ 25244 w 1978511"/>
                  <a:gd name="connsiteY1" fmla="*/ 144365 h 146731"/>
                  <a:gd name="connsiteX2" fmla="*/ 25244 w 1978511"/>
                  <a:gd name="connsiteY2" fmla="*/ 98610 h 146731"/>
                  <a:gd name="connsiteX3" fmla="*/ 53644 w 1978511"/>
                  <a:gd name="connsiteY3" fmla="*/ 98610 h 146731"/>
                  <a:gd name="connsiteX4" fmla="*/ 110443 w 1978511"/>
                  <a:gd name="connsiteY4" fmla="*/ 49699 h 146731"/>
                  <a:gd name="connsiteX5" fmla="*/ 110443 w 1978511"/>
                  <a:gd name="connsiteY5" fmla="*/ 48910 h 146731"/>
                  <a:gd name="connsiteX6" fmla="*/ 56011 w 1978511"/>
                  <a:gd name="connsiteY6" fmla="*/ 1578 h 146731"/>
                  <a:gd name="connsiteX7" fmla="*/ 0 w 1978511"/>
                  <a:gd name="connsiteY7" fmla="*/ 1578 h 146731"/>
                  <a:gd name="connsiteX8" fmla="*/ 0 w 1978511"/>
                  <a:gd name="connsiteY8" fmla="*/ 144365 h 146731"/>
                  <a:gd name="connsiteX9" fmla="*/ 25244 w 1978511"/>
                  <a:gd name="connsiteY9" fmla="*/ 76521 h 146731"/>
                  <a:gd name="connsiteX10" fmla="*/ 25244 w 1978511"/>
                  <a:gd name="connsiteY10" fmla="*/ 25244 h 146731"/>
                  <a:gd name="connsiteX11" fmla="*/ 54433 w 1978511"/>
                  <a:gd name="connsiteY11" fmla="*/ 25244 h 146731"/>
                  <a:gd name="connsiteX12" fmla="*/ 85199 w 1978511"/>
                  <a:gd name="connsiteY12" fmla="*/ 50488 h 146731"/>
                  <a:gd name="connsiteX13" fmla="*/ 85199 w 1978511"/>
                  <a:gd name="connsiteY13" fmla="*/ 51277 h 146731"/>
                  <a:gd name="connsiteX14" fmla="*/ 54433 w 1978511"/>
                  <a:gd name="connsiteY14" fmla="*/ 76521 h 146731"/>
                  <a:gd name="connsiteX15" fmla="*/ 25244 w 1978511"/>
                  <a:gd name="connsiteY15" fmla="*/ 76521 h 146731"/>
                  <a:gd name="connsiteX16" fmla="*/ 133321 w 1978511"/>
                  <a:gd name="connsiteY16" fmla="*/ 144365 h 146731"/>
                  <a:gd name="connsiteX17" fmla="*/ 158565 w 1978511"/>
                  <a:gd name="connsiteY17" fmla="*/ 144365 h 146731"/>
                  <a:gd name="connsiteX18" fmla="*/ 158565 w 1978511"/>
                  <a:gd name="connsiteY18" fmla="*/ 1578 h 146731"/>
                  <a:gd name="connsiteX19" fmla="*/ 133321 w 1978511"/>
                  <a:gd name="connsiteY19" fmla="*/ 1578 h 146731"/>
                  <a:gd name="connsiteX20" fmla="*/ 133321 w 1978511"/>
                  <a:gd name="connsiteY20" fmla="*/ 144365 h 146731"/>
                  <a:gd name="connsiteX21" fmla="*/ 192487 w 1978511"/>
                  <a:gd name="connsiteY21" fmla="*/ 144365 h 146731"/>
                  <a:gd name="connsiteX22" fmla="*/ 217731 w 1978511"/>
                  <a:gd name="connsiteY22" fmla="*/ 144365 h 146731"/>
                  <a:gd name="connsiteX23" fmla="*/ 217731 w 1978511"/>
                  <a:gd name="connsiteY23" fmla="*/ 98610 h 146731"/>
                  <a:gd name="connsiteX24" fmla="*/ 246131 w 1978511"/>
                  <a:gd name="connsiteY24" fmla="*/ 98610 h 146731"/>
                  <a:gd name="connsiteX25" fmla="*/ 302930 w 1978511"/>
                  <a:gd name="connsiteY25" fmla="*/ 49699 h 146731"/>
                  <a:gd name="connsiteX26" fmla="*/ 302930 w 1978511"/>
                  <a:gd name="connsiteY26" fmla="*/ 48910 h 146731"/>
                  <a:gd name="connsiteX27" fmla="*/ 248497 w 1978511"/>
                  <a:gd name="connsiteY27" fmla="*/ 1578 h 146731"/>
                  <a:gd name="connsiteX28" fmla="*/ 192487 w 1978511"/>
                  <a:gd name="connsiteY28" fmla="*/ 1578 h 146731"/>
                  <a:gd name="connsiteX29" fmla="*/ 192487 w 1978511"/>
                  <a:gd name="connsiteY29" fmla="*/ 144365 h 146731"/>
                  <a:gd name="connsiteX30" fmla="*/ 216942 w 1978511"/>
                  <a:gd name="connsiteY30" fmla="*/ 76521 h 146731"/>
                  <a:gd name="connsiteX31" fmla="*/ 216942 w 1978511"/>
                  <a:gd name="connsiteY31" fmla="*/ 25244 h 146731"/>
                  <a:gd name="connsiteX32" fmla="*/ 246131 w 1978511"/>
                  <a:gd name="connsiteY32" fmla="*/ 25244 h 146731"/>
                  <a:gd name="connsiteX33" fmla="*/ 276897 w 1978511"/>
                  <a:gd name="connsiteY33" fmla="*/ 50488 h 146731"/>
                  <a:gd name="connsiteX34" fmla="*/ 276897 w 1978511"/>
                  <a:gd name="connsiteY34" fmla="*/ 51277 h 146731"/>
                  <a:gd name="connsiteX35" fmla="*/ 246131 w 1978511"/>
                  <a:gd name="connsiteY35" fmla="*/ 76521 h 146731"/>
                  <a:gd name="connsiteX36" fmla="*/ 216942 w 1978511"/>
                  <a:gd name="connsiteY36" fmla="*/ 76521 h 146731"/>
                  <a:gd name="connsiteX37" fmla="*/ 324230 w 1978511"/>
                  <a:gd name="connsiteY37" fmla="*/ 144365 h 146731"/>
                  <a:gd name="connsiteX38" fmla="*/ 430729 w 1978511"/>
                  <a:gd name="connsiteY38" fmla="*/ 144365 h 146731"/>
                  <a:gd name="connsiteX39" fmla="*/ 430729 w 1978511"/>
                  <a:gd name="connsiteY39" fmla="*/ 122276 h 146731"/>
                  <a:gd name="connsiteX40" fmla="*/ 348685 w 1978511"/>
                  <a:gd name="connsiteY40" fmla="*/ 122276 h 146731"/>
                  <a:gd name="connsiteX41" fmla="*/ 348685 w 1978511"/>
                  <a:gd name="connsiteY41" fmla="*/ 83621 h 146731"/>
                  <a:gd name="connsiteX42" fmla="*/ 420473 w 1978511"/>
                  <a:gd name="connsiteY42" fmla="*/ 83621 h 146731"/>
                  <a:gd name="connsiteX43" fmla="*/ 420473 w 1978511"/>
                  <a:gd name="connsiteY43" fmla="*/ 61533 h 146731"/>
                  <a:gd name="connsiteX44" fmla="*/ 348685 w 1978511"/>
                  <a:gd name="connsiteY44" fmla="*/ 61533 h 146731"/>
                  <a:gd name="connsiteX45" fmla="*/ 348685 w 1978511"/>
                  <a:gd name="connsiteY45" fmla="*/ 24455 h 146731"/>
                  <a:gd name="connsiteX46" fmla="*/ 429151 w 1978511"/>
                  <a:gd name="connsiteY46" fmla="*/ 24455 h 146731"/>
                  <a:gd name="connsiteX47" fmla="*/ 429151 w 1978511"/>
                  <a:gd name="connsiteY47" fmla="*/ 2367 h 146731"/>
                  <a:gd name="connsiteX48" fmla="*/ 323441 w 1978511"/>
                  <a:gd name="connsiteY48" fmla="*/ 2367 h 146731"/>
                  <a:gd name="connsiteX49" fmla="*/ 323441 w 1978511"/>
                  <a:gd name="connsiteY49" fmla="*/ 144365 h 146731"/>
                  <a:gd name="connsiteX50" fmla="*/ 506461 w 1978511"/>
                  <a:gd name="connsiteY50" fmla="*/ 146732 h 146731"/>
                  <a:gd name="connsiteX51" fmla="*/ 557738 w 1978511"/>
                  <a:gd name="connsiteY51" fmla="*/ 104132 h 146731"/>
                  <a:gd name="connsiteX52" fmla="*/ 557738 w 1978511"/>
                  <a:gd name="connsiteY52" fmla="*/ 103343 h 146731"/>
                  <a:gd name="connsiteX53" fmla="*/ 511983 w 1978511"/>
                  <a:gd name="connsiteY53" fmla="*/ 61533 h 146731"/>
                  <a:gd name="connsiteX54" fmla="*/ 478061 w 1978511"/>
                  <a:gd name="connsiteY54" fmla="*/ 39444 h 146731"/>
                  <a:gd name="connsiteX55" fmla="*/ 478061 w 1978511"/>
                  <a:gd name="connsiteY55" fmla="*/ 38655 h 146731"/>
                  <a:gd name="connsiteX56" fmla="*/ 501728 w 1978511"/>
                  <a:gd name="connsiteY56" fmla="*/ 22089 h 146731"/>
                  <a:gd name="connsiteX57" fmla="*/ 540383 w 1978511"/>
                  <a:gd name="connsiteY57" fmla="*/ 37077 h 146731"/>
                  <a:gd name="connsiteX58" fmla="*/ 553794 w 1978511"/>
                  <a:gd name="connsiteY58" fmla="*/ 18144 h 146731"/>
                  <a:gd name="connsiteX59" fmla="*/ 501728 w 1978511"/>
                  <a:gd name="connsiteY59" fmla="*/ 0 h 146731"/>
                  <a:gd name="connsiteX60" fmla="*/ 452817 w 1978511"/>
                  <a:gd name="connsiteY60" fmla="*/ 41022 h 146731"/>
                  <a:gd name="connsiteX61" fmla="*/ 452817 w 1978511"/>
                  <a:gd name="connsiteY61" fmla="*/ 41811 h 146731"/>
                  <a:gd name="connsiteX62" fmla="*/ 500150 w 1978511"/>
                  <a:gd name="connsiteY62" fmla="*/ 84410 h 146731"/>
                  <a:gd name="connsiteX63" fmla="*/ 532494 w 1978511"/>
                  <a:gd name="connsiteY63" fmla="*/ 106499 h 146731"/>
                  <a:gd name="connsiteX64" fmla="*/ 532494 w 1978511"/>
                  <a:gd name="connsiteY64" fmla="*/ 107288 h 146731"/>
                  <a:gd name="connsiteX65" fmla="*/ 507250 w 1978511"/>
                  <a:gd name="connsiteY65" fmla="*/ 125432 h 146731"/>
                  <a:gd name="connsiteX66" fmla="*/ 462284 w 1978511"/>
                  <a:gd name="connsiteY66" fmla="*/ 106499 h 146731"/>
                  <a:gd name="connsiteX67" fmla="*/ 447295 w 1978511"/>
                  <a:gd name="connsiteY67" fmla="*/ 124643 h 146731"/>
                  <a:gd name="connsiteX68" fmla="*/ 506461 w 1978511"/>
                  <a:gd name="connsiteY68" fmla="*/ 146732 h 146731"/>
                  <a:gd name="connsiteX69" fmla="*/ 657137 w 1978511"/>
                  <a:gd name="connsiteY69" fmla="*/ 144365 h 146731"/>
                  <a:gd name="connsiteX70" fmla="*/ 683170 w 1978511"/>
                  <a:gd name="connsiteY70" fmla="*/ 144365 h 146731"/>
                  <a:gd name="connsiteX71" fmla="*/ 698159 w 1978511"/>
                  <a:gd name="connsiteY71" fmla="*/ 109654 h 146731"/>
                  <a:gd name="connsiteX72" fmla="*/ 766003 w 1978511"/>
                  <a:gd name="connsiteY72" fmla="*/ 109654 h 146731"/>
                  <a:gd name="connsiteX73" fmla="*/ 780203 w 1978511"/>
                  <a:gd name="connsiteY73" fmla="*/ 144365 h 146731"/>
                  <a:gd name="connsiteX74" fmla="*/ 807025 w 1978511"/>
                  <a:gd name="connsiteY74" fmla="*/ 144365 h 146731"/>
                  <a:gd name="connsiteX75" fmla="*/ 743914 w 1978511"/>
                  <a:gd name="connsiteY75" fmla="*/ 789 h 146731"/>
                  <a:gd name="connsiteX76" fmla="*/ 721037 w 1978511"/>
                  <a:gd name="connsiteY76" fmla="*/ 789 h 146731"/>
                  <a:gd name="connsiteX77" fmla="*/ 657137 w 1978511"/>
                  <a:gd name="connsiteY77" fmla="*/ 144365 h 146731"/>
                  <a:gd name="connsiteX78" fmla="*/ 706048 w 1978511"/>
                  <a:gd name="connsiteY78" fmla="*/ 88354 h 146731"/>
                  <a:gd name="connsiteX79" fmla="*/ 730503 w 1978511"/>
                  <a:gd name="connsiteY79" fmla="*/ 31555 h 146731"/>
                  <a:gd name="connsiteX80" fmla="*/ 754959 w 1978511"/>
                  <a:gd name="connsiteY80" fmla="*/ 88354 h 146731"/>
                  <a:gd name="connsiteX81" fmla="*/ 706048 w 1978511"/>
                  <a:gd name="connsiteY81" fmla="*/ 88354 h 146731"/>
                  <a:gd name="connsiteX82" fmla="*/ 825958 w 1978511"/>
                  <a:gd name="connsiteY82" fmla="*/ 144365 h 146731"/>
                  <a:gd name="connsiteX83" fmla="*/ 850413 w 1978511"/>
                  <a:gd name="connsiteY83" fmla="*/ 144365 h 146731"/>
                  <a:gd name="connsiteX84" fmla="*/ 850413 w 1978511"/>
                  <a:gd name="connsiteY84" fmla="*/ 42599 h 146731"/>
                  <a:gd name="connsiteX85" fmla="*/ 929301 w 1978511"/>
                  <a:gd name="connsiteY85" fmla="*/ 144365 h 146731"/>
                  <a:gd name="connsiteX86" fmla="*/ 950601 w 1978511"/>
                  <a:gd name="connsiteY86" fmla="*/ 144365 h 146731"/>
                  <a:gd name="connsiteX87" fmla="*/ 950601 w 1978511"/>
                  <a:gd name="connsiteY87" fmla="*/ 1578 h 146731"/>
                  <a:gd name="connsiteX88" fmla="*/ 926146 w 1978511"/>
                  <a:gd name="connsiteY88" fmla="*/ 1578 h 146731"/>
                  <a:gd name="connsiteX89" fmla="*/ 926146 w 1978511"/>
                  <a:gd name="connsiteY89" fmla="*/ 100977 h 146731"/>
                  <a:gd name="connsiteX90" fmla="*/ 849624 w 1978511"/>
                  <a:gd name="connsiteY90" fmla="*/ 2367 h 146731"/>
                  <a:gd name="connsiteX91" fmla="*/ 825958 w 1978511"/>
                  <a:gd name="connsiteY91" fmla="*/ 2367 h 146731"/>
                  <a:gd name="connsiteX92" fmla="*/ 825958 w 1978511"/>
                  <a:gd name="connsiteY92" fmla="*/ 144365 h 146731"/>
                  <a:gd name="connsiteX93" fmla="*/ 982945 w 1978511"/>
                  <a:gd name="connsiteY93" fmla="*/ 144365 h 146731"/>
                  <a:gd name="connsiteX94" fmla="*/ 1035800 w 1978511"/>
                  <a:gd name="connsiteY94" fmla="*/ 144365 h 146731"/>
                  <a:gd name="connsiteX95" fmla="*/ 1111533 w 1978511"/>
                  <a:gd name="connsiteY95" fmla="*/ 72577 h 146731"/>
                  <a:gd name="connsiteX96" fmla="*/ 1111533 w 1978511"/>
                  <a:gd name="connsiteY96" fmla="*/ 71788 h 146731"/>
                  <a:gd name="connsiteX97" fmla="*/ 1035800 w 1978511"/>
                  <a:gd name="connsiteY97" fmla="*/ 789 h 146731"/>
                  <a:gd name="connsiteX98" fmla="*/ 982945 w 1978511"/>
                  <a:gd name="connsiteY98" fmla="*/ 789 h 146731"/>
                  <a:gd name="connsiteX99" fmla="*/ 982945 w 1978511"/>
                  <a:gd name="connsiteY99" fmla="*/ 144365 h 146731"/>
                  <a:gd name="connsiteX100" fmla="*/ 1035800 w 1978511"/>
                  <a:gd name="connsiteY100" fmla="*/ 24455 h 146731"/>
                  <a:gd name="connsiteX101" fmla="*/ 1085499 w 1978511"/>
                  <a:gd name="connsiteY101" fmla="*/ 73366 h 146731"/>
                  <a:gd name="connsiteX102" fmla="*/ 1085499 w 1978511"/>
                  <a:gd name="connsiteY102" fmla="*/ 74155 h 146731"/>
                  <a:gd name="connsiteX103" fmla="*/ 1035800 w 1978511"/>
                  <a:gd name="connsiteY103" fmla="*/ 122276 h 146731"/>
                  <a:gd name="connsiteX104" fmla="*/ 1008189 w 1978511"/>
                  <a:gd name="connsiteY104" fmla="*/ 122276 h 146731"/>
                  <a:gd name="connsiteX105" fmla="*/ 1008189 w 1978511"/>
                  <a:gd name="connsiteY105" fmla="*/ 25244 h 146731"/>
                  <a:gd name="connsiteX106" fmla="*/ 1035800 w 1978511"/>
                  <a:gd name="connsiteY106" fmla="*/ 25244 h 146731"/>
                  <a:gd name="connsiteX107" fmla="*/ 1224342 w 1978511"/>
                  <a:gd name="connsiteY107" fmla="*/ 144365 h 146731"/>
                  <a:gd name="connsiteX108" fmla="*/ 1249587 w 1978511"/>
                  <a:gd name="connsiteY108" fmla="*/ 144365 h 146731"/>
                  <a:gd name="connsiteX109" fmla="*/ 1249587 w 1978511"/>
                  <a:gd name="connsiteY109" fmla="*/ 98610 h 146731"/>
                  <a:gd name="connsiteX110" fmla="*/ 1277986 w 1978511"/>
                  <a:gd name="connsiteY110" fmla="*/ 98610 h 146731"/>
                  <a:gd name="connsiteX111" fmla="*/ 1334786 w 1978511"/>
                  <a:gd name="connsiteY111" fmla="*/ 49699 h 146731"/>
                  <a:gd name="connsiteX112" fmla="*/ 1334786 w 1978511"/>
                  <a:gd name="connsiteY112" fmla="*/ 48910 h 146731"/>
                  <a:gd name="connsiteX113" fmla="*/ 1280353 w 1978511"/>
                  <a:gd name="connsiteY113" fmla="*/ 1578 h 146731"/>
                  <a:gd name="connsiteX114" fmla="*/ 1224342 w 1978511"/>
                  <a:gd name="connsiteY114" fmla="*/ 1578 h 146731"/>
                  <a:gd name="connsiteX115" fmla="*/ 1224342 w 1978511"/>
                  <a:gd name="connsiteY115" fmla="*/ 144365 h 146731"/>
                  <a:gd name="connsiteX116" fmla="*/ 1249587 w 1978511"/>
                  <a:gd name="connsiteY116" fmla="*/ 76521 h 146731"/>
                  <a:gd name="connsiteX117" fmla="*/ 1249587 w 1978511"/>
                  <a:gd name="connsiteY117" fmla="*/ 25244 h 146731"/>
                  <a:gd name="connsiteX118" fmla="*/ 1278775 w 1978511"/>
                  <a:gd name="connsiteY118" fmla="*/ 25244 h 146731"/>
                  <a:gd name="connsiteX119" fmla="*/ 1309542 w 1978511"/>
                  <a:gd name="connsiteY119" fmla="*/ 50488 h 146731"/>
                  <a:gd name="connsiteX120" fmla="*/ 1309542 w 1978511"/>
                  <a:gd name="connsiteY120" fmla="*/ 51277 h 146731"/>
                  <a:gd name="connsiteX121" fmla="*/ 1278775 w 1978511"/>
                  <a:gd name="connsiteY121" fmla="*/ 76521 h 146731"/>
                  <a:gd name="connsiteX122" fmla="*/ 1249587 w 1978511"/>
                  <a:gd name="connsiteY122" fmla="*/ 76521 h 146731"/>
                  <a:gd name="connsiteX123" fmla="*/ 1356085 w 1978511"/>
                  <a:gd name="connsiteY123" fmla="*/ 144365 h 146731"/>
                  <a:gd name="connsiteX124" fmla="*/ 1456273 w 1978511"/>
                  <a:gd name="connsiteY124" fmla="*/ 144365 h 146731"/>
                  <a:gd name="connsiteX125" fmla="*/ 1456273 w 1978511"/>
                  <a:gd name="connsiteY125" fmla="*/ 121488 h 146731"/>
                  <a:gd name="connsiteX126" fmla="*/ 1381330 w 1978511"/>
                  <a:gd name="connsiteY126" fmla="*/ 121488 h 146731"/>
                  <a:gd name="connsiteX127" fmla="*/ 1381330 w 1978511"/>
                  <a:gd name="connsiteY127" fmla="*/ 1578 h 146731"/>
                  <a:gd name="connsiteX128" fmla="*/ 1356085 w 1978511"/>
                  <a:gd name="connsiteY128" fmla="*/ 1578 h 146731"/>
                  <a:gd name="connsiteX129" fmla="*/ 1356085 w 1978511"/>
                  <a:gd name="connsiteY129" fmla="*/ 144365 h 146731"/>
                  <a:gd name="connsiteX130" fmla="*/ 1465740 w 1978511"/>
                  <a:gd name="connsiteY130" fmla="*/ 144365 h 146731"/>
                  <a:gd name="connsiteX131" fmla="*/ 1491773 w 1978511"/>
                  <a:gd name="connsiteY131" fmla="*/ 144365 h 146731"/>
                  <a:gd name="connsiteX132" fmla="*/ 1506762 w 1978511"/>
                  <a:gd name="connsiteY132" fmla="*/ 109654 h 146731"/>
                  <a:gd name="connsiteX133" fmla="*/ 1574605 w 1978511"/>
                  <a:gd name="connsiteY133" fmla="*/ 109654 h 146731"/>
                  <a:gd name="connsiteX134" fmla="*/ 1588805 w 1978511"/>
                  <a:gd name="connsiteY134" fmla="*/ 144365 h 146731"/>
                  <a:gd name="connsiteX135" fmla="*/ 1615627 w 1978511"/>
                  <a:gd name="connsiteY135" fmla="*/ 144365 h 146731"/>
                  <a:gd name="connsiteX136" fmla="*/ 1552517 w 1978511"/>
                  <a:gd name="connsiteY136" fmla="*/ 789 h 146731"/>
                  <a:gd name="connsiteX137" fmla="*/ 1528850 w 1978511"/>
                  <a:gd name="connsiteY137" fmla="*/ 789 h 146731"/>
                  <a:gd name="connsiteX138" fmla="*/ 1465740 w 1978511"/>
                  <a:gd name="connsiteY138" fmla="*/ 144365 h 146731"/>
                  <a:gd name="connsiteX139" fmla="*/ 1515439 w 1978511"/>
                  <a:gd name="connsiteY139" fmla="*/ 88354 h 146731"/>
                  <a:gd name="connsiteX140" fmla="*/ 1539895 w 1978511"/>
                  <a:gd name="connsiteY140" fmla="*/ 31555 h 146731"/>
                  <a:gd name="connsiteX141" fmla="*/ 1564350 w 1978511"/>
                  <a:gd name="connsiteY141" fmla="*/ 88354 h 146731"/>
                  <a:gd name="connsiteX142" fmla="*/ 1515439 w 1978511"/>
                  <a:gd name="connsiteY142" fmla="*/ 88354 h 146731"/>
                  <a:gd name="connsiteX143" fmla="*/ 1651916 w 1978511"/>
                  <a:gd name="connsiteY143" fmla="*/ 144365 h 146731"/>
                  <a:gd name="connsiteX144" fmla="*/ 1677160 w 1978511"/>
                  <a:gd name="connsiteY144" fmla="*/ 144365 h 146731"/>
                  <a:gd name="connsiteX145" fmla="*/ 1677160 w 1978511"/>
                  <a:gd name="connsiteY145" fmla="*/ 24455 h 146731"/>
                  <a:gd name="connsiteX146" fmla="*/ 1722126 w 1978511"/>
                  <a:gd name="connsiteY146" fmla="*/ 24455 h 146731"/>
                  <a:gd name="connsiteX147" fmla="*/ 1722126 w 1978511"/>
                  <a:gd name="connsiteY147" fmla="*/ 1578 h 146731"/>
                  <a:gd name="connsiteX148" fmla="*/ 1606160 w 1978511"/>
                  <a:gd name="connsiteY148" fmla="*/ 1578 h 146731"/>
                  <a:gd name="connsiteX149" fmla="*/ 1606160 w 1978511"/>
                  <a:gd name="connsiteY149" fmla="*/ 24455 h 146731"/>
                  <a:gd name="connsiteX150" fmla="*/ 1651127 w 1978511"/>
                  <a:gd name="connsiteY150" fmla="*/ 24455 h 146731"/>
                  <a:gd name="connsiteX151" fmla="*/ 1651127 w 1978511"/>
                  <a:gd name="connsiteY151" fmla="*/ 144365 h 146731"/>
                  <a:gd name="connsiteX152" fmla="*/ 1745003 w 1978511"/>
                  <a:gd name="connsiteY152" fmla="*/ 144365 h 146731"/>
                  <a:gd name="connsiteX153" fmla="*/ 1851502 w 1978511"/>
                  <a:gd name="connsiteY153" fmla="*/ 144365 h 146731"/>
                  <a:gd name="connsiteX154" fmla="*/ 1851502 w 1978511"/>
                  <a:gd name="connsiteY154" fmla="*/ 122276 h 146731"/>
                  <a:gd name="connsiteX155" fmla="*/ 1769459 w 1978511"/>
                  <a:gd name="connsiteY155" fmla="*/ 122276 h 146731"/>
                  <a:gd name="connsiteX156" fmla="*/ 1769459 w 1978511"/>
                  <a:gd name="connsiteY156" fmla="*/ 83621 h 146731"/>
                  <a:gd name="connsiteX157" fmla="*/ 1841247 w 1978511"/>
                  <a:gd name="connsiteY157" fmla="*/ 83621 h 146731"/>
                  <a:gd name="connsiteX158" fmla="*/ 1841247 w 1978511"/>
                  <a:gd name="connsiteY158" fmla="*/ 61533 h 146731"/>
                  <a:gd name="connsiteX159" fmla="*/ 1769459 w 1978511"/>
                  <a:gd name="connsiteY159" fmla="*/ 61533 h 146731"/>
                  <a:gd name="connsiteX160" fmla="*/ 1769459 w 1978511"/>
                  <a:gd name="connsiteY160" fmla="*/ 24455 h 146731"/>
                  <a:gd name="connsiteX161" fmla="*/ 1849925 w 1978511"/>
                  <a:gd name="connsiteY161" fmla="*/ 24455 h 146731"/>
                  <a:gd name="connsiteX162" fmla="*/ 1849925 w 1978511"/>
                  <a:gd name="connsiteY162" fmla="*/ 2367 h 146731"/>
                  <a:gd name="connsiteX163" fmla="*/ 1744214 w 1978511"/>
                  <a:gd name="connsiteY163" fmla="*/ 2367 h 146731"/>
                  <a:gd name="connsiteX164" fmla="*/ 1744214 w 1978511"/>
                  <a:gd name="connsiteY164" fmla="*/ 144365 h 146731"/>
                  <a:gd name="connsiteX165" fmla="*/ 1927235 w 1978511"/>
                  <a:gd name="connsiteY165" fmla="*/ 146732 h 146731"/>
                  <a:gd name="connsiteX166" fmla="*/ 1978512 w 1978511"/>
                  <a:gd name="connsiteY166" fmla="*/ 104132 h 146731"/>
                  <a:gd name="connsiteX167" fmla="*/ 1978512 w 1978511"/>
                  <a:gd name="connsiteY167" fmla="*/ 103343 h 146731"/>
                  <a:gd name="connsiteX168" fmla="*/ 1932757 w 1978511"/>
                  <a:gd name="connsiteY168" fmla="*/ 61533 h 146731"/>
                  <a:gd name="connsiteX169" fmla="*/ 1898835 w 1978511"/>
                  <a:gd name="connsiteY169" fmla="*/ 39444 h 146731"/>
                  <a:gd name="connsiteX170" fmla="*/ 1898835 w 1978511"/>
                  <a:gd name="connsiteY170" fmla="*/ 38655 h 146731"/>
                  <a:gd name="connsiteX171" fmla="*/ 1921713 w 1978511"/>
                  <a:gd name="connsiteY171" fmla="*/ 22089 h 146731"/>
                  <a:gd name="connsiteX172" fmla="*/ 1960368 w 1978511"/>
                  <a:gd name="connsiteY172" fmla="*/ 37077 h 146731"/>
                  <a:gd name="connsiteX173" fmla="*/ 1973779 w 1978511"/>
                  <a:gd name="connsiteY173" fmla="*/ 18144 h 146731"/>
                  <a:gd name="connsiteX174" fmla="*/ 1921713 w 1978511"/>
                  <a:gd name="connsiteY174" fmla="*/ 0 h 146731"/>
                  <a:gd name="connsiteX175" fmla="*/ 1872802 w 1978511"/>
                  <a:gd name="connsiteY175" fmla="*/ 41022 h 146731"/>
                  <a:gd name="connsiteX176" fmla="*/ 1872802 w 1978511"/>
                  <a:gd name="connsiteY176" fmla="*/ 41811 h 146731"/>
                  <a:gd name="connsiteX177" fmla="*/ 1920135 w 1978511"/>
                  <a:gd name="connsiteY177" fmla="*/ 84410 h 146731"/>
                  <a:gd name="connsiteX178" fmla="*/ 1952479 w 1978511"/>
                  <a:gd name="connsiteY178" fmla="*/ 106499 h 146731"/>
                  <a:gd name="connsiteX179" fmla="*/ 1952479 w 1978511"/>
                  <a:gd name="connsiteY179" fmla="*/ 107288 h 146731"/>
                  <a:gd name="connsiteX180" fmla="*/ 1927235 w 1978511"/>
                  <a:gd name="connsiteY180" fmla="*/ 125432 h 146731"/>
                  <a:gd name="connsiteX181" fmla="*/ 1882269 w 1978511"/>
                  <a:gd name="connsiteY181" fmla="*/ 106499 h 146731"/>
                  <a:gd name="connsiteX182" fmla="*/ 1867280 w 1978511"/>
                  <a:gd name="connsiteY182" fmla="*/ 124643 h 146731"/>
                  <a:gd name="connsiteX183" fmla="*/ 1927235 w 1978511"/>
                  <a:gd name="connsiteY183" fmla="*/ 146732 h 146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</a:cxnLst>
                <a:rect l="l" t="t" r="r" b="b"/>
                <a:pathLst>
                  <a:path w="1978511" h="146731">
                    <a:moveTo>
                      <a:pt x="0" y="144365"/>
                    </a:moveTo>
                    <a:lnTo>
                      <a:pt x="25244" y="144365"/>
                    </a:lnTo>
                    <a:lnTo>
                      <a:pt x="25244" y="98610"/>
                    </a:lnTo>
                    <a:lnTo>
                      <a:pt x="53644" y="98610"/>
                    </a:lnTo>
                    <a:cubicBezTo>
                      <a:pt x="85199" y="98610"/>
                      <a:pt x="110443" y="82044"/>
                      <a:pt x="110443" y="49699"/>
                    </a:cubicBezTo>
                    <a:lnTo>
                      <a:pt x="110443" y="48910"/>
                    </a:lnTo>
                    <a:cubicBezTo>
                      <a:pt x="110443" y="20511"/>
                      <a:pt x="89932" y="1578"/>
                      <a:pt x="56011" y="1578"/>
                    </a:cubicBezTo>
                    <a:lnTo>
                      <a:pt x="0" y="1578"/>
                    </a:lnTo>
                    <a:lnTo>
                      <a:pt x="0" y="144365"/>
                    </a:lnTo>
                    <a:close/>
                    <a:moveTo>
                      <a:pt x="25244" y="76521"/>
                    </a:moveTo>
                    <a:lnTo>
                      <a:pt x="25244" y="25244"/>
                    </a:lnTo>
                    <a:lnTo>
                      <a:pt x="54433" y="25244"/>
                    </a:lnTo>
                    <a:cubicBezTo>
                      <a:pt x="73366" y="25244"/>
                      <a:pt x="85199" y="33922"/>
                      <a:pt x="85199" y="50488"/>
                    </a:cubicBezTo>
                    <a:lnTo>
                      <a:pt x="85199" y="51277"/>
                    </a:lnTo>
                    <a:cubicBezTo>
                      <a:pt x="85199" y="66266"/>
                      <a:pt x="73366" y="76521"/>
                      <a:pt x="54433" y="76521"/>
                    </a:cubicBezTo>
                    <a:lnTo>
                      <a:pt x="25244" y="76521"/>
                    </a:lnTo>
                    <a:close/>
                    <a:moveTo>
                      <a:pt x="133321" y="144365"/>
                    </a:moveTo>
                    <a:lnTo>
                      <a:pt x="158565" y="144365"/>
                    </a:lnTo>
                    <a:lnTo>
                      <a:pt x="158565" y="1578"/>
                    </a:lnTo>
                    <a:lnTo>
                      <a:pt x="133321" y="1578"/>
                    </a:lnTo>
                    <a:lnTo>
                      <a:pt x="133321" y="144365"/>
                    </a:lnTo>
                    <a:close/>
                    <a:moveTo>
                      <a:pt x="192487" y="144365"/>
                    </a:moveTo>
                    <a:lnTo>
                      <a:pt x="217731" y="144365"/>
                    </a:lnTo>
                    <a:lnTo>
                      <a:pt x="217731" y="98610"/>
                    </a:lnTo>
                    <a:lnTo>
                      <a:pt x="246131" y="98610"/>
                    </a:lnTo>
                    <a:cubicBezTo>
                      <a:pt x="277686" y="98610"/>
                      <a:pt x="302930" y="82044"/>
                      <a:pt x="302930" y="49699"/>
                    </a:cubicBezTo>
                    <a:lnTo>
                      <a:pt x="302930" y="48910"/>
                    </a:lnTo>
                    <a:cubicBezTo>
                      <a:pt x="302930" y="20511"/>
                      <a:pt x="282419" y="1578"/>
                      <a:pt x="248497" y="1578"/>
                    </a:cubicBezTo>
                    <a:lnTo>
                      <a:pt x="192487" y="1578"/>
                    </a:lnTo>
                    <a:lnTo>
                      <a:pt x="192487" y="144365"/>
                    </a:lnTo>
                    <a:close/>
                    <a:moveTo>
                      <a:pt x="216942" y="76521"/>
                    </a:moveTo>
                    <a:lnTo>
                      <a:pt x="216942" y="25244"/>
                    </a:lnTo>
                    <a:lnTo>
                      <a:pt x="246131" y="25244"/>
                    </a:lnTo>
                    <a:cubicBezTo>
                      <a:pt x="265064" y="25244"/>
                      <a:pt x="276897" y="33922"/>
                      <a:pt x="276897" y="50488"/>
                    </a:cubicBezTo>
                    <a:lnTo>
                      <a:pt x="276897" y="51277"/>
                    </a:lnTo>
                    <a:cubicBezTo>
                      <a:pt x="276897" y="66266"/>
                      <a:pt x="265064" y="76521"/>
                      <a:pt x="246131" y="76521"/>
                    </a:cubicBezTo>
                    <a:lnTo>
                      <a:pt x="216942" y="76521"/>
                    </a:lnTo>
                    <a:close/>
                    <a:moveTo>
                      <a:pt x="324230" y="144365"/>
                    </a:moveTo>
                    <a:lnTo>
                      <a:pt x="430729" y="144365"/>
                    </a:lnTo>
                    <a:lnTo>
                      <a:pt x="430729" y="122276"/>
                    </a:lnTo>
                    <a:lnTo>
                      <a:pt x="348685" y="122276"/>
                    </a:lnTo>
                    <a:lnTo>
                      <a:pt x="348685" y="83621"/>
                    </a:lnTo>
                    <a:lnTo>
                      <a:pt x="420473" y="83621"/>
                    </a:lnTo>
                    <a:lnTo>
                      <a:pt x="420473" y="61533"/>
                    </a:lnTo>
                    <a:lnTo>
                      <a:pt x="348685" y="61533"/>
                    </a:lnTo>
                    <a:lnTo>
                      <a:pt x="348685" y="24455"/>
                    </a:lnTo>
                    <a:lnTo>
                      <a:pt x="429151" y="24455"/>
                    </a:lnTo>
                    <a:lnTo>
                      <a:pt x="429151" y="2367"/>
                    </a:lnTo>
                    <a:lnTo>
                      <a:pt x="323441" y="2367"/>
                    </a:lnTo>
                    <a:lnTo>
                      <a:pt x="323441" y="144365"/>
                    </a:lnTo>
                    <a:close/>
                    <a:moveTo>
                      <a:pt x="506461" y="146732"/>
                    </a:moveTo>
                    <a:cubicBezTo>
                      <a:pt x="536439" y="146732"/>
                      <a:pt x="557738" y="130954"/>
                      <a:pt x="557738" y="104132"/>
                    </a:cubicBezTo>
                    <a:lnTo>
                      <a:pt x="557738" y="103343"/>
                    </a:lnTo>
                    <a:cubicBezTo>
                      <a:pt x="557738" y="79677"/>
                      <a:pt x="541961" y="68632"/>
                      <a:pt x="511983" y="61533"/>
                    </a:cubicBezTo>
                    <a:cubicBezTo>
                      <a:pt x="484373" y="55222"/>
                      <a:pt x="478061" y="50488"/>
                      <a:pt x="478061" y="39444"/>
                    </a:cubicBezTo>
                    <a:lnTo>
                      <a:pt x="478061" y="38655"/>
                    </a:lnTo>
                    <a:cubicBezTo>
                      <a:pt x="478061" y="29188"/>
                      <a:pt x="486739" y="22089"/>
                      <a:pt x="501728" y="22089"/>
                    </a:cubicBezTo>
                    <a:cubicBezTo>
                      <a:pt x="515139" y="22089"/>
                      <a:pt x="527761" y="26822"/>
                      <a:pt x="540383" y="37077"/>
                    </a:cubicBezTo>
                    <a:lnTo>
                      <a:pt x="553794" y="18144"/>
                    </a:lnTo>
                    <a:cubicBezTo>
                      <a:pt x="539594" y="6311"/>
                      <a:pt x="523028" y="0"/>
                      <a:pt x="501728" y="0"/>
                    </a:cubicBezTo>
                    <a:cubicBezTo>
                      <a:pt x="473328" y="0"/>
                      <a:pt x="452817" y="16566"/>
                      <a:pt x="452817" y="41022"/>
                    </a:cubicBezTo>
                    <a:lnTo>
                      <a:pt x="452817" y="41811"/>
                    </a:lnTo>
                    <a:cubicBezTo>
                      <a:pt x="452817" y="67844"/>
                      <a:pt x="470173" y="77310"/>
                      <a:pt x="500150" y="84410"/>
                    </a:cubicBezTo>
                    <a:cubicBezTo>
                      <a:pt x="526972" y="90721"/>
                      <a:pt x="532494" y="96243"/>
                      <a:pt x="532494" y="106499"/>
                    </a:cubicBezTo>
                    <a:lnTo>
                      <a:pt x="532494" y="107288"/>
                    </a:lnTo>
                    <a:cubicBezTo>
                      <a:pt x="532494" y="117543"/>
                      <a:pt x="523028" y="125432"/>
                      <a:pt x="507250" y="125432"/>
                    </a:cubicBezTo>
                    <a:cubicBezTo>
                      <a:pt x="489895" y="125432"/>
                      <a:pt x="475695" y="118332"/>
                      <a:pt x="462284" y="106499"/>
                    </a:cubicBezTo>
                    <a:lnTo>
                      <a:pt x="447295" y="124643"/>
                    </a:lnTo>
                    <a:cubicBezTo>
                      <a:pt x="463862" y="138843"/>
                      <a:pt x="484373" y="146732"/>
                      <a:pt x="506461" y="146732"/>
                    </a:cubicBezTo>
                    <a:moveTo>
                      <a:pt x="657137" y="144365"/>
                    </a:moveTo>
                    <a:lnTo>
                      <a:pt x="683170" y="144365"/>
                    </a:lnTo>
                    <a:lnTo>
                      <a:pt x="698159" y="109654"/>
                    </a:lnTo>
                    <a:lnTo>
                      <a:pt x="766003" y="109654"/>
                    </a:lnTo>
                    <a:lnTo>
                      <a:pt x="780203" y="144365"/>
                    </a:lnTo>
                    <a:lnTo>
                      <a:pt x="807025" y="144365"/>
                    </a:lnTo>
                    <a:lnTo>
                      <a:pt x="743914" y="789"/>
                    </a:lnTo>
                    <a:lnTo>
                      <a:pt x="721037" y="789"/>
                    </a:lnTo>
                    <a:lnTo>
                      <a:pt x="657137" y="144365"/>
                    </a:lnTo>
                    <a:close/>
                    <a:moveTo>
                      <a:pt x="706048" y="88354"/>
                    </a:moveTo>
                    <a:lnTo>
                      <a:pt x="730503" y="31555"/>
                    </a:lnTo>
                    <a:lnTo>
                      <a:pt x="754959" y="88354"/>
                    </a:lnTo>
                    <a:lnTo>
                      <a:pt x="706048" y="88354"/>
                    </a:lnTo>
                    <a:close/>
                    <a:moveTo>
                      <a:pt x="825958" y="144365"/>
                    </a:moveTo>
                    <a:lnTo>
                      <a:pt x="850413" y="144365"/>
                    </a:lnTo>
                    <a:lnTo>
                      <a:pt x="850413" y="42599"/>
                    </a:lnTo>
                    <a:lnTo>
                      <a:pt x="929301" y="144365"/>
                    </a:lnTo>
                    <a:lnTo>
                      <a:pt x="950601" y="144365"/>
                    </a:lnTo>
                    <a:lnTo>
                      <a:pt x="950601" y="1578"/>
                    </a:lnTo>
                    <a:lnTo>
                      <a:pt x="926146" y="1578"/>
                    </a:lnTo>
                    <a:lnTo>
                      <a:pt x="926146" y="100977"/>
                    </a:lnTo>
                    <a:lnTo>
                      <a:pt x="849624" y="2367"/>
                    </a:lnTo>
                    <a:lnTo>
                      <a:pt x="825958" y="2367"/>
                    </a:lnTo>
                    <a:lnTo>
                      <a:pt x="825958" y="144365"/>
                    </a:lnTo>
                    <a:close/>
                    <a:moveTo>
                      <a:pt x="982945" y="144365"/>
                    </a:moveTo>
                    <a:lnTo>
                      <a:pt x="1035800" y="144365"/>
                    </a:lnTo>
                    <a:cubicBezTo>
                      <a:pt x="1080766" y="144365"/>
                      <a:pt x="1111533" y="112810"/>
                      <a:pt x="1111533" y="72577"/>
                    </a:cubicBezTo>
                    <a:lnTo>
                      <a:pt x="1111533" y="71788"/>
                    </a:lnTo>
                    <a:cubicBezTo>
                      <a:pt x="1111533" y="31555"/>
                      <a:pt x="1080766" y="789"/>
                      <a:pt x="1035800" y="789"/>
                    </a:cubicBezTo>
                    <a:lnTo>
                      <a:pt x="982945" y="789"/>
                    </a:lnTo>
                    <a:lnTo>
                      <a:pt x="982945" y="144365"/>
                    </a:lnTo>
                    <a:close/>
                    <a:moveTo>
                      <a:pt x="1035800" y="24455"/>
                    </a:moveTo>
                    <a:cubicBezTo>
                      <a:pt x="1065777" y="24455"/>
                      <a:pt x="1085499" y="44966"/>
                      <a:pt x="1085499" y="73366"/>
                    </a:cubicBezTo>
                    <a:lnTo>
                      <a:pt x="1085499" y="74155"/>
                    </a:lnTo>
                    <a:cubicBezTo>
                      <a:pt x="1085499" y="101766"/>
                      <a:pt x="1065777" y="122276"/>
                      <a:pt x="1035800" y="122276"/>
                    </a:cubicBezTo>
                    <a:lnTo>
                      <a:pt x="1008189" y="122276"/>
                    </a:lnTo>
                    <a:lnTo>
                      <a:pt x="1008189" y="25244"/>
                    </a:lnTo>
                    <a:lnTo>
                      <a:pt x="1035800" y="25244"/>
                    </a:lnTo>
                    <a:close/>
                    <a:moveTo>
                      <a:pt x="1224342" y="144365"/>
                    </a:moveTo>
                    <a:lnTo>
                      <a:pt x="1249587" y="144365"/>
                    </a:lnTo>
                    <a:lnTo>
                      <a:pt x="1249587" y="98610"/>
                    </a:lnTo>
                    <a:lnTo>
                      <a:pt x="1277986" y="98610"/>
                    </a:lnTo>
                    <a:cubicBezTo>
                      <a:pt x="1309542" y="98610"/>
                      <a:pt x="1334786" y="82044"/>
                      <a:pt x="1334786" y="49699"/>
                    </a:cubicBezTo>
                    <a:lnTo>
                      <a:pt x="1334786" y="48910"/>
                    </a:lnTo>
                    <a:cubicBezTo>
                      <a:pt x="1334786" y="20511"/>
                      <a:pt x="1314275" y="1578"/>
                      <a:pt x="1280353" y="1578"/>
                    </a:cubicBezTo>
                    <a:lnTo>
                      <a:pt x="1224342" y="1578"/>
                    </a:lnTo>
                    <a:lnTo>
                      <a:pt x="1224342" y="144365"/>
                    </a:lnTo>
                    <a:close/>
                    <a:moveTo>
                      <a:pt x="1249587" y="76521"/>
                    </a:moveTo>
                    <a:lnTo>
                      <a:pt x="1249587" y="25244"/>
                    </a:lnTo>
                    <a:lnTo>
                      <a:pt x="1278775" y="25244"/>
                    </a:lnTo>
                    <a:cubicBezTo>
                      <a:pt x="1297708" y="25244"/>
                      <a:pt x="1309542" y="33922"/>
                      <a:pt x="1309542" y="50488"/>
                    </a:cubicBezTo>
                    <a:lnTo>
                      <a:pt x="1309542" y="51277"/>
                    </a:lnTo>
                    <a:cubicBezTo>
                      <a:pt x="1309542" y="66266"/>
                      <a:pt x="1297708" y="76521"/>
                      <a:pt x="1278775" y="76521"/>
                    </a:cubicBezTo>
                    <a:lnTo>
                      <a:pt x="1249587" y="76521"/>
                    </a:lnTo>
                    <a:close/>
                    <a:moveTo>
                      <a:pt x="1356085" y="144365"/>
                    </a:moveTo>
                    <a:lnTo>
                      <a:pt x="1456273" y="144365"/>
                    </a:lnTo>
                    <a:lnTo>
                      <a:pt x="1456273" y="121488"/>
                    </a:lnTo>
                    <a:lnTo>
                      <a:pt x="1381330" y="121488"/>
                    </a:lnTo>
                    <a:lnTo>
                      <a:pt x="1381330" y="1578"/>
                    </a:lnTo>
                    <a:lnTo>
                      <a:pt x="1356085" y="1578"/>
                    </a:lnTo>
                    <a:lnTo>
                      <a:pt x="1356085" y="144365"/>
                    </a:lnTo>
                    <a:close/>
                    <a:moveTo>
                      <a:pt x="1465740" y="144365"/>
                    </a:moveTo>
                    <a:lnTo>
                      <a:pt x="1491773" y="144365"/>
                    </a:lnTo>
                    <a:lnTo>
                      <a:pt x="1506762" y="109654"/>
                    </a:lnTo>
                    <a:lnTo>
                      <a:pt x="1574605" y="109654"/>
                    </a:lnTo>
                    <a:lnTo>
                      <a:pt x="1588805" y="144365"/>
                    </a:lnTo>
                    <a:lnTo>
                      <a:pt x="1615627" y="144365"/>
                    </a:lnTo>
                    <a:lnTo>
                      <a:pt x="1552517" y="789"/>
                    </a:lnTo>
                    <a:lnTo>
                      <a:pt x="1528850" y="789"/>
                    </a:lnTo>
                    <a:lnTo>
                      <a:pt x="1465740" y="144365"/>
                    </a:lnTo>
                    <a:close/>
                    <a:moveTo>
                      <a:pt x="1515439" y="88354"/>
                    </a:moveTo>
                    <a:lnTo>
                      <a:pt x="1539895" y="31555"/>
                    </a:lnTo>
                    <a:lnTo>
                      <a:pt x="1564350" y="88354"/>
                    </a:lnTo>
                    <a:lnTo>
                      <a:pt x="1515439" y="88354"/>
                    </a:lnTo>
                    <a:close/>
                    <a:moveTo>
                      <a:pt x="1651916" y="144365"/>
                    </a:moveTo>
                    <a:lnTo>
                      <a:pt x="1677160" y="144365"/>
                    </a:lnTo>
                    <a:lnTo>
                      <a:pt x="1677160" y="24455"/>
                    </a:lnTo>
                    <a:lnTo>
                      <a:pt x="1722126" y="24455"/>
                    </a:lnTo>
                    <a:lnTo>
                      <a:pt x="1722126" y="1578"/>
                    </a:lnTo>
                    <a:lnTo>
                      <a:pt x="1606160" y="1578"/>
                    </a:lnTo>
                    <a:lnTo>
                      <a:pt x="1606160" y="24455"/>
                    </a:lnTo>
                    <a:lnTo>
                      <a:pt x="1651127" y="24455"/>
                    </a:lnTo>
                    <a:lnTo>
                      <a:pt x="1651127" y="144365"/>
                    </a:lnTo>
                    <a:close/>
                    <a:moveTo>
                      <a:pt x="1745003" y="144365"/>
                    </a:moveTo>
                    <a:lnTo>
                      <a:pt x="1851502" y="144365"/>
                    </a:lnTo>
                    <a:lnTo>
                      <a:pt x="1851502" y="122276"/>
                    </a:lnTo>
                    <a:lnTo>
                      <a:pt x="1769459" y="122276"/>
                    </a:lnTo>
                    <a:lnTo>
                      <a:pt x="1769459" y="83621"/>
                    </a:lnTo>
                    <a:lnTo>
                      <a:pt x="1841247" y="83621"/>
                    </a:lnTo>
                    <a:lnTo>
                      <a:pt x="1841247" y="61533"/>
                    </a:lnTo>
                    <a:lnTo>
                      <a:pt x="1769459" y="61533"/>
                    </a:lnTo>
                    <a:lnTo>
                      <a:pt x="1769459" y="24455"/>
                    </a:lnTo>
                    <a:lnTo>
                      <a:pt x="1849925" y="24455"/>
                    </a:lnTo>
                    <a:lnTo>
                      <a:pt x="1849925" y="2367"/>
                    </a:lnTo>
                    <a:lnTo>
                      <a:pt x="1744214" y="2367"/>
                    </a:lnTo>
                    <a:lnTo>
                      <a:pt x="1744214" y="144365"/>
                    </a:lnTo>
                    <a:close/>
                    <a:moveTo>
                      <a:pt x="1927235" y="146732"/>
                    </a:moveTo>
                    <a:cubicBezTo>
                      <a:pt x="1957212" y="146732"/>
                      <a:pt x="1978512" y="130954"/>
                      <a:pt x="1978512" y="104132"/>
                    </a:cubicBezTo>
                    <a:lnTo>
                      <a:pt x="1978512" y="103343"/>
                    </a:lnTo>
                    <a:cubicBezTo>
                      <a:pt x="1978512" y="79677"/>
                      <a:pt x="1962734" y="68632"/>
                      <a:pt x="1932757" y="61533"/>
                    </a:cubicBezTo>
                    <a:cubicBezTo>
                      <a:pt x="1905146" y="55222"/>
                      <a:pt x="1898835" y="50488"/>
                      <a:pt x="1898835" y="39444"/>
                    </a:cubicBezTo>
                    <a:lnTo>
                      <a:pt x="1898835" y="38655"/>
                    </a:lnTo>
                    <a:cubicBezTo>
                      <a:pt x="1898835" y="29188"/>
                      <a:pt x="1907513" y="22089"/>
                      <a:pt x="1921713" y="22089"/>
                    </a:cubicBezTo>
                    <a:cubicBezTo>
                      <a:pt x="1935124" y="22089"/>
                      <a:pt x="1947746" y="26822"/>
                      <a:pt x="1960368" y="37077"/>
                    </a:cubicBezTo>
                    <a:lnTo>
                      <a:pt x="1973779" y="18144"/>
                    </a:lnTo>
                    <a:cubicBezTo>
                      <a:pt x="1959579" y="6311"/>
                      <a:pt x="1943012" y="0"/>
                      <a:pt x="1921713" y="0"/>
                    </a:cubicBezTo>
                    <a:cubicBezTo>
                      <a:pt x="1893313" y="0"/>
                      <a:pt x="1872802" y="16566"/>
                      <a:pt x="1872802" y="41022"/>
                    </a:cubicBezTo>
                    <a:lnTo>
                      <a:pt x="1872802" y="41811"/>
                    </a:lnTo>
                    <a:cubicBezTo>
                      <a:pt x="1872802" y="67844"/>
                      <a:pt x="1890157" y="77310"/>
                      <a:pt x="1920135" y="84410"/>
                    </a:cubicBezTo>
                    <a:cubicBezTo>
                      <a:pt x="1946957" y="90721"/>
                      <a:pt x="1952479" y="96243"/>
                      <a:pt x="1952479" y="106499"/>
                    </a:cubicBezTo>
                    <a:lnTo>
                      <a:pt x="1952479" y="107288"/>
                    </a:lnTo>
                    <a:cubicBezTo>
                      <a:pt x="1952479" y="117543"/>
                      <a:pt x="1943012" y="125432"/>
                      <a:pt x="1927235" y="125432"/>
                    </a:cubicBezTo>
                    <a:cubicBezTo>
                      <a:pt x="1909879" y="125432"/>
                      <a:pt x="1895680" y="118332"/>
                      <a:pt x="1882269" y="106499"/>
                    </a:cubicBezTo>
                    <a:lnTo>
                      <a:pt x="1867280" y="124643"/>
                    </a:lnTo>
                    <a:cubicBezTo>
                      <a:pt x="1884635" y="138843"/>
                      <a:pt x="1905146" y="146732"/>
                      <a:pt x="1927235" y="146732"/>
                    </a:cubicBezTo>
                  </a:path>
                </a:pathLst>
              </a:custGeom>
              <a:solidFill>
                <a:srgbClr val="888888"/>
              </a:solidFill>
              <a:ln w="78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6" name="Freeform: Shape 2099">
                <a:extLst>
                  <a:ext uri="{FF2B5EF4-FFF2-40B4-BE49-F238E27FC236}">
                    <a16:creationId xmlns:a16="http://schemas.microsoft.com/office/drawing/2014/main" id="{3B121F20-0D06-A1BD-BEBF-39C67BA69FB9}"/>
                  </a:ext>
                </a:extLst>
              </p:cNvPr>
              <p:cNvSpPr/>
              <p:nvPr/>
            </p:nvSpPr>
            <p:spPr>
              <a:xfrm>
                <a:off x="3645065" y="2328774"/>
                <a:ext cx="3286475" cy="265852"/>
              </a:xfrm>
              <a:custGeom>
                <a:avLst/>
                <a:gdLst>
                  <a:gd name="connsiteX0" fmla="*/ 87566 w 3286475"/>
                  <a:gd name="connsiteY0" fmla="*/ 263486 h 265852"/>
                  <a:gd name="connsiteX1" fmla="*/ 136476 w 3286475"/>
                  <a:gd name="connsiteY1" fmla="*/ 263486 h 265852"/>
                  <a:gd name="connsiteX2" fmla="*/ 194065 w 3286475"/>
                  <a:gd name="connsiteY2" fmla="*/ 95454 h 265852"/>
                  <a:gd name="connsiteX3" fmla="*/ 252442 w 3286475"/>
                  <a:gd name="connsiteY3" fmla="*/ 263486 h 265852"/>
                  <a:gd name="connsiteX4" fmla="*/ 301352 w 3286475"/>
                  <a:gd name="connsiteY4" fmla="*/ 263486 h 265852"/>
                  <a:gd name="connsiteX5" fmla="*/ 388918 w 3286475"/>
                  <a:gd name="connsiteY5" fmla="*/ 4733 h 265852"/>
                  <a:gd name="connsiteX6" fmla="*/ 329752 w 3286475"/>
                  <a:gd name="connsiteY6" fmla="*/ 4733 h 265852"/>
                  <a:gd name="connsiteX7" fmla="*/ 276897 w 3286475"/>
                  <a:gd name="connsiteY7" fmla="*/ 179076 h 265852"/>
                  <a:gd name="connsiteX8" fmla="*/ 219309 w 3286475"/>
                  <a:gd name="connsiteY8" fmla="*/ 3944 h 265852"/>
                  <a:gd name="connsiteX9" fmla="*/ 171187 w 3286475"/>
                  <a:gd name="connsiteY9" fmla="*/ 3944 h 265852"/>
                  <a:gd name="connsiteX10" fmla="*/ 113599 w 3286475"/>
                  <a:gd name="connsiteY10" fmla="*/ 179076 h 265852"/>
                  <a:gd name="connsiteX11" fmla="*/ 60744 w 3286475"/>
                  <a:gd name="connsiteY11" fmla="*/ 4733 h 265852"/>
                  <a:gd name="connsiteX12" fmla="*/ 0 w 3286475"/>
                  <a:gd name="connsiteY12" fmla="*/ 4733 h 265852"/>
                  <a:gd name="connsiteX13" fmla="*/ 87566 w 3286475"/>
                  <a:gd name="connsiteY13" fmla="*/ 263486 h 265852"/>
                  <a:gd name="connsiteX14" fmla="*/ 451240 w 3286475"/>
                  <a:gd name="connsiteY14" fmla="*/ 261908 h 265852"/>
                  <a:gd name="connsiteX15" fmla="*/ 646882 w 3286475"/>
                  <a:gd name="connsiteY15" fmla="*/ 261908 h 265852"/>
                  <a:gd name="connsiteX16" fmla="*/ 646882 w 3286475"/>
                  <a:gd name="connsiteY16" fmla="*/ 211420 h 265852"/>
                  <a:gd name="connsiteX17" fmla="*/ 507250 w 3286475"/>
                  <a:gd name="connsiteY17" fmla="*/ 211420 h 265852"/>
                  <a:gd name="connsiteX18" fmla="*/ 507250 w 3286475"/>
                  <a:gd name="connsiteY18" fmla="*/ 157776 h 265852"/>
                  <a:gd name="connsiteX19" fmla="*/ 628738 w 3286475"/>
                  <a:gd name="connsiteY19" fmla="*/ 157776 h 265852"/>
                  <a:gd name="connsiteX20" fmla="*/ 628738 w 3286475"/>
                  <a:gd name="connsiteY20" fmla="*/ 107288 h 265852"/>
                  <a:gd name="connsiteX21" fmla="*/ 507250 w 3286475"/>
                  <a:gd name="connsiteY21" fmla="*/ 107288 h 265852"/>
                  <a:gd name="connsiteX22" fmla="*/ 507250 w 3286475"/>
                  <a:gd name="connsiteY22" fmla="*/ 55222 h 265852"/>
                  <a:gd name="connsiteX23" fmla="*/ 644515 w 3286475"/>
                  <a:gd name="connsiteY23" fmla="*/ 55222 h 265852"/>
                  <a:gd name="connsiteX24" fmla="*/ 644515 w 3286475"/>
                  <a:gd name="connsiteY24" fmla="*/ 4733 h 265852"/>
                  <a:gd name="connsiteX25" fmla="*/ 450451 w 3286475"/>
                  <a:gd name="connsiteY25" fmla="*/ 4733 h 265852"/>
                  <a:gd name="connsiteX26" fmla="*/ 450451 w 3286475"/>
                  <a:gd name="connsiteY26" fmla="*/ 261908 h 265852"/>
                  <a:gd name="connsiteX27" fmla="*/ 717092 w 3286475"/>
                  <a:gd name="connsiteY27" fmla="*/ 261908 h 265852"/>
                  <a:gd name="connsiteX28" fmla="*/ 901690 w 3286475"/>
                  <a:gd name="connsiteY28" fmla="*/ 261908 h 265852"/>
                  <a:gd name="connsiteX29" fmla="*/ 901690 w 3286475"/>
                  <a:gd name="connsiteY29" fmla="*/ 210631 h 265852"/>
                  <a:gd name="connsiteX30" fmla="*/ 773892 w 3286475"/>
                  <a:gd name="connsiteY30" fmla="*/ 210631 h 265852"/>
                  <a:gd name="connsiteX31" fmla="*/ 773892 w 3286475"/>
                  <a:gd name="connsiteY31" fmla="*/ 4733 h 265852"/>
                  <a:gd name="connsiteX32" fmla="*/ 717092 w 3286475"/>
                  <a:gd name="connsiteY32" fmla="*/ 4733 h 265852"/>
                  <a:gd name="connsiteX33" fmla="*/ 717092 w 3286475"/>
                  <a:gd name="connsiteY33" fmla="*/ 261908 h 265852"/>
                  <a:gd name="connsiteX34" fmla="*/ 1055522 w 3286475"/>
                  <a:gd name="connsiteY34" fmla="*/ 265064 h 265852"/>
                  <a:gd name="connsiteX35" fmla="*/ 1150188 w 3286475"/>
                  <a:gd name="connsiteY35" fmla="*/ 185387 h 265852"/>
                  <a:gd name="connsiteX36" fmla="*/ 1150188 w 3286475"/>
                  <a:gd name="connsiteY36" fmla="*/ 184598 h 265852"/>
                  <a:gd name="connsiteX37" fmla="*/ 1068933 w 3286475"/>
                  <a:gd name="connsiteY37" fmla="*/ 107288 h 265852"/>
                  <a:gd name="connsiteX38" fmla="*/ 1013711 w 3286475"/>
                  <a:gd name="connsiteY38" fmla="*/ 73366 h 265852"/>
                  <a:gd name="connsiteX39" fmla="*/ 1013711 w 3286475"/>
                  <a:gd name="connsiteY39" fmla="*/ 72577 h 265852"/>
                  <a:gd name="connsiteX40" fmla="*/ 1046844 w 3286475"/>
                  <a:gd name="connsiteY40" fmla="*/ 50488 h 265852"/>
                  <a:gd name="connsiteX41" fmla="*/ 1113899 w 3286475"/>
                  <a:gd name="connsiteY41" fmla="*/ 75732 h 265852"/>
                  <a:gd name="connsiteX42" fmla="*/ 1143088 w 3286475"/>
                  <a:gd name="connsiteY42" fmla="*/ 33133 h 265852"/>
                  <a:gd name="connsiteX43" fmla="*/ 1047633 w 3286475"/>
                  <a:gd name="connsiteY43" fmla="*/ 789 h 265852"/>
                  <a:gd name="connsiteX44" fmla="*/ 957701 w 3286475"/>
                  <a:gd name="connsiteY44" fmla="*/ 78099 h 265852"/>
                  <a:gd name="connsiteX45" fmla="*/ 957701 w 3286475"/>
                  <a:gd name="connsiteY45" fmla="*/ 78888 h 265852"/>
                  <a:gd name="connsiteX46" fmla="*/ 1042900 w 3286475"/>
                  <a:gd name="connsiteY46" fmla="*/ 157776 h 265852"/>
                  <a:gd name="connsiteX47" fmla="*/ 1094966 w 3286475"/>
                  <a:gd name="connsiteY47" fmla="*/ 190120 h 265852"/>
                  <a:gd name="connsiteX48" fmla="*/ 1094966 w 3286475"/>
                  <a:gd name="connsiteY48" fmla="*/ 190909 h 265852"/>
                  <a:gd name="connsiteX49" fmla="*/ 1057889 w 3286475"/>
                  <a:gd name="connsiteY49" fmla="*/ 215364 h 265852"/>
                  <a:gd name="connsiteX50" fmla="*/ 981367 w 3286475"/>
                  <a:gd name="connsiteY50" fmla="*/ 183809 h 265852"/>
                  <a:gd name="connsiteX51" fmla="*/ 948234 w 3286475"/>
                  <a:gd name="connsiteY51" fmla="*/ 224042 h 265852"/>
                  <a:gd name="connsiteX52" fmla="*/ 1055522 w 3286475"/>
                  <a:gd name="connsiteY52" fmla="*/ 265064 h 265852"/>
                  <a:gd name="connsiteX53" fmla="*/ 1219609 w 3286475"/>
                  <a:gd name="connsiteY53" fmla="*/ 261908 h 265852"/>
                  <a:gd name="connsiteX54" fmla="*/ 1276408 w 3286475"/>
                  <a:gd name="connsiteY54" fmla="*/ 261908 h 265852"/>
                  <a:gd name="connsiteX55" fmla="*/ 1276408 w 3286475"/>
                  <a:gd name="connsiteY55" fmla="*/ 184598 h 265852"/>
                  <a:gd name="connsiteX56" fmla="*/ 1319008 w 3286475"/>
                  <a:gd name="connsiteY56" fmla="*/ 184598 h 265852"/>
                  <a:gd name="connsiteX57" fmla="*/ 1423140 w 3286475"/>
                  <a:gd name="connsiteY57" fmla="*/ 94666 h 265852"/>
                  <a:gd name="connsiteX58" fmla="*/ 1423140 w 3286475"/>
                  <a:gd name="connsiteY58" fmla="*/ 93088 h 265852"/>
                  <a:gd name="connsiteX59" fmla="*/ 1324530 w 3286475"/>
                  <a:gd name="connsiteY59" fmla="*/ 3944 h 265852"/>
                  <a:gd name="connsiteX60" fmla="*/ 1219609 w 3286475"/>
                  <a:gd name="connsiteY60" fmla="*/ 3944 h 265852"/>
                  <a:gd name="connsiteX61" fmla="*/ 1219609 w 3286475"/>
                  <a:gd name="connsiteY61" fmla="*/ 261908 h 265852"/>
                  <a:gd name="connsiteX62" fmla="*/ 1275620 w 3286475"/>
                  <a:gd name="connsiteY62" fmla="*/ 134110 h 265852"/>
                  <a:gd name="connsiteX63" fmla="*/ 1275620 w 3286475"/>
                  <a:gd name="connsiteY63" fmla="*/ 55222 h 265852"/>
                  <a:gd name="connsiteX64" fmla="*/ 1319008 w 3286475"/>
                  <a:gd name="connsiteY64" fmla="*/ 55222 h 265852"/>
                  <a:gd name="connsiteX65" fmla="*/ 1364763 w 3286475"/>
                  <a:gd name="connsiteY65" fmla="*/ 93877 h 265852"/>
                  <a:gd name="connsiteX66" fmla="*/ 1364763 w 3286475"/>
                  <a:gd name="connsiteY66" fmla="*/ 94666 h 265852"/>
                  <a:gd name="connsiteX67" fmla="*/ 1319797 w 3286475"/>
                  <a:gd name="connsiteY67" fmla="*/ 133321 h 265852"/>
                  <a:gd name="connsiteX68" fmla="*/ 1275620 w 3286475"/>
                  <a:gd name="connsiteY68" fmla="*/ 133321 h 265852"/>
                  <a:gd name="connsiteX69" fmla="*/ 1591961 w 3286475"/>
                  <a:gd name="connsiteY69" fmla="*/ 265853 h 265852"/>
                  <a:gd name="connsiteX70" fmla="*/ 1704771 w 3286475"/>
                  <a:gd name="connsiteY70" fmla="*/ 149887 h 265852"/>
                  <a:gd name="connsiteX71" fmla="*/ 1704771 w 3286475"/>
                  <a:gd name="connsiteY71" fmla="*/ 4733 h 265852"/>
                  <a:gd name="connsiteX72" fmla="*/ 1647971 w 3286475"/>
                  <a:gd name="connsiteY72" fmla="*/ 4733 h 265852"/>
                  <a:gd name="connsiteX73" fmla="*/ 1647971 w 3286475"/>
                  <a:gd name="connsiteY73" fmla="*/ 152254 h 265852"/>
                  <a:gd name="connsiteX74" fmla="*/ 1592749 w 3286475"/>
                  <a:gd name="connsiteY74" fmla="*/ 213786 h 265852"/>
                  <a:gd name="connsiteX75" fmla="*/ 1537528 w 3286475"/>
                  <a:gd name="connsiteY75" fmla="*/ 149887 h 265852"/>
                  <a:gd name="connsiteX76" fmla="*/ 1537528 w 3286475"/>
                  <a:gd name="connsiteY76" fmla="*/ 4733 h 265852"/>
                  <a:gd name="connsiteX77" fmla="*/ 1480729 w 3286475"/>
                  <a:gd name="connsiteY77" fmla="*/ 4733 h 265852"/>
                  <a:gd name="connsiteX78" fmla="*/ 1480729 w 3286475"/>
                  <a:gd name="connsiteY78" fmla="*/ 151465 h 265852"/>
                  <a:gd name="connsiteX79" fmla="*/ 1591961 w 3286475"/>
                  <a:gd name="connsiteY79" fmla="*/ 265853 h 265852"/>
                  <a:gd name="connsiteX80" fmla="*/ 1782081 w 3286475"/>
                  <a:gd name="connsiteY80" fmla="*/ 261908 h 265852"/>
                  <a:gd name="connsiteX81" fmla="*/ 1838091 w 3286475"/>
                  <a:gd name="connsiteY81" fmla="*/ 261908 h 265852"/>
                  <a:gd name="connsiteX82" fmla="*/ 1838091 w 3286475"/>
                  <a:gd name="connsiteY82" fmla="*/ 98610 h 265852"/>
                  <a:gd name="connsiteX83" fmla="*/ 1962734 w 3286475"/>
                  <a:gd name="connsiteY83" fmla="*/ 261908 h 265852"/>
                  <a:gd name="connsiteX84" fmla="*/ 2010856 w 3286475"/>
                  <a:gd name="connsiteY84" fmla="*/ 261908 h 265852"/>
                  <a:gd name="connsiteX85" fmla="*/ 2010856 w 3286475"/>
                  <a:gd name="connsiteY85" fmla="*/ 4733 h 265852"/>
                  <a:gd name="connsiteX86" fmla="*/ 1954846 w 3286475"/>
                  <a:gd name="connsiteY86" fmla="*/ 4733 h 265852"/>
                  <a:gd name="connsiteX87" fmla="*/ 1954846 w 3286475"/>
                  <a:gd name="connsiteY87" fmla="*/ 163298 h 265852"/>
                  <a:gd name="connsiteX88" fmla="*/ 1834147 w 3286475"/>
                  <a:gd name="connsiteY88" fmla="*/ 4733 h 265852"/>
                  <a:gd name="connsiteX89" fmla="*/ 1782081 w 3286475"/>
                  <a:gd name="connsiteY89" fmla="*/ 4733 h 265852"/>
                  <a:gd name="connsiteX90" fmla="*/ 1782081 w 3286475"/>
                  <a:gd name="connsiteY90" fmla="*/ 261908 h 265852"/>
                  <a:gd name="connsiteX91" fmla="*/ 2302742 w 3286475"/>
                  <a:gd name="connsiteY91" fmla="*/ 265853 h 265852"/>
                  <a:gd name="connsiteX92" fmla="*/ 2408452 w 3286475"/>
                  <a:gd name="connsiteY92" fmla="*/ 220098 h 265852"/>
                  <a:gd name="connsiteX93" fmla="*/ 2372163 w 3286475"/>
                  <a:gd name="connsiteY93" fmla="*/ 183809 h 265852"/>
                  <a:gd name="connsiteX94" fmla="*/ 2304320 w 3286475"/>
                  <a:gd name="connsiteY94" fmla="*/ 213786 h 265852"/>
                  <a:gd name="connsiteX95" fmla="*/ 2229376 w 3286475"/>
                  <a:gd name="connsiteY95" fmla="*/ 133321 h 265852"/>
                  <a:gd name="connsiteX96" fmla="*/ 2229376 w 3286475"/>
                  <a:gd name="connsiteY96" fmla="*/ 132532 h 265852"/>
                  <a:gd name="connsiteX97" fmla="*/ 2304320 w 3286475"/>
                  <a:gd name="connsiteY97" fmla="*/ 52855 h 265852"/>
                  <a:gd name="connsiteX98" fmla="*/ 2369797 w 3286475"/>
                  <a:gd name="connsiteY98" fmla="*/ 82044 h 265852"/>
                  <a:gd name="connsiteX99" fmla="*/ 2406085 w 3286475"/>
                  <a:gd name="connsiteY99" fmla="*/ 40233 h 265852"/>
                  <a:gd name="connsiteX100" fmla="*/ 2305109 w 3286475"/>
                  <a:gd name="connsiteY100" fmla="*/ 789 h 265852"/>
                  <a:gd name="connsiteX101" fmla="*/ 2170999 w 3286475"/>
                  <a:gd name="connsiteY101" fmla="*/ 134110 h 265852"/>
                  <a:gd name="connsiteX102" fmla="*/ 2170999 w 3286475"/>
                  <a:gd name="connsiteY102" fmla="*/ 134898 h 265852"/>
                  <a:gd name="connsiteX103" fmla="*/ 2302742 w 3286475"/>
                  <a:gd name="connsiteY103" fmla="*/ 265853 h 265852"/>
                  <a:gd name="connsiteX104" fmla="*/ 2590683 w 3286475"/>
                  <a:gd name="connsiteY104" fmla="*/ 265853 h 265852"/>
                  <a:gd name="connsiteX105" fmla="*/ 2727948 w 3286475"/>
                  <a:gd name="connsiteY105" fmla="*/ 133321 h 265852"/>
                  <a:gd name="connsiteX106" fmla="*/ 2727948 w 3286475"/>
                  <a:gd name="connsiteY106" fmla="*/ 132532 h 265852"/>
                  <a:gd name="connsiteX107" fmla="*/ 2591472 w 3286475"/>
                  <a:gd name="connsiteY107" fmla="*/ 0 h 265852"/>
                  <a:gd name="connsiteX108" fmla="*/ 2454207 w 3286475"/>
                  <a:gd name="connsiteY108" fmla="*/ 133321 h 265852"/>
                  <a:gd name="connsiteX109" fmla="*/ 2454207 w 3286475"/>
                  <a:gd name="connsiteY109" fmla="*/ 134110 h 265852"/>
                  <a:gd name="connsiteX110" fmla="*/ 2590683 w 3286475"/>
                  <a:gd name="connsiteY110" fmla="*/ 265853 h 265852"/>
                  <a:gd name="connsiteX111" fmla="*/ 2590683 w 3286475"/>
                  <a:gd name="connsiteY111" fmla="*/ 213786 h 265852"/>
                  <a:gd name="connsiteX112" fmla="*/ 2512584 w 3286475"/>
                  <a:gd name="connsiteY112" fmla="*/ 133321 h 265852"/>
                  <a:gd name="connsiteX113" fmla="*/ 2512584 w 3286475"/>
                  <a:gd name="connsiteY113" fmla="*/ 132532 h 265852"/>
                  <a:gd name="connsiteX114" fmla="*/ 2589894 w 3286475"/>
                  <a:gd name="connsiteY114" fmla="*/ 52855 h 265852"/>
                  <a:gd name="connsiteX115" fmla="*/ 2667994 w 3286475"/>
                  <a:gd name="connsiteY115" fmla="*/ 133321 h 265852"/>
                  <a:gd name="connsiteX116" fmla="*/ 2667994 w 3286475"/>
                  <a:gd name="connsiteY116" fmla="*/ 134110 h 265852"/>
                  <a:gd name="connsiteX117" fmla="*/ 2590683 w 3286475"/>
                  <a:gd name="connsiteY117" fmla="*/ 213786 h 265852"/>
                  <a:gd name="connsiteX118" fmla="*/ 2797370 w 3286475"/>
                  <a:gd name="connsiteY118" fmla="*/ 261908 h 265852"/>
                  <a:gd name="connsiteX119" fmla="*/ 2854169 w 3286475"/>
                  <a:gd name="connsiteY119" fmla="*/ 261908 h 265852"/>
                  <a:gd name="connsiteX120" fmla="*/ 2854169 w 3286475"/>
                  <a:gd name="connsiteY120" fmla="*/ 179865 h 265852"/>
                  <a:gd name="connsiteX121" fmla="*/ 2898347 w 3286475"/>
                  <a:gd name="connsiteY121" fmla="*/ 179865 h 265852"/>
                  <a:gd name="connsiteX122" fmla="*/ 2953568 w 3286475"/>
                  <a:gd name="connsiteY122" fmla="*/ 261908 h 265852"/>
                  <a:gd name="connsiteX123" fmla="*/ 3019834 w 3286475"/>
                  <a:gd name="connsiteY123" fmla="*/ 261908 h 265852"/>
                  <a:gd name="connsiteX124" fmla="*/ 2956724 w 3286475"/>
                  <a:gd name="connsiteY124" fmla="*/ 170398 h 265852"/>
                  <a:gd name="connsiteX125" fmla="*/ 3011945 w 3286475"/>
                  <a:gd name="connsiteY125" fmla="*/ 90721 h 265852"/>
                  <a:gd name="connsiteX126" fmla="*/ 3011945 w 3286475"/>
                  <a:gd name="connsiteY126" fmla="*/ 89932 h 265852"/>
                  <a:gd name="connsiteX127" fmla="*/ 2989857 w 3286475"/>
                  <a:gd name="connsiteY127" fmla="*/ 30766 h 265852"/>
                  <a:gd name="connsiteX128" fmla="*/ 2914913 w 3286475"/>
                  <a:gd name="connsiteY128" fmla="*/ 4733 h 265852"/>
                  <a:gd name="connsiteX129" fmla="*/ 2797370 w 3286475"/>
                  <a:gd name="connsiteY129" fmla="*/ 4733 h 265852"/>
                  <a:gd name="connsiteX130" fmla="*/ 2797370 w 3286475"/>
                  <a:gd name="connsiteY130" fmla="*/ 261908 h 265852"/>
                  <a:gd name="connsiteX131" fmla="*/ 2854169 w 3286475"/>
                  <a:gd name="connsiteY131" fmla="*/ 129376 h 265852"/>
                  <a:gd name="connsiteX132" fmla="*/ 2854169 w 3286475"/>
                  <a:gd name="connsiteY132" fmla="*/ 55222 h 265852"/>
                  <a:gd name="connsiteX133" fmla="*/ 2910180 w 3286475"/>
                  <a:gd name="connsiteY133" fmla="*/ 55222 h 265852"/>
                  <a:gd name="connsiteX134" fmla="*/ 2954357 w 3286475"/>
                  <a:gd name="connsiteY134" fmla="*/ 92299 h 265852"/>
                  <a:gd name="connsiteX135" fmla="*/ 2954357 w 3286475"/>
                  <a:gd name="connsiteY135" fmla="*/ 93088 h 265852"/>
                  <a:gd name="connsiteX136" fmla="*/ 2910969 w 3286475"/>
                  <a:gd name="connsiteY136" fmla="*/ 129376 h 265852"/>
                  <a:gd name="connsiteX137" fmla="*/ 2854169 w 3286475"/>
                  <a:gd name="connsiteY137" fmla="*/ 129376 h 265852"/>
                  <a:gd name="connsiteX138" fmla="*/ 3082945 w 3286475"/>
                  <a:gd name="connsiteY138" fmla="*/ 261908 h 265852"/>
                  <a:gd name="connsiteX139" fmla="*/ 3139744 w 3286475"/>
                  <a:gd name="connsiteY139" fmla="*/ 261908 h 265852"/>
                  <a:gd name="connsiteX140" fmla="*/ 3139744 w 3286475"/>
                  <a:gd name="connsiteY140" fmla="*/ 184598 h 265852"/>
                  <a:gd name="connsiteX141" fmla="*/ 3182344 w 3286475"/>
                  <a:gd name="connsiteY141" fmla="*/ 184598 h 265852"/>
                  <a:gd name="connsiteX142" fmla="*/ 3286476 w 3286475"/>
                  <a:gd name="connsiteY142" fmla="*/ 94666 h 265852"/>
                  <a:gd name="connsiteX143" fmla="*/ 3286476 w 3286475"/>
                  <a:gd name="connsiteY143" fmla="*/ 93088 h 265852"/>
                  <a:gd name="connsiteX144" fmla="*/ 3187865 w 3286475"/>
                  <a:gd name="connsiteY144" fmla="*/ 3944 h 265852"/>
                  <a:gd name="connsiteX145" fmla="*/ 3082945 w 3286475"/>
                  <a:gd name="connsiteY145" fmla="*/ 3944 h 265852"/>
                  <a:gd name="connsiteX146" fmla="*/ 3082945 w 3286475"/>
                  <a:gd name="connsiteY146" fmla="*/ 261908 h 265852"/>
                  <a:gd name="connsiteX147" fmla="*/ 3138955 w 3286475"/>
                  <a:gd name="connsiteY147" fmla="*/ 134110 h 265852"/>
                  <a:gd name="connsiteX148" fmla="*/ 3138955 w 3286475"/>
                  <a:gd name="connsiteY148" fmla="*/ 55222 h 265852"/>
                  <a:gd name="connsiteX149" fmla="*/ 3182344 w 3286475"/>
                  <a:gd name="connsiteY149" fmla="*/ 55222 h 265852"/>
                  <a:gd name="connsiteX150" fmla="*/ 3228099 w 3286475"/>
                  <a:gd name="connsiteY150" fmla="*/ 93877 h 265852"/>
                  <a:gd name="connsiteX151" fmla="*/ 3228099 w 3286475"/>
                  <a:gd name="connsiteY151" fmla="*/ 94666 h 265852"/>
                  <a:gd name="connsiteX152" fmla="*/ 3183132 w 3286475"/>
                  <a:gd name="connsiteY152" fmla="*/ 133321 h 265852"/>
                  <a:gd name="connsiteX153" fmla="*/ 3138955 w 3286475"/>
                  <a:gd name="connsiteY153" fmla="*/ 133321 h 265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</a:cxnLst>
                <a:rect l="l" t="t" r="r" b="b"/>
                <a:pathLst>
                  <a:path w="3286475" h="265852">
                    <a:moveTo>
                      <a:pt x="87566" y="263486"/>
                    </a:moveTo>
                    <a:lnTo>
                      <a:pt x="136476" y="263486"/>
                    </a:lnTo>
                    <a:lnTo>
                      <a:pt x="194065" y="95454"/>
                    </a:lnTo>
                    <a:lnTo>
                      <a:pt x="252442" y="263486"/>
                    </a:lnTo>
                    <a:lnTo>
                      <a:pt x="301352" y="263486"/>
                    </a:lnTo>
                    <a:lnTo>
                      <a:pt x="388918" y="4733"/>
                    </a:lnTo>
                    <a:lnTo>
                      <a:pt x="329752" y="4733"/>
                    </a:lnTo>
                    <a:lnTo>
                      <a:pt x="276897" y="179076"/>
                    </a:lnTo>
                    <a:lnTo>
                      <a:pt x="219309" y="3944"/>
                    </a:lnTo>
                    <a:lnTo>
                      <a:pt x="171187" y="3944"/>
                    </a:lnTo>
                    <a:lnTo>
                      <a:pt x="113599" y="179076"/>
                    </a:lnTo>
                    <a:lnTo>
                      <a:pt x="60744" y="4733"/>
                    </a:lnTo>
                    <a:lnTo>
                      <a:pt x="0" y="4733"/>
                    </a:lnTo>
                    <a:lnTo>
                      <a:pt x="87566" y="263486"/>
                    </a:lnTo>
                    <a:close/>
                    <a:moveTo>
                      <a:pt x="451240" y="261908"/>
                    </a:moveTo>
                    <a:lnTo>
                      <a:pt x="646882" y="261908"/>
                    </a:lnTo>
                    <a:lnTo>
                      <a:pt x="646882" y="211420"/>
                    </a:lnTo>
                    <a:lnTo>
                      <a:pt x="507250" y="211420"/>
                    </a:lnTo>
                    <a:lnTo>
                      <a:pt x="507250" y="157776"/>
                    </a:lnTo>
                    <a:lnTo>
                      <a:pt x="628738" y="157776"/>
                    </a:lnTo>
                    <a:lnTo>
                      <a:pt x="628738" y="107288"/>
                    </a:lnTo>
                    <a:lnTo>
                      <a:pt x="507250" y="107288"/>
                    </a:lnTo>
                    <a:lnTo>
                      <a:pt x="507250" y="55222"/>
                    </a:lnTo>
                    <a:lnTo>
                      <a:pt x="644515" y="55222"/>
                    </a:lnTo>
                    <a:lnTo>
                      <a:pt x="644515" y="4733"/>
                    </a:lnTo>
                    <a:lnTo>
                      <a:pt x="450451" y="4733"/>
                    </a:lnTo>
                    <a:lnTo>
                      <a:pt x="450451" y="261908"/>
                    </a:lnTo>
                    <a:close/>
                    <a:moveTo>
                      <a:pt x="717092" y="261908"/>
                    </a:moveTo>
                    <a:lnTo>
                      <a:pt x="901690" y="261908"/>
                    </a:lnTo>
                    <a:lnTo>
                      <a:pt x="901690" y="210631"/>
                    </a:lnTo>
                    <a:lnTo>
                      <a:pt x="773892" y="210631"/>
                    </a:lnTo>
                    <a:lnTo>
                      <a:pt x="773892" y="4733"/>
                    </a:lnTo>
                    <a:lnTo>
                      <a:pt x="717092" y="4733"/>
                    </a:lnTo>
                    <a:lnTo>
                      <a:pt x="717092" y="261908"/>
                    </a:lnTo>
                    <a:close/>
                    <a:moveTo>
                      <a:pt x="1055522" y="265064"/>
                    </a:moveTo>
                    <a:cubicBezTo>
                      <a:pt x="1110744" y="265064"/>
                      <a:pt x="1150188" y="236664"/>
                      <a:pt x="1150188" y="185387"/>
                    </a:cubicBezTo>
                    <a:lnTo>
                      <a:pt x="1150188" y="184598"/>
                    </a:lnTo>
                    <a:cubicBezTo>
                      <a:pt x="1150188" y="139632"/>
                      <a:pt x="1120999" y="120699"/>
                      <a:pt x="1068933" y="107288"/>
                    </a:cubicBezTo>
                    <a:cubicBezTo>
                      <a:pt x="1024756" y="96243"/>
                      <a:pt x="1013711" y="90721"/>
                      <a:pt x="1013711" y="73366"/>
                    </a:cubicBezTo>
                    <a:lnTo>
                      <a:pt x="1013711" y="72577"/>
                    </a:lnTo>
                    <a:cubicBezTo>
                      <a:pt x="1013711" y="59955"/>
                      <a:pt x="1024756" y="50488"/>
                      <a:pt x="1046844" y="50488"/>
                    </a:cubicBezTo>
                    <a:cubicBezTo>
                      <a:pt x="1068144" y="50488"/>
                      <a:pt x="1091022" y="59955"/>
                      <a:pt x="1113899" y="75732"/>
                    </a:cubicBezTo>
                    <a:lnTo>
                      <a:pt x="1143088" y="33133"/>
                    </a:lnTo>
                    <a:cubicBezTo>
                      <a:pt x="1117055" y="11833"/>
                      <a:pt x="1085499" y="789"/>
                      <a:pt x="1047633" y="789"/>
                    </a:cubicBezTo>
                    <a:cubicBezTo>
                      <a:pt x="994778" y="789"/>
                      <a:pt x="957701" y="31555"/>
                      <a:pt x="957701" y="78099"/>
                    </a:cubicBezTo>
                    <a:lnTo>
                      <a:pt x="957701" y="78888"/>
                    </a:lnTo>
                    <a:cubicBezTo>
                      <a:pt x="957701" y="130165"/>
                      <a:pt x="990834" y="144365"/>
                      <a:pt x="1042900" y="157776"/>
                    </a:cubicBezTo>
                    <a:cubicBezTo>
                      <a:pt x="1085499" y="168820"/>
                      <a:pt x="1094966" y="175920"/>
                      <a:pt x="1094966" y="190120"/>
                    </a:cubicBezTo>
                    <a:lnTo>
                      <a:pt x="1094966" y="190909"/>
                    </a:lnTo>
                    <a:cubicBezTo>
                      <a:pt x="1094966" y="205898"/>
                      <a:pt x="1080766" y="215364"/>
                      <a:pt x="1057889" y="215364"/>
                    </a:cubicBezTo>
                    <a:cubicBezTo>
                      <a:pt x="1028700" y="215364"/>
                      <a:pt x="1004245" y="203531"/>
                      <a:pt x="981367" y="183809"/>
                    </a:cubicBezTo>
                    <a:lnTo>
                      <a:pt x="948234" y="224042"/>
                    </a:lnTo>
                    <a:cubicBezTo>
                      <a:pt x="977423" y="251653"/>
                      <a:pt x="1016867" y="265064"/>
                      <a:pt x="1055522" y="265064"/>
                    </a:cubicBezTo>
                    <a:moveTo>
                      <a:pt x="1219609" y="261908"/>
                    </a:moveTo>
                    <a:lnTo>
                      <a:pt x="1276408" y="261908"/>
                    </a:lnTo>
                    <a:lnTo>
                      <a:pt x="1276408" y="184598"/>
                    </a:lnTo>
                    <a:lnTo>
                      <a:pt x="1319008" y="184598"/>
                    </a:lnTo>
                    <a:cubicBezTo>
                      <a:pt x="1376596" y="184598"/>
                      <a:pt x="1423140" y="153832"/>
                      <a:pt x="1423140" y="94666"/>
                    </a:cubicBezTo>
                    <a:lnTo>
                      <a:pt x="1423140" y="93088"/>
                    </a:lnTo>
                    <a:cubicBezTo>
                      <a:pt x="1423140" y="40233"/>
                      <a:pt x="1386063" y="3944"/>
                      <a:pt x="1324530" y="3944"/>
                    </a:cubicBezTo>
                    <a:lnTo>
                      <a:pt x="1219609" y="3944"/>
                    </a:lnTo>
                    <a:lnTo>
                      <a:pt x="1219609" y="261908"/>
                    </a:lnTo>
                    <a:close/>
                    <a:moveTo>
                      <a:pt x="1275620" y="134110"/>
                    </a:moveTo>
                    <a:lnTo>
                      <a:pt x="1275620" y="55222"/>
                    </a:lnTo>
                    <a:lnTo>
                      <a:pt x="1319008" y="55222"/>
                    </a:lnTo>
                    <a:cubicBezTo>
                      <a:pt x="1347408" y="55222"/>
                      <a:pt x="1364763" y="68632"/>
                      <a:pt x="1364763" y="93877"/>
                    </a:cubicBezTo>
                    <a:lnTo>
                      <a:pt x="1364763" y="94666"/>
                    </a:lnTo>
                    <a:cubicBezTo>
                      <a:pt x="1364763" y="116754"/>
                      <a:pt x="1348197" y="133321"/>
                      <a:pt x="1319797" y="133321"/>
                    </a:cubicBezTo>
                    <a:lnTo>
                      <a:pt x="1275620" y="133321"/>
                    </a:lnTo>
                    <a:close/>
                    <a:moveTo>
                      <a:pt x="1591961" y="265853"/>
                    </a:moveTo>
                    <a:cubicBezTo>
                      <a:pt x="1660593" y="265853"/>
                      <a:pt x="1704771" y="227986"/>
                      <a:pt x="1704771" y="149887"/>
                    </a:cubicBezTo>
                    <a:lnTo>
                      <a:pt x="1704771" y="4733"/>
                    </a:lnTo>
                    <a:lnTo>
                      <a:pt x="1647971" y="4733"/>
                    </a:lnTo>
                    <a:lnTo>
                      <a:pt x="1647971" y="152254"/>
                    </a:lnTo>
                    <a:cubicBezTo>
                      <a:pt x="1647971" y="193276"/>
                      <a:pt x="1626671" y="213786"/>
                      <a:pt x="1592749" y="213786"/>
                    </a:cubicBezTo>
                    <a:cubicBezTo>
                      <a:pt x="1558039" y="213786"/>
                      <a:pt x="1537528" y="192487"/>
                      <a:pt x="1537528" y="149887"/>
                    </a:cubicBezTo>
                    <a:lnTo>
                      <a:pt x="1537528" y="4733"/>
                    </a:lnTo>
                    <a:lnTo>
                      <a:pt x="1480729" y="4733"/>
                    </a:lnTo>
                    <a:lnTo>
                      <a:pt x="1480729" y="151465"/>
                    </a:lnTo>
                    <a:cubicBezTo>
                      <a:pt x="1480729" y="227197"/>
                      <a:pt x="1522539" y="265853"/>
                      <a:pt x="1591961" y="265853"/>
                    </a:cubicBezTo>
                    <a:moveTo>
                      <a:pt x="1782081" y="261908"/>
                    </a:moveTo>
                    <a:lnTo>
                      <a:pt x="1838091" y="261908"/>
                    </a:lnTo>
                    <a:lnTo>
                      <a:pt x="1838091" y="98610"/>
                    </a:lnTo>
                    <a:lnTo>
                      <a:pt x="1962734" y="261908"/>
                    </a:lnTo>
                    <a:lnTo>
                      <a:pt x="2010856" y="261908"/>
                    </a:lnTo>
                    <a:lnTo>
                      <a:pt x="2010856" y="4733"/>
                    </a:lnTo>
                    <a:lnTo>
                      <a:pt x="1954846" y="4733"/>
                    </a:lnTo>
                    <a:lnTo>
                      <a:pt x="1954846" y="163298"/>
                    </a:lnTo>
                    <a:lnTo>
                      <a:pt x="1834147" y="4733"/>
                    </a:lnTo>
                    <a:lnTo>
                      <a:pt x="1782081" y="4733"/>
                    </a:lnTo>
                    <a:lnTo>
                      <a:pt x="1782081" y="261908"/>
                    </a:lnTo>
                    <a:close/>
                    <a:moveTo>
                      <a:pt x="2302742" y="265853"/>
                    </a:moveTo>
                    <a:cubicBezTo>
                      <a:pt x="2352441" y="265853"/>
                      <a:pt x="2381630" y="248497"/>
                      <a:pt x="2408452" y="220098"/>
                    </a:cubicBezTo>
                    <a:lnTo>
                      <a:pt x="2372163" y="183809"/>
                    </a:lnTo>
                    <a:cubicBezTo>
                      <a:pt x="2351653" y="201953"/>
                      <a:pt x="2334297" y="213786"/>
                      <a:pt x="2304320" y="213786"/>
                    </a:cubicBezTo>
                    <a:cubicBezTo>
                      <a:pt x="2260142" y="213786"/>
                      <a:pt x="2229376" y="176709"/>
                      <a:pt x="2229376" y="133321"/>
                    </a:cubicBezTo>
                    <a:lnTo>
                      <a:pt x="2229376" y="132532"/>
                    </a:lnTo>
                    <a:cubicBezTo>
                      <a:pt x="2229376" y="88354"/>
                      <a:pt x="2260931" y="52855"/>
                      <a:pt x="2304320" y="52855"/>
                    </a:cubicBezTo>
                    <a:cubicBezTo>
                      <a:pt x="2330353" y="52855"/>
                      <a:pt x="2350075" y="63899"/>
                      <a:pt x="2369797" y="82044"/>
                    </a:cubicBezTo>
                    <a:lnTo>
                      <a:pt x="2406085" y="40233"/>
                    </a:lnTo>
                    <a:cubicBezTo>
                      <a:pt x="2382419" y="16566"/>
                      <a:pt x="2353230" y="789"/>
                      <a:pt x="2305109" y="789"/>
                    </a:cubicBezTo>
                    <a:cubicBezTo>
                      <a:pt x="2226221" y="789"/>
                      <a:pt x="2170999" y="60744"/>
                      <a:pt x="2170999" y="134110"/>
                    </a:cubicBezTo>
                    <a:lnTo>
                      <a:pt x="2170999" y="134898"/>
                    </a:lnTo>
                    <a:cubicBezTo>
                      <a:pt x="2170999" y="207475"/>
                      <a:pt x="2227009" y="265853"/>
                      <a:pt x="2302742" y="265853"/>
                    </a:cubicBezTo>
                    <a:moveTo>
                      <a:pt x="2590683" y="265853"/>
                    </a:moveTo>
                    <a:cubicBezTo>
                      <a:pt x="2669571" y="265853"/>
                      <a:pt x="2727948" y="205898"/>
                      <a:pt x="2727948" y="133321"/>
                    </a:cubicBezTo>
                    <a:lnTo>
                      <a:pt x="2727948" y="132532"/>
                    </a:lnTo>
                    <a:cubicBezTo>
                      <a:pt x="2727948" y="59166"/>
                      <a:pt x="2671149" y="0"/>
                      <a:pt x="2591472" y="0"/>
                    </a:cubicBezTo>
                    <a:cubicBezTo>
                      <a:pt x="2511795" y="0"/>
                      <a:pt x="2454207" y="59955"/>
                      <a:pt x="2454207" y="133321"/>
                    </a:cubicBezTo>
                    <a:lnTo>
                      <a:pt x="2454207" y="134110"/>
                    </a:lnTo>
                    <a:cubicBezTo>
                      <a:pt x="2454207" y="206687"/>
                      <a:pt x="2511006" y="265853"/>
                      <a:pt x="2590683" y="265853"/>
                    </a:cubicBezTo>
                    <a:moveTo>
                      <a:pt x="2590683" y="213786"/>
                    </a:moveTo>
                    <a:cubicBezTo>
                      <a:pt x="2544928" y="213786"/>
                      <a:pt x="2512584" y="176709"/>
                      <a:pt x="2512584" y="133321"/>
                    </a:cubicBezTo>
                    <a:lnTo>
                      <a:pt x="2512584" y="132532"/>
                    </a:lnTo>
                    <a:cubicBezTo>
                      <a:pt x="2512584" y="88354"/>
                      <a:pt x="2544139" y="52855"/>
                      <a:pt x="2589894" y="52855"/>
                    </a:cubicBezTo>
                    <a:cubicBezTo>
                      <a:pt x="2635649" y="52855"/>
                      <a:pt x="2667994" y="89932"/>
                      <a:pt x="2667994" y="133321"/>
                    </a:cubicBezTo>
                    <a:lnTo>
                      <a:pt x="2667994" y="134110"/>
                    </a:lnTo>
                    <a:cubicBezTo>
                      <a:pt x="2667994" y="178287"/>
                      <a:pt x="2636438" y="213786"/>
                      <a:pt x="2590683" y="213786"/>
                    </a:cubicBezTo>
                    <a:moveTo>
                      <a:pt x="2797370" y="261908"/>
                    </a:moveTo>
                    <a:lnTo>
                      <a:pt x="2854169" y="261908"/>
                    </a:lnTo>
                    <a:lnTo>
                      <a:pt x="2854169" y="179865"/>
                    </a:lnTo>
                    <a:lnTo>
                      <a:pt x="2898347" y="179865"/>
                    </a:lnTo>
                    <a:lnTo>
                      <a:pt x="2953568" y="261908"/>
                    </a:lnTo>
                    <a:lnTo>
                      <a:pt x="3019834" y="261908"/>
                    </a:lnTo>
                    <a:lnTo>
                      <a:pt x="2956724" y="170398"/>
                    </a:lnTo>
                    <a:cubicBezTo>
                      <a:pt x="2989068" y="158565"/>
                      <a:pt x="3011945" y="132532"/>
                      <a:pt x="3011945" y="90721"/>
                    </a:cubicBezTo>
                    <a:lnTo>
                      <a:pt x="3011945" y="89932"/>
                    </a:lnTo>
                    <a:cubicBezTo>
                      <a:pt x="3011945" y="65477"/>
                      <a:pt x="3004056" y="45755"/>
                      <a:pt x="2989857" y="30766"/>
                    </a:cubicBezTo>
                    <a:cubicBezTo>
                      <a:pt x="2973290" y="14200"/>
                      <a:pt x="2947257" y="4733"/>
                      <a:pt x="2914913" y="4733"/>
                    </a:cubicBezTo>
                    <a:lnTo>
                      <a:pt x="2797370" y="4733"/>
                    </a:lnTo>
                    <a:lnTo>
                      <a:pt x="2797370" y="261908"/>
                    </a:lnTo>
                    <a:close/>
                    <a:moveTo>
                      <a:pt x="2854169" y="129376"/>
                    </a:moveTo>
                    <a:lnTo>
                      <a:pt x="2854169" y="55222"/>
                    </a:lnTo>
                    <a:lnTo>
                      <a:pt x="2910180" y="55222"/>
                    </a:lnTo>
                    <a:cubicBezTo>
                      <a:pt x="2937791" y="55222"/>
                      <a:pt x="2954357" y="67844"/>
                      <a:pt x="2954357" y="92299"/>
                    </a:cubicBezTo>
                    <a:lnTo>
                      <a:pt x="2954357" y="93088"/>
                    </a:lnTo>
                    <a:cubicBezTo>
                      <a:pt x="2954357" y="114388"/>
                      <a:pt x="2938579" y="129376"/>
                      <a:pt x="2910969" y="129376"/>
                    </a:cubicBezTo>
                    <a:lnTo>
                      <a:pt x="2854169" y="129376"/>
                    </a:lnTo>
                    <a:close/>
                    <a:moveTo>
                      <a:pt x="3082945" y="261908"/>
                    </a:moveTo>
                    <a:lnTo>
                      <a:pt x="3139744" y="261908"/>
                    </a:lnTo>
                    <a:lnTo>
                      <a:pt x="3139744" y="184598"/>
                    </a:lnTo>
                    <a:lnTo>
                      <a:pt x="3182344" y="184598"/>
                    </a:lnTo>
                    <a:cubicBezTo>
                      <a:pt x="3239932" y="184598"/>
                      <a:pt x="3286476" y="153832"/>
                      <a:pt x="3286476" y="94666"/>
                    </a:cubicBezTo>
                    <a:lnTo>
                      <a:pt x="3286476" y="93088"/>
                    </a:lnTo>
                    <a:cubicBezTo>
                      <a:pt x="3286476" y="40233"/>
                      <a:pt x="3249399" y="3944"/>
                      <a:pt x="3187865" y="3944"/>
                    </a:cubicBezTo>
                    <a:lnTo>
                      <a:pt x="3082945" y="3944"/>
                    </a:lnTo>
                    <a:lnTo>
                      <a:pt x="3082945" y="261908"/>
                    </a:lnTo>
                    <a:close/>
                    <a:moveTo>
                      <a:pt x="3138955" y="134110"/>
                    </a:moveTo>
                    <a:lnTo>
                      <a:pt x="3138955" y="55222"/>
                    </a:lnTo>
                    <a:lnTo>
                      <a:pt x="3182344" y="55222"/>
                    </a:lnTo>
                    <a:cubicBezTo>
                      <a:pt x="3210743" y="55222"/>
                      <a:pt x="3228099" y="68632"/>
                      <a:pt x="3228099" y="93877"/>
                    </a:cubicBezTo>
                    <a:lnTo>
                      <a:pt x="3228099" y="94666"/>
                    </a:lnTo>
                    <a:cubicBezTo>
                      <a:pt x="3228099" y="116754"/>
                      <a:pt x="3211532" y="133321"/>
                      <a:pt x="3183132" y="133321"/>
                    </a:cubicBezTo>
                    <a:lnTo>
                      <a:pt x="3138955" y="133321"/>
                    </a:lnTo>
                    <a:close/>
                  </a:path>
                </a:pathLst>
              </a:custGeom>
              <a:solidFill>
                <a:srgbClr val="231815"/>
              </a:solidFill>
              <a:ln w="78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pic>
          <p:nvPicPr>
            <p:cNvPr id="77" name="Picture 76" descr="A red and black logo  Description automatically generated">
              <a:extLst>
                <a:ext uri="{FF2B5EF4-FFF2-40B4-BE49-F238E27FC236}">
                  <a16:creationId xmlns:a16="http://schemas.microsoft.com/office/drawing/2014/main" id="{45B8680C-DA81-6329-698C-EDB076C0B7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9772833" y="3733668"/>
              <a:ext cx="1495768" cy="401685"/>
            </a:xfrm>
            <a:prstGeom prst="rect">
              <a:avLst/>
            </a:prstGeom>
          </p:spPr>
        </p:pic>
        <p:pic>
          <p:nvPicPr>
            <p:cNvPr id="78" name="Picture 77" descr="A logo with a black background  Description automatically generated">
              <a:extLst>
                <a:ext uri="{FF2B5EF4-FFF2-40B4-BE49-F238E27FC236}">
                  <a16:creationId xmlns:a16="http://schemas.microsoft.com/office/drawing/2014/main" id="{D6467DA0-8443-7134-195F-637D9CF09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7241724" y="4154096"/>
              <a:ext cx="1104811" cy="393736"/>
            </a:xfrm>
            <a:prstGeom prst="rect">
              <a:avLst/>
            </a:prstGeom>
          </p:spPr>
        </p:pic>
        <p:pic>
          <p:nvPicPr>
            <p:cNvPr id="79" name="Picture 78" descr="A red and black logo  Description automatically generated">
              <a:extLst>
                <a:ext uri="{FF2B5EF4-FFF2-40B4-BE49-F238E27FC236}">
                  <a16:creationId xmlns:a16="http://schemas.microsoft.com/office/drawing/2014/main" id="{7FA4C70B-B68D-F82C-407D-7B122316D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4951068" y="3792163"/>
              <a:ext cx="706989" cy="706989"/>
            </a:xfrm>
            <a:prstGeom prst="rect">
              <a:avLst/>
            </a:prstGeom>
          </p:spPr>
        </p:pic>
        <p:pic>
          <p:nvPicPr>
            <p:cNvPr id="80" name="Picture 79" descr="Shape  Description automatically generated">
              <a:extLst>
                <a:ext uri="{FF2B5EF4-FFF2-40B4-BE49-F238E27FC236}">
                  <a16:creationId xmlns:a16="http://schemas.microsoft.com/office/drawing/2014/main" id="{60274FD6-AD63-0C25-3F11-98DF70683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80551" y="4724392"/>
              <a:ext cx="880807" cy="489045"/>
            </a:xfrm>
            <a:prstGeom prst="rect">
              <a:avLst/>
            </a:prstGeom>
          </p:spPr>
        </p:pic>
        <p:pic>
          <p:nvPicPr>
            <p:cNvPr id="81" name="Picture 6" descr="Big Data Analytics Company in USA | Big Data Analytics Services &amp; Solutions  - Tredence">
              <a:extLst>
                <a:ext uri="{FF2B5EF4-FFF2-40B4-BE49-F238E27FC236}">
                  <a16:creationId xmlns:a16="http://schemas.microsoft.com/office/drawing/2014/main" id="{0598D090-3EF3-A559-AE89-B896588F15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9581" y="4764462"/>
              <a:ext cx="1068474" cy="398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" name="Picture 81" descr="Logo  Description automatically generated">
              <a:extLst>
                <a:ext uri="{FF2B5EF4-FFF2-40B4-BE49-F238E27FC236}">
                  <a16:creationId xmlns:a16="http://schemas.microsoft.com/office/drawing/2014/main" id="{2FF6851C-CC3B-3DF8-7EBA-74776533C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7604737" y="4809599"/>
              <a:ext cx="1088246" cy="358271"/>
            </a:xfrm>
            <a:prstGeom prst="rect">
              <a:avLst/>
            </a:prstGeom>
          </p:spPr>
        </p:pic>
        <p:pic>
          <p:nvPicPr>
            <p:cNvPr id="83" name="Picture 82" descr="A black background with white text  Description automatically generated">
              <a:extLst>
                <a:ext uri="{FF2B5EF4-FFF2-40B4-BE49-F238E27FC236}">
                  <a16:creationId xmlns:a16="http://schemas.microsoft.com/office/drawing/2014/main" id="{6CCDD3FF-14DE-3802-3096-AE17DCCCC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6130691" y="4881554"/>
              <a:ext cx="1376514" cy="241855"/>
            </a:xfrm>
            <a:prstGeom prst="rect">
              <a:avLst/>
            </a:prstGeom>
          </p:spPr>
        </p:pic>
        <p:pic>
          <p:nvPicPr>
            <p:cNvPr id="84" name="Picture 83" descr="A blue and black logo  Description automatically generated">
              <a:extLst>
                <a:ext uri="{FF2B5EF4-FFF2-40B4-BE49-F238E27FC236}">
                  <a16:creationId xmlns:a16="http://schemas.microsoft.com/office/drawing/2014/main" id="{5B12B3A9-FB2B-9884-BF1B-2BFB371AF1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8803841" y="4898370"/>
              <a:ext cx="1257046" cy="198378"/>
            </a:xfrm>
            <a:prstGeom prst="rect">
              <a:avLst/>
            </a:prstGeom>
          </p:spPr>
        </p:pic>
        <p:pic>
          <p:nvPicPr>
            <p:cNvPr id="85" name="Picture 84" descr="A logo with blue squares  Description automatically generated">
              <a:extLst>
                <a:ext uri="{FF2B5EF4-FFF2-40B4-BE49-F238E27FC236}">
                  <a16:creationId xmlns:a16="http://schemas.microsoft.com/office/drawing/2014/main" id="{85C78BED-920B-1554-0339-A40BF905DA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10835628" y="4805876"/>
              <a:ext cx="916726" cy="326966"/>
            </a:xfrm>
            <a:prstGeom prst="rect">
              <a:avLst/>
            </a:prstGeom>
          </p:spPr>
        </p:pic>
        <p:pic>
          <p:nvPicPr>
            <p:cNvPr id="86" name="Picture 85" descr="A blue and white logo  Description automatically generated">
              <a:extLst>
                <a:ext uri="{FF2B5EF4-FFF2-40B4-BE49-F238E27FC236}">
                  <a16:creationId xmlns:a16="http://schemas.microsoft.com/office/drawing/2014/main" id="{588C15D9-A476-D97B-C491-3FB32EB17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10006824" y="4762095"/>
              <a:ext cx="901474" cy="529193"/>
            </a:xfrm>
            <a:prstGeom prst="rect">
              <a:avLst/>
            </a:prstGeom>
          </p:spPr>
        </p:pic>
        <p:pic>
          <p:nvPicPr>
            <p:cNvPr id="87" name="Picture 86" descr="A person with pink lips and a black background  Description automatically generated">
              <a:extLst>
                <a:ext uri="{FF2B5EF4-FFF2-40B4-BE49-F238E27FC236}">
                  <a16:creationId xmlns:a16="http://schemas.microsoft.com/office/drawing/2014/main" id="{BBA691DC-849D-9A18-4ACD-22081E1B5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3847379" y="5074801"/>
              <a:ext cx="1265404" cy="772424"/>
            </a:xfrm>
            <a:prstGeom prst="rect">
              <a:avLst/>
            </a:prstGeom>
          </p:spPr>
        </p:pic>
        <p:pic>
          <p:nvPicPr>
            <p:cNvPr id="88" name="Picture 87" descr="A black background with blue text  Description automatically generated">
              <a:extLst>
                <a:ext uri="{FF2B5EF4-FFF2-40B4-BE49-F238E27FC236}">
                  <a16:creationId xmlns:a16="http://schemas.microsoft.com/office/drawing/2014/main" id="{ED5ACA95-80A9-42D3-E266-CCADFAF6E4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5093022" y="5116219"/>
              <a:ext cx="1353681" cy="761447"/>
            </a:xfrm>
            <a:prstGeom prst="rect">
              <a:avLst/>
            </a:prstGeom>
          </p:spPr>
        </p:pic>
        <p:pic>
          <p:nvPicPr>
            <p:cNvPr id="89" name="Picture 88" descr="A blue text on a black background  Description automatically generated">
              <a:extLst>
                <a:ext uri="{FF2B5EF4-FFF2-40B4-BE49-F238E27FC236}">
                  <a16:creationId xmlns:a16="http://schemas.microsoft.com/office/drawing/2014/main" id="{59F6202F-91B5-3545-0F08-72F098C3A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6476421" y="5338587"/>
              <a:ext cx="1538567" cy="261119"/>
            </a:xfrm>
            <a:prstGeom prst="rect">
              <a:avLst/>
            </a:prstGeom>
          </p:spPr>
        </p:pic>
        <p:pic>
          <p:nvPicPr>
            <p:cNvPr id="90" name="Picture 89" descr="A red and grey text on a black background  Description automatically generated">
              <a:extLst>
                <a:ext uri="{FF2B5EF4-FFF2-40B4-BE49-F238E27FC236}">
                  <a16:creationId xmlns:a16="http://schemas.microsoft.com/office/drawing/2014/main" id="{D6511AE4-BD62-879E-01CB-B1E22F2C4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7885633" y="5265655"/>
              <a:ext cx="1504016" cy="376004"/>
            </a:xfrm>
            <a:prstGeom prst="rect">
              <a:avLst/>
            </a:prstGeom>
          </p:spPr>
        </p:pic>
        <p:pic>
          <p:nvPicPr>
            <p:cNvPr id="91" name="Picture 90" descr="A green logo with a black background  Description automatically generated">
              <a:extLst>
                <a:ext uri="{FF2B5EF4-FFF2-40B4-BE49-F238E27FC236}">
                  <a16:creationId xmlns:a16="http://schemas.microsoft.com/office/drawing/2014/main" id="{5D86F32C-F239-55B4-1E0F-170F8C105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9289131" y="5079048"/>
              <a:ext cx="1040259" cy="780195"/>
            </a:xfrm>
            <a:prstGeom prst="rect">
              <a:avLst/>
            </a:prstGeom>
          </p:spPr>
        </p:pic>
        <p:pic>
          <p:nvPicPr>
            <p:cNvPr id="92" name="Picture 91" descr="A red circle with black lines  Description automatically generated">
              <a:extLst>
                <a:ext uri="{FF2B5EF4-FFF2-40B4-BE49-F238E27FC236}">
                  <a16:creationId xmlns:a16="http://schemas.microsoft.com/office/drawing/2014/main" id="{C32E2098-D0EF-5700-9821-790D6DA15D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10460686" y="5409209"/>
              <a:ext cx="1334462" cy="188873"/>
            </a:xfrm>
            <a:prstGeom prst="rect">
              <a:avLst/>
            </a:prstGeom>
          </p:spPr>
        </p:pic>
        <p:pic>
          <p:nvPicPr>
            <p:cNvPr id="93" name="Picture 92" descr="A logo on a black background  Description automatically generated">
              <a:extLst>
                <a:ext uri="{FF2B5EF4-FFF2-40B4-BE49-F238E27FC236}">
                  <a16:creationId xmlns:a16="http://schemas.microsoft.com/office/drawing/2014/main" id="{A6033276-009E-35EA-3775-629D832D07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3682769" y="5581493"/>
              <a:ext cx="1936886" cy="1013637"/>
            </a:xfrm>
            <a:prstGeom prst="rect">
              <a:avLst/>
            </a:prstGeom>
          </p:spPr>
        </p:pic>
        <p:pic>
          <p:nvPicPr>
            <p:cNvPr id="94" name="Graphic 93">
              <a:extLst>
                <a:ext uri="{FF2B5EF4-FFF2-40B4-BE49-F238E27FC236}">
                  <a16:creationId xmlns:a16="http://schemas.microsoft.com/office/drawing/2014/main" id="{7FCE8439-0D8B-14E4-BB7C-6305733DC3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5672219" y="5831275"/>
              <a:ext cx="2462028" cy="399126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BA5E9444-FEE1-DCA3-4212-1CC565FEF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5574913" y="6373908"/>
              <a:ext cx="1075113" cy="290110"/>
            </a:xfrm>
            <a:prstGeom prst="rect">
              <a:avLst/>
            </a:prstGeom>
          </p:spPr>
        </p:pic>
        <p:pic>
          <p:nvPicPr>
            <p:cNvPr id="96" name="Picture 95" descr="Logo  Description automatically generated">
              <a:extLst>
                <a:ext uri="{FF2B5EF4-FFF2-40B4-BE49-F238E27FC236}">
                  <a16:creationId xmlns:a16="http://schemas.microsoft.com/office/drawing/2014/main" id="{8E50AC8B-DC3D-BC5B-3B3E-BFC6208F7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70555" y="6311234"/>
              <a:ext cx="1361314" cy="288664"/>
            </a:xfrm>
            <a:prstGeom prst="rect">
              <a:avLst/>
            </a:prstGeom>
          </p:spPr>
        </p:pic>
        <p:pic>
          <p:nvPicPr>
            <p:cNvPr id="97" name="Picture 96" descr="A black circle with a black background  Description automatically generated">
              <a:extLst>
                <a:ext uri="{FF2B5EF4-FFF2-40B4-BE49-F238E27FC236}">
                  <a16:creationId xmlns:a16="http://schemas.microsoft.com/office/drawing/2014/main" id="{D4B46A27-8085-E16C-1436-C5C0A65034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11288365" y="5836853"/>
              <a:ext cx="870306" cy="870306"/>
            </a:xfrm>
            <a:prstGeom prst="rect">
              <a:avLst/>
            </a:prstGeom>
          </p:spPr>
        </p:pic>
        <p:pic>
          <p:nvPicPr>
            <p:cNvPr id="98" name="Picture 8">
              <a:extLst>
                <a:ext uri="{FF2B5EF4-FFF2-40B4-BE49-F238E27FC236}">
                  <a16:creationId xmlns:a16="http://schemas.microsoft.com/office/drawing/2014/main" id="{872DD537-8BBB-D121-1728-82F453F79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>
              <a:clrChange>
                <a:clrFrom>
                  <a:srgbClr val="FDFDFD"/>
                </a:clrFrom>
                <a:clrTo>
                  <a:srgbClr val="FDFDFD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39879" y="6114256"/>
              <a:ext cx="1909658" cy="413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9" name="Picture 4" descr="Image result for grohe logo">
              <a:extLst>
                <a:ext uri="{FF2B5EF4-FFF2-40B4-BE49-F238E27FC236}">
                  <a16:creationId xmlns:a16="http://schemas.microsoft.com/office/drawing/2014/main" id="{7A10F7D7-F3DA-5158-F8E9-FD11D3A969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71980" y="6222707"/>
              <a:ext cx="757492" cy="456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0" name="Picture 99" descr="A logo with a bird in a circle  Description automatically generated">
              <a:extLst>
                <a:ext uri="{FF2B5EF4-FFF2-40B4-BE49-F238E27FC236}">
                  <a16:creationId xmlns:a16="http://schemas.microsoft.com/office/drawing/2014/main" id="{DCD9CE50-12C3-99BD-1219-65A382D272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8265152" y="5794832"/>
              <a:ext cx="931035" cy="931035"/>
            </a:xfrm>
            <a:prstGeom prst="rect">
              <a:avLst/>
            </a:prstGeom>
          </p:spPr>
        </p:pic>
      </p:grpSp>
      <p:sp>
        <p:nvSpPr>
          <p:cNvPr id="102" name="Text 8">
            <a:extLst>
              <a:ext uri="{FF2B5EF4-FFF2-40B4-BE49-F238E27FC236}">
                <a16:creationId xmlns:a16="http://schemas.microsoft.com/office/drawing/2014/main" id="{11F9976D-6F8A-D9F2-E527-60A09E531760}"/>
              </a:ext>
            </a:extLst>
          </p:cNvPr>
          <p:cNvSpPr/>
          <p:nvPr/>
        </p:nvSpPr>
        <p:spPr>
          <a:xfrm>
            <a:off x="397263" y="2977376"/>
            <a:ext cx="3650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Selected clients across six sectors where we've delivered SAP, Salesforce, Workday and application transformation programmes.</a:t>
            </a:r>
            <a:endParaRPr lang="en-US" sz="1300" dirty="0"/>
          </a:p>
        </p:txBody>
      </p:sp>
      <p:sp>
        <p:nvSpPr>
          <p:cNvPr id="103" name="Shape 17">
            <a:extLst>
              <a:ext uri="{FF2B5EF4-FFF2-40B4-BE49-F238E27FC236}">
                <a16:creationId xmlns:a16="http://schemas.microsoft.com/office/drawing/2014/main" id="{C9591C80-40C2-CBEE-EA8D-624D87BD3E05}"/>
              </a:ext>
            </a:extLst>
          </p:cNvPr>
          <p:cNvSpPr/>
          <p:nvPr/>
        </p:nvSpPr>
        <p:spPr>
          <a:xfrm rot="16200000">
            <a:off x="4346029" y="1251894"/>
            <a:ext cx="808258" cy="547333"/>
          </a:xfrm>
          <a:prstGeom prst="rect">
            <a:avLst/>
          </a:prstGeom>
          <a:solidFill>
            <a:srgbClr val="121E3B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en-US" sz="800" b="1" dirty="0">
                <a:solidFill>
                  <a:srgbClr val="94B8D0"/>
                </a:solidFill>
                <a:latin typeface="IBM Plex Sans" panose="020B0503050203000203" pitchFamily="34" charset="77"/>
              </a:rPr>
              <a:t>Food &amp; Beverages</a:t>
            </a:r>
            <a:endParaRPr lang="en-001" sz="800" b="1">
              <a:solidFill>
                <a:srgbClr val="94B8D0"/>
              </a:solidFill>
              <a:latin typeface="IBM Plex Sans" panose="020B0503050203000203" pitchFamily="34" charset="77"/>
            </a:endParaRPr>
          </a:p>
        </p:txBody>
      </p:sp>
      <p:sp>
        <p:nvSpPr>
          <p:cNvPr id="104" name="Shape 17">
            <a:extLst>
              <a:ext uri="{FF2B5EF4-FFF2-40B4-BE49-F238E27FC236}">
                <a16:creationId xmlns:a16="http://schemas.microsoft.com/office/drawing/2014/main" id="{2962EE49-C951-9062-04CF-2EDEBFC019CF}"/>
              </a:ext>
            </a:extLst>
          </p:cNvPr>
          <p:cNvSpPr/>
          <p:nvPr/>
        </p:nvSpPr>
        <p:spPr>
          <a:xfrm rot="16200000">
            <a:off x="4343953" y="2142221"/>
            <a:ext cx="808258" cy="543182"/>
          </a:xfrm>
          <a:prstGeom prst="rect">
            <a:avLst/>
          </a:prstGeom>
          <a:solidFill>
            <a:srgbClr val="121E3B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en-US" sz="1100" b="1" dirty="0">
                <a:solidFill>
                  <a:srgbClr val="94B8D0"/>
                </a:solidFill>
                <a:latin typeface="IBM Plex Sans" panose="020B0503050203000203" pitchFamily="34" charset="77"/>
              </a:rPr>
              <a:t>Health &amp; Pharma</a:t>
            </a:r>
            <a:endParaRPr lang="en-001" sz="1100" b="1">
              <a:solidFill>
                <a:srgbClr val="94B8D0"/>
              </a:solidFill>
              <a:latin typeface="IBM Plex Sans" panose="020B0503050203000203" pitchFamily="34" charset="77"/>
            </a:endParaRPr>
          </a:p>
          <a:p>
            <a:endParaRPr lang="en-001"/>
          </a:p>
        </p:txBody>
      </p:sp>
      <p:sp>
        <p:nvSpPr>
          <p:cNvPr id="105" name="Shape 17">
            <a:extLst>
              <a:ext uri="{FF2B5EF4-FFF2-40B4-BE49-F238E27FC236}">
                <a16:creationId xmlns:a16="http://schemas.microsoft.com/office/drawing/2014/main" id="{50D864AF-1BD0-CC2B-6E6A-041B7F017B8E}"/>
              </a:ext>
            </a:extLst>
          </p:cNvPr>
          <p:cNvSpPr/>
          <p:nvPr/>
        </p:nvSpPr>
        <p:spPr>
          <a:xfrm rot="16200000">
            <a:off x="4343953" y="3023630"/>
            <a:ext cx="808258" cy="543182"/>
          </a:xfrm>
          <a:prstGeom prst="rect">
            <a:avLst/>
          </a:prstGeom>
          <a:solidFill>
            <a:srgbClr val="121E3B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en-US" sz="1050" b="1" dirty="0">
                <a:solidFill>
                  <a:srgbClr val="94B8D0"/>
                </a:solidFill>
                <a:latin typeface="IBM Plex Sans" panose="020B0503050203000203" pitchFamily="34" charset="77"/>
              </a:rPr>
              <a:t>Apparel &amp; Fashion</a:t>
            </a:r>
            <a:endParaRPr lang="en-001" sz="1050" b="1">
              <a:solidFill>
                <a:srgbClr val="94B8D0"/>
              </a:solidFill>
              <a:latin typeface="IBM Plex Sans" panose="020B0503050203000203" pitchFamily="34" charset="77"/>
            </a:endParaRPr>
          </a:p>
          <a:p>
            <a:endParaRPr lang="en-001"/>
          </a:p>
        </p:txBody>
      </p:sp>
      <p:sp>
        <p:nvSpPr>
          <p:cNvPr id="106" name="Shape 17">
            <a:extLst>
              <a:ext uri="{FF2B5EF4-FFF2-40B4-BE49-F238E27FC236}">
                <a16:creationId xmlns:a16="http://schemas.microsoft.com/office/drawing/2014/main" id="{64C2EAF6-29BE-9290-A6A4-EB7C70E5F8C0}"/>
              </a:ext>
            </a:extLst>
          </p:cNvPr>
          <p:cNvSpPr/>
          <p:nvPr/>
        </p:nvSpPr>
        <p:spPr>
          <a:xfrm rot="16200000">
            <a:off x="4343954" y="3884805"/>
            <a:ext cx="808258" cy="543181"/>
          </a:xfrm>
          <a:prstGeom prst="rect">
            <a:avLst/>
          </a:prstGeom>
          <a:solidFill>
            <a:srgbClr val="121E3B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en-US" sz="1050" b="1" dirty="0">
                <a:solidFill>
                  <a:srgbClr val="94B8D0"/>
                </a:solidFill>
                <a:latin typeface="IBM Plex Sans" panose="020B0503050203000203" pitchFamily="34" charset="77"/>
              </a:rPr>
              <a:t>Metals &amp; Mining</a:t>
            </a:r>
            <a:endParaRPr lang="en-001" sz="1050" b="1">
              <a:solidFill>
                <a:srgbClr val="94B8D0"/>
              </a:solidFill>
              <a:latin typeface="IBM Plex Sans" panose="020B0503050203000203" pitchFamily="34" charset="77"/>
            </a:endParaRPr>
          </a:p>
        </p:txBody>
      </p:sp>
      <p:sp>
        <p:nvSpPr>
          <p:cNvPr id="107" name="Shape 17">
            <a:extLst>
              <a:ext uri="{FF2B5EF4-FFF2-40B4-BE49-F238E27FC236}">
                <a16:creationId xmlns:a16="http://schemas.microsoft.com/office/drawing/2014/main" id="{0865CE6A-58D1-217F-83C1-DDF4F7A346BE}"/>
              </a:ext>
            </a:extLst>
          </p:cNvPr>
          <p:cNvSpPr/>
          <p:nvPr/>
        </p:nvSpPr>
        <p:spPr>
          <a:xfrm rot="16200000">
            <a:off x="4338673" y="4734206"/>
            <a:ext cx="808258" cy="532620"/>
          </a:xfrm>
          <a:prstGeom prst="rect">
            <a:avLst/>
          </a:prstGeom>
          <a:solidFill>
            <a:srgbClr val="121E3B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en-US" sz="900" b="1" dirty="0">
                <a:solidFill>
                  <a:srgbClr val="94B8D0"/>
                </a:solidFill>
                <a:latin typeface="IBM Plex Sans" panose="020B0503050203000203" pitchFamily="34" charset="77"/>
              </a:rPr>
              <a:t>IT &amp; Professional Services</a:t>
            </a:r>
            <a:endParaRPr lang="en-001" sz="900" b="1">
              <a:solidFill>
                <a:srgbClr val="94B8D0"/>
              </a:solidFill>
              <a:latin typeface="IBM Plex Sans" panose="020B0503050203000203" pitchFamily="34" charset="77"/>
            </a:endParaRPr>
          </a:p>
        </p:txBody>
      </p:sp>
      <p:sp>
        <p:nvSpPr>
          <p:cNvPr id="108" name="Shape 17">
            <a:extLst>
              <a:ext uri="{FF2B5EF4-FFF2-40B4-BE49-F238E27FC236}">
                <a16:creationId xmlns:a16="http://schemas.microsoft.com/office/drawing/2014/main" id="{C08E9193-20C1-39E9-089A-B9F0939D15FB}"/>
              </a:ext>
            </a:extLst>
          </p:cNvPr>
          <p:cNvSpPr/>
          <p:nvPr/>
        </p:nvSpPr>
        <p:spPr>
          <a:xfrm rot="16200000">
            <a:off x="4332552" y="5579483"/>
            <a:ext cx="808258" cy="543182"/>
          </a:xfrm>
          <a:prstGeom prst="rect">
            <a:avLst/>
          </a:prstGeom>
          <a:solidFill>
            <a:srgbClr val="121E3B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en-US" sz="1050" b="1" dirty="0" err="1">
                <a:solidFill>
                  <a:srgbClr val="94B8D0"/>
                </a:solidFill>
                <a:latin typeface="IBM Plex Sans" panose="020B0503050203000203" pitchFamily="34" charset="77"/>
              </a:rPr>
              <a:t>Infra</a:t>
            </a:r>
            <a:r>
              <a:rPr lang="en-US" sz="1050" b="1" dirty="0">
                <a:solidFill>
                  <a:srgbClr val="94B8D0"/>
                </a:solidFill>
                <a:latin typeface="IBM Plex Sans" panose="020B0503050203000203" pitchFamily="34" charset="77"/>
              </a:rPr>
              <a:t> &amp; Housing</a:t>
            </a:r>
            <a:endParaRPr lang="en-001" sz="1050" b="1">
              <a:solidFill>
                <a:srgbClr val="94B8D0"/>
              </a:solidFill>
              <a:latin typeface="IBM Plex Sans" panose="020B0503050203000203" pitchFamily="34" charset="77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02920" y="868680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CLIENTELE  ·  2 OF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143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More sectors,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3F75A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and more success stories.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2697283"/>
            <a:ext cx="32438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3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Additional sectors served, and three brief spotlight stories. Note: detailed case studies are available on request, under NDA.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39</a:t>
            </a:r>
            <a:endParaRPr lang="en-US" sz="900" dirty="0"/>
          </a:p>
        </p:txBody>
      </p:sp>
      <p:sp>
        <p:nvSpPr>
          <p:cNvPr id="57" name="Rectangle 6">
            <a:extLst>
              <a:ext uri="{FF2B5EF4-FFF2-40B4-BE49-F238E27FC236}">
                <a16:creationId xmlns:a16="http://schemas.microsoft.com/office/drawing/2014/main" id="{62FA22C0-8514-54CD-DB52-AE062ED0DF6F}"/>
              </a:ext>
            </a:extLst>
          </p:cNvPr>
          <p:cNvSpPr>
            <a:spLocks noChangeAspect="1"/>
          </p:cNvSpPr>
          <p:nvPr/>
        </p:nvSpPr>
        <p:spPr>
          <a:xfrm>
            <a:off x="11343040" y="145576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94B8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 6">
            <a:extLst>
              <a:ext uri="{FF2B5EF4-FFF2-40B4-BE49-F238E27FC236}">
                <a16:creationId xmlns:a16="http://schemas.microsoft.com/office/drawing/2014/main" id="{CF6301B8-2817-40BC-176C-6123F14FF19F}"/>
              </a:ext>
            </a:extLst>
          </p:cNvPr>
          <p:cNvSpPr>
            <a:spLocks noChangeAspect="1"/>
          </p:cNvSpPr>
          <p:nvPr/>
        </p:nvSpPr>
        <p:spPr>
          <a:xfrm>
            <a:off x="11105147" y="398337"/>
            <a:ext cx="722578" cy="723096"/>
          </a:xfrm>
          <a:custGeom>
            <a:avLst/>
            <a:gdLst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0 w 1676400"/>
              <a:gd name="csY3" fmla="*/ 1677600 h 1677600"/>
              <a:gd name="csX4" fmla="*/ 0 w 1676400"/>
              <a:gd name="csY4" fmla="*/ 0 h 1677600"/>
              <a:gd name="csX0" fmla="*/ 0 w 1676400"/>
              <a:gd name="csY0" fmla="*/ 0 h 1677600"/>
              <a:gd name="csX1" fmla="*/ 1676400 w 1676400"/>
              <a:gd name="csY1" fmla="*/ 0 h 1677600"/>
              <a:gd name="csX2" fmla="*/ 1676400 w 1676400"/>
              <a:gd name="csY2" fmla="*/ 1677600 h 1677600"/>
              <a:gd name="csX3" fmla="*/ 794657 w 1676400"/>
              <a:gd name="csY3" fmla="*/ 795857 h 1677600"/>
              <a:gd name="csX4" fmla="*/ 0 w 1676400"/>
              <a:gd name="csY4" fmla="*/ 0 h 167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400" h="1677600">
                <a:moveTo>
                  <a:pt x="0" y="0"/>
                </a:moveTo>
                <a:lnTo>
                  <a:pt x="1676400" y="0"/>
                </a:lnTo>
                <a:lnTo>
                  <a:pt x="1676400" y="1677600"/>
                </a:lnTo>
                <a:lnTo>
                  <a:pt x="794657" y="795857"/>
                </a:lnTo>
                <a:lnTo>
                  <a:pt x="0" y="0"/>
                </a:lnTo>
                <a:close/>
              </a:path>
            </a:pathLst>
          </a:custGeom>
          <a:solidFill>
            <a:srgbClr val="121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Shape 37">
            <a:extLst>
              <a:ext uri="{FF2B5EF4-FFF2-40B4-BE49-F238E27FC236}">
                <a16:creationId xmlns:a16="http://schemas.microsoft.com/office/drawing/2014/main" id="{6C40C742-E0EF-8628-B096-FDD1D174924B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DAAEADB1-8205-20B6-A03E-976AE5EFE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6" y="260800"/>
            <a:ext cx="1557494" cy="484239"/>
          </a:xfrm>
          <a:prstGeom prst="rect">
            <a:avLst/>
          </a:prstGeom>
        </p:spPr>
      </p:pic>
      <p:sp>
        <p:nvSpPr>
          <p:cNvPr id="61" name="Shape 17">
            <a:extLst>
              <a:ext uri="{FF2B5EF4-FFF2-40B4-BE49-F238E27FC236}">
                <a16:creationId xmlns:a16="http://schemas.microsoft.com/office/drawing/2014/main" id="{5346ACD9-7C63-6B09-3F59-6A8159CC8BD7}"/>
              </a:ext>
            </a:extLst>
          </p:cNvPr>
          <p:cNvSpPr/>
          <p:nvPr/>
        </p:nvSpPr>
        <p:spPr>
          <a:xfrm rot="16200000">
            <a:off x="4346029" y="1251894"/>
            <a:ext cx="808258" cy="547333"/>
          </a:xfrm>
          <a:prstGeom prst="rect">
            <a:avLst/>
          </a:prstGeom>
          <a:solidFill>
            <a:srgbClr val="121E3B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en-US" sz="800" b="1" dirty="0">
                <a:solidFill>
                  <a:srgbClr val="94B8D0"/>
                </a:solidFill>
                <a:latin typeface="IBM Plex Sans" panose="020B0503050203000203" pitchFamily="34" charset="77"/>
              </a:rPr>
              <a:t>Automotives</a:t>
            </a:r>
            <a:endParaRPr lang="en-001" sz="800" b="1">
              <a:solidFill>
                <a:srgbClr val="94B8D0"/>
              </a:solidFill>
              <a:latin typeface="IBM Plex Sans" panose="020B0503050203000203" pitchFamily="34" charset="77"/>
            </a:endParaRPr>
          </a:p>
        </p:txBody>
      </p:sp>
      <p:sp>
        <p:nvSpPr>
          <p:cNvPr id="62" name="Shape 17">
            <a:extLst>
              <a:ext uri="{FF2B5EF4-FFF2-40B4-BE49-F238E27FC236}">
                <a16:creationId xmlns:a16="http://schemas.microsoft.com/office/drawing/2014/main" id="{33584660-08F9-7666-DAA7-CF2EBE241E70}"/>
              </a:ext>
            </a:extLst>
          </p:cNvPr>
          <p:cNvSpPr/>
          <p:nvPr/>
        </p:nvSpPr>
        <p:spPr>
          <a:xfrm rot="16200000">
            <a:off x="4343953" y="2142221"/>
            <a:ext cx="808258" cy="543182"/>
          </a:xfrm>
          <a:prstGeom prst="rect">
            <a:avLst/>
          </a:prstGeom>
          <a:solidFill>
            <a:srgbClr val="121E3B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en-US" sz="1100" b="1" dirty="0">
                <a:solidFill>
                  <a:srgbClr val="94B8D0"/>
                </a:solidFill>
                <a:latin typeface="IBM Plex Sans" panose="020B0503050203000203" pitchFamily="34" charset="77"/>
              </a:rPr>
              <a:t>C</a:t>
            </a:r>
            <a:r>
              <a:rPr lang="en-US" sz="900" b="1" dirty="0">
                <a:solidFill>
                  <a:srgbClr val="94B8D0"/>
                </a:solidFill>
                <a:latin typeface="IBM Plex Sans" panose="020B0503050203000203" pitchFamily="34" charset="77"/>
              </a:rPr>
              <a:t>hemicals</a:t>
            </a:r>
            <a:endParaRPr lang="en-001" sz="900" b="1">
              <a:solidFill>
                <a:srgbClr val="94B8D0"/>
              </a:solidFill>
              <a:latin typeface="IBM Plex Sans" panose="020B0503050203000203" pitchFamily="34" charset="77"/>
            </a:endParaRPr>
          </a:p>
          <a:p>
            <a:endParaRPr lang="en-001"/>
          </a:p>
        </p:txBody>
      </p:sp>
      <p:sp>
        <p:nvSpPr>
          <p:cNvPr id="63" name="Shape 17">
            <a:extLst>
              <a:ext uri="{FF2B5EF4-FFF2-40B4-BE49-F238E27FC236}">
                <a16:creationId xmlns:a16="http://schemas.microsoft.com/office/drawing/2014/main" id="{73CD99CB-87E2-4026-1628-80CE80C19B00}"/>
              </a:ext>
            </a:extLst>
          </p:cNvPr>
          <p:cNvSpPr/>
          <p:nvPr/>
        </p:nvSpPr>
        <p:spPr>
          <a:xfrm rot="16200000">
            <a:off x="4343953" y="3023630"/>
            <a:ext cx="808258" cy="543182"/>
          </a:xfrm>
          <a:prstGeom prst="rect">
            <a:avLst/>
          </a:prstGeom>
          <a:solidFill>
            <a:srgbClr val="121E3B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en-US" sz="1050" b="1" dirty="0">
                <a:solidFill>
                  <a:srgbClr val="94B8D0"/>
                </a:solidFill>
                <a:latin typeface="IBM Plex Sans" panose="020B0503050203000203" pitchFamily="34" charset="77"/>
              </a:rPr>
              <a:t>PSUs</a:t>
            </a:r>
            <a:endParaRPr lang="en-001" sz="1050" b="1">
              <a:solidFill>
                <a:srgbClr val="94B8D0"/>
              </a:solidFill>
              <a:latin typeface="IBM Plex Sans" panose="020B0503050203000203" pitchFamily="34" charset="77"/>
            </a:endParaRPr>
          </a:p>
          <a:p>
            <a:endParaRPr lang="en-001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FA82842E-C695-28E2-0946-DEB63F445944}"/>
              </a:ext>
            </a:extLst>
          </p:cNvPr>
          <p:cNvSpPr/>
          <p:nvPr/>
        </p:nvSpPr>
        <p:spPr>
          <a:xfrm rot="16200000">
            <a:off x="4343954" y="3884805"/>
            <a:ext cx="808258" cy="543181"/>
          </a:xfrm>
          <a:prstGeom prst="rect">
            <a:avLst/>
          </a:prstGeom>
          <a:solidFill>
            <a:srgbClr val="121E3B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en-US" sz="1050" b="1" dirty="0">
                <a:solidFill>
                  <a:srgbClr val="94B8D0"/>
                </a:solidFill>
                <a:latin typeface="IBM Plex Sans" panose="020B0503050203000203" pitchFamily="34" charset="77"/>
              </a:rPr>
              <a:t>Services &amp; BFSI</a:t>
            </a:r>
            <a:endParaRPr lang="en-001" sz="1050" b="1">
              <a:solidFill>
                <a:srgbClr val="94B8D0"/>
              </a:solidFill>
              <a:latin typeface="IBM Plex Sans" panose="020B0503050203000203" pitchFamily="34" charset="77"/>
            </a:endParaRPr>
          </a:p>
        </p:txBody>
      </p:sp>
      <p:sp>
        <p:nvSpPr>
          <p:cNvPr id="65" name="Shape 17">
            <a:extLst>
              <a:ext uri="{FF2B5EF4-FFF2-40B4-BE49-F238E27FC236}">
                <a16:creationId xmlns:a16="http://schemas.microsoft.com/office/drawing/2014/main" id="{47B7788D-48BF-E6A1-CF55-8338C4F8104A}"/>
              </a:ext>
            </a:extLst>
          </p:cNvPr>
          <p:cNvSpPr/>
          <p:nvPr/>
        </p:nvSpPr>
        <p:spPr>
          <a:xfrm rot="16200000">
            <a:off x="4338673" y="4734206"/>
            <a:ext cx="808258" cy="532620"/>
          </a:xfrm>
          <a:prstGeom prst="rect">
            <a:avLst/>
          </a:prstGeom>
          <a:solidFill>
            <a:srgbClr val="121E3B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en-US" sz="900" b="1" dirty="0">
                <a:solidFill>
                  <a:srgbClr val="94B8D0"/>
                </a:solidFill>
                <a:latin typeface="IBM Plex Sans" panose="020B0503050203000203" pitchFamily="34" charset="77"/>
              </a:rPr>
              <a:t>Real Estate</a:t>
            </a:r>
            <a:endParaRPr lang="en-001" sz="900" b="1">
              <a:solidFill>
                <a:srgbClr val="94B8D0"/>
              </a:solidFill>
              <a:latin typeface="IBM Plex Sans" panose="020B0503050203000203" pitchFamily="34" charset="77"/>
            </a:endParaRPr>
          </a:p>
        </p:txBody>
      </p:sp>
      <p:sp>
        <p:nvSpPr>
          <p:cNvPr id="66" name="Shape 17">
            <a:extLst>
              <a:ext uri="{FF2B5EF4-FFF2-40B4-BE49-F238E27FC236}">
                <a16:creationId xmlns:a16="http://schemas.microsoft.com/office/drawing/2014/main" id="{51247E8A-8B92-DBB4-D87C-09D83600EE46}"/>
              </a:ext>
            </a:extLst>
          </p:cNvPr>
          <p:cNvSpPr/>
          <p:nvPr/>
        </p:nvSpPr>
        <p:spPr>
          <a:xfrm rot="16200000">
            <a:off x="4332552" y="5579483"/>
            <a:ext cx="808258" cy="543182"/>
          </a:xfrm>
          <a:prstGeom prst="rect">
            <a:avLst/>
          </a:prstGeom>
          <a:solidFill>
            <a:srgbClr val="121E3B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en-US" sz="1050" b="1" dirty="0">
                <a:solidFill>
                  <a:srgbClr val="94B8D0"/>
                </a:solidFill>
                <a:latin typeface="IBM Plex Sans" panose="020B0503050203000203" pitchFamily="34" charset="77"/>
              </a:rPr>
              <a:t>Others</a:t>
            </a:r>
            <a:endParaRPr lang="en-001" sz="1050" b="1">
              <a:solidFill>
                <a:srgbClr val="94B8D0"/>
              </a:solidFill>
              <a:latin typeface="IBM Plex Sans" panose="020B0503050203000203" pitchFamily="34" charset="77"/>
            </a:endParaRPr>
          </a:p>
        </p:txBody>
      </p: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DDAE3AB9-8DCC-798C-C02F-3E102DE1B302}"/>
              </a:ext>
            </a:extLst>
          </p:cNvPr>
          <p:cNvGrpSpPr>
            <a:grpSpLocks noChangeAspect="1"/>
          </p:cNvGrpSpPr>
          <p:nvPr/>
        </p:nvGrpSpPr>
        <p:grpSpPr>
          <a:xfrm>
            <a:off x="5019673" y="1032859"/>
            <a:ext cx="6711116" cy="5182888"/>
            <a:chOff x="3617093" y="120628"/>
            <a:chExt cx="8504938" cy="6568228"/>
          </a:xfrm>
        </p:grpSpPr>
        <p:pic>
          <p:nvPicPr>
            <p:cNvPr id="124" name="Picture 2" descr="Orient Cement - The Leading Cement Manufacturer in India">
              <a:extLst>
                <a:ext uri="{FF2B5EF4-FFF2-40B4-BE49-F238E27FC236}">
                  <a16:creationId xmlns:a16="http://schemas.microsoft.com/office/drawing/2014/main" id="{681C8882-15B5-9437-7103-A71E56E0EE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7347" y="6010603"/>
              <a:ext cx="1247553" cy="6782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5" name="Picture 124" descr="Logo  Description automatically generated">
              <a:extLst>
                <a:ext uri="{FF2B5EF4-FFF2-40B4-BE49-F238E27FC236}">
                  <a16:creationId xmlns:a16="http://schemas.microsoft.com/office/drawing/2014/main" id="{CA8EC3C4-B140-5D84-0374-9CF785E42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33789" y="5872261"/>
              <a:ext cx="1178939" cy="678253"/>
            </a:xfrm>
            <a:prstGeom prst="rect">
              <a:avLst/>
            </a:prstGeom>
          </p:spPr>
        </p:pic>
        <p:pic>
          <p:nvPicPr>
            <p:cNvPr id="126" name="Picture 125">
              <a:extLst>
                <a:ext uri="{FF2B5EF4-FFF2-40B4-BE49-F238E27FC236}">
                  <a16:creationId xmlns:a16="http://schemas.microsoft.com/office/drawing/2014/main" id="{31E8C10C-90B2-9435-DC5E-E06DADB38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200266" y="6051574"/>
              <a:ext cx="1205575" cy="480148"/>
            </a:xfrm>
            <a:prstGeom prst="rect">
              <a:avLst/>
            </a:prstGeom>
          </p:spPr>
        </p:pic>
        <p:pic>
          <p:nvPicPr>
            <p:cNvPr id="127" name="Picture 7">
              <a:extLst>
                <a:ext uri="{FF2B5EF4-FFF2-40B4-BE49-F238E27FC236}">
                  <a16:creationId xmlns:a16="http://schemas.microsoft.com/office/drawing/2014/main" id="{B2AC3D67-E2DE-CDCC-EE09-2A5C3810046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2584" b="99225" l="0" r="99522">
                          <a14:foregroundMark x1="56938" y1="27132" x2="56938" y2="27132"/>
                          <a14:foregroundMark x1="61962" y1="45736" x2="61962" y2="45736"/>
                          <a14:foregroundMark x1="60526" y1="70801" x2="60526" y2="70801"/>
                          <a14:foregroundMark x1="68421" y1="70543" x2="68421" y2="70543"/>
                          <a14:foregroundMark x1="51435" y1="73902" x2="51435" y2="73902"/>
                          <a14:foregroundMark x1="35167" y1="73902" x2="35167" y2="7390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7093" y="120628"/>
              <a:ext cx="970332" cy="9399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8" name="Picture 127" descr="A logo on a black background  Description automatically generated">
              <a:extLst>
                <a:ext uri="{FF2B5EF4-FFF2-40B4-BE49-F238E27FC236}">
                  <a16:creationId xmlns:a16="http://schemas.microsoft.com/office/drawing/2014/main" id="{99CD88A0-BFB1-FB9C-2C67-DECA60F30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391213" y="294166"/>
              <a:ext cx="1058302" cy="648675"/>
            </a:xfrm>
            <a:prstGeom prst="rect">
              <a:avLst/>
            </a:prstGeom>
          </p:spPr>
        </p:pic>
        <p:pic>
          <p:nvPicPr>
            <p:cNvPr id="129" name="Picture 128" descr="A blue and black logo  Description automatically generated">
              <a:extLst>
                <a:ext uri="{FF2B5EF4-FFF2-40B4-BE49-F238E27FC236}">
                  <a16:creationId xmlns:a16="http://schemas.microsoft.com/office/drawing/2014/main" id="{B5EC516A-8593-26B3-EA4A-2F13366A0D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457153" y="141922"/>
              <a:ext cx="893715" cy="397567"/>
            </a:xfrm>
            <a:prstGeom prst="rect">
              <a:avLst/>
            </a:prstGeom>
          </p:spPr>
        </p:pic>
        <p:pic>
          <p:nvPicPr>
            <p:cNvPr id="130" name="Picture 129" descr="A logo with a star on it  Description automatically generated">
              <a:extLst>
                <a:ext uri="{FF2B5EF4-FFF2-40B4-BE49-F238E27FC236}">
                  <a16:creationId xmlns:a16="http://schemas.microsoft.com/office/drawing/2014/main" id="{78254FAF-F439-3525-1506-8777FBCBD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097707" y="120628"/>
              <a:ext cx="1144440" cy="441099"/>
            </a:xfrm>
            <a:prstGeom prst="rect">
              <a:avLst/>
            </a:prstGeom>
          </p:spPr>
        </p:pic>
        <p:pic>
          <p:nvPicPr>
            <p:cNvPr id="131" name="Picture 130" descr="Text, logo  Description automatically generated">
              <a:extLst>
                <a:ext uri="{FF2B5EF4-FFF2-40B4-BE49-F238E27FC236}">
                  <a16:creationId xmlns:a16="http://schemas.microsoft.com/office/drawing/2014/main" id="{C0725F9B-3A5C-8C13-9625-71D398DD62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273522" y="184681"/>
              <a:ext cx="1057186" cy="313480"/>
            </a:xfrm>
            <a:prstGeom prst="rect">
              <a:avLst/>
            </a:prstGeom>
          </p:spPr>
        </p:pic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14B878D5-A0AA-FA1D-2A44-59E1E1750ADF}"/>
                </a:ext>
              </a:extLst>
            </p:cNvPr>
            <p:cNvGrpSpPr/>
            <p:nvPr/>
          </p:nvGrpSpPr>
          <p:grpSpPr>
            <a:xfrm>
              <a:off x="10868699" y="163270"/>
              <a:ext cx="634956" cy="472388"/>
              <a:chOff x="794273" y="1453086"/>
              <a:chExt cx="3377177" cy="2756793"/>
            </a:xfrm>
          </p:grpSpPr>
          <p:pic>
            <p:nvPicPr>
              <p:cNvPr id="133" name="Picture 132" descr="A picture containing logo  Description automatically generated">
                <a:extLst>
                  <a:ext uri="{FF2B5EF4-FFF2-40B4-BE49-F238E27FC236}">
                    <a16:creationId xmlns:a16="http://schemas.microsoft.com/office/drawing/2014/main" id="{3ECF8174-F8D5-3F59-4174-88986A71FC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03058" y="1453086"/>
                <a:ext cx="2425668" cy="2367914"/>
              </a:xfrm>
              <a:prstGeom prst="rect">
                <a:avLst/>
              </a:prstGeom>
            </p:spPr>
          </p:pic>
          <p:pic>
            <p:nvPicPr>
              <p:cNvPr id="134" name="Picture 6" descr="MG Motor to foray into Indian automobile sector with SUV Hector">
                <a:extLst>
                  <a:ext uri="{FF2B5EF4-FFF2-40B4-BE49-F238E27FC236}">
                    <a16:creationId xmlns:a16="http://schemas.microsoft.com/office/drawing/2014/main" id="{07F41FAF-769E-3714-CEB2-AE5A8EB3100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9553"/>
              <a:stretch/>
            </p:blipFill>
            <p:spPr bwMode="auto">
              <a:xfrm>
                <a:off x="794273" y="3803922"/>
                <a:ext cx="3377177" cy="40595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35" name="Picture 134" descr="A blue text on a black background  Description automatically generated">
              <a:extLst>
                <a:ext uri="{FF2B5EF4-FFF2-40B4-BE49-F238E27FC236}">
                  <a16:creationId xmlns:a16="http://schemas.microsoft.com/office/drawing/2014/main" id="{C8B86E39-D73D-5FFF-F4F4-83CBA6881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140891" y="478472"/>
              <a:ext cx="980872" cy="602790"/>
            </a:xfrm>
            <a:prstGeom prst="rect">
              <a:avLst/>
            </a:prstGeom>
          </p:spPr>
        </p:pic>
        <p:pic>
          <p:nvPicPr>
            <p:cNvPr id="136" name="Graphic 135">
              <a:extLst>
                <a:ext uri="{FF2B5EF4-FFF2-40B4-BE49-F238E27FC236}">
                  <a16:creationId xmlns:a16="http://schemas.microsoft.com/office/drawing/2014/main" id="{151D2C8B-A4E2-1D00-1EED-5D20B95403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1551832" y="414573"/>
              <a:ext cx="553193" cy="460652"/>
            </a:xfrm>
            <a:prstGeom prst="rect">
              <a:avLst/>
            </a:prstGeom>
          </p:spPr>
        </p:pic>
        <p:pic>
          <p:nvPicPr>
            <p:cNvPr id="137" name="Picture 22" descr="Kirloskar Electric - About Us - History - Our History">
              <a:extLst>
                <a:ext uri="{FF2B5EF4-FFF2-40B4-BE49-F238E27FC236}">
                  <a16:creationId xmlns:a16="http://schemas.microsoft.com/office/drawing/2014/main" id="{17BA0397-398E-01EC-CC9A-1465E0539C1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35" t="21062" r="13935" b="21062"/>
            <a:stretch/>
          </p:blipFill>
          <p:spPr bwMode="auto">
            <a:xfrm>
              <a:off x="8213913" y="265965"/>
              <a:ext cx="1017112" cy="8162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8" name="Picture 137" descr="A white circle with black text and green logo  Description automatically generated">
              <a:extLst>
                <a:ext uri="{FF2B5EF4-FFF2-40B4-BE49-F238E27FC236}">
                  <a16:creationId xmlns:a16="http://schemas.microsoft.com/office/drawing/2014/main" id="{0B35170D-006B-0EBB-0AAA-2009BCA91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682236" y="182397"/>
              <a:ext cx="444467" cy="475862"/>
            </a:xfrm>
            <a:prstGeom prst="rect">
              <a:avLst/>
            </a:prstGeom>
          </p:spPr>
        </p:pic>
        <p:pic>
          <p:nvPicPr>
            <p:cNvPr id="139" name="Graphic 138">
              <a:extLst>
                <a:ext uri="{FF2B5EF4-FFF2-40B4-BE49-F238E27FC236}">
                  <a16:creationId xmlns:a16="http://schemas.microsoft.com/office/drawing/2014/main" id="{B956FC1F-B2D2-4130-7754-D00DE70A17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5253301" y="635230"/>
              <a:ext cx="1686989" cy="437204"/>
            </a:xfrm>
            <a:prstGeom prst="rect">
              <a:avLst/>
            </a:prstGeom>
          </p:spPr>
        </p:pic>
        <p:pic>
          <p:nvPicPr>
            <p:cNvPr id="140" name="Picture 139" descr="A purple and green logo  Description automatically generated">
              <a:extLst>
                <a:ext uri="{FF2B5EF4-FFF2-40B4-BE49-F238E27FC236}">
                  <a16:creationId xmlns:a16="http://schemas.microsoft.com/office/drawing/2014/main" id="{90AD7C40-6597-25A9-E084-F425189EBD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023494" y="477057"/>
              <a:ext cx="1443848" cy="549388"/>
            </a:xfrm>
            <a:prstGeom prst="rect">
              <a:avLst/>
            </a:prstGeom>
          </p:spPr>
        </p:pic>
        <p:pic>
          <p:nvPicPr>
            <p:cNvPr id="141" name="Picture 6" descr="Valvoline - Wikipedia">
              <a:extLst>
                <a:ext uri="{FF2B5EF4-FFF2-40B4-BE49-F238E27FC236}">
                  <a16:creationId xmlns:a16="http://schemas.microsoft.com/office/drawing/2014/main" id="{BF86ED91-990A-5E8A-2DA8-B27D95FF67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33190" y="1475017"/>
              <a:ext cx="630509" cy="4973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3250C4A9-3D5C-39DA-579A-9E0FAB1032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609343" y="1408488"/>
              <a:ext cx="1495514" cy="608437"/>
            </a:xfrm>
            <a:prstGeom prst="rect">
              <a:avLst/>
            </a:prstGeom>
          </p:spPr>
        </p:pic>
        <p:pic>
          <p:nvPicPr>
            <p:cNvPr id="143" name="Picture 142" descr="Blue text on a black background  Description automatically generated">
              <a:extLst>
                <a:ext uri="{FF2B5EF4-FFF2-40B4-BE49-F238E27FC236}">
                  <a16:creationId xmlns:a16="http://schemas.microsoft.com/office/drawing/2014/main" id="{AE334DE2-0585-42B1-85FC-F2DD8D586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6285876" y="1497996"/>
              <a:ext cx="1369044" cy="456619"/>
            </a:xfrm>
            <a:prstGeom prst="rect">
              <a:avLst/>
            </a:prstGeom>
          </p:spPr>
        </p:pic>
        <p:pic>
          <p:nvPicPr>
            <p:cNvPr id="144" name="Picture 143" descr="A green triangle with blue text  Description automatically generated">
              <a:extLst>
                <a:ext uri="{FF2B5EF4-FFF2-40B4-BE49-F238E27FC236}">
                  <a16:creationId xmlns:a16="http://schemas.microsoft.com/office/drawing/2014/main" id="{338FD14E-D363-0B43-9BE2-ADBBACDEB1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7914731" y="1306829"/>
              <a:ext cx="937076" cy="659186"/>
            </a:xfrm>
            <a:prstGeom prst="rect">
              <a:avLst/>
            </a:prstGeom>
          </p:spPr>
        </p:pic>
        <p:pic>
          <p:nvPicPr>
            <p:cNvPr id="145" name="Picture 144" descr="A blue and green logo  Description automatically generated">
              <a:extLst>
                <a:ext uri="{FF2B5EF4-FFF2-40B4-BE49-F238E27FC236}">
                  <a16:creationId xmlns:a16="http://schemas.microsoft.com/office/drawing/2014/main" id="{24E78CB8-38AE-13C5-EEDF-9C8C189916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9074172" y="968569"/>
              <a:ext cx="1280128" cy="1370550"/>
            </a:xfrm>
            <a:prstGeom prst="rect">
              <a:avLst/>
            </a:prstGeom>
          </p:spPr>
        </p:pic>
        <p:pic>
          <p:nvPicPr>
            <p:cNvPr id="146" name="Picture 2" descr="https://d2un9pqbzgw43g.cloudfront.net/main/NALCO-Buyback-2018.png">
              <a:extLst>
                <a:ext uri="{FF2B5EF4-FFF2-40B4-BE49-F238E27FC236}">
                  <a16:creationId xmlns:a16="http://schemas.microsoft.com/office/drawing/2014/main" id="{275C4F3F-2662-A222-60FB-2B5A90D969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004" r="18224"/>
            <a:stretch>
              <a:fillRect/>
            </a:stretch>
          </p:blipFill>
          <p:spPr bwMode="auto">
            <a:xfrm>
              <a:off x="3803992" y="2499862"/>
              <a:ext cx="627206" cy="6738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7" name="Picture 2" descr="File:Kenya Railways logo.png - Wikipedia">
              <a:extLst>
                <a:ext uri="{FF2B5EF4-FFF2-40B4-BE49-F238E27FC236}">
                  <a16:creationId xmlns:a16="http://schemas.microsoft.com/office/drawing/2014/main" id="{B89D0AF8-0AAD-2542-39D7-F7AA090125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7385" y="2506110"/>
              <a:ext cx="775855" cy="7514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8" name="Picture 15" descr="Transmission Corporation of Andhra Pradesh Ltd | Vijayawada">
              <a:extLst>
                <a:ext uri="{FF2B5EF4-FFF2-40B4-BE49-F238E27FC236}">
                  <a16:creationId xmlns:a16="http://schemas.microsoft.com/office/drawing/2014/main" id="{7728720F-9EE5-5C82-F2E6-C3422AF6E0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0061" y="2413700"/>
              <a:ext cx="779231" cy="8342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BB4FEA89-98E1-677F-237F-28B38F66F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383919" y="2668240"/>
              <a:ext cx="771117" cy="486507"/>
            </a:xfrm>
            <a:prstGeom prst="rect">
              <a:avLst/>
            </a:prstGeom>
          </p:spPr>
        </p:pic>
        <p:pic>
          <p:nvPicPr>
            <p:cNvPr id="150" name="Picture 20" descr="Delhi SLDC (@DelhiSLDC) / X">
              <a:extLst>
                <a:ext uri="{FF2B5EF4-FFF2-40B4-BE49-F238E27FC236}">
                  <a16:creationId xmlns:a16="http://schemas.microsoft.com/office/drawing/2014/main" id="{FCBE3530-0655-2376-BC22-C2DB0D5F11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20329" y="2465540"/>
              <a:ext cx="831478" cy="8902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151" name="Object 150">
              <a:extLst>
                <a:ext uri="{FF2B5EF4-FFF2-40B4-BE49-F238E27FC236}">
                  <a16:creationId xmlns:a16="http://schemas.microsoft.com/office/drawing/2014/main" id="{07951139-9D52-A2F8-CA01-670A9AA8C65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528036"/>
                </p:ext>
              </p:extLst>
            </p:nvPr>
          </p:nvGraphicFramePr>
          <p:xfrm>
            <a:off x="8870160" y="2643323"/>
            <a:ext cx="1069677" cy="4774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31" imgW="1225440" imgH="679320" progId="PBrush">
                    <p:embed/>
                  </p:oleObj>
                </mc:Choice>
                <mc:Fallback>
                  <p:oleObj name="Bitmap Image" r:id="rId31" imgW="1225440" imgH="679320" progId="PBrush">
                    <p:embed/>
                    <p:pic>
                      <p:nvPicPr>
                        <p:cNvPr id="45" name="Object 44">
                          <a:extLst>
                            <a:ext uri="{FF2B5EF4-FFF2-40B4-BE49-F238E27FC236}">
                              <a16:creationId xmlns:a16="http://schemas.microsoft.com/office/drawing/2014/main" id="{BAE3F989-AB90-FF1C-8900-AA3D14FFC0A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8870160" y="2643323"/>
                          <a:ext cx="1069677" cy="47746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52" name="Picture 2">
              <a:extLst>
                <a:ext uri="{FF2B5EF4-FFF2-40B4-BE49-F238E27FC236}">
                  <a16:creationId xmlns:a16="http://schemas.microsoft.com/office/drawing/2014/main" id="{A85D993D-BBE1-CA13-362E-2B0EFA7794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08126" y="2449471"/>
              <a:ext cx="1068212" cy="8817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C4F52702-74F8-E902-DBD8-5C6700790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11212918" y="2551626"/>
              <a:ext cx="747611" cy="657808"/>
            </a:xfrm>
            <a:prstGeom prst="rect">
              <a:avLst/>
            </a:prstGeom>
          </p:spPr>
        </p:pic>
        <p:pic>
          <p:nvPicPr>
            <p:cNvPr id="154" name="Picture 153" descr="A logo with text and images  Description automatically generated">
              <a:extLst>
                <a:ext uri="{FF2B5EF4-FFF2-40B4-BE49-F238E27FC236}">
                  <a16:creationId xmlns:a16="http://schemas.microsoft.com/office/drawing/2014/main" id="{631BB1E4-2E14-AF73-B551-1B3CECF8C4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7105807" y="2526905"/>
              <a:ext cx="666669" cy="713759"/>
            </a:xfrm>
            <a:prstGeom prst="rect">
              <a:avLst/>
            </a:prstGeom>
          </p:spPr>
        </p:pic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2DDF7B92-3015-503D-65FA-ADBDC9B70986}"/>
                </a:ext>
              </a:extLst>
            </p:cNvPr>
            <p:cNvGrpSpPr/>
            <p:nvPr/>
          </p:nvGrpSpPr>
          <p:grpSpPr>
            <a:xfrm>
              <a:off x="3748856" y="3481795"/>
              <a:ext cx="8363991" cy="969016"/>
              <a:chOff x="2221459" y="2556471"/>
              <a:chExt cx="7152357" cy="773973"/>
            </a:xfrm>
          </p:grpSpPr>
          <p:pic>
            <p:nvPicPr>
              <p:cNvPr id="156" name="Picture 8">
                <a:extLst>
                  <a:ext uri="{FF2B5EF4-FFF2-40B4-BE49-F238E27FC236}">
                    <a16:creationId xmlns:a16="http://schemas.microsoft.com/office/drawing/2014/main" id="{60219415-9993-F9B8-9EF6-DD35069541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6">
                <a:clrChange>
                  <a:clrFrom>
                    <a:srgbClr val="FDFDFD"/>
                  </a:clrFrom>
                  <a:clrTo>
                    <a:srgbClr val="FDFDFD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44631" y="2832881"/>
                <a:ext cx="914017" cy="191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7" name="Picture 156" descr="Logo  Description automatically generated">
                <a:extLst>
                  <a:ext uri="{FF2B5EF4-FFF2-40B4-BE49-F238E27FC236}">
                    <a16:creationId xmlns:a16="http://schemas.microsoft.com/office/drawing/2014/main" id="{489B954F-FAF2-851A-E556-BD09083859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283667" y="2556471"/>
                <a:ext cx="800192" cy="773973"/>
              </a:xfrm>
              <a:prstGeom prst="rect">
                <a:avLst/>
              </a:prstGeom>
            </p:spPr>
          </p:pic>
          <p:pic>
            <p:nvPicPr>
              <p:cNvPr id="158" name="Picture 157" descr="A black and white text  Description automatically generated">
                <a:extLst>
                  <a:ext uri="{FF2B5EF4-FFF2-40B4-BE49-F238E27FC236}">
                    <a16:creationId xmlns:a16="http://schemas.microsoft.com/office/drawing/2014/main" id="{6D2FAB76-AB0C-F5D4-73F4-A62082726B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221459" y="2851560"/>
                <a:ext cx="747068" cy="210583"/>
              </a:xfrm>
              <a:prstGeom prst="rect">
                <a:avLst/>
              </a:prstGeom>
            </p:spPr>
          </p:pic>
          <p:pic>
            <p:nvPicPr>
              <p:cNvPr id="159" name="Picture 158" descr="Logo  Description automatically generated">
                <a:extLst>
                  <a:ext uri="{FF2B5EF4-FFF2-40B4-BE49-F238E27FC236}">
                    <a16:creationId xmlns:a16="http://schemas.microsoft.com/office/drawing/2014/main" id="{768C18B4-4A12-BFCA-63FF-13F8443A47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164868" y="2830423"/>
                <a:ext cx="885260" cy="233187"/>
              </a:xfrm>
              <a:prstGeom prst="rect">
                <a:avLst/>
              </a:prstGeom>
            </p:spPr>
          </p:pic>
          <p:pic>
            <p:nvPicPr>
              <p:cNvPr id="160" name="Picture 159" descr="A blue and black piano keys  Description automatically generated">
                <a:extLst>
                  <a:ext uri="{FF2B5EF4-FFF2-40B4-BE49-F238E27FC236}">
                    <a16:creationId xmlns:a16="http://schemas.microsoft.com/office/drawing/2014/main" id="{99974E1D-1219-5B4A-B35A-BEC6F88A2B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176698" y="2830462"/>
                <a:ext cx="516016" cy="189071"/>
              </a:xfrm>
              <a:prstGeom prst="rect">
                <a:avLst/>
              </a:prstGeom>
            </p:spPr>
          </p:pic>
          <p:pic>
            <p:nvPicPr>
              <p:cNvPr id="161" name="Graphic 160">
                <a:extLst>
                  <a:ext uri="{FF2B5EF4-FFF2-40B4-BE49-F238E27FC236}">
                    <a16:creationId xmlns:a16="http://schemas.microsoft.com/office/drawing/2014/main" id="{4C94AD42-9FAD-4657-F554-73CA792CBF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1"/>
                  </a:ext>
                </a:extLst>
              </a:blip>
              <a:stretch>
                <a:fillRect/>
              </a:stretch>
            </p:blipFill>
            <p:spPr>
              <a:xfrm>
                <a:off x="6800608" y="2764457"/>
                <a:ext cx="590793" cy="344088"/>
              </a:xfrm>
              <a:prstGeom prst="rect">
                <a:avLst/>
              </a:prstGeom>
            </p:spPr>
          </p:pic>
          <p:pic>
            <p:nvPicPr>
              <p:cNvPr id="162" name="Picture 161" descr="A blue and black logo  Description automatically generated">
                <a:extLst>
                  <a:ext uri="{FF2B5EF4-FFF2-40B4-BE49-F238E27FC236}">
                    <a16:creationId xmlns:a16="http://schemas.microsoft.com/office/drawing/2014/main" id="{FAD74D13-7187-E54F-ECE3-23C3A0C782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457844" y="2781991"/>
                <a:ext cx="1097280" cy="216884"/>
              </a:xfrm>
              <a:prstGeom prst="rect">
                <a:avLst/>
              </a:prstGeom>
            </p:spPr>
          </p:pic>
          <p:pic>
            <p:nvPicPr>
              <p:cNvPr id="163" name="Graphic 162">
                <a:extLst>
                  <a:ext uri="{FF2B5EF4-FFF2-40B4-BE49-F238E27FC236}">
                    <a16:creationId xmlns:a16="http://schemas.microsoft.com/office/drawing/2014/main" id="{6DB96694-9E6C-76C1-40E4-9F07234536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3"/>
                  </a:ext>
                </a:extLst>
              </a:blip>
              <a:stretch>
                <a:fillRect/>
              </a:stretch>
            </p:blipFill>
            <p:spPr>
              <a:xfrm>
                <a:off x="8439808" y="2713536"/>
                <a:ext cx="934008" cy="467004"/>
              </a:xfrm>
              <a:prstGeom prst="rect">
                <a:avLst/>
              </a:prstGeom>
            </p:spPr>
          </p:pic>
        </p:grpSp>
        <p:pic>
          <p:nvPicPr>
            <p:cNvPr id="164" name="Picture 163" descr="A logo with a bird in a nest  Description automatically generated">
              <a:extLst>
                <a:ext uri="{FF2B5EF4-FFF2-40B4-BE49-F238E27FC236}">
                  <a16:creationId xmlns:a16="http://schemas.microsoft.com/office/drawing/2014/main" id="{1C279E5E-9F7C-1414-7609-45E781D723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3722185" y="4740357"/>
              <a:ext cx="773290" cy="827911"/>
            </a:xfrm>
            <a:prstGeom prst="rect">
              <a:avLst/>
            </a:prstGeom>
          </p:spPr>
        </p:pic>
        <p:pic>
          <p:nvPicPr>
            <p:cNvPr id="165" name="Picture 164" descr="A black circle with a black background  Description automatically generated">
              <a:extLst>
                <a:ext uri="{FF2B5EF4-FFF2-40B4-BE49-F238E27FC236}">
                  <a16:creationId xmlns:a16="http://schemas.microsoft.com/office/drawing/2014/main" id="{B6D101B5-32E6-B98B-F454-D5104A733A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4299217" y="4666225"/>
              <a:ext cx="911772" cy="976176"/>
            </a:xfrm>
            <a:prstGeom prst="rect">
              <a:avLst/>
            </a:prstGeom>
          </p:spPr>
        </p:pic>
        <p:pic>
          <p:nvPicPr>
            <p:cNvPr id="166" name="Picture 165" descr="Logo  Description automatically generated">
              <a:extLst>
                <a:ext uri="{FF2B5EF4-FFF2-40B4-BE49-F238E27FC236}">
                  <a16:creationId xmlns:a16="http://schemas.microsoft.com/office/drawing/2014/main" id="{E97BD4CB-D6AC-C175-4CB5-827B922AB7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5363" y="5024262"/>
              <a:ext cx="1105002" cy="250864"/>
            </a:xfrm>
            <a:prstGeom prst="rect">
              <a:avLst/>
            </a:prstGeom>
          </p:spPr>
        </p:pic>
        <p:pic>
          <p:nvPicPr>
            <p:cNvPr id="167" name="Picture 166" descr="A black background with white text  Description automatically generated">
              <a:extLst>
                <a:ext uri="{FF2B5EF4-FFF2-40B4-BE49-F238E27FC236}">
                  <a16:creationId xmlns:a16="http://schemas.microsoft.com/office/drawing/2014/main" id="{42ED57E8-EA90-4DA7-5B05-B3982E989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6491387" y="4678616"/>
              <a:ext cx="910405" cy="974712"/>
            </a:xfrm>
            <a:prstGeom prst="rect">
              <a:avLst/>
            </a:prstGeom>
          </p:spPr>
        </p:pic>
        <p:pic>
          <p:nvPicPr>
            <p:cNvPr id="168" name="Picture 167" descr="A black and purple text  Description automatically generated">
              <a:extLst>
                <a:ext uri="{FF2B5EF4-FFF2-40B4-BE49-F238E27FC236}">
                  <a16:creationId xmlns:a16="http://schemas.microsoft.com/office/drawing/2014/main" id="{ACABCCDA-D2F8-1D99-BE7B-E78150DEAE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8656619" y="4669125"/>
              <a:ext cx="992888" cy="1063021"/>
            </a:xfrm>
            <a:prstGeom prst="rect">
              <a:avLst/>
            </a:prstGeom>
          </p:spPr>
        </p:pic>
        <p:pic>
          <p:nvPicPr>
            <p:cNvPr id="169" name="Picture 168" descr="A logo of a globe  Description automatically generated">
              <a:extLst>
                <a:ext uri="{FF2B5EF4-FFF2-40B4-BE49-F238E27FC236}">
                  <a16:creationId xmlns:a16="http://schemas.microsoft.com/office/drawing/2014/main" id="{F7B816E5-AA02-4CC0-6B5B-25A789A103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9841030" y="4496921"/>
              <a:ext cx="1368061" cy="1330058"/>
            </a:xfrm>
            <a:prstGeom prst="rect">
              <a:avLst/>
            </a:prstGeom>
          </p:spPr>
        </p:pic>
        <p:pic>
          <p:nvPicPr>
            <p:cNvPr id="170" name="Picture 169" descr="A red curved logo on a black background  Description automatically generated">
              <a:extLst>
                <a:ext uri="{FF2B5EF4-FFF2-40B4-BE49-F238E27FC236}">
                  <a16:creationId xmlns:a16="http://schemas.microsoft.com/office/drawing/2014/main" id="{43D8F7A5-29CE-CB54-68F2-4ACD338D12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7620763" y="4711948"/>
              <a:ext cx="836648" cy="895745"/>
            </a:xfrm>
            <a:prstGeom prst="rect">
              <a:avLst/>
            </a:prstGeom>
          </p:spPr>
        </p:pic>
        <p:pic>
          <p:nvPicPr>
            <p:cNvPr id="171" name="Picture 170" descr="A logo with a yellow circle  Description automatically generated">
              <a:extLst>
                <a:ext uri="{FF2B5EF4-FFF2-40B4-BE49-F238E27FC236}">
                  <a16:creationId xmlns:a16="http://schemas.microsoft.com/office/drawing/2014/main" id="{A915BE94-9AD3-1B05-E56B-29CB88BBF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11384182" y="4800884"/>
              <a:ext cx="651597" cy="697623"/>
            </a:xfrm>
            <a:prstGeom prst="rect">
              <a:avLst/>
            </a:prstGeom>
          </p:spPr>
        </p:pic>
        <p:pic>
          <p:nvPicPr>
            <p:cNvPr id="172" name="Picture 171" descr="A blue and black text  Description automatically generated">
              <a:extLst>
                <a:ext uri="{FF2B5EF4-FFF2-40B4-BE49-F238E27FC236}">
                  <a16:creationId xmlns:a16="http://schemas.microsoft.com/office/drawing/2014/main" id="{2C3B0253-B93D-E7B5-90E4-F4634D642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8135951" y="6198693"/>
              <a:ext cx="2088527" cy="285621"/>
            </a:xfrm>
            <a:prstGeom prst="rect">
              <a:avLst/>
            </a:prstGeom>
          </p:spPr>
        </p:pic>
        <p:pic>
          <p:nvPicPr>
            <p:cNvPr id="173" name="Picture 172" descr="A blue and orange logo  Description automatically generated">
              <a:extLst>
                <a:ext uri="{FF2B5EF4-FFF2-40B4-BE49-F238E27FC236}">
                  <a16:creationId xmlns:a16="http://schemas.microsoft.com/office/drawing/2014/main" id="{FABA4903-C3B7-815A-4363-57AB88AF55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10515069" y="6031806"/>
              <a:ext cx="1445462" cy="447274"/>
            </a:xfrm>
            <a:prstGeom prst="rect">
              <a:avLst/>
            </a:prstGeom>
          </p:spPr>
        </p:pic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46FF3696-7DE7-C16C-A4C1-2C2E6DF8841C}"/>
                </a:ext>
              </a:extLst>
            </p:cNvPr>
            <p:cNvCxnSpPr>
              <a:cxnSpLocks/>
            </p:cNvCxnSpPr>
            <p:nvPr/>
          </p:nvCxnSpPr>
          <p:spPr>
            <a:xfrm>
              <a:off x="3728385" y="2428550"/>
              <a:ext cx="8393646" cy="0"/>
            </a:xfrm>
            <a:prstGeom prst="line">
              <a:avLst/>
            </a:prstGeom>
            <a:ln w="19050">
              <a:solidFill>
                <a:srgbClr val="C1BC9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51DF5E80-D065-19E9-0628-7E89F1E86C79}"/>
                </a:ext>
              </a:extLst>
            </p:cNvPr>
            <p:cNvCxnSpPr>
              <a:cxnSpLocks/>
            </p:cNvCxnSpPr>
            <p:nvPr/>
          </p:nvCxnSpPr>
          <p:spPr>
            <a:xfrm>
              <a:off x="3728385" y="1245508"/>
              <a:ext cx="8393646" cy="0"/>
            </a:xfrm>
            <a:prstGeom prst="line">
              <a:avLst/>
            </a:prstGeom>
            <a:ln w="19050">
              <a:solidFill>
                <a:srgbClr val="C1BC9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E35BBCBE-CBA4-7605-DA1F-04D9FF05C3A7}"/>
                </a:ext>
              </a:extLst>
            </p:cNvPr>
            <p:cNvCxnSpPr>
              <a:cxnSpLocks/>
            </p:cNvCxnSpPr>
            <p:nvPr/>
          </p:nvCxnSpPr>
          <p:spPr>
            <a:xfrm>
              <a:off x="3718800" y="3538407"/>
              <a:ext cx="8393646" cy="0"/>
            </a:xfrm>
            <a:prstGeom prst="line">
              <a:avLst/>
            </a:prstGeom>
            <a:ln w="19050">
              <a:solidFill>
                <a:srgbClr val="C1BC9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C37733F2-173E-AEA3-5A02-84BC32BF8C68}"/>
                </a:ext>
              </a:extLst>
            </p:cNvPr>
            <p:cNvCxnSpPr>
              <a:cxnSpLocks/>
            </p:cNvCxnSpPr>
            <p:nvPr/>
          </p:nvCxnSpPr>
          <p:spPr>
            <a:xfrm>
              <a:off x="3728385" y="5692299"/>
              <a:ext cx="8393646" cy="0"/>
            </a:xfrm>
            <a:prstGeom prst="line">
              <a:avLst/>
            </a:prstGeom>
            <a:ln w="19050">
              <a:solidFill>
                <a:srgbClr val="C1BC9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C5D9BBF3-DC59-26B6-71B1-91F8137C5217}"/>
                </a:ext>
              </a:extLst>
            </p:cNvPr>
            <p:cNvCxnSpPr>
              <a:cxnSpLocks/>
            </p:cNvCxnSpPr>
            <p:nvPr/>
          </p:nvCxnSpPr>
          <p:spPr>
            <a:xfrm>
              <a:off x="3728385" y="4623472"/>
              <a:ext cx="8393646" cy="0"/>
            </a:xfrm>
            <a:prstGeom prst="line">
              <a:avLst/>
            </a:prstGeom>
            <a:ln w="19050">
              <a:solidFill>
                <a:srgbClr val="C1BC9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_navy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365760"/>
            <a:ext cx="1005840" cy="22041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GROW WITH SAP PUBLIC CLOUD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Engineering Consultancy — Grow with SAP for global project delivery.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5855" cy="96012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69164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GLOBAL ENGINEERING CONSULTANCY (SINCE 1946, JAPAN)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INDUSTRY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777240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Civil Engineering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436544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PRODUCTS &amp; SERVICES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436544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Engineering Consultancy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95848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EMPLOYEES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095848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5,000+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755151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FEATURED SOLUTION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8755151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Grow with SAP + SuccessFactors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2788920"/>
            <a:ext cx="164592" cy="164592"/>
          </a:xfrm>
          <a:prstGeom prst="rect">
            <a:avLst/>
          </a:prstGeom>
          <a:solidFill>
            <a:srgbClr val="CDC8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77240" y="275234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SCENARIO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" y="3154680"/>
            <a:ext cx="6217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global leader in consulting engineering and project management — established in 1946 as Japan's first independent consulting engineering firm — has spent 75+ years planning, designing, and supervising infrastructure projects across 100+ countries. The firm needed a robust ERP to streamline operations across its worldwide offices serving public and private sector clients.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4800600"/>
            <a:ext cx="164592" cy="164592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77240" y="476402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 BENEFITS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2920" y="5166360"/>
            <a:ext cx="6217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End-to-end visibility across all customer projects, from lead to invoice.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Synchronised flow from employee onboarding through project billing.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Seamless communication and process automation with global partners.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Single unified stack across Lead-to-Cash, Hire-to-Retire, Record-to-Report.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Scalable platform supporting expansion into new markets.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995160" y="2788920"/>
            <a:ext cx="164592" cy="164592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269480" y="2752344"/>
            <a:ext cx="4419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SOLUTION DETAILS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995160" y="3154680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995160" y="3154680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223760" y="3154680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S/4HANA Cloud  ·  Finance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995160" y="3538728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995160" y="3538728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223760" y="3538728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Source-to-Procure  ·  Sales  ·  C4C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995160" y="3922776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995160" y="3922776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223760" y="3922776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Professional Services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995160" y="4306824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995160" y="4306824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223760" y="4306824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SuccessFactors  ·  Employee Central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995160" y="4690872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6995160" y="4690872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7223760" y="4690872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Recruitment  ·  Onboarding  ·  LMS  ·  Compensation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995160" y="5184648"/>
            <a:ext cx="4693615" cy="128016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 flipH="1" flipV="1">
            <a:off x="11048695" y="5321808"/>
            <a:ext cx="251460" cy="251460"/>
          </a:xfrm>
          <a:prstGeom prst="rtTriangle">
            <a:avLst/>
          </a:prstGeom>
          <a:solidFill>
            <a:srgbClr val="A3CBE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 flipV="1">
            <a:off x="11300155" y="5321808"/>
            <a:ext cx="251460" cy="251460"/>
          </a:xfrm>
          <a:prstGeom prst="rtTriangle">
            <a:avLst/>
          </a:prstGeom>
          <a:solidFill>
            <a:srgbClr val="A3CBE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 flipH="1">
            <a:off x="11048695" y="5573268"/>
            <a:ext cx="251460" cy="251460"/>
          </a:xfrm>
          <a:prstGeom prst="rtTriangle">
            <a:avLst/>
          </a:prstGeom>
          <a:solidFill>
            <a:srgbClr val="A3CBE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11300155" y="5573268"/>
            <a:ext cx="251460" cy="251460"/>
          </a:xfrm>
          <a:prstGeom prst="rtTriangle">
            <a:avLst/>
          </a:prstGeom>
          <a:solidFill>
            <a:srgbClr val="A3CBE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7223760" y="5321808"/>
            <a:ext cx="3779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DIFFERENTIATOR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7223760" y="5641848"/>
            <a:ext cx="4236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recommended a package that uses data across the company and processes it centrally — accelerating IFRS-aligned financial close and consolidated project reporting across regions.</a:t>
            </a:r>
            <a:endParaRPr lang="en-US" sz="9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_navy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365760"/>
            <a:ext cx="1005840" cy="22041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GROW WITH SAP PUBLIC CLOUD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IT Service Provider — Unified platform for global IT operations.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5855" cy="96012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69164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GLOBAL IT SERVICES PROVIDER (HQ: CHANDIGARH, INDIA)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INDUSTRY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777240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Services &amp; Consulting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436544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PRODUCTS &amp; SERVICES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436544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Services &amp; Consulting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95848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EMPLOYEES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095848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1,000+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755151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FEATURED SOLUTION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8755151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Grow with SAP Public Cloud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2788920"/>
            <a:ext cx="164592" cy="164592"/>
          </a:xfrm>
          <a:prstGeom prst="rect">
            <a:avLst/>
          </a:prstGeom>
          <a:solidFill>
            <a:srgbClr val="CDC8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77240" y="275234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SCENARIO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" y="3154680"/>
            <a:ext cx="6217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global IT services provider specialising in infrastructure services, outsourcing, eSolutions, and business process optimisation. With ITIL-aligned delivery, the company serves energy, healthcare, retail, manufacturing and more — across the Americas, APAC, and EMEA — and needed a single platform to streamline IT operations and financial close.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4800600"/>
            <a:ext cx="164592" cy="164592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77240" y="476402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 BENEFITS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2920" y="5166360"/>
            <a:ext cx="6217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Single integrated platform for IT infrastructure, cloud, and security operations.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End-to-end IT outsourcing with optimised resource allocation.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Seamless communication and automation with global partners.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Integrated platform spanning infrastructure, BPO, and digital transformation.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Unified stack: Procure-to-Pay, Order-to-Cash, Hire-to-Retire, Record-to-Report.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995160" y="2788920"/>
            <a:ext cx="164592" cy="164592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269480" y="2752344"/>
            <a:ext cx="4419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SOLUTION DETAILS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995160" y="3154680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995160" y="3154680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223760" y="3154680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Finance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995160" y="3538728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995160" y="3538728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223760" y="3538728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Source-to-Procure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995160" y="3922776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995160" y="3922776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223760" y="3922776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Sales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995160" y="4306824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995160" y="4306824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223760" y="4306824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IFRS &amp; US GAAP Close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995160" y="4690872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6995160" y="4690872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7223760" y="4690872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Consolidated Reporting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995160" y="5184648"/>
            <a:ext cx="4693615" cy="128016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 flipH="1" flipV="1">
            <a:off x="11048695" y="5321808"/>
            <a:ext cx="251460" cy="251460"/>
          </a:xfrm>
          <a:prstGeom prst="rtTriangle">
            <a:avLst/>
          </a:prstGeom>
          <a:solidFill>
            <a:srgbClr val="A3CBE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 flipV="1">
            <a:off x="11300155" y="5321808"/>
            <a:ext cx="251460" cy="251460"/>
          </a:xfrm>
          <a:prstGeom prst="rtTriangle">
            <a:avLst/>
          </a:prstGeom>
          <a:solidFill>
            <a:srgbClr val="A3CBE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 flipH="1">
            <a:off x="11048695" y="5573268"/>
            <a:ext cx="251460" cy="251460"/>
          </a:xfrm>
          <a:prstGeom prst="rtTriangle">
            <a:avLst/>
          </a:prstGeom>
          <a:solidFill>
            <a:srgbClr val="A3CBE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11300155" y="5573268"/>
            <a:ext cx="251460" cy="251460"/>
          </a:xfrm>
          <a:prstGeom prst="rtTriangle">
            <a:avLst/>
          </a:prstGeom>
          <a:solidFill>
            <a:srgbClr val="A3CBE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7223760" y="5321808"/>
            <a:ext cx="3779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DIFFERENTIATOR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7223760" y="5641848"/>
            <a:ext cx="4236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recommended a centralised package — enabling IFRS and US GAAP financial close, consolidated reporting, and operational consistency across regions.</a:t>
            </a:r>
            <a:endParaRPr lang="en-US" sz="9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_navy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365760"/>
            <a:ext cx="1005840" cy="22041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TGNPDCL  ·  Migration Approach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Phased migration with agile delivery and continuous knowledge transfer.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5855" cy="96012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69164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TELANGANA STATE NORTHERN POWER DISTRIBUTION CO. (TGNPDCL)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INDUSTRY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777240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Electricity Distribution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436544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PRODUCTS &amp; SERVICES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436544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Electricity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95848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EMPLOYEES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095848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19,000+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755151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FEATURED SOLUTION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8755151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ECC → RISE with S/4HANA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2788920"/>
            <a:ext cx="164592" cy="164592"/>
          </a:xfrm>
          <a:prstGeom prst="rect">
            <a:avLst/>
          </a:prstGeom>
          <a:solidFill>
            <a:srgbClr val="CDC8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77240" y="2752344"/>
            <a:ext cx="518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OBJECTIVES &amp; SCOPE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" y="3191256"/>
            <a:ext cx="545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Migrate ECC (SOH) → RISE S/4HANA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End-to-end migration of the existing SAP ERP estate.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02920" y="3739896"/>
            <a:ext cx="545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Establish DEV, QA, PRD Landscapes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 up clean, governed environments for the new platform.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02920" y="4288536"/>
            <a:ext cx="545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I — Core &amp; Hypercare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Migration cutover with intensive post-go-live stabilisation.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02920" y="4837176"/>
            <a:ext cx="545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II — Integration &amp; Analytics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Document management, analytics, and integration uplift.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02920" y="5385816"/>
            <a:ext cx="545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III — Advanced Customisation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 functionality development on the S/4 foundation.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233008" y="2788920"/>
            <a:ext cx="164592" cy="164592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507328" y="2752344"/>
            <a:ext cx="518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METHODOLOGY ADOPTED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233008" y="3191256"/>
            <a:ext cx="545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Agile Implementation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Phased delivery with stakeholder feedback loops at each gate.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233008" y="3739896"/>
            <a:ext cx="545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Migration Strategy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Validation-gated migration; automated tooling for document &amp; integration.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33008" y="4288536"/>
            <a:ext cx="545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Continuous Knowledge Transfer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Structured sessions for client IT to ensure self-sufficiency.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233008" y="4837176"/>
            <a:ext cx="545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Post-Implementation Support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Hypercare and monitoring to safeguard system stability.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233008" y="5385816"/>
            <a:ext cx="5455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Governance &amp; Quality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Test-driven cutover with traceable issue management.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095848" y="2834640"/>
            <a:ext cx="0" cy="3017520"/>
          </a:xfrm>
          <a:prstGeom prst="line">
            <a:avLst/>
          </a:prstGeom>
          <a:noFill/>
          <a:ln w="9525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TGNPDCL  ·  MIGRATION APPROACH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_navy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365760"/>
            <a:ext cx="1005840" cy="22041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TGNPDCL  ·  Solutions &amp; Outcomes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Integration depth, document management, and scalable benefits realised.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5855" cy="96012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69164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TELANGANA STATE NORTHERN POWER DISTRIBUTION CO. (TGNPDCL)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INDUSTRY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777240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Electricity Distribution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436544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PRODUCTS &amp; SERVICES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436544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Electricity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95848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EMPLOYEES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095848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19,000+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755151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FEATURED SOLUTION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8755151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ECC → RISE with S/4HANA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2788920"/>
            <a:ext cx="164592" cy="164592"/>
          </a:xfrm>
          <a:prstGeom prst="rect">
            <a:avLst/>
          </a:prstGeom>
          <a:solidFill>
            <a:srgbClr val="CDC8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77240" y="2752344"/>
            <a:ext cx="518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SOLUTIONS DELIVERED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" y="3191256"/>
            <a:ext cx="5455768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&amp; Non-SAP Integration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Integration Suite delivered end-to-end across business systems.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02920" y="3751326"/>
            <a:ext cx="5455768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 Workflows &amp; Fiori Apps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Procurement, service management, repair tracking, real-time reporting.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02920" y="4311396"/>
            <a:ext cx="5455768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OpenText Document Management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Configured in SAP for efficient storage, retrieval, and migration of documents.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02920" y="4871466"/>
            <a:ext cx="5455768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Continuity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Robust testing, training, and support across cutover.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233008" y="2788920"/>
            <a:ext cx="164592" cy="164592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507328" y="2752344"/>
            <a:ext cx="518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OUTCOMES &amp; CLIENT BENEFITS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233008" y="3191256"/>
            <a:ext cx="5455768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Streamlined Business Processes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Automation across procurement, materials, service performance, invoicing.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233008" y="3751326"/>
            <a:ext cx="5455768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KPI Dashboards &amp; Analytics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SAC dashboards for real-time operational decision-making.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233008" y="4311396"/>
            <a:ext cx="5455768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Reduced Overhead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Automation cut effort; better resource and service tracking.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33008" y="4871466"/>
            <a:ext cx="5455768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Scalable Foundation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Architecture supports future modules and functional growth.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095848" y="2834640"/>
            <a:ext cx="0" cy="2514600"/>
          </a:xfrm>
          <a:prstGeom prst="line">
            <a:avLst/>
          </a:prstGeom>
          <a:noFill/>
          <a:ln w="9525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02920" y="5532120"/>
            <a:ext cx="11185855" cy="77724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31520" y="5623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OUTCOME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2194560" y="5623560"/>
            <a:ext cx="9448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Expertise, end-to-end support, and consistent on-time delivery — TGNPDCL achieved a modern, integrated SAP landscape aligned to specific business needs, with measurable performance and process gains.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TGNPDCL  ·  SOLUTIONS &amp; OUTCOMES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_navy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365760"/>
            <a:ext cx="1005840" cy="22041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RISE WITH SAP PRIVATE CLOUD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Wipro Infrastructure Engineering — RISE with SAP for global manufacturing.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5855" cy="96012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69164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WIPRO INFRASTRUCTURE ENGINEERING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INDUSTRY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777240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Engineering Services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436544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PRODUCTS &amp; SERVICES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436544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Hydraulics, Industrial Automation, Aerospace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95848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EMPLOYEES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095848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5,000+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755151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FEATURED SOLUTION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8755151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ECC → S/4HANA on RISE (Azure)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2788920"/>
            <a:ext cx="164592" cy="164592"/>
          </a:xfrm>
          <a:prstGeom prst="rect">
            <a:avLst/>
          </a:prstGeom>
          <a:solidFill>
            <a:srgbClr val="CDC8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77240" y="275234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SCENARIO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" y="3154680"/>
            <a:ext cx="6217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Wipro Infrastructure Engineering is a cutting-edge industrial engineering business with expertise spanning Hydraulics, Industrial Automation, Aerospace, Water Treatment, and Additive Manufacturing — operating 20+ state-of-the-art manufacturing facilities across 4 continents as part of Wipro Enterprises. The brownfield migration moved ECC to S/4HANA 2022 on RISE with SAP (Azure Cloud) with end-to-end lift-and-shift completed in 5 months.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4800600"/>
            <a:ext cx="164592" cy="164592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77240" y="476402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 BENEFITS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2920" y="5166360"/>
            <a:ext cx="6217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Streamlined domestic and export sourcing and procurement.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End-to-end traceability for recall management and compliance.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Improved demand forecasting and supply chain planning.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Higher quality control — reduced rejections and cost of quality.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Real-time equipment viability tracking for production planning.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995160" y="2788920"/>
            <a:ext cx="164592" cy="164592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269480" y="2752344"/>
            <a:ext cx="4419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SOLUTION DETAILS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995160" y="3154680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995160" y="3154680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223760" y="3154680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S/4HANA 2022  ·  RISE Private Cloud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995160" y="3538728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995160" y="3538728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223760" y="3538728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Brownfield Conversion  ·  Azure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995160" y="3922776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995160" y="3922776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223760" y="3922776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Industrial Manufacturing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995160" y="4306824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995160" y="4306824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223760" y="4306824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Quality, Production, MM, SD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995160" y="4690872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6995160" y="4690872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7223760" y="4690872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Lift-and-shift  ·  5-month delivery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995160" y="5184648"/>
            <a:ext cx="4693615" cy="128016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 flipH="1" flipV="1">
            <a:off x="11048695" y="5321808"/>
            <a:ext cx="251460" cy="251460"/>
          </a:xfrm>
          <a:prstGeom prst="rtTriangle">
            <a:avLst/>
          </a:prstGeom>
          <a:solidFill>
            <a:srgbClr val="A3CBE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 flipV="1">
            <a:off x="11300155" y="5321808"/>
            <a:ext cx="251460" cy="251460"/>
          </a:xfrm>
          <a:prstGeom prst="rtTriangle">
            <a:avLst/>
          </a:prstGeom>
          <a:solidFill>
            <a:srgbClr val="A3CBE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 flipH="1">
            <a:off x="11048695" y="5573268"/>
            <a:ext cx="251460" cy="251460"/>
          </a:xfrm>
          <a:prstGeom prst="rtTriangle">
            <a:avLst/>
          </a:prstGeom>
          <a:solidFill>
            <a:srgbClr val="A3CBE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11300155" y="5573268"/>
            <a:ext cx="251460" cy="251460"/>
          </a:xfrm>
          <a:prstGeom prst="rtTriangle">
            <a:avLst/>
          </a:prstGeom>
          <a:solidFill>
            <a:srgbClr val="A3CBE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7223760" y="5321808"/>
            <a:ext cx="3779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DIFFERENTIATOR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7223760" y="5641848"/>
            <a:ext cx="4236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executed precise landscape design, sizing, and technical migration tailored to global manufacturing operations — ensuring a seamless transition with minimal business disruption across 4 continents.</a:t>
            </a:r>
            <a:endParaRPr lang="en-US" sz="9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_navy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365760"/>
            <a:ext cx="1005840" cy="22041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RISE WITH SAP PRIVATE CLOUD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WayCool Foods — Digital backbone for India’s largest agri-commerce.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5855" cy="96012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69164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WAYCOOL FOODS AND PRODUCTS PVT. LTD.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INDUSTRY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777240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Food &amp; Beverages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436544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PRODUCTS &amp; SERVICES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436544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Sustainable Agriculture, Super Food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95848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EMPLOYEES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095848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5,000+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755151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FEATURED SOLUTION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8755151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S/4HANA Migration to Azure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2788920"/>
            <a:ext cx="164592" cy="164592"/>
          </a:xfrm>
          <a:prstGeom prst="rect">
            <a:avLst/>
          </a:prstGeom>
          <a:solidFill>
            <a:srgbClr val="CDC8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77240" y="275234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SCENARIO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" y="3154680"/>
            <a:ext cx="6217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WayCool Foods is India’s largest and fastest-growing agri-commerce company — leveraging innovative technology to scale a complex supply chain from soil to sale. Operating a full-stack, broadline product range across fresh produce, staples, and dairy with consumer brands including Madhuram, KitchenJi, L’exotique and Freshey’s. Migration to RISE with SAP on Azure Cloud was completed end-to-end in 8 weeks.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4800600"/>
            <a:ext cx="164592" cy="164592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77240" y="476402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 BENEFITS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2920" y="5166360"/>
            <a:ext cx="6217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Single platform unifying procurement, finance, and sales.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Streamlined E2E manufacturing with capacity planning.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Defined process, communications, and transactions with partners.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Integrated platform across manufacturing, supply chain, and finance.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Streamlined sales process covering both B2B and B2C.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995160" y="2788920"/>
            <a:ext cx="164592" cy="164592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269480" y="2752344"/>
            <a:ext cx="4419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SOLUTION DETAILS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995160" y="3154680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995160" y="3154680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223760" y="3154680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RISE with SAP S/4HANA PCE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995160" y="3538728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995160" y="3538728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223760" y="3538728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Sourcing &amp; Procurement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995160" y="3922776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995160" y="3922776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223760" y="3922776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Manufacturing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995160" y="4306824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995160" y="4306824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223760" y="4306824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FIFO Stock Delivery Process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995160" y="4690872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6995160" y="4690872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7223760" y="4690872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Technical &amp; Functional Support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995160" y="5184648"/>
            <a:ext cx="4693615" cy="128016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 flipH="1" flipV="1">
            <a:off x="11048695" y="5321808"/>
            <a:ext cx="251460" cy="251460"/>
          </a:xfrm>
          <a:prstGeom prst="rtTriangle">
            <a:avLst/>
          </a:prstGeom>
          <a:solidFill>
            <a:srgbClr val="A3CBE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 flipV="1">
            <a:off x="11300155" y="5321808"/>
            <a:ext cx="251460" cy="251460"/>
          </a:xfrm>
          <a:prstGeom prst="rtTriangle">
            <a:avLst/>
          </a:prstGeom>
          <a:solidFill>
            <a:srgbClr val="A3CBE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 flipH="1">
            <a:off x="11048695" y="5573268"/>
            <a:ext cx="251460" cy="251460"/>
          </a:xfrm>
          <a:prstGeom prst="rtTriangle">
            <a:avLst/>
          </a:prstGeom>
          <a:solidFill>
            <a:srgbClr val="A3CBE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11300155" y="5573268"/>
            <a:ext cx="251460" cy="251460"/>
          </a:xfrm>
          <a:prstGeom prst="rtTriangle">
            <a:avLst/>
          </a:prstGeom>
          <a:solidFill>
            <a:srgbClr val="A3CBE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7223760" y="5321808"/>
            <a:ext cx="3779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DIFFERENTIATOR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7223760" y="5641848"/>
            <a:ext cx="4236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delivered an 8-week end-to-end lift-and-shift to Azure Cloud — mapping WayCool’s complex agri-commerce processes to a digital platform with RISE with SAP S/4HANA PCE.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0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 / 17</a:t>
            </a:r>
            <a:endParaRPr lang="en-US" sz="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_navy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365760"/>
            <a:ext cx="1005840" cy="22041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GROW WITH SAP S/4HANA PUBLIC CLOUD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VAHDAM India — Digitally native growth at global scale.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5855" cy="96012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69164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VAHDAM® INDIA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INDUSTRY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777240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Food &amp; Beverages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436544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PRODUCTS &amp; SERVICES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436544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 &amp; Tea Products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95848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EMPLOYEES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095848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100+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755151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FEATURED SOLUTION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8755151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GROW with SAP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2788920"/>
            <a:ext cx="164592" cy="164592"/>
          </a:xfrm>
          <a:prstGeom prst="rect">
            <a:avLst/>
          </a:prstGeom>
          <a:solidFill>
            <a:srgbClr val="CDC8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77240" y="275234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SCENARIO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" y="3154680"/>
            <a:ext cx="6217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VAHDAM India is a homegrown wellness brand bringing handpicked Indian teas and superfoods directly from India’s gardens to consumers in 130 countries — bypassing middlemen, driving authentic provenance, and pioneering digital-first FMCG. The GROW with SAP implementation was completed in 12 months, delivering 18% reduction in manpower cost.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4800600"/>
            <a:ext cx="164592" cy="164592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77240" y="476402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 BENEFITS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2920" y="5166360"/>
            <a:ext cx="6217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Streamlined supply chain through a unified business platform.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Improved capacity planning for manpower and machinery.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More effective communication and transactions with partners.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Seamless integration with GSP, Amazon, Shopify.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Automated E-Invoicing, E-Way billing, and banking processes.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Increased global market access and expansion scope.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995160" y="2788920"/>
            <a:ext cx="164592" cy="164592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269480" y="2752344"/>
            <a:ext cx="4419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SOLUTION DETAILS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995160" y="3154680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995160" y="3154680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223760" y="3154680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GROW with SAP S/4HANA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995160" y="3538728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995160" y="3538728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223760" y="3538728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Sourcing &amp; Procurement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995160" y="3922776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995160" y="3922776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223760" y="3922776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Sales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995160" y="4306824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995160" y="4306824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223760" y="4306824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Manufacturing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995160" y="4690872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6995160" y="4690872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7223760" y="4690872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FICO  ·  SD  ·  MM  ·  ABAP  ·  CPI  ·  BASIS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995160" y="5184648"/>
            <a:ext cx="4693615" cy="128016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 flipH="1" flipV="1">
            <a:off x="11048695" y="5321808"/>
            <a:ext cx="251460" cy="251460"/>
          </a:xfrm>
          <a:prstGeom prst="rtTriangle">
            <a:avLst/>
          </a:prstGeom>
          <a:solidFill>
            <a:srgbClr val="A3CBE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 flipV="1">
            <a:off x="11300155" y="5321808"/>
            <a:ext cx="251460" cy="251460"/>
          </a:xfrm>
          <a:prstGeom prst="rtTriangle">
            <a:avLst/>
          </a:prstGeom>
          <a:solidFill>
            <a:srgbClr val="A3CBE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 flipH="1">
            <a:off x="11048695" y="5573268"/>
            <a:ext cx="251460" cy="251460"/>
          </a:xfrm>
          <a:prstGeom prst="rtTriangle">
            <a:avLst/>
          </a:prstGeom>
          <a:solidFill>
            <a:srgbClr val="A3CBE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11300155" y="5573268"/>
            <a:ext cx="251460" cy="251460"/>
          </a:xfrm>
          <a:prstGeom prst="rtTriangle">
            <a:avLst/>
          </a:prstGeom>
          <a:solidFill>
            <a:srgbClr val="A3CBE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7223760" y="5321808"/>
            <a:ext cx="3779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DIFFERENTIATOR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7223760" y="5641848"/>
            <a:ext cx="4236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delivered a tailored GROW with SAP rollout — enabling positive customer experience across 130 countries and a 18% manpower cost reduction across a 12-month implementation.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0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/ 17</a:t>
            </a:r>
            <a:endParaRPr lang="en-US" sz="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_navy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365760"/>
            <a:ext cx="1005840" cy="22041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GROW WITH SAP PUBLIC CLOUD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EdTech Unicorn — Scaling learning to crores of students.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5855" cy="96012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69164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INDIAN EDTECH UNICORN (FOUNDED 2020)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INDUSTRY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777240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E-Learning Provider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436544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PRODUCTS &amp; SERVICES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436544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E-Learning Platform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95848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EMPLOYEES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095848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1,000+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755151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FEATURED SOLUTION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8755151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Grow with SAP Public Cloud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2788920"/>
            <a:ext cx="164592" cy="164592"/>
          </a:xfrm>
          <a:prstGeom prst="rect">
            <a:avLst/>
          </a:prstGeom>
          <a:solidFill>
            <a:srgbClr val="CDC8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77240" y="275234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SCENARIO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" y="3154680"/>
            <a:ext cx="6217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India's leading EdTech unicorn democratises education at scale — reaching 98% of the country's pin codes through online, offline, and hybrid platforms. The company offers free quality content via 112+ YouTube channels in 5 vernacular languages, with 3+ crore app downloads, 55+ lakh paid students, and a growing hybrid centre network across 105 cities.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4800600"/>
            <a:ext cx="164592" cy="164592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77240" y="476402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 BENEFITS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2920" y="5166360"/>
            <a:ext cx="6217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Scalable infrastructure handling 100,000+ student transactions daily.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 integration with AWS S3 for unified online + offline sales booking.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Predictive dashboards for revenue recognition insight.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 upload programmes eliminating repetitive manual entry.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Tailored validation logic for business-specific compliance.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Flexible invoice numbering across locations and document types.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995160" y="2788920"/>
            <a:ext cx="164592" cy="164592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269480" y="2752344"/>
            <a:ext cx="4419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SOLUTION DETAILS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995160" y="3154680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995160" y="3154680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223760" y="3154680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Finance  ·  Consolidation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995160" y="3538728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995160" y="3538728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223760" y="3538728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Sourcing &amp; Procurement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995160" y="3922776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995160" y="3922776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223760" y="3922776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Sales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995160" y="4306824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995160" y="4306824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223760" y="4306824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Unified Reporting  ·  IRN &amp; E-Way Bill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995160" y="4800600"/>
            <a:ext cx="4693615" cy="132588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 flipH="1" flipV="1">
            <a:off x="11048695" y="4937760"/>
            <a:ext cx="251460" cy="251460"/>
          </a:xfrm>
          <a:prstGeom prst="rtTriangle">
            <a:avLst/>
          </a:prstGeom>
          <a:solidFill>
            <a:srgbClr val="A3CBE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 flipV="1">
            <a:off x="11300155" y="4937760"/>
            <a:ext cx="251460" cy="251460"/>
          </a:xfrm>
          <a:prstGeom prst="rtTriangle">
            <a:avLst/>
          </a:prstGeom>
          <a:solidFill>
            <a:srgbClr val="A3CBE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 flipH="1">
            <a:off x="11048695" y="5189220"/>
            <a:ext cx="251460" cy="251460"/>
          </a:xfrm>
          <a:prstGeom prst="rtTriangle">
            <a:avLst/>
          </a:prstGeom>
          <a:solidFill>
            <a:srgbClr val="A3CBE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11300155" y="5189220"/>
            <a:ext cx="251460" cy="251460"/>
          </a:xfrm>
          <a:prstGeom prst="rtTriangle">
            <a:avLst/>
          </a:prstGeom>
          <a:solidFill>
            <a:srgbClr val="A3CBE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7223760" y="4937760"/>
            <a:ext cx="3779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DIFFERENTIATOR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223760" y="5257800"/>
            <a:ext cx="4236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recommended a centralised package — delivering consolidated financial close, unified dashboards for IRN and E-way bill compliance, and scalable cloud infrastructure for continued hyper-growth.</a:t>
            </a:r>
            <a:endParaRPr lang="en-US" sz="9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_navy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365760"/>
            <a:ext cx="1005840" cy="22041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RISE WITH SAP PRIVATE CLOUD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Triveni Turbines — Streamlining global turbine manufacturing.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5855" cy="96012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69164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TRIVENI TURBINE LIMITED (TTL)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INDUSTRY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777240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Industrial Machinery Manufacturing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436544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PRODUCTS &amp; SERVICES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436544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Steam Turbine Manufacturing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95848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EMPLOYEES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095848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1,000+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755151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FEATURED SOLUTION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8755151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ECC → S/4HANA on RISE (Azure)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2788920"/>
            <a:ext cx="164592" cy="164592"/>
          </a:xfrm>
          <a:prstGeom prst="rect">
            <a:avLst/>
          </a:prstGeom>
          <a:solidFill>
            <a:srgbClr val="CDC8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77240" y="275234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SCENARIO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" y="3154680"/>
            <a:ext cx="6217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Triveni Turbines Limited (TTL) is a leading OEM of steam turbines up to 100 MWe — serving power generation across sugar, steel, distillery, biomass, pulp &amp; paper, palm oil, IPP and chemicals in 80+ countries. The brownfield migration to RISE with SAP on Azure delivered a scalable digital core with precise landscape design, accurate sizing, and minimal business disruption — completed in 5 months.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4800600"/>
            <a:ext cx="164592" cy="164592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77240" y="476402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 BENEFITS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2920" y="5166360"/>
            <a:ext cx="6217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Unified domestic and export procurement for cost optimisation.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End-to-end traceability for recall management.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Accurate demand forecasting and supply chain planning.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Quality control improvements — reduced cost of quality.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Real-time equipment health visibility for production planning.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995160" y="2788920"/>
            <a:ext cx="164592" cy="164592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269480" y="2752344"/>
            <a:ext cx="4419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SOLUTION DETAILS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995160" y="3154680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995160" y="3154680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223760" y="3154680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S/4HANA 2022  ·  RISE Private Cloud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995160" y="3538728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995160" y="3538728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223760" y="3538728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Brownfield Conversion  ·  Azure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995160" y="3922776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995160" y="3922776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223760" y="3922776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Turbine Manufacturing  ·  Global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995160" y="4306824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995160" y="4306824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223760" y="4306824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Quality, Production, PP, MM, SD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995160" y="4690872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6995160" y="4690872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7223760" y="4690872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5-month delivery  ·  10 global offices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995160" y="5184648"/>
            <a:ext cx="4693615" cy="128016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 flipH="1" flipV="1">
            <a:off x="11048695" y="5321808"/>
            <a:ext cx="251460" cy="251460"/>
          </a:xfrm>
          <a:prstGeom prst="rtTriangle">
            <a:avLst/>
          </a:prstGeom>
          <a:solidFill>
            <a:srgbClr val="A3CBE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 flipV="1">
            <a:off x="11300155" y="5321808"/>
            <a:ext cx="251460" cy="251460"/>
          </a:xfrm>
          <a:prstGeom prst="rtTriangle">
            <a:avLst/>
          </a:prstGeom>
          <a:solidFill>
            <a:srgbClr val="A3CBE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 flipH="1">
            <a:off x="11048695" y="5573268"/>
            <a:ext cx="251460" cy="251460"/>
          </a:xfrm>
          <a:prstGeom prst="rtTriangle">
            <a:avLst/>
          </a:prstGeom>
          <a:solidFill>
            <a:srgbClr val="A3CBE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11300155" y="5573268"/>
            <a:ext cx="251460" cy="251460"/>
          </a:xfrm>
          <a:prstGeom prst="rtTriangle">
            <a:avLst/>
          </a:prstGeom>
          <a:solidFill>
            <a:srgbClr val="A3CBE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7223760" y="5321808"/>
            <a:ext cx="3779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DIFFERENTIATOR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7223760" y="5641848"/>
            <a:ext cx="4236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brings deep RISE with SAP migration expertise and manufacturing-centric landscape understanding — ensuring performance alignment with TTL’s line of business across UK, South Africa, Dubai, India, Bangkok and Indonesia.</a:t>
            </a:r>
            <a:endParaRPr lang="en-US" sz="9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_navy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365760"/>
            <a:ext cx="1005840" cy="22041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ECC FRESH IMPLEMENTATION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Kenya Railways — Digital transformation from legacy to SAP ECC 6.3.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5855" cy="96012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69164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KENYA RAILWAYS CORPORATION (KR)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INDUSTRY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777240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Transportation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436544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PRODUCTS &amp; SERVICES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436544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Passenger &amp; Goods Trains (MGR, SGR)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95848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EMPLOYEES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095848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3,000+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755151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FEATURED SOLUTION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8755151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Legacy → SAP ECC 6.3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2788920"/>
            <a:ext cx="164592" cy="164592"/>
          </a:xfrm>
          <a:prstGeom prst="rect">
            <a:avLst/>
          </a:prstGeom>
          <a:solidFill>
            <a:srgbClr val="CDC8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77240" y="275234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SCENARIO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" y="3154680"/>
            <a:ext cx="6217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Kenya Railways Corporation is a State Corporation under the Ministry of Transport, established in 1978 — operating the 930 km mainline from Mombasa to Kisumu and a total network of 2,778 km of track including links to Tanzania and Uganda. The 10-month fresh implementation migrated from legacy to SAP ECC 6.3 — streamlining transport management across Kenya and East Africa.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4800600"/>
            <a:ext cx="164592" cy="164592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77240" y="476402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 BENEFITS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2920" y="5166360"/>
            <a:ext cx="6217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Streamlined transport management activities across Kenya and East Africa.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 processes tailored for government organisations: Finance, Procurement, Sales, HR.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workflows enabling transparency in a controlled environment.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Improved demand forecasting and supply chain planning for MGR &amp; SGR.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 </a:t>
            </a:r>
            <a:r>
              <a:rPr lang="en-US" sz="95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Improved inventory visibility, procurement, and distribution performance.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995160" y="2788920"/>
            <a:ext cx="164592" cy="164592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269480" y="2752344"/>
            <a:ext cx="4419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SOLUTION DETAILS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995160" y="3154680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995160" y="3154680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223760" y="3154680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ECC 6.3  ·  Fresh Implementation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995160" y="3538728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995160" y="3538728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223760" y="3538728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Greenfield from Legacy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995160" y="3922776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995160" y="3922776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223760" y="3922776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Transport &amp; Logistics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995160" y="4306824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995160" y="4306824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223760" y="4306824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FI, MM, SD, PP, HR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995160" y="4690872"/>
            <a:ext cx="4693615" cy="310896"/>
          </a:xfrm>
          <a:prstGeom prst="rect">
            <a:avLst/>
          </a:prstGeom>
          <a:solidFill>
            <a:srgbClr val="F7F8FA"/>
          </a:solidFill>
          <a:ln w="9525">
            <a:solidFill>
              <a:srgbClr val="3F75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6995160" y="4690872"/>
            <a:ext cx="73152" cy="310896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7223760" y="4690872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10-month delivery  ·  Government stakeholder reporting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995160" y="5184648"/>
            <a:ext cx="4693615" cy="128016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 flipH="1" flipV="1">
            <a:off x="11048695" y="5321808"/>
            <a:ext cx="251460" cy="251460"/>
          </a:xfrm>
          <a:prstGeom prst="rtTriangle">
            <a:avLst/>
          </a:prstGeom>
          <a:solidFill>
            <a:srgbClr val="A3CBE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 flipV="1">
            <a:off x="11300155" y="5321808"/>
            <a:ext cx="251460" cy="251460"/>
          </a:xfrm>
          <a:prstGeom prst="rtTriangle">
            <a:avLst/>
          </a:prstGeom>
          <a:solidFill>
            <a:srgbClr val="A3CBE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 flipH="1">
            <a:off x="11048695" y="5573268"/>
            <a:ext cx="251460" cy="251460"/>
          </a:xfrm>
          <a:prstGeom prst="rtTriangle">
            <a:avLst/>
          </a:prstGeom>
          <a:solidFill>
            <a:srgbClr val="A3CBE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11300155" y="5573268"/>
            <a:ext cx="251460" cy="251460"/>
          </a:xfrm>
          <a:prstGeom prst="rtTriangle">
            <a:avLst/>
          </a:prstGeom>
          <a:solidFill>
            <a:srgbClr val="A3CBE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7223760" y="5321808"/>
            <a:ext cx="3779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DIFFERENTIATOR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7223760" y="5641848"/>
            <a:ext cx="4236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executed landscape design, sizing and meticulous technical migration tailored to a national rail operator — streamlining manufacturing of railway equipment, projects, operations, and stakeholder reporting across the Ministry of Railways and Treasury.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0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 / 17</a:t>
            </a:r>
            <a:endParaRPr lang="en-US" sz="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_navy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365760"/>
            <a:ext cx="1005840" cy="22041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APTRANSCO  ·  3-Year AMS Engagement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Onsite Application Management — Stabilising a critical ERP backbone.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5855" cy="96012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69164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ANDHRA PRADESH POWER TRANSMISSION CORPORATION (APTRANSCO)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INDUSTRY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777240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Electricity Transmission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436544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PRODUCTS &amp; SERVICES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436544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Electricity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95848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EMPLOYEES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095848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1,000+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755151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FEATURED SOLUTION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8755151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ECC → S/4HANA Migration  ·  AMS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2788920"/>
            <a:ext cx="164592" cy="164592"/>
          </a:xfrm>
          <a:prstGeom prst="rect">
            <a:avLst/>
          </a:prstGeom>
          <a:solidFill>
            <a:srgbClr val="CDC8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77240" y="2752344"/>
            <a:ext cx="518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CHALLENGES ADDRESSED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" y="3191256"/>
            <a:ext cx="54557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 Incident Volume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Managed high-priority incidents under tight SLAs, ensuring minimal downtime.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02920" y="3639312"/>
            <a:ext cx="54557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Integration Complexities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Streamlined cross-module integration for enhanced operational flow.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02920" y="4087368"/>
            <a:ext cx="54557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 Development Needs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Delivered SAP Fiori and SAPUI5 solutions to improve user experience.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02920" y="4535424"/>
            <a:ext cx="54557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Scalability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Ensured the SAP landscape scaled with APTRANSCO's growing business needs.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02920" y="4983480"/>
            <a:ext cx="54557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Adoption Barriers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Addressed low user proficiency with intuitive training programmes.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233008" y="2788920"/>
            <a:ext cx="164592" cy="164592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507328" y="2752344"/>
            <a:ext cx="518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 ACHIEVEMENTS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233008" y="3191256"/>
            <a:ext cx="54557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Enhanced System Efficiency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Reduced incident resolution time by 40% through robust ticket management.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233008" y="3639312"/>
            <a:ext cx="54557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Proactive Risk Mitigation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Event monitoring tools significantly reduced unplanned outages.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33008" y="4087368"/>
            <a:ext cx="54557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Improved User Experience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Intuitive SAP Fiori apps drove higher user adoption.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233008" y="4535424"/>
            <a:ext cx="54557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Cost Optimisation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Streamlined processes and reduced system errors for material savings.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233008" y="4983480"/>
            <a:ext cx="54557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Reporting &amp; Analytics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Integrated SAP BW/BOBJ for real-time decision-making insight.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095848" y="2834640"/>
            <a:ext cx="0" cy="2514600"/>
          </a:xfrm>
          <a:prstGeom prst="line">
            <a:avLst/>
          </a:prstGeom>
          <a:noFill/>
          <a:ln w="9525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02920" y="5532120"/>
            <a:ext cx="11185855" cy="77724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31520" y="5623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OUTCOME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194560" y="5623560"/>
            <a:ext cx="9448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Over three years, the AMS engagement helped APTRANSCO maintain uninterrupted operations, optimise system performance, and align ERP with organisational objectives — enabling superior service to stakeholders while leveraging SAP's full potential.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0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/ 17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4593744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_navy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365760"/>
            <a:ext cx="1005840" cy="22041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F75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DELHI TRANSCO LIMITED (DTL)  ·  AMS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21E3B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Annual Maintenance Support across the SAP ERP estate.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5855" cy="96012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69164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DELHI TRANSCO LIMITED (DTL)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INDUSTRY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777240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Electricity Transmission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436544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PRODUCTS &amp; SERVICES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436544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Electricity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95848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EMPLOYEES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095848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1,800+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755151" y="2011680"/>
            <a:ext cx="247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FEATURED SOLUTION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8755151" y="2203704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AMS  ·  Multi-Module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2788920"/>
            <a:ext cx="164592" cy="164592"/>
          </a:xfrm>
          <a:prstGeom prst="rect">
            <a:avLst/>
          </a:prstGeom>
          <a:solidFill>
            <a:srgbClr val="CDC8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77240" y="2752344"/>
            <a:ext cx="518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CHALLENGES ADDRESSED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" y="3191256"/>
            <a:ext cx="54557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Performance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Resolved frequent downtimes and slow transaction processing.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02920" y="3639312"/>
            <a:ext cx="54557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Cross-Module Integration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Ensured seamless integration across modules for uninterrupted operations.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02920" y="4087368"/>
            <a:ext cx="54557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Legacy Process Automation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Automated workflows and reduced manual intervention.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02920" y="4535424"/>
            <a:ext cx="54557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Compliance Adherence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Adapted processes to meet evolving regulatory standards.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02920" y="4983480"/>
            <a:ext cx="54557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Change &amp; Training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Empowered users with efficient system usage and troubleshooting.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233008" y="2788920"/>
            <a:ext cx="164592" cy="164592"/>
          </a:xfrm>
          <a:prstGeom prst="rect">
            <a:avLst/>
          </a:prstGeom>
          <a:solidFill>
            <a:srgbClr val="3F75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507328" y="2752344"/>
            <a:ext cx="518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 ACHIEVEMENTS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233008" y="3191256"/>
            <a:ext cx="54557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99.9% System Availability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Sustained uptime for critical business processes.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233008" y="3639312"/>
            <a:ext cx="54557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Streamlined Operations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Accelerated workflows by 30% via integration and Fiori enhancements.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33008" y="4087368"/>
            <a:ext cx="54557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Cost Savings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Reduced operational costs through fewer manual errors.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233008" y="4535424"/>
            <a:ext cx="54557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Regulatory Compliance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 financial and statutory regulations, avoiding penalties.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233008" y="4983480"/>
            <a:ext cx="54557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Empowerment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Extensive training improved user adoption by 40%.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095848" y="2834640"/>
            <a:ext cx="0" cy="2514600"/>
          </a:xfrm>
          <a:prstGeom prst="line">
            <a:avLst/>
          </a:prstGeom>
          <a:noFill/>
          <a:ln w="9525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02920" y="5532120"/>
            <a:ext cx="11185855" cy="777240"/>
          </a:xfrm>
          <a:prstGeom prst="rect">
            <a:avLst/>
          </a:prstGeom>
          <a:solidFill>
            <a:srgbClr val="121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31520" y="5623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OUTCOME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194560" y="5623560"/>
            <a:ext cx="9448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AMS services enabled DTL to maintain uninterrupted operations, achieve cost efficiencies, and align ERP capabilities with organisational goals — contributing to improved service delivery and stakeholder satisfaction.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A46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DELHI TRANSCO LIMITED (DTL)  ·  AMS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6574484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2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02920" y="86868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IN2IT EBS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14300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Four reasons enterprises choose us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02919" y="153162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A3CBE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— and stay with us.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18" y="213741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seven generic claims. Four differentiated capabilities, each backed by evidence.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18" y="2666619"/>
            <a:ext cx="3606698" cy="2926080"/>
          </a:xfrm>
          <a:prstGeom prst="rect">
            <a:avLst/>
          </a:prstGeom>
          <a:solidFill>
            <a:srgbClr val="152544"/>
          </a:solidFill>
          <a:ln w="9525">
            <a:solidFill>
              <a:srgbClr val="2A3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18" y="2666619"/>
            <a:ext cx="73152" cy="2926080"/>
          </a:xfrm>
          <a:prstGeom prst="rect">
            <a:avLst/>
          </a:prstGeom>
          <a:solidFill>
            <a:srgbClr val="A3CB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78" y="2940939"/>
            <a:ext cx="685800" cy="685800"/>
          </a:xfrm>
          <a:prstGeom prst="ellipse">
            <a:avLst/>
          </a:prstGeom>
          <a:solidFill>
            <a:srgbClr val="121E3B"/>
          </a:solidFill>
          <a:ln w="15875">
            <a:solidFill>
              <a:srgbClr val="A3CB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38" y="3078099"/>
            <a:ext cx="411480" cy="4114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22958" y="3763899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 ·  PARTNERSHIP DEPTH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22958" y="3992499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Top-tier SAP credentials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22958" y="4495419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Gold Partner, RISE with SAP (BTaaS), PCE Partner and Co-Innovation Partner — a combination held by a narrow group of firms globally.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2958" y="5318379"/>
            <a:ext cx="2966618" cy="0"/>
          </a:xfrm>
          <a:prstGeom prst="line">
            <a:avLst/>
          </a:prstGeom>
          <a:noFill/>
          <a:ln w="9525">
            <a:solidFill>
              <a:srgbClr val="2A3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2958" y="5364099"/>
            <a:ext cx="2966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Gold  ·  RISE  ·  PCE  ·  Co-Innovation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292496" y="2666619"/>
            <a:ext cx="3606698" cy="2926080"/>
          </a:xfrm>
          <a:prstGeom prst="rect">
            <a:avLst/>
          </a:prstGeom>
          <a:solidFill>
            <a:srgbClr val="152544"/>
          </a:solidFill>
          <a:ln w="9525">
            <a:solidFill>
              <a:srgbClr val="2A3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292496" y="2666619"/>
            <a:ext cx="73152" cy="2926080"/>
          </a:xfrm>
          <a:prstGeom prst="rect">
            <a:avLst/>
          </a:prstGeom>
          <a:solidFill>
            <a:srgbClr val="A3CB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658256" y="2940939"/>
            <a:ext cx="685800" cy="685800"/>
          </a:xfrm>
          <a:prstGeom prst="ellipse">
            <a:avLst/>
          </a:prstGeom>
          <a:solidFill>
            <a:srgbClr val="121E3B"/>
          </a:solidFill>
          <a:ln w="15875">
            <a:solidFill>
              <a:srgbClr val="A3CB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416" y="3078099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612536" y="3763899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 ·  DELIVERY ECONOMICS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612536" y="3992499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Availability at scale and speed</a:t>
            </a:r>
            <a:endParaRPr lang="en-US" sz="1700" dirty="0"/>
          </a:p>
        </p:txBody>
      </p:sp>
      <p:sp>
        <p:nvSpPr>
          <p:cNvPr id="26" name="Text 22"/>
          <p:cNvSpPr/>
          <p:nvPr/>
        </p:nvSpPr>
        <p:spPr>
          <a:xfrm>
            <a:off x="4612536" y="4495419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550+ employees across 4 delivery centres and 6 sales offices. Follow-the-sun coverage across four time zones, with proven offshore-led AMS.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612536" y="5318379"/>
            <a:ext cx="2966618" cy="0"/>
          </a:xfrm>
          <a:prstGeom prst="line">
            <a:avLst/>
          </a:prstGeom>
          <a:noFill/>
          <a:ln w="9525">
            <a:solidFill>
              <a:srgbClr val="2A3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4612536" y="5364099"/>
            <a:ext cx="2966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1,000+ combined years of SAP experience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8082075" y="2666619"/>
            <a:ext cx="3606698" cy="2926080"/>
          </a:xfrm>
          <a:prstGeom prst="rect">
            <a:avLst/>
          </a:prstGeom>
          <a:solidFill>
            <a:srgbClr val="152544"/>
          </a:solidFill>
          <a:ln w="9525">
            <a:solidFill>
              <a:srgbClr val="2A3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8082075" y="2666619"/>
            <a:ext cx="73152" cy="2926080"/>
          </a:xfrm>
          <a:prstGeom prst="rect">
            <a:avLst/>
          </a:prstGeom>
          <a:solidFill>
            <a:srgbClr val="A3CB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8447835" y="2940939"/>
            <a:ext cx="685800" cy="685800"/>
          </a:xfrm>
          <a:prstGeom prst="ellipse">
            <a:avLst/>
          </a:prstGeom>
          <a:solidFill>
            <a:srgbClr val="121E3B"/>
          </a:solidFill>
          <a:ln w="15875">
            <a:solidFill>
              <a:srgbClr val="A3CB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4995" y="3078099"/>
            <a:ext cx="411480" cy="4114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402115" y="3763899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3CB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 ·  ACCELERATED OUTCOMES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8402115" y="3992499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FastForward methodology</a:t>
            </a:r>
            <a:endParaRPr lang="en-US" sz="1700" dirty="0"/>
          </a:p>
        </p:txBody>
      </p:sp>
      <p:sp>
        <p:nvSpPr>
          <p:cNvPr id="35" name="Text 30"/>
          <p:cNvSpPr/>
          <p:nvPr/>
        </p:nvSpPr>
        <p:spPr>
          <a:xfrm>
            <a:off x="8402115" y="4495419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Branded delivery method built on SAP Activate, accelerated by pre-built assets — compresses S/4HANA timelines by up to 30%.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8402115" y="5318379"/>
            <a:ext cx="2966618" cy="0"/>
          </a:xfrm>
          <a:prstGeom prst="line">
            <a:avLst/>
          </a:prstGeom>
          <a:noFill/>
          <a:ln w="9525">
            <a:solidFill>
              <a:srgbClr val="2A3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8402115" y="5364099"/>
            <a:ext cx="2966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CDC8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RDS  ·  Localization Pack  ·  Industry templates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502918" y="5836729"/>
            <a:ext cx="11185855" cy="502920"/>
          </a:xfrm>
          <a:prstGeom prst="rect">
            <a:avLst/>
          </a:prstGeom>
          <a:solidFill>
            <a:srgbClr val="A3CB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777238" y="5836729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Reason 01:   </a:t>
            </a:r>
            <a:r>
              <a:rPr lang="en-US" sz="1300" dirty="0">
                <a:solidFill>
                  <a:srgbClr val="121E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CONVERGED INTELLIGENCE — three pillars (Platforms, Advisory, Digital Engineering) under one accountable partner, with AI woven across every layer, not bolted on. The other three reasons sit underneath.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502920" y="6583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11231575" y="6583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40</a:t>
            </a:r>
            <a:endParaRPr lang="en-US" sz="900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649925E8-B352-3EE2-9C09-FFC7D934B8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5639" y="347471"/>
            <a:ext cx="2070410" cy="644561"/>
          </a:xfrm>
          <a:prstGeom prst="rect">
            <a:avLst/>
          </a:prstGeom>
        </p:spPr>
      </p:pic>
      <p:sp>
        <p:nvSpPr>
          <p:cNvPr id="44" name="Shape 37">
            <a:extLst>
              <a:ext uri="{FF2B5EF4-FFF2-40B4-BE49-F238E27FC236}">
                <a16:creationId xmlns:a16="http://schemas.microsoft.com/office/drawing/2014/main" id="{C989ADB8-9A0D-1388-3670-9CF3CB8F8DF2}"/>
              </a:ext>
            </a:extLst>
          </p:cNvPr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12700">
            <a:solidFill>
              <a:srgbClr val="C1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2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360556" y="844700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Thank you.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396392" y="19419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A3CBE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Let's talk about your transformation.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502920" y="6126480"/>
            <a:ext cx="11185855" cy="0"/>
          </a:xfrm>
          <a:prstGeom prst="line">
            <a:avLst/>
          </a:prstGeom>
          <a:noFill/>
          <a:ln w="9525">
            <a:solidFill>
              <a:srgbClr val="2A3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6217920"/>
            <a:ext cx="11185855" cy="43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CMMI  ·  ISO 9001  ·  ISO 27001  ·  SAP Gold Partner  ·  RISE with SAP  ·  PCE Partner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IBM Plex Sans" pitchFamily="34" charset="0"/>
              </a:rPr>
              <a:t>www.in2itebs.com  •  info@in2itebs.com  •  linkedin.com/company/in2it-ebs</a:t>
            </a:r>
          </a:p>
        </p:txBody>
      </p:sp>
      <p:sp>
        <p:nvSpPr>
          <p:cNvPr id="28" name="Text 26"/>
          <p:cNvSpPr/>
          <p:nvPr/>
        </p:nvSpPr>
        <p:spPr>
          <a:xfrm>
            <a:off x="50292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In2IT EBS  |  Corporate Capability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31575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41</a:t>
            </a:r>
            <a:endParaRPr lang="en-US" sz="900" dirty="0"/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8C0C5079-5E6A-A238-0E45-407B7D69B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556" y="221879"/>
            <a:ext cx="2070410" cy="644561"/>
          </a:xfrm>
          <a:prstGeom prst="rect">
            <a:avLst/>
          </a:prstGeom>
        </p:spPr>
      </p:pic>
      <p:sp>
        <p:nvSpPr>
          <p:cNvPr id="31" name="officeArt object">
            <a:extLst>
              <a:ext uri="{FF2B5EF4-FFF2-40B4-BE49-F238E27FC236}">
                <a16:creationId xmlns:a16="http://schemas.microsoft.com/office/drawing/2014/main" id="{7ABA732F-490A-DEA2-87FD-50B00271340E}"/>
              </a:ext>
            </a:extLst>
          </p:cNvPr>
          <p:cNvSpPr/>
          <p:nvPr/>
        </p:nvSpPr>
        <p:spPr>
          <a:xfrm>
            <a:off x="407801" y="2555610"/>
            <a:ext cx="2859506" cy="293112"/>
          </a:xfrm>
          <a:prstGeom prst="rect">
            <a:avLst/>
          </a:prstGeom>
        </p:spPr>
        <p:txBody>
          <a:bodyPr lIns="30956" tIns="30956" rIns="30956" bIns="30956"/>
          <a:lstStyle/>
          <a:p>
            <a:pPr defTabSz="68461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b="1" dirty="0">
                <a:ln>
                  <a:solidFill>
                    <a:srgbClr val="94B8D0"/>
                  </a:solidFill>
                </a:ln>
                <a:solidFill>
                  <a:srgbClr val="94B8D0"/>
                </a:solidFill>
                <a:latin typeface="IBM Plex Sans" panose="020B0503050203000203" pitchFamily="34" charset="77"/>
                <a:cs typeface="Poppins" panose="00000500000000000000" pitchFamily="2" charset="0"/>
              </a:rPr>
              <a:t>In2IT EBS India Offices</a:t>
            </a:r>
            <a:br>
              <a:rPr lang="en-US" b="1" dirty="0">
                <a:ln>
                  <a:solidFill>
                    <a:srgbClr val="94B8D0"/>
                  </a:solidFill>
                </a:ln>
                <a:solidFill>
                  <a:srgbClr val="94B8D0"/>
                </a:solidFill>
                <a:latin typeface="IBM Plex Sans" panose="020B0503050203000203" pitchFamily="34" charset="77"/>
                <a:cs typeface="Poppins" panose="00000500000000000000" pitchFamily="2" charset="0"/>
              </a:rPr>
            </a:br>
            <a:r>
              <a:rPr lang="en-US" dirty="0">
                <a:ln>
                  <a:solidFill>
                    <a:srgbClr val="94B8D0"/>
                  </a:solidFill>
                </a:ln>
                <a:solidFill>
                  <a:srgbClr val="94B8D0"/>
                </a:solidFill>
                <a:latin typeface="IBM Plex Sans" panose="020B0503050203000203" pitchFamily="34" charset="77"/>
                <a:cs typeface="Poppins" panose="00000500000000000000" pitchFamily="2" charset="0"/>
              </a:rPr>
              <a:t>     </a:t>
            </a:r>
            <a:br>
              <a:rPr lang="en-GB" dirty="0">
                <a:ln>
                  <a:solidFill>
                    <a:srgbClr val="94B8D0"/>
                  </a:solidFill>
                </a:ln>
                <a:solidFill>
                  <a:srgbClr val="94B8D0"/>
                </a:solidFill>
                <a:latin typeface="IBM Plex Sans" panose="020B0503050203000203" pitchFamily="34" charset="77"/>
                <a:cs typeface="Poppins" panose="00000500000000000000" pitchFamily="2" charset="0"/>
              </a:rPr>
            </a:br>
            <a:br>
              <a:rPr lang="en-GB" dirty="0">
                <a:ln>
                  <a:solidFill>
                    <a:srgbClr val="94B8D0"/>
                  </a:solidFill>
                </a:ln>
                <a:solidFill>
                  <a:srgbClr val="94B8D0"/>
                </a:solidFill>
                <a:latin typeface="IBM Plex Sans" panose="020B0503050203000203" pitchFamily="34" charset="77"/>
                <a:cs typeface="Poppins" panose="00000500000000000000" pitchFamily="2" charset="0"/>
              </a:rPr>
            </a:br>
            <a:r>
              <a:rPr lang="en-GB" dirty="0">
                <a:ln>
                  <a:solidFill>
                    <a:srgbClr val="94B8D0"/>
                  </a:solidFill>
                </a:ln>
                <a:solidFill>
                  <a:srgbClr val="94B8D0"/>
                </a:solidFill>
                <a:latin typeface="IBM Plex Sans" panose="020B0503050203000203" pitchFamily="34" charset="77"/>
                <a:cs typeface="Poppins" panose="00000500000000000000" pitchFamily="2" charset="0"/>
              </a:rPr>
              <a:t>       </a:t>
            </a:r>
            <a:br>
              <a:rPr lang="en-US" dirty="0">
                <a:ln>
                  <a:solidFill>
                    <a:srgbClr val="94B8D0"/>
                  </a:solidFill>
                </a:ln>
                <a:solidFill>
                  <a:srgbClr val="94B8D0"/>
                </a:solidFill>
                <a:latin typeface="IBM Plex Sans" panose="020B0503050203000203" pitchFamily="34" charset="77"/>
                <a:cs typeface="Poppins" panose="00000500000000000000" pitchFamily="2" charset="0"/>
              </a:rPr>
            </a:br>
            <a:endParaRPr lang="en-US" dirty="0">
              <a:ln>
                <a:solidFill>
                  <a:srgbClr val="94B8D0"/>
                </a:solidFill>
              </a:ln>
              <a:solidFill>
                <a:srgbClr val="94B8D0"/>
              </a:solidFill>
              <a:latin typeface="IBM Plex Sans" panose="020B0503050203000203" pitchFamily="34" charset="77"/>
              <a:cs typeface="Poppins" panose="00000500000000000000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D2D549-61AE-8C7D-DD91-AE083A05D10E}"/>
              </a:ext>
            </a:extLst>
          </p:cNvPr>
          <p:cNvSpPr txBox="1"/>
          <p:nvPr/>
        </p:nvSpPr>
        <p:spPr>
          <a:xfrm>
            <a:off x="372496" y="3326597"/>
            <a:ext cx="34645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IBM Plex Sans" panose="020B0503050203000203" pitchFamily="34" charset="77"/>
                <a:ea typeface="FreeSans" panose="020B0504020202020204" pitchFamily="34" charset="0"/>
                <a:cs typeface="Poppins" panose="00000500000000000000" pitchFamily="2" charset="0"/>
              </a:rPr>
              <a:t>In2IT Enterprise Business Services Pvt Ltd</a:t>
            </a:r>
          </a:p>
          <a:p>
            <a:r>
              <a:rPr lang="en-IN" sz="1000" dirty="0">
                <a:solidFill>
                  <a:schemeClr val="bg1"/>
                </a:solidFill>
                <a:latin typeface="IBM Plex Sans" panose="020B0503050203000203" pitchFamily="34" charset="77"/>
                <a:cs typeface="Poppins" panose="00000500000000000000" pitchFamily="2" charset="0"/>
              </a:rPr>
              <a:t>3rd Floor, Crescent 4, Prestige Shantiniketan, ITPL Main Road, Whitefield, Bengaluru, </a:t>
            </a:r>
            <a:r>
              <a:rPr lang="en-IN" sz="1000" dirty="0" err="1">
                <a:solidFill>
                  <a:schemeClr val="bg1"/>
                </a:solidFill>
                <a:latin typeface="IBM Plex Sans" panose="020B0503050203000203" pitchFamily="34" charset="77"/>
                <a:cs typeface="Poppins" panose="00000500000000000000" pitchFamily="2" charset="0"/>
              </a:rPr>
              <a:t>Hoodi</a:t>
            </a:r>
            <a:r>
              <a:rPr lang="en-IN" sz="1000" dirty="0">
                <a:solidFill>
                  <a:schemeClr val="bg1"/>
                </a:solidFill>
                <a:latin typeface="IBM Plex Sans" panose="020B0503050203000203" pitchFamily="34" charset="77"/>
                <a:cs typeface="Poppins" panose="00000500000000000000" pitchFamily="2" charset="0"/>
              </a:rPr>
              <a:t>, Bangalore North, Karnataka – 560048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BBB97A-0432-6225-DC8D-5639A1E4A02C}"/>
              </a:ext>
            </a:extLst>
          </p:cNvPr>
          <p:cNvSpPr txBox="1"/>
          <p:nvPr/>
        </p:nvSpPr>
        <p:spPr>
          <a:xfrm>
            <a:off x="372496" y="2986835"/>
            <a:ext cx="1697323" cy="359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</a:pPr>
            <a:r>
              <a:rPr lang="en-IN" sz="1400" b="1" i="0" dirty="0">
                <a:solidFill>
                  <a:schemeClr val="bg1"/>
                </a:solidFill>
                <a:effectLst/>
                <a:latin typeface="IBM Plex Sans" panose="020B0503050203000203" pitchFamily="34" charset="77"/>
                <a:cs typeface="Poppins" panose="00000500000000000000" pitchFamily="2" charset="0"/>
              </a:rPr>
              <a:t>Bengaluru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4CAE69C-CCE4-1002-F43A-271820C88B63}"/>
              </a:ext>
            </a:extLst>
          </p:cNvPr>
          <p:cNvSpPr txBox="1"/>
          <p:nvPr/>
        </p:nvSpPr>
        <p:spPr>
          <a:xfrm>
            <a:off x="372497" y="4367899"/>
            <a:ext cx="32089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IBM Plex Sans" panose="020B0503050203000203" pitchFamily="34" charset="77"/>
                <a:ea typeface="FreeSans" panose="020B0504020202020204" pitchFamily="34" charset="0"/>
                <a:cs typeface="Poppins" panose="00000500000000000000" pitchFamily="2" charset="0"/>
              </a:rPr>
              <a:t>In2IT Enterprise Business Services Pvt Ltd, Fortune Tower, 1st Floor, Zone - C, Bhubaneswar,</a:t>
            </a:r>
          </a:p>
          <a:p>
            <a:r>
              <a:rPr lang="en-US" sz="1000" dirty="0">
                <a:solidFill>
                  <a:schemeClr val="bg1"/>
                </a:solidFill>
                <a:latin typeface="IBM Plex Sans" panose="020B0503050203000203" pitchFamily="34" charset="77"/>
                <a:ea typeface="FreeSans" panose="020B0504020202020204" pitchFamily="34" charset="0"/>
                <a:cs typeface="Poppins" panose="00000500000000000000" pitchFamily="2" charset="0"/>
              </a:rPr>
              <a:t>Odisha - 751023, India</a:t>
            </a:r>
            <a:endParaRPr lang="en-IN" sz="1000" dirty="0">
              <a:solidFill>
                <a:schemeClr val="bg1"/>
              </a:solidFill>
              <a:latin typeface="IBM Plex Sans" panose="020B0503050203000203" pitchFamily="34" charset="77"/>
              <a:ea typeface="FreeSans" panose="020B0504020202020204" pitchFamily="34" charset="0"/>
              <a:cs typeface="Poppins" panose="00000500000000000000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33E05AC-F313-9842-E013-5D63CA6CC091}"/>
              </a:ext>
            </a:extLst>
          </p:cNvPr>
          <p:cNvSpPr txBox="1"/>
          <p:nvPr/>
        </p:nvSpPr>
        <p:spPr>
          <a:xfrm>
            <a:off x="372496" y="4065261"/>
            <a:ext cx="1697323" cy="359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</a:pPr>
            <a:r>
              <a:rPr lang="en-IN" sz="1400" b="1" i="0" dirty="0">
                <a:solidFill>
                  <a:schemeClr val="bg1"/>
                </a:solidFill>
                <a:effectLst/>
                <a:latin typeface="IBM Plex Sans" panose="020B0503050203000203" pitchFamily="34" charset="77"/>
                <a:cs typeface="Poppins" panose="00000500000000000000" pitchFamily="2" charset="0"/>
              </a:rPr>
              <a:t>Bhubaneswar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66C207-806A-29D4-8231-A7FBAFD70A29}"/>
              </a:ext>
            </a:extLst>
          </p:cNvPr>
          <p:cNvSpPr txBox="1"/>
          <p:nvPr/>
        </p:nvSpPr>
        <p:spPr>
          <a:xfrm>
            <a:off x="360556" y="5305414"/>
            <a:ext cx="30995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IBM Plex Sans" panose="020B0503050203000203" pitchFamily="34" charset="77"/>
                <a:ea typeface="FreeSans" panose="020B0504020202020204" pitchFamily="34" charset="0"/>
                <a:cs typeface="Poppins" panose="00000500000000000000" pitchFamily="2" charset="0"/>
              </a:rPr>
              <a:t>In2IT Enterprise Business Services Pvt Ltd</a:t>
            </a:r>
          </a:p>
          <a:p>
            <a:r>
              <a:rPr lang="en-IN" sz="1000" dirty="0">
                <a:solidFill>
                  <a:schemeClr val="bg1"/>
                </a:solidFill>
                <a:latin typeface="IBM Plex Sans" panose="020B0503050203000203" pitchFamily="34" charset="77"/>
                <a:cs typeface="Poppins" panose="00000500000000000000" pitchFamily="2" charset="0"/>
              </a:rPr>
              <a:t>4</a:t>
            </a:r>
            <a:r>
              <a:rPr lang="en-IN" sz="1000" baseline="30000" dirty="0">
                <a:solidFill>
                  <a:schemeClr val="bg1"/>
                </a:solidFill>
                <a:latin typeface="IBM Plex Sans" panose="020B0503050203000203" pitchFamily="34" charset="77"/>
                <a:cs typeface="Poppins" panose="00000500000000000000" pitchFamily="2" charset="0"/>
              </a:rPr>
              <a:t>th</a:t>
            </a:r>
            <a:r>
              <a:rPr lang="en-IN" sz="1000" dirty="0">
                <a:solidFill>
                  <a:schemeClr val="bg1"/>
                </a:solidFill>
                <a:latin typeface="IBM Plex Sans" panose="020B0503050203000203" pitchFamily="34" charset="77"/>
                <a:cs typeface="Poppins" panose="00000500000000000000" pitchFamily="2" charset="0"/>
              </a:rPr>
              <a:t> Floor, Elite, Manjeera Trinity Corporate, JNTU-Hitech City Road, KPHB, Kukatpally, Hyderabad – 500072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B4796D-448C-3686-8660-E87BA5517BFC}"/>
              </a:ext>
            </a:extLst>
          </p:cNvPr>
          <p:cNvSpPr txBox="1"/>
          <p:nvPr/>
        </p:nvSpPr>
        <p:spPr>
          <a:xfrm>
            <a:off x="371631" y="4990344"/>
            <a:ext cx="1697323" cy="359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</a:pPr>
            <a:r>
              <a:rPr lang="en-IN" sz="1400" b="1" i="0" dirty="0">
                <a:solidFill>
                  <a:schemeClr val="bg1"/>
                </a:solidFill>
                <a:effectLst/>
                <a:latin typeface="IBM Plex Sans" panose="020B0503050203000203" pitchFamily="34" charset="77"/>
                <a:cs typeface="Poppins" panose="00000500000000000000" pitchFamily="2" charset="0"/>
              </a:rPr>
              <a:t>Hyderabad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FAD5CB-62FC-F9C7-9E6A-54627AD969B6}"/>
              </a:ext>
            </a:extLst>
          </p:cNvPr>
          <p:cNvSpPr txBox="1"/>
          <p:nvPr/>
        </p:nvSpPr>
        <p:spPr>
          <a:xfrm>
            <a:off x="6812700" y="3340104"/>
            <a:ext cx="32089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IBM Plex Sans" panose="020B0503050203000203" pitchFamily="34" charset="77"/>
                <a:ea typeface="FreeSans" panose="020B0504020202020204" pitchFamily="34" charset="0"/>
                <a:cs typeface="Poppins" panose="00000500000000000000" pitchFamily="2" charset="0"/>
              </a:rPr>
              <a:t>In2IT Enterprise Business Services Pte Ltd</a:t>
            </a:r>
            <a:endParaRPr lang="en-IN" sz="1000" dirty="0">
              <a:solidFill>
                <a:schemeClr val="bg1"/>
              </a:solidFill>
              <a:latin typeface="IBM Plex Sans" panose="020B0503050203000203" pitchFamily="34" charset="77"/>
              <a:ea typeface="FreeSans" panose="020B0504020202020204" pitchFamily="34" charset="0"/>
              <a:cs typeface="Poppins" panose="00000500000000000000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31D202-7F6C-50A8-1BC8-547E84F00CA1}"/>
              </a:ext>
            </a:extLst>
          </p:cNvPr>
          <p:cNvSpPr txBox="1"/>
          <p:nvPr/>
        </p:nvSpPr>
        <p:spPr>
          <a:xfrm>
            <a:off x="6812699" y="3010049"/>
            <a:ext cx="1697323" cy="359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</a:pPr>
            <a:r>
              <a:rPr lang="en-IN" sz="1400" b="1" i="0" dirty="0">
                <a:solidFill>
                  <a:schemeClr val="bg1"/>
                </a:solidFill>
                <a:effectLst/>
                <a:latin typeface="IBM Plex Sans" panose="020B0503050203000203" pitchFamily="34" charset="77"/>
                <a:cs typeface="Poppins" panose="00000500000000000000" pitchFamily="2" charset="0"/>
              </a:rPr>
              <a:t>Singapore</a:t>
            </a:r>
          </a:p>
        </p:txBody>
      </p:sp>
      <p:sp>
        <p:nvSpPr>
          <p:cNvPr id="40" name="officeArt object">
            <a:extLst>
              <a:ext uri="{FF2B5EF4-FFF2-40B4-BE49-F238E27FC236}">
                <a16:creationId xmlns:a16="http://schemas.microsoft.com/office/drawing/2014/main" id="{FEB74988-BEB4-09B2-B41B-42F3F066D360}"/>
              </a:ext>
            </a:extLst>
          </p:cNvPr>
          <p:cNvSpPr/>
          <p:nvPr/>
        </p:nvSpPr>
        <p:spPr>
          <a:xfrm>
            <a:off x="6876718" y="2555610"/>
            <a:ext cx="3348949" cy="293112"/>
          </a:xfrm>
          <a:prstGeom prst="rect">
            <a:avLst/>
          </a:prstGeom>
        </p:spPr>
        <p:txBody>
          <a:bodyPr lIns="30956" tIns="30956" rIns="30956" bIns="30956"/>
          <a:lstStyle/>
          <a:p>
            <a:pPr defTabSz="68461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b="1" dirty="0">
                <a:ln>
                  <a:solidFill>
                    <a:srgbClr val="94B8D0"/>
                  </a:solidFill>
                </a:ln>
                <a:solidFill>
                  <a:srgbClr val="94B8D0"/>
                </a:solidFill>
                <a:latin typeface="IBM Plex Sans" panose="020B0503050203000203" pitchFamily="34" charset="77"/>
                <a:cs typeface="Poppins" panose="00000500000000000000" pitchFamily="2" charset="0"/>
              </a:rPr>
              <a:t>In2IT EBS Global Subsidiaries</a:t>
            </a:r>
            <a:r>
              <a:rPr lang="en-US" dirty="0">
                <a:ln>
                  <a:solidFill>
                    <a:srgbClr val="94B8D0"/>
                  </a:solidFill>
                </a:ln>
                <a:solidFill>
                  <a:srgbClr val="94B8D0"/>
                </a:solidFill>
                <a:latin typeface="IBM Plex Sans" panose="020B0503050203000203" pitchFamily="34" charset="77"/>
                <a:cs typeface="Poppins" panose="00000500000000000000" pitchFamily="2" charset="0"/>
              </a:rPr>
              <a:t>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4178050-5B62-318E-42AC-124365B0A434}"/>
              </a:ext>
            </a:extLst>
          </p:cNvPr>
          <p:cNvSpPr txBox="1"/>
          <p:nvPr/>
        </p:nvSpPr>
        <p:spPr>
          <a:xfrm>
            <a:off x="6814665" y="3941813"/>
            <a:ext cx="29415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IBM Plex Sans" panose="020B0503050203000203" pitchFamily="34" charset="77"/>
                <a:ea typeface="FreeSans" panose="020B0504020202020204" pitchFamily="34" charset="0"/>
                <a:cs typeface="Poppins" panose="00000500000000000000" pitchFamily="2" charset="0"/>
              </a:rPr>
              <a:t>IN2IT EB Solutions LLC</a:t>
            </a:r>
            <a:endParaRPr lang="en-IN" sz="1000" dirty="0">
              <a:solidFill>
                <a:schemeClr val="bg1"/>
              </a:solidFill>
              <a:latin typeface="IBM Plex Sans" panose="020B0503050203000203" pitchFamily="34" charset="77"/>
              <a:ea typeface="FreeSans" panose="020B0504020202020204" pitchFamily="34" charset="0"/>
              <a:cs typeface="Poppins" panose="00000500000000000000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F43776-E4E8-7BE8-2AB9-FF1BE597112B}"/>
              </a:ext>
            </a:extLst>
          </p:cNvPr>
          <p:cNvSpPr txBox="1"/>
          <p:nvPr/>
        </p:nvSpPr>
        <p:spPr>
          <a:xfrm>
            <a:off x="6803613" y="3609407"/>
            <a:ext cx="1697323" cy="359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</a:pPr>
            <a:r>
              <a:rPr lang="en-IN" sz="1400" b="1" i="0" dirty="0">
                <a:solidFill>
                  <a:schemeClr val="bg1"/>
                </a:solidFill>
                <a:effectLst/>
                <a:latin typeface="IBM Plex Sans" panose="020B0503050203000203" pitchFamily="34" charset="77"/>
                <a:cs typeface="Poppins" panose="00000500000000000000" pitchFamily="2" charset="0"/>
              </a:rPr>
              <a:t>Dubai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18109C4-D42C-571D-8FD3-C9699958F7AC}"/>
              </a:ext>
            </a:extLst>
          </p:cNvPr>
          <p:cNvSpPr txBox="1"/>
          <p:nvPr/>
        </p:nvSpPr>
        <p:spPr>
          <a:xfrm>
            <a:off x="6815940" y="4527288"/>
            <a:ext cx="35665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IBM Plex Sans" panose="020B0503050203000203" pitchFamily="34" charset="77"/>
                <a:ea typeface="FreeSans" panose="020B0504020202020204" pitchFamily="34" charset="0"/>
                <a:cs typeface="Poppins" panose="00000500000000000000" pitchFamily="2" charset="0"/>
              </a:rPr>
              <a:t>In2IT Enterprise Business Services Inc</a:t>
            </a:r>
            <a:endParaRPr lang="en-IN" sz="1000" dirty="0">
              <a:solidFill>
                <a:schemeClr val="bg1"/>
              </a:solidFill>
              <a:latin typeface="IBM Plex Sans" panose="020B0503050203000203" pitchFamily="34" charset="77"/>
              <a:ea typeface="FreeSans" panose="020B0504020202020204" pitchFamily="34" charset="0"/>
              <a:cs typeface="Poppins" panose="00000500000000000000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44C585-9526-6CA7-D626-F5AC2A1DDF96}"/>
              </a:ext>
            </a:extLst>
          </p:cNvPr>
          <p:cNvSpPr txBox="1"/>
          <p:nvPr/>
        </p:nvSpPr>
        <p:spPr>
          <a:xfrm>
            <a:off x="6803613" y="4190971"/>
            <a:ext cx="1697323" cy="359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</a:pPr>
            <a:r>
              <a:rPr lang="en-IN" sz="1400" b="1" i="0" dirty="0">
                <a:solidFill>
                  <a:schemeClr val="bg1"/>
                </a:solidFill>
                <a:effectLst/>
                <a:latin typeface="IBM Plex Sans" panose="020B0503050203000203" pitchFamily="34" charset="77"/>
                <a:cs typeface="Poppins" panose="00000500000000000000" pitchFamily="2" charset="0"/>
              </a:rPr>
              <a:t>USA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07D1AB7-DD8B-E37E-0BA2-E39DBE554580}"/>
              </a:ext>
            </a:extLst>
          </p:cNvPr>
          <p:cNvSpPr txBox="1"/>
          <p:nvPr/>
        </p:nvSpPr>
        <p:spPr>
          <a:xfrm>
            <a:off x="6814665" y="5144749"/>
            <a:ext cx="35665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IBM Plex Sans" panose="020B0503050203000203" pitchFamily="34" charset="77"/>
                <a:ea typeface="FreeSans" panose="020B0504020202020204" pitchFamily="34" charset="0"/>
                <a:cs typeface="Poppins" panose="00000500000000000000" pitchFamily="2" charset="0"/>
              </a:rPr>
              <a:t>In2IT Enterprise Business Services Kenya Limited</a:t>
            </a:r>
            <a:endParaRPr lang="en-IN" sz="1000" dirty="0">
              <a:solidFill>
                <a:schemeClr val="bg1"/>
              </a:solidFill>
              <a:latin typeface="IBM Plex Sans" panose="020B0503050203000203" pitchFamily="34" charset="77"/>
              <a:ea typeface="FreeSans" panose="020B0504020202020204" pitchFamily="34" charset="0"/>
              <a:cs typeface="Poppins" panose="00000500000000000000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1B22BB8-1288-4AC6-F9B0-7F438EF80AFA}"/>
              </a:ext>
            </a:extLst>
          </p:cNvPr>
          <p:cNvSpPr txBox="1"/>
          <p:nvPr/>
        </p:nvSpPr>
        <p:spPr>
          <a:xfrm>
            <a:off x="6803613" y="4778297"/>
            <a:ext cx="1697323" cy="359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</a:pPr>
            <a:r>
              <a:rPr lang="en-IN" sz="1400" b="1" i="0" dirty="0">
                <a:solidFill>
                  <a:schemeClr val="bg1"/>
                </a:solidFill>
                <a:effectLst/>
                <a:latin typeface="IBM Plex Sans" panose="020B0503050203000203" pitchFamily="34" charset="77"/>
                <a:cs typeface="Poppins" panose="00000500000000000000" pitchFamily="2" charset="0"/>
              </a:rPr>
              <a:t>Kenya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500B687-279B-E8E3-2C3D-341D4CD34079}"/>
              </a:ext>
            </a:extLst>
          </p:cNvPr>
          <p:cNvSpPr txBox="1"/>
          <p:nvPr/>
        </p:nvSpPr>
        <p:spPr>
          <a:xfrm>
            <a:off x="6795228" y="5696816"/>
            <a:ext cx="35665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IBM Plex Sans" panose="020B0503050203000203" pitchFamily="34" charset="77"/>
                <a:ea typeface="FreeSans" panose="020B0504020202020204" pitchFamily="34" charset="0"/>
                <a:cs typeface="Poppins" panose="00000500000000000000" pitchFamily="2" charset="0"/>
              </a:rPr>
              <a:t>IN2IT Enterprise Business Services (Pty) Ltd</a:t>
            </a:r>
            <a:endParaRPr lang="en-IN" sz="1000" dirty="0">
              <a:solidFill>
                <a:schemeClr val="bg1"/>
              </a:solidFill>
              <a:latin typeface="IBM Plex Sans" panose="020B0503050203000203" pitchFamily="34" charset="77"/>
              <a:ea typeface="FreeSans" panose="020B0504020202020204" pitchFamily="34" charset="0"/>
              <a:cs typeface="Poppins" panose="00000500000000000000" pitchFamily="2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68AF428-5881-C4B6-3BBF-C93F7AD34ECF}"/>
              </a:ext>
            </a:extLst>
          </p:cNvPr>
          <p:cNvSpPr txBox="1"/>
          <p:nvPr/>
        </p:nvSpPr>
        <p:spPr>
          <a:xfrm>
            <a:off x="6802637" y="5371900"/>
            <a:ext cx="1697323" cy="359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</a:pPr>
            <a:r>
              <a:rPr lang="en-IN" sz="1400" b="1" i="0" dirty="0">
                <a:solidFill>
                  <a:schemeClr val="bg1"/>
                </a:solidFill>
                <a:effectLst/>
                <a:latin typeface="IBM Plex Sans" panose="020B0503050203000203" pitchFamily="34" charset="77"/>
                <a:cs typeface="Poppins" panose="00000500000000000000" pitchFamily="2" charset="0"/>
              </a:rPr>
              <a:t>South Africa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63A32EB-EAFD-D994-4143-F0F634FB68B8}"/>
              </a:ext>
            </a:extLst>
          </p:cNvPr>
          <p:cNvSpPr txBox="1"/>
          <p:nvPr/>
        </p:nvSpPr>
        <p:spPr>
          <a:xfrm>
            <a:off x="3845890" y="2986835"/>
            <a:ext cx="2743200" cy="359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</a:pPr>
            <a:r>
              <a:rPr lang="en-IN" sz="1400" b="1" dirty="0">
                <a:solidFill>
                  <a:schemeClr val="bg1"/>
                </a:solidFill>
                <a:latin typeface="IBM Plex Sans" panose="020B0503050203000203" pitchFamily="34" charset="77"/>
                <a:cs typeface="Poppins" panose="00000500000000000000" pitchFamily="2" charset="0"/>
              </a:rPr>
              <a:t>Delhi NCR – Noida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89CD7AE-A5CD-ECA6-5BF9-361FBB29C9FD}"/>
              </a:ext>
            </a:extLst>
          </p:cNvPr>
          <p:cNvSpPr txBox="1"/>
          <p:nvPr/>
        </p:nvSpPr>
        <p:spPr>
          <a:xfrm>
            <a:off x="3845891" y="3385421"/>
            <a:ext cx="27363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IBM Plex Sans" panose="020B0503050203000203" pitchFamily="34" charset="77"/>
                <a:ea typeface="FreeSans" panose="020B0504020202020204" pitchFamily="34" charset="0"/>
                <a:cs typeface="Poppins" panose="00000500000000000000" pitchFamily="2" charset="0"/>
              </a:rPr>
              <a:t>In2IT Enterprise Business Services Pvt Ltd</a:t>
            </a:r>
          </a:p>
          <a:p>
            <a:r>
              <a:rPr lang="en-IN" sz="1000" dirty="0">
                <a:solidFill>
                  <a:schemeClr val="bg1"/>
                </a:solidFill>
                <a:latin typeface="IBM Plex Sans" panose="020B0503050203000203" pitchFamily="34" charset="77"/>
                <a:cs typeface="Poppins" panose="00000500000000000000" pitchFamily="2" charset="0"/>
              </a:rPr>
              <a:t>26th Floor, Unit No. 2615A &amp; 2616, Astralis Tower, Sector- 94, Noida-201301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4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2217</TotalTime>
  <Words>9242</Words>
  <Application>Microsoft Macintosh PowerPoint</Application>
  <PresentationFormat>Widescreen</PresentationFormat>
  <Paragraphs>1581</Paragraphs>
  <Slides>64</Slides>
  <Notes>47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4" baseType="lpstr">
      <vt:lpstr>Arial</vt:lpstr>
      <vt:lpstr>Calibri</vt:lpstr>
      <vt:lpstr>Century Gothic</vt:lpstr>
      <vt:lpstr>IBM Plex Sans</vt:lpstr>
      <vt:lpstr>Newsreader</vt:lpstr>
      <vt:lpstr>Newsreader Caption</vt:lpstr>
      <vt:lpstr>Raleway</vt:lpstr>
      <vt:lpstr>Wingdings</vt:lpstr>
      <vt:lpstr>Office Theme</vt:lpstr>
      <vt:lpstr>Bitmap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In2IT EBS — Corporate Profile</dc:title>
  <dc:subject>PptxGenJS Presentation</dc:subject>
  <dc:creator>In2IT EBS</dc:creator>
  <cp:lastModifiedBy>Sudhansu Mishra</cp:lastModifiedBy>
  <cp:revision>201</cp:revision>
  <dcterms:created xsi:type="dcterms:W3CDTF">2026-05-17T01:34:58Z</dcterms:created>
  <dcterms:modified xsi:type="dcterms:W3CDTF">2026-06-04T05:53:50Z</dcterms:modified>
</cp:coreProperties>
</file>